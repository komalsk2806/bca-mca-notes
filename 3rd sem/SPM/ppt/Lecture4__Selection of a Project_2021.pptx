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8" r:id="rId9"/>
    <p:sldId id="270" r:id="rId10"/>
    <p:sldId id="271" r:id="rId11"/>
    <p:sldId id="267" r:id="rId12"/>
    <p:sldId id="266" r:id="rId13"/>
    <p:sldId id="265" r:id="rId14"/>
    <p:sldId id="263" r:id="rId15"/>
    <p:sldId id="272" r:id="rId16"/>
    <p:sldId id="264" r:id="rId17"/>
    <p:sldId id="273" r:id="rId18"/>
    <p:sldId id="274" r:id="rId19"/>
    <p:sldId id="275" r:id="rId20"/>
    <p:sldId id="276" r:id="rId21"/>
    <p:sldId id="277" r:id="rId22"/>
    <p:sldId id="279" r:id="rId23"/>
    <p:sldId id="278" r:id="rId24"/>
    <p:sldId id="280" r:id="rId25"/>
    <p:sldId id="281" r:id="rId26"/>
    <p:sldId id="282" r:id="rId27"/>
    <p:sldId id="283" r:id="rId28"/>
    <p:sldId id="284" r:id="rId29"/>
    <p:sldId id="290" r:id="rId30"/>
    <p:sldId id="291" r:id="rId31"/>
    <p:sldId id="289" r:id="rId32"/>
    <p:sldId id="288" r:id="rId33"/>
    <p:sldId id="287" r:id="rId34"/>
    <p:sldId id="293" r:id="rId35"/>
    <p:sldId id="292" r:id="rId36"/>
    <p:sldId id="286" r:id="rId37"/>
    <p:sldId id="296" r:id="rId38"/>
    <p:sldId id="297" r:id="rId39"/>
    <p:sldId id="295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31" autoAdjust="0"/>
    <p:restoredTop sz="94651" autoAdjust="0"/>
  </p:normalViewPr>
  <p:slideViewPr>
    <p:cSldViewPr snapToGrid="0">
      <p:cViewPr varScale="1">
        <p:scale>
          <a:sx n="86" d="100"/>
          <a:sy n="86" d="100"/>
        </p:scale>
        <p:origin x="690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Sprint Burndown</a:t>
            </a:r>
            <a:r>
              <a:rPr lang="en-IN" baseline="0"/>
              <a:t> Chart</a:t>
            </a:r>
            <a:endParaRPr lang="en-IN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8078740157480319E-2"/>
          <c:y val="0.19090296004666082"/>
          <c:w val="0.89789348206474195"/>
          <c:h val="0.72800087489063869"/>
        </c:manualLayout>
      </c:layout>
      <c:scatterChart>
        <c:scatterStyle val="smoothMarker"/>
        <c:varyColors val="0"/>
        <c:ser>
          <c:idx val="0"/>
          <c:order val="0"/>
          <c:tx>
            <c:strRef>
              <c:f>Sheet1!$D$9</c:f>
              <c:strCache>
                <c:ptCount val="1"/>
                <c:pt idx="0">
                  <c:v>Hours remaining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Sheet1!$C$10:$C$14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xVal>
          <c:yVal>
            <c:numRef>
              <c:f>Sheet1!$D$10:$D$14</c:f>
              <c:numCache>
                <c:formatCode>General</c:formatCode>
                <c:ptCount val="5"/>
                <c:pt idx="0">
                  <c:v>85</c:v>
                </c:pt>
                <c:pt idx="1">
                  <c:v>65</c:v>
                </c:pt>
                <c:pt idx="2">
                  <c:v>50</c:v>
                </c:pt>
                <c:pt idx="3">
                  <c:v>20</c:v>
                </c:pt>
                <c:pt idx="4">
                  <c:v>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6BCE-4AD9-B91B-BB5DD60F08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35254799"/>
        <c:axId val="435255215"/>
      </c:scatterChart>
      <c:valAx>
        <c:axId val="43525479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5255215"/>
        <c:crosses val="autoZero"/>
        <c:crossBetween val="midCat"/>
      </c:valAx>
      <c:valAx>
        <c:axId val="4352552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525479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Sprint Burndown</a:t>
            </a:r>
            <a:r>
              <a:rPr lang="en-IN" baseline="0"/>
              <a:t> Chart</a:t>
            </a:r>
            <a:endParaRPr lang="en-IN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Sheet1!$D$9</c:f>
              <c:strCache>
                <c:ptCount val="1"/>
                <c:pt idx="0">
                  <c:v>Hours remaining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Sheet1!$C$10:$C$14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xVal>
          <c:yVal>
            <c:numRef>
              <c:f>Sheet1!$D$10:$D$14</c:f>
              <c:numCache>
                <c:formatCode>General</c:formatCode>
                <c:ptCount val="5"/>
                <c:pt idx="0">
                  <c:v>85</c:v>
                </c:pt>
                <c:pt idx="1">
                  <c:v>65</c:v>
                </c:pt>
                <c:pt idx="2">
                  <c:v>50</c:v>
                </c:pt>
                <c:pt idx="3">
                  <c:v>20</c:v>
                </c:pt>
                <c:pt idx="4">
                  <c:v>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6BCE-4AD9-B91B-BB5DD60F08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35254799"/>
        <c:axId val="435255215"/>
      </c:scatterChart>
      <c:valAx>
        <c:axId val="43525479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5255215"/>
        <c:crosses val="autoZero"/>
        <c:crossBetween val="midCat"/>
      </c:valAx>
      <c:valAx>
        <c:axId val="4352552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525479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6B3128-46BE-4F05-B90D-E0A81F2C74CE}" type="datetimeFigureOut">
              <a:rPr lang="en-IN" smtClean="0"/>
              <a:t>06-07-2021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91995B-7B11-49A8-9854-153F0D049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3280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53055" y="6470254"/>
            <a:ext cx="3500715" cy="309201"/>
          </a:xfrm>
        </p:spPr>
        <p:txBody>
          <a:bodyPr/>
          <a:lstStyle>
            <a:lvl1pPr>
              <a:defRPr>
                <a:solidFill>
                  <a:srgbClr val="FFFF99"/>
                </a:solidFill>
              </a:defRPr>
            </a:lvl1pPr>
          </a:lstStyle>
          <a:p>
            <a:fld id="{B2F0588E-38E9-4677-8983-8BD4A360546E}" type="datetime3">
              <a:rPr lang="en-US" smtClean="0"/>
              <a:pPr/>
              <a:t>6 July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0633" y="6470254"/>
            <a:ext cx="5938836" cy="309201"/>
          </a:xfrm>
        </p:spPr>
        <p:txBody>
          <a:bodyPr/>
          <a:lstStyle>
            <a:lvl1pPr>
              <a:defRPr>
                <a:solidFill>
                  <a:srgbClr val="FFFF99"/>
                </a:solidFill>
              </a:defRPr>
            </a:lvl1pPr>
          </a:lstStyle>
          <a:p>
            <a:r>
              <a:rPr lang="en-US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4440" y="6389649"/>
            <a:ext cx="811019" cy="387664"/>
          </a:xfrm>
        </p:spPr>
        <p:txBody>
          <a:bodyPr/>
          <a:lstStyle>
            <a:lvl1pPr>
              <a:defRPr sz="1800">
                <a:solidFill>
                  <a:srgbClr val="FFFF99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BD9B4-6AF9-4365-AC1E-B61A168497A6}" type="datetime3">
              <a:rPr lang="en-US" smtClean="0"/>
              <a:t>6 July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C6265-89CA-4295-AB72-9817D3FFB07B}" type="datetime3">
              <a:rPr lang="en-US" smtClean="0"/>
              <a:t>6 July 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171506" y="545886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A8FD0-B2EC-45AD-9D85-68166E7B1D59}" type="datetime3">
              <a:rPr lang="en-US" smtClean="0"/>
              <a:t>6 July 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76073-D857-40AB-9351-3CA4F808AE0E}" type="datetime3">
              <a:rPr lang="en-US" smtClean="0"/>
              <a:t>6 July 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35F9B-2F9F-4993-83EF-B51903F19EB1}" type="datetime3">
              <a:rPr lang="en-US" smtClean="0"/>
              <a:t>6 July 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D550B-4280-46B1-87A3-29D28FF41DDD}" type="datetime3">
              <a:rPr lang="en-US" smtClean="0"/>
              <a:t>6 July 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313B98EA-A315-4E21-9C35-6B7803FC6F0E}" type="datetime3">
              <a:rPr lang="en-US" smtClean="0"/>
              <a:t>6 July 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r>
              <a:rPr lang="en-US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30C62-CD3F-4343-8E1D-B2D111C0EA6A}" type="datetime3">
              <a:rPr lang="en-US" smtClean="0"/>
              <a:t>6 July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85F89-4CA7-4D82-A175-71691C88872F}" type="datetime3">
              <a:rPr lang="en-US" smtClean="0"/>
              <a:t>6 July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4470400" y="6324600"/>
            <a:ext cx="3048000" cy="381000"/>
          </a:xfrm>
        </p:spPr>
        <p:txBody>
          <a:bodyPr/>
          <a:lstStyle>
            <a:lvl1pPr>
              <a:defRPr/>
            </a:lvl1pPr>
          </a:lstStyle>
          <a:p>
            <a:fld id="{DFD4CE90-7F23-48A1-A9FE-EB0C03E482A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8281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914400" y="1981200"/>
            <a:ext cx="10363200" cy="411480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4470400" y="6324600"/>
            <a:ext cx="3048000" cy="381000"/>
          </a:xfrm>
        </p:spPr>
        <p:txBody>
          <a:bodyPr/>
          <a:lstStyle>
            <a:lvl1pPr>
              <a:defRPr/>
            </a:lvl1pPr>
          </a:lstStyle>
          <a:p>
            <a:fld id="{399BBB26-9F41-43CD-8EAB-35C7F62EB89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0998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149491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5B9231-66C8-4E3F-AA98-25498B84860E}" type="datetime3">
              <a:rPr lang="en-US" smtClean="0"/>
              <a:t>6 July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05846" y="5731459"/>
            <a:ext cx="499772" cy="32644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6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80" y="0"/>
            <a:ext cx="8637073" cy="3181082"/>
          </a:xfrm>
        </p:spPr>
        <p:txBody>
          <a:bodyPr>
            <a:normAutofit fontScale="90000"/>
          </a:bodyPr>
          <a:lstStyle/>
          <a:p>
            <a:r>
              <a:rPr lang="en-IN" sz="4800" dirty="0"/>
              <a:t>Software Project Management </a:t>
            </a:r>
            <a:br>
              <a:rPr lang="en-IN" sz="4800" dirty="0"/>
            </a:br>
            <a:r>
              <a:rPr lang="en-IN" sz="4800" dirty="0" smtClean="0">
                <a:solidFill>
                  <a:srgbClr val="0000CC"/>
                </a:solidFill>
              </a:rPr>
              <a:t>Selection of an Appropriate Project Approach</a:t>
            </a:r>
            <a:endParaRPr lang="en-IN" sz="4800" dirty="0">
              <a:solidFill>
                <a:srgbClr val="0000CC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1944438"/>
          </a:xfrm>
        </p:spPr>
        <p:txBody>
          <a:bodyPr>
            <a:normAutofit fontScale="85000" lnSpcReduction="20000"/>
          </a:bodyPr>
          <a:lstStyle/>
          <a:p>
            <a:r>
              <a:rPr lang="en-IN" dirty="0" err="1"/>
              <a:t>Dr.</a:t>
            </a:r>
            <a:r>
              <a:rPr lang="en-IN" dirty="0"/>
              <a:t> D Evangelin </a:t>
            </a:r>
            <a:r>
              <a:rPr lang="en-IN" dirty="0" err="1"/>
              <a:t>geetha</a:t>
            </a:r>
            <a:endParaRPr lang="en-IN" dirty="0"/>
          </a:p>
          <a:p>
            <a:r>
              <a:rPr lang="en-IN" dirty="0"/>
              <a:t>Associate professor</a:t>
            </a:r>
          </a:p>
          <a:p>
            <a:r>
              <a:rPr lang="en-IN" dirty="0"/>
              <a:t>Department of master of computer applications</a:t>
            </a:r>
          </a:p>
          <a:p>
            <a:r>
              <a:rPr lang="en-IN" dirty="0" err="1"/>
              <a:t>Ramaiak</a:t>
            </a:r>
            <a:r>
              <a:rPr lang="en-IN" dirty="0"/>
              <a:t> institute of technology</a:t>
            </a:r>
          </a:p>
          <a:p>
            <a:r>
              <a:rPr lang="en-IN" dirty="0"/>
              <a:t>Bangalore - 560054</a:t>
            </a:r>
          </a:p>
        </p:txBody>
      </p:sp>
    </p:spTree>
    <p:extLst>
      <p:ext uri="{BB962C8B-B14F-4D97-AF65-F5344CB8AC3E}">
        <p14:creationId xmlns:p14="http://schemas.microsoft.com/office/powerpoint/2010/main" val="3517004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 smtClean="0"/>
              <a:t>In-house projects</a:t>
            </a:r>
          </a:p>
          <a:p>
            <a:pPr lvl="1"/>
            <a:r>
              <a:rPr lang="en-IN" dirty="0" smtClean="0"/>
              <a:t>Developers and users belong to the same organization</a:t>
            </a:r>
          </a:p>
          <a:p>
            <a:pPr lvl="1"/>
            <a:r>
              <a:rPr lang="en-IN" dirty="0" smtClean="0"/>
              <a:t>Application – existing computer-based systems</a:t>
            </a:r>
          </a:p>
          <a:p>
            <a:pPr lvl="1"/>
            <a:r>
              <a:rPr lang="en-IN" dirty="0" smtClean="0"/>
              <a:t>Methodologies and technologies – organizational standards</a:t>
            </a:r>
          </a:p>
          <a:p>
            <a:r>
              <a:rPr lang="en-IN" dirty="0" smtClean="0"/>
              <a:t>External customers</a:t>
            </a:r>
          </a:p>
          <a:p>
            <a:pPr lvl="1"/>
            <a:r>
              <a:rPr lang="en-IN" dirty="0" smtClean="0"/>
              <a:t>Technical planning – project analysis</a:t>
            </a:r>
          </a:p>
          <a:p>
            <a:r>
              <a:rPr lang="en-IN" dirty="0" smtClean="0"/>
              <a:t>Step 3 – Analyse project characteristics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588E-38E9-4677-8983-8BD4A360546E}" type="datetime3">
              <a:rPr lang="en-US" smtClean="0"/>
              <a:pPr/>
              <a:t>6 July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878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525739"/>
            <a:ext cx="9603275" cy="767803"/>
          </a:xfrm>
        </p:spPr>
        <p:txBody>
          <a:bodyPr/>
          <a:lstStyle/>
          <a:p>
            <a:r>
              <a:rPr lang="en-IN" dirty="0" smtClean="0"/>
              <a:t>Build or Buy?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1293542"/>
            <a:ext cx="9603275" cy="4172803"/>
          </a:xfrm>
        </p:spPr>
        <p:txBody>
          <a:bodyPr>
            <a:normAutofit/>
          </a:bodyPr>
          <a:lstStyle/>
          <a:p>
            <a:r>
              <a:rPr lang="en-IN" dirty="0" smtClean="0"/>
              <a:t>Software development can be seen in 2 differing view points</a:t>
            </a:r>
          </a:p>
          <a:p>
            <a:pPr lvl="1"/>
            <a:r>
              <a:rPr lang="en-IN" dirty="0" smtClean="0"/>
              <a:t>Developers</a:t>
            </a:r>
          </a:p>
          <a:p>
            <a:pPr lvl="1"/>
            <a:r>
              <a:rPr lang="en-IN" dirty="0" smtClean="0"/>
              <a:t>Clients or users</a:t>
            </a:r>
          </a:p>
          <a:p>
            <a:r>
              <a:rPr lang="en-IN" dirty="0" smtClean="0"/>
              <a:t>In-house development or outsourced</a:t>
            </a:r>
          </a:p>
          <a:p>
            <a:pPr lvl="1"/>
            <a:r>
              <a:rPr lang="en-IN" dirty="0" smtClean="0"/>
              <a:t>When?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588E-38E9-4677-8983-8BD4A360546E}" type="datetime3">
              <a:rPr lang="en-US" smtClean="0"/>
              <a:pPr/>
              <a:t>6 July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728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525739"/>
            <a:ext cx="9603275" cy="767803"/>
          </a:xfrm>
        </p:spPr>
        <p:txBody>
          <a:bodyPr/>
          <a:lstStyle/>
          <a:p>
            <a:r>
              <a:rPr lang="en-IN" dirty="0" smtClean="0"/>
              <a:t>Build or Buy?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1293542"/>
            <a:ext cx="9603275" cy="4172803"/>
          </a:xfrm>
        </p:spPr>
        <p:txBody>
          <a:bodyPr>
            <a:normAutofit fontScale="70000" lnSpcReduction="20000"/>
          </a:bodyPr>
          <a:lstStyle/>
          <a:p>
            <a:r>
              <a:rPr lang="en-IN" dirty="0" smtClean="0"/>
              <a:t>Off-the-shelf</a:t>
            </a:r>
          </a:p>
          <a:p>
            <a:r>
              <a:rPr lang="en-IN" dirty="0" smtClean="0"/>
              <a:t>Advantages</a:t>
            </a:r>
          </a:p>
          <a:p>
            <a:pPr lvl="1"/>
            <a:r>
              <a:rPr lang="en-IN" dirty="0" smtClean="0"/>
              <a:t>Cost per customer can be reduced</a:t>
            </a:r>
          </a:p>
          <a:p>
            <a:pPr lvl="1"/>
            <a:r>
              <a:rPr lang="en-IN" dirty="0" smtClean="0"/>
              <a:t>Software already exists</a:t>
            </a:r>
          </a:p>
          <a:p>
            <a:pPr lvl="2"/>
            <a:r>
              <a:rPr lang="en-IN" dirty="0" smtClean="0"/>
              <a:t>Can be examined and even trialled before acquisition</a:t>
            </a:r>
          </a:p>
          <a:p>
            <a:pPr lvl="2"/>
            <a:r>
              <a:rPr lang="en-IN" dirty="0" smtClean="0"/>
              <a:t>No delay while the software is being built</a:t>
            </a:r>
          </a:p>
          <a:p>
            <a:pPr lvl="2"/>
            <a:r>
              <a:rPr lang="en-IN" dirty="0" smtClean="0"/>
              <a:t>Bugs might be removed before purchasing</a:t>
            </a:r>
          </a:p>
          <a:p>
            <a:r>
              <a:rPr lang="en-IN" dirty="0" smtClean="0"/>
              <a:t>Disadvantages</a:t>
            </a:r>
          </a:p>
          <a:p>
            <a:pPr lvl="1"/>
            <a:r>
              <a:rPr lang="en-IN" dirty="0" smtClean="0"/>
              <a:t>No competitive advantage</a:t>
            </a:r>
          </a:p>
          <a:p>
            <a:pPr lvl="1"/>
            <a:r>
              <a:rPr lang="en-IN" dirty="0" smtClean="0"/>
              <a:t>Customization is required</a:t>
            </a:r>
          </a:p>
          <a:p>
            <a:pPr lvl="1"/>
            <a:r>
              <a:rPr lang="en-IN" dirty="0" smtClean="0"/>
              <a:t>Software code cannot be owned. Making modifications not possible</a:t>
            </a:r>
          </a:p>
          <a:p>
            <a:pPr lvl="1"/>
            <a:r>
              <a:rPr lang="en-IN" dirty="0" smtClean="0"/>
              <a:t>Barrier to moving to a different application</a:t>
            </a:r>
          </a:p>
          <a:p>
            <a:pPr lvl="1"/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588E-38E9-4677-8983-8BD4A360546E}" type="datetime3">
              <a:rPr lang="en-US" smtClean="0"/>
              <a:pPr/>
              <a:t>6 July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136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Choosing methodologies and technologies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smtClean="0"/>
              <a:t>Methodology – collection of methods</a:t>
            </a:r>
          </a:p>
          <a:p>
            <a:r>
              <a:rPr lang="en-IN" dirty="0" smtClean="0"/>
              <a:t>Techniques – application of scientific, mathematical or logical principles to resolve a particular problem</a:t>
            </a:r>
          </a:p>
          <a:p>
            <a:pPr lvl="1"/>
            <a:r>
              <a:rPr lang="en-IN" dirty="0" smtClean="0"/>
              <a:t>Software design</a:t>
            </a:r>
          </a:p>
          <a:p>
            <a:r>
              <a:rPr lang="en-IN" dirty="0" smtClean="0"/>
              <a:t>Methods – creation of models</a:t>
            </a:r>
          </a:p>
          <a:p>
            <a:r>
              <a:rPr lang="en-IN" dirty="0" smtClean="0"/>
              <a:t>Model – representation of a system which abstracts certain features used by a system</a:t>
            </a:r>
          </a:p>
          <a:p>
            <a:endParaRPr lang="en-IN" dirty="0" smtClean="0"/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588E-38E9-4677-8983-8BD4A360546E}" type="datetime3">
              <a:rPr lang="en-US" smtClean="0"/>
              <a:pPr/>
              <a:t>6 July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163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Choosing methodologies and technologies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dirty="0" smtClean="0"/>
              <a:t>Project analysis should select most appropriate methodologies and technologies</a:t>
            </a:r>
          </a:p>
          <a:p>
            <a:pPr lvl="1"/>
            <a:r>
              <a:rPr lang="en-IN" dirty="0" smtClean="0"/>
              <a:t>Approaches to be selected – USDP, SSADM, HCD</a:t>
            </a:r>
          </a:p>
          <a:p>
            <a:r>
              <a:rPr lang="en-IN" dirty="0" smtClean="0"/>
              <a:t>Products and activities, the chosen methods and technologies will affect:</a:t>
            </a:r>
          </a:p>
          <a:p>
            <a:pPr lvl="1"/>
            <a:r>
              <a:rPr lang="en-IN" dirty="0" smtClean="0"/>
              <a:t>The training requirements for development staff</a:t>
            </a:r>
          </a:p>
          <a:p>
            <a:pPr lvl="1"/>
            <a:r>
              <a:rPr lang="en-IN" dirty="0" smtClean="0"/>
              <a:t>The types of staff to be recruited</a:t>
            </a:r>
          </a:p>
          <a:p>
            <a:pPr lvl="1"/>
            <a:r>
              <a:rPr lang="en-IN" dirty="0" smtClean="0"/>
              <a:t>The development environment – both hardware and software</a:t>
            </a:r>
          </a:p>
          <a:p>
            <a:pPr lvl="1"/>
            <a:r>
              <a:rPr lang="en-IN" dirty="0" smtClean="0"/>
              <a:t>System maintenance arrangements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588E-38E9-4677-8983-8BD4A360546E}" type="datetime3">
              <a:rPr lang="en-US" smtClean="0"/>
              <a:pPr/>
              <a:t>6 July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07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Choosing methodologies and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Steps of project analysis</a:t>
            </a:r>
          </a:p>
          <a:p>
            <a:pPr lvl="1"/>
            <a:r>
              <a:rPr lang="en-IN" dirty="0" smtClean="0"/>
              <a:t>Identify project as either objective driven or product-driven</a:t>
            </a:r>
          </a:p>
          <a:p>
            <a:pPr lvl="1"/>
            <a:r>
              <a:rPr lang="en-IN" dirty="0" smtClean="0"/>
              <a:t>Analyse other project characteristics</a:t>
            </a:r>
          </a:p>
          <a:p>
            <a:pPr lvl="1"/>
            <a:r>
              <a:rPr lang="en-IN" dirty="0" smtClean="0"/>
              <a:t>Identify high-level project risks</a:t>
            </a:r>
          </a:p>
          <a:p>
            <a:pPr lvl="1"/>
            <a:r>
              <a:rPr lang="en-IN" dirty="0" smtClean="0"/>
              <a:t>Take into account user requirements concerning implementation</a:t>
            </a:r>
          </a:p>
          <a:p>
            <a:pPr lvl="1"/>
            <a:r>
              <a:rPr lang="en-IN" dirty="0" smtClean="0"/>
              <a:t>Select general life-cycle approach</a:t>
            </a:r>
          </a:p>
          <a:p>
            <a:pPr lvl="1"/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588E-38E9-4677-8983-8BD4A360546E}" type="datetime3">
              <a:rPr lang="en-US" smtClean="0"/>
              <a:pPr/>
              <a:t>6 July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610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Choosing methodologies and </a:t>
            </a:r>
            <a:r>
              <a:rPr lang="en-IN" dirty="0" smtClean="0"/>
              <a:t>technologies - </a:t>
            </a:r>
            <a:r>
              <a:rPr lang="en-IN" dirty="0"/>
              <a:t>Steps of project analysis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Identify project as either objective driven or product-driven</a:t>
            </a:r>
          </a:p>
          <a:p>
            <a:pPr lvl="1"/>
            <a:r>
              <a:rPr lang="en-IN" dirty="0" smtClean="0"/>
              <a:t>Product-driven – products defined before the start of the project</a:t>
            </a:r>
          </a:p>
          <a:p>
            <a:pPr lvl="1"/>
            <a:r>
              <a:rPr lang="en-IN" dirty="0" smtClean="0"/>
              <a:t>Objective-driven: objectives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588E-38E9-4677-8983-8BD4A360546E}" type="datetime3">
              <a:rPr lang="en-US" smtClean="0"/>
              <a:pPr/>
              <a:t>6 July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091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Choosing methodologies and </a:t>
            </a:r>
            <a:r>
              <a:rPr lang="en-IN" dirty="0" smtClean="0"/>
              <a:t>technologies - </a:t>
            </a:r>
            <a:r>
              <a:rPr lang="en-IN" dirty="0"/>
              <a:t>Steps of project analysis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 smtClean="0"/>
              <a:t>Analyse other project characteristics</a:t>
            </a:r>
          </a:p>
          <a:p>
            <a:r>
              <a:rPr lang="en-IN" dirty="0" smtClean="0"/>
              <a:t>Is</a:t>
            </a:r>
            <a:r>
              <a:rPr lang="en-IN" b="1" dirty="0" smtClean="0"/>
              <a:t> </a:t>
            </a:r>
            <a:r>
              <a:rPr lang="en-IN" dirty="0" smtClean="0"/>
              <a:t>a data-oriented or process-oriented system to be implemented?</a:t>
            </a:r>
          </a:p>
          <a:p>
            <a:pPr lvl="1"/>
            <a:r>
              <a:rPr lang="en-IN" dirty="0" smtClean="0"/>
              <a:t>Data-oriented – information systems</a:t>
            </a:r>
          </a:p>
          <a:p>
            <a:pPr lvl="1"/>
            <a:r>
              <a:rPr lang="en-IN" dirty="0" smtClean="0"/>
              <a:t>Process oriented – embedded control systems</a:t>
            </a:r>
          </a:p>
          <a:p>
            <a:pPr lvl="2"/>
            <a:r>
              <a:rPr lang="en-IN" dirty="0" smtClean="0"/>
              <a:t>OO approach is suitable</a:t>
            </a:r>
          </a:p>
          <a:p>
            <a:r>
              <a:rPr lang="en-IN" dirty="0" smtClean="0"/>
              <a:t>Will the software that is to be produced be a general tool or application specific?</a:t>
            </a:r>
          </a:p>
          <a:p>
            <a:pPr lvl="1"/>
            <a:r>
              <a:rPr lang="en-IN" dirty="0" smtClean="0"/>
              <a:t>General tool – spreadsheet or word processing package</a:t>
            </a:r>
          </a:p>
          <a:p>
            <a:pPr lvl="1"/>
            <a:r>
              <a:rPr lang="en-IN" dirty="0" smtClean="0"/>
              <a:t>Application- specific package: an airline seat reservation system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588E-38E9-4677-8983-8BD4A360546E}" type="datetime3">
              <a:rPr lang="en-US" smtClean="0"/>
              <a:pPr/>
              <a:t>6 July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023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Choosing methodologies and </a:t>
            </a:r>
            <a:r>
              <a:rPr lang="en-IN" dirty="0" smtClean="0"/>
              <a:t>technologies - </a:t>
            </a:r>
            <a:r>
              <a:rPr lang="en-IN" dirty="0"/>
              <a:t>Steps of project analysis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 smtClean="0"/>
              <a:t>Analyse other project characteristics</a:t>
            </a:r>
          </a:p>
          <a:p>
            <a:r>
              <a:rPr lang="en-IN" dirty="0" smtClean="0"/>
              <a:t>Are there specific tools available for implementing the particular type of application?</a:t>
            </a:r>
          </a:p>
          <a:p>
            <a:pPr lvl="1"/>
            <a:r>
              <a:rPr lang="en-IN" dirty="0" smtClean="0"/>
              <a:t>Involve concurrent processing</a:t>
            </a:r>
          </a:p>
          <a:p>
            <a:pPr lvl="1"/>
            <a:r>
              <a:rPr lang="en-IN" dirty="0" smtClean="0"/>
              <a:t>Knowledge- based</a:t>
            </a:r>
          </a:p>
          <a:p>
            <a:pPr lvl="1"/>
            <a:r>
              <a:rPr lang="en-IN" dirty="0" smtClean="0"/>
              <a:t>Heavy use of computer graphics</a:t>
            </a:r>
          </a:p>
          <a:p>
            <a:r>
              <a:rPr lang="en-IN" dirty="0" smtClean="0"/>
              <a:t>Is the system to be created safety critical?</a:t>
            </a:r>
          </a:p>
          <a:p>
            <a:pPr lvl="1"/>
            <a:r>
              <a:rPr lang="en-IN" dirty="0" smtClean="0"/>
              <a:t>Malfunction in the system endanger human life? (testing is more important)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588E-38E9-4677-8983-8BD4A360546E}" type="datetime3">
              <a:rPr lang="en-US" smtClean="0"/>
              <a:pPr/>
              <a:t>6 July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344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Choosing methodologies and </a:t>
            </a:r>
            <a:r>
              <a:rPr lang="en-IN" dirty="0" smtClean="0"/>
              <a:t>technologies - </a:t>
            </a:r>
            <a:r>
              <a:rPr lang="en-IN" dirty="0"/>
              <a:t>Steps of project analysis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 smtClean="0"/>
              <a:t>Analyse other project characteristics</a:t>
            </a:r>
          </a:p>
          <a:p>
            <a:r>
              <a:rPr lang="en-IN" dirty="0" smtClean="0"/>
              <a:t>Is the system designed primarily to carry out predefined services or to be engaging and entertaining?</a:t>
            </a:r>
          </a:p>
          <a:p>
            <a:pPr lvl="1"/>
            <a:r>
              <a:rPr lang="en-IN" dirty="0" smtClean="0"/>
              <a:t>Entertainment – design and evaluation need to be carried out differently</a:t>
            </a:r>
          </a:p>
          <a:p>
            <a:r>
              <a:rPr lang="en-IN" dirty="0" smtClean="0"/>
              <a:t>What is the nature of the hardware and software environment in which the software will operate?</a:t>
            </a:r>
          </a:p>
          <a:p>
            <a:pPr lvl="1"/>
            <a:r>
              <a:rPr lang="en-IN" dirty="0" smtClean="0"/>
              <a:t>Operating environment is different from development environment?</a:t>
            </a:r>
          </a:p>
          <a:p>
            <a:pPr lvl="2"/>
            <a:r>
              <a:rPr lang="en-IN" dirty="0" smtClean="0"/>
              <a:t>Embedded systems</a:t>
            </a:r>
          </a:p>
          <a:p>
            <a:pPr lvl="2"/>
            <a:r>
              <a:rPr lang="en-IN" dirty="0" smtClean="0"/>
              <a:t>Standalone desktop vs client server environment</a:t>
            </a:r>
          </a:p>
          <a:p>
            <a:pPr lvl="1"/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588E-38E9-4677-8983-8BD4A360546E}" type="datetime3">
              <a:rPr lang="en-US" smtClean="0"/>
              <a:pPr/>
              <a:t>6 July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75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Choosing methodologies and </a:t>
            </a:r>
            <a:r>
              <a:rPr lang="en-IN" dirty="0" smtClean="0"/>
              <a:t>technologies - </a:t>
            </a:r>
            <a:r>
              <a:rPr lang="en-IN" dirty="0"/>
              <a:t>Steps of project analysis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Identify high-level project risks</a:t>
            </a:r>
          </a:p>
          <a:p>
            <a:pPr lvl="1"/>
            <a:r>
              <a:rPr lang="en-IN" dirty="0" smtClean="0"/>
              <a:t>The grater the uncertainties at the beginning, the greater the risk that the project will be unsuccessful.</a:t>
            </a:r>
          </a:p>
          <a:p>
            <a:pPr lvl="2"/>
            <a:r>
              <a:rPr lang="en-IN" dirty="0" smtClean="0"/>
              <a:t>Product uncertainty</a:t>
            </a:r>
          </a:p>
          <a:p>
            <a:pPr lvl="2"/>
            <a:r>
              <a:rPr lang="en-IN" dirty="0" smtClean="0"/>
              <a:t>Process uncertainty</a:t>
            </a:r>
          </a:p>
          <a:p>
            <a:pPr lvl="2"/>
            <a:r>
              <a:rPr lang="en-IN" dirty="0" smtClean="0"/>
              <a:t>Resource uncertainty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588E-38E9-4677-8983-8BD4A360546E}" type="datetime3">
              <a:rPr lang="en-US" smtClean="0"/>
              <a:pPr/>
              <a:t>6 July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549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Choosing methodologies and </a:t>
            </a:r>
            <a:r>
              <a:rPr lang="en-IN" dirty="0" smtClean="0"/>
              <a:t>technologies - </a:t>
            </a:r>
            <a:r>
              <a:rPr lang="en-IN" dirty="0"/>
              <a:t>Steps of project analysis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Select general life-cycle </a:t>
            </a:r>
            <a:r>
              <a:rPr lang="en-IN" dirty="0" smtClean="0"/>
              <a:t>approach</a:t>
            </a:r>
          </a:p>
          <a:p>
            <a:pPr lvl="1"/>
            <a:r>
              <a:rPr lang="en-IN" dirty="0" smtClean="0"/>
              <a:t>Control systems: concurrent processing - </a:t>
            </a:r>
            <a:r>
              <a:rPr lang="en-IN" smtClean="0"/>
              <a:t>petrinets</a:t>
            </a:r>
            <a:endParaRPr lang="en-IN" dirty="0" smtClean="0"/>
          </a:p>
          <a:p>
            <a:pPr lvl="1"/>
            <a:r>
              <a:rPr lang="en-IN" dirty="0" smtClean="0"/>
              <a:t>Information systems</a:t>
            </a:r>
          </a:p>
          <a:p>
            <a:pPr lvl="1"/>
            <a:r>
              <a:rPr lang="en-IN" dirty="0" smtClean="0"/>
              <a:t>Availability of users</a:t>
            </a:r>
          </a:p>
          <a:p>
            <a:pPr lvl="1"/>
            <a:r>
              <a:rPr lang="en-IN" dirty="0" smtClean="0"/>
              <a:t>Specialized techniques</a:t>
            </a:r>
          </a:p>
          <a:p>
            <a:pPr lvl="1"/>
            <a:r>
              <a:rPr lang="en-IN" dirty="0" smtClean="0"/>
              <a:t>Hardware environment</a:t>
            </a:r>
          </a:p>
          <a:p>
            <a:pPr lvl="1"/>
            <a:r>
              <a:rPr lang="en-IN" dirty="0" smtClean="0"/>
              <a:t>Safety critical systems</a:t>
            </a:r>
          </a:p>
          <a:p>
            <a:pPr lvl="1"/>
            <a:r>
              <a:rPr lang="en-IN" dirty="0" smtClean="0"/>
              <a:t>Imprecise requirements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588E-38E9-4677-8983-8BD4A360546E}" type="datetime3">
              <a:rPr lang="en-US" smtClean="0"/>
              <a:pPr/>
              <a:t>6 July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449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Software processes and process models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 smtClean="0"/>
              <a:t>Software processes</a:t>
            </a:r>
          </a:p>
          <a:p>
            <a:r>
              <a:rPr lang="en-IN" dirty="0" smtClean="0"/>
              <a:t>Product inception</a:t>
            </a:r>
          </a:p>
          <a:p>
            <a:r>
              <a:rPr lang="en-IN" dirty="0" smtClean="0"/>
              <a:t>Series of transformation</a:t>
            </a:r>
          </a:p>
          <a:p>
            <a:r>
              <a:rPr lang="en-IN" dirty="0" smtClean="0"/>
              <a:t>Software release</a:t>
            </a:r>
          </a:p>
          <a:p>
            <a:r>
              <a:rPr lang="en-IN" dirty="0" smtClean="0"/>
              <a:t>Maintenance stage</a:t>
            </a:r>
          </a:p>
          <a:p>
            <a:endParaRPr lang="en-IN" dirty="0" smtClean="0"/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588E-38E9-4677-8983-8BD4A360546E}" type="datetime3">
              <a:rPr lang="en-US" smtClean="0"/>
              <a:pPr/>
              <a:t>6 July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237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Software processes and process models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 smtClean="0"/>
              <a:t>Software process model – Life Cycle Model</a:t>
            </a:r>
          </a:p>
          <a:p>
            <a:r>
              <a:rPr lang="en-IN" dirty="0" smtClean="0"/>
              <a:t>Graphical or textual representation of its life cycle</a:t>
            </a:r>
          </a:p>
          <a:p>
            <a:r>
              <a:rPr lang="en-IN" dirty="0" smtClean="0"/>
              <a:t>Describe the details of various types of activities carried out and the documents produced</a:t>
            </a:r>
          </a:p>
          <a:p>
            <a:endParaRPr lang="en-IN" dirty="0" smtClean="0"/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588E-38E9-4677-8983-8BD4A360546E}" type="datetime3">
              <a:rPr lang="en-US" smtClean="0"/>
              <a:pPr/>
              <a:t>6 July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730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Choice of process models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Process – emphasizes the idea of a system in action</a:t>
            </a:r>
          </a:p>
          <a:p>
            <a:pPr lvl="1"/>
            <a:r>
              <a:rPr lang="en-IN" dirty="0" smtClean="0"/>
              <a:t>To achieve an outcome</a:t>
            </a:r>
          </a:p>
          <a:p>
            <a:r>
              <a:rPr lang="en-IN" dirty="0" smtClean="0"/>
              <a:t>Process models – interrelated activities undertaken to create a final product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588E-38E9-4677-8983-8BD4A360546E}" type="datetime3">
              <a:rPr lang="en-US" smtClean="0"/>
              <a:pPr/>
              <a:t>6 July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8227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Rapid application development (rad)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3612591"/>
          </a:xfrm>
        </p:spPr>
        <p:txBody>
          <a:bodyPr/>
          <a:lstStyle/>
          <a:p>
            <a:r>
              <a:rPr lang="en-IN" dirty="0" smtClean="0"/>
              <a:t>Rapid Prototyping Model</a:t>
            </a:r>
          </a:p>
          <a:p>
            <a:r>
              <a:rPr lang="en-IN" dirty="0" smtClean="0"/>
              <a:t>Has the features of prototyping and incremental delivery model</a:t>
            </a:r>
          </a:p>
          <a:p>
            <a:r>
              <a:rPr lang="en-IN" dirty="0" smtClean="0"/>
              <a:t>Aims:</a:t>
            </a:r>
          </a:p>
          <a:p>
            <a:pPr lvl="1"/>
            <a:r>
              <a:rPr lang="en-IN" dirty="0" smtClean="0"/>
              <a:t>To decrease the time taken and the cost incurred to develop software systems</a:t>
            </a:r>
          </a:p>
          <a:p>
            <a:pPr lvl="1"/>
            <a:r>
              <a:rPr lang="en-IN" dirty="0" smtClean="0"/>
              <a:t>To limit the costs of accommodating change requests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588E-38E9-4677-8983-8BD4A360546E}" type="datetime3">
              <a:rPr lang="en-US" smtClean="0"/>
              <a:pPr/>
              <a:t>6 July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0259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Rapid application development (rad)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588E-38E9-4677-8983-8BD4A360546E}" type="datetime3">
              <a:rPr lang="en-US" smtClean="0"/>
              <a:pPr/>
              <a:t>6 July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3612591"/>
          </a:xfrm>
        </p:spPr>
        <p:txBody>
          <a:bodyPr>
            <a:normAutofit fontScale="92500" lnSpcReduction="20000"/>
          </a:bodyPr>
          <a:lstStyle/>
          <a:p>
            <a:r>
              <a:rPr lang="en-IN" dirty="0" smtClean="0"/>
              <a:t>Problems identified in waterfall model:</a:t>
            </a:r>
          </a:p>
          <a:p>
            <a:pPr lvl="1"/>
            <a:r>
              <a:rPr lang="en-IN" dirty="0" smtClean="0"/>
              <a:t>Clients do not know what they exactly want until they see a working system</a:t>
            </a:r>
          </a:p>
          <a:p>
            <a:pPr lvl="1"/>
            <a:r>
              <a:rPr lang="en-IN" dirty="0" smtClean="0"/>
              <a:t>They do not see the working system until the development is complete</a:t>
            </a:r>
          </a:p>
          <a:p>
            <a:pPr lvl="1"/>
            <a:r>
              <a:rPr lang="en-IN" dirty="0" smtClean="0"/>
              <a:t>Feedback – customers commenting on the installed application</a:t>
            </a:r>
          </a:p>
          <a:p>
            <a:pPr lvl="1"/>
            <a:r>
              <a:rPr lang="en-IN" dirty="0" smtClean="0"/>
              <a:t>Required changes are incorporated through subsequent maintenance efforts</a:t>
            </a:r>
          </a:p>
          <a:p>
            <a:pPr lvl="1"/>
            <a:r>
              <a:rPr lang="en-IN" dirty="0" smtClean="0"/>
              <a:t>It takes long time and high cost                </a:t>
            </a:r>
          </a:p>
          <a:p>
            <a:pPr marL="457200" lvl="1" indent="0">
              <a:buNone/>
            </a:pPr>
            <a:r>
              <a:rPr lang="en-IN" sz="3000" i="1" dirty="0" smtClean="0">
                <a:solidFill>
                  <a:srgbClr val="0000CC"/>
                </a:solidFill>
              </a:rPr>
              <a:t>RAD eliminates this problem by incorporating customer feedback on successively developed prototypes.</a:t>
            </a:r>
            <a:r>
              <a:rPr lang="en-IN" dirty="0" smtClean="0"/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12767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Rapid application development (rad)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 smtClean="0"/>
              <a:t>Development takes place in a series of short cycles called iterations</a:t>
            </a:r>
          </a:p>
          <a:p>
            <a:r>
              <a:rPr lang="en-IN" dirty="0" smtClean="0"/>
              <a:t>Plans for one iteration at a time</a:t>
            </a:r>
          </a:p>
          <a:p>
            <a:r>
              <a:rPr lang="en-IN" dirty="0" smtClean="0"/>
              <a:t>Time planned for each iteration is called time box</a:t>
            </a:r>
          </a:p>
          <a:p>
            <a:r>
              <a:rPr lang="en-IN" dirty="0" smtClean="0"/>
              <a:t>Each iteration enhances the implemented functionality a little</a:t>
            </a:r>
          </a:p>
          <a:p>
            <a:r>
              <a:rPr lang="en-IN" dirty="0" smtClean="0">
                <a:solidFill>
                  <a:srgbClr val="0000CC"/>
                </a:solidFill>
              </a:rPr>
              <a:t>Note: Prototype is used as an instrument for gathering customer feedback only and is not released to the customer for regular use</a:t>
            </a:r>
            <a:endParaRPr lang="en-IN" dirty="0">
              <a:solidFill>
                <a:srgbClr val="0000CC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588E-38E9-4677-8983-8BD4A360546E}" type="datetime3">
              <a:rPr lang="en-US" smtClean="0"/>
              <a:pPr/>
              <a:t>6 July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1163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804520"/>
            <a:ext cx="9603275" cy="611686"/>
          </a:xfrm>
        </p:spPr>
        <p:txBody>
          <a:bodyPr/>
          <a:lstStyle/>
          <a:p>
            <a:r>
              <a:rPr lang="en-IN" dirty="0"/>
              <a:t>Rapid application development (rad)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1416206"/>
            <a:ext cx="9603275" cy="4050139"/>
          </a:xfrm>
        </p:spPr>
        <p:txBody>
          <a:bodyPr/>
          <a:lstStyle/>
          <a:p>
            <a:r>
              <a:rPr lang="en-IN" dirty="0" smtClean="0"/>
              <a:t>A customer representative is included to clarify the requirements</a:t>
            </a:r>
          </a:p>
          <a:p>
            <a:pPr lvl="1"/>
            <a:r>
              <a:rPr lang="en-IN" dirty="0" smtClean="0"/>
              <a:t>To bridge the communication gap</a:t>
            </a:r>
          </a:p>
          <a:p>
            <a:r>
              <a:rPr lang="en-IN" dirty="0" smtClean="0"/>
              <a:t>How does RAD model lead to faster product development?</a:t>
            </a:r>
          </a:p>
          <a:p>
            <a:pPr lvl="1"/>
            <a:r>
              <a:rPr lang="en-IN" dirty="0" smtClean="0"/>
              <a:t>Emphasizes code reuse – object oriented languages and practices</a:t>
            </a:r>
          </a:p>
          <a:p>
            <a:pPr lvl="1"/>
            <a:r>
              <a:rPr lang="en-IN" dirty="0" smtClean="0"/>
              <a:t>Advocates use of specialized tools for faster creation of working prototypes</a:t>
            </a:r>
          </a:p>
          <a:p>
            <a:pPr lvl="1"/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588E-38E9-4677-8983-8BD4A360546E}" type="datetime3">
              <a:rPr lang="en-US" smtClean="0"/>
              <a:pPr/>
              <a:t>6 July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1606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146448"/>
            <a:ext cx="9603275" cy="645140"/>
          </a:xfrm>
        </p:spPr>
        <p:txBody>
          <a:bodyPr/>
          <a:lstStyle/>
          <a:p>
            <a:r>
              <a:rPr lang="en-IN" dirty="0" smtClean="0"/>
              <a:t>Agile Methods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1081668"/>
            <a:ext cx="9603275" cy="4384678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>
                <a:solidFill>
                  <a:srgbClr val="0000CC"/>
                </a:solidFill>
              </a:rPr>
              <a:t>Need for Agile methods</a:t>
            </a:r>
          </a:p>
          <a:p>
            <a:r>
              <a:rPr lang="en-IN" dirty="0" smtClean="0"/>
              <a:t>Heavy weight software development methodologies – difficulties</a:t>
            </a:r>
          </a:p>
          <a:p>
            <a:pPr lvl="1"/>
            <a:r>
              <a:rPr lang="en-IN" dirty="0" smtClean="0"/>
              <a:t>Complexity of modern software development projects</a:t>
            </a:r>
          </a:p>
          <a:p>
            <a:pPr lvl="1"/>
            <a:r>
              <a:rPr lang="en-IN" dirty="0" smtClean="0"/>
              <a:t>Requires the customers to come up with all the requirements upfront</a:t>
            </a:r>
          </a:p>
          <a:p>
            <a:pPr lvl="1"/>
            <a:r>
              <a:rPr lang="en-IN" dirty="0" smtClean="0"/>
              <a:t>Too rigid and difficult to reuse</a:t>
            </a:r>
          </a:p>
          <a:p>
            <a:pPr lvl="1"/>
            <a:endParaRPr lang="en-IN" dirty="0" smtClean="0"/>
          </a:p>
          <a:p>
            <a:pPr lvl="1"/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588E-38E9-4677-8983-8BD4A360546E}" type="datetime3">
              <a:rPr lang="en-US" smtClean="0"/>
              <a:pPr/>
              <a:t>6 July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5566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146448"/>
            <a:ext cx="9603275" cy="645140"/>
          </a:xfrm>
        </p:spPr>
        <p:txBody>
          <a:bodyPr/>
          <a:lstStyle/>
          <a:p>
            <a:r>
              <a:rPr lang="en-IN" dirty="0" smtClean="0"/>
              <a:t>Agile Methods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1081668"/>
            <a:ext cx="9603275" cy="438467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dirty="0" smtClean="0">
                <a:solidFill>
                  <a:srgbClr val="0000CC"/>
                </a:solidFill>
              </a:rPr>
              <a:t>Need for Agile methods</a:t>
            </a:r>
          </a:p>
          <a:p>
            <a:r>
              <a:rPr lang="en-IN" dirty="0" smtClean="0"/>
              <a:t>Heavy weight software development methodologies – difficulties</a:t>
            </a:r>
          </a:p>
          <a:p>
            <a:pPr lvl="1"/>
            <a:r>
              <a:rPr lang="en-IN" dirty="0" smtClean="0"/>
              <a:t>Difficult to accommodate change requests</a:t>
            </a:r>
          </a:p>
          <a:p>
            <a:pPr lvl="2"/>
            <a:r>
              <a:rPr lang="en-IN" dirty="0" smtClean="0"/>
              <a:t>Long-term project management plan</a:t>
            </a:r>
          </a:p>
          <a:p>
            <a:pPr lvl="2"/>
            <a:r>
              <a:rPr lang="en-IN" dirty="0" smtClean="0"/>
              <a:t>Comprehensive design based on requirements given in the beginning</a:t>
            </a:r>
          </a:p>
          <a:p>
            <a:pPr lvl="2"/>
            <a:r>
              <a:rPr lang="en-IN" dirty="0" smtClean="0"/>
              <a:t>Change to the requirements lead to various changes in the design</a:t>
            </a:r>
          </a:p>
          <a:p>
            <a:pPr lvl="2"/>
            <a:r>
              <a:rPr lang="en-IN" dirty="0" smtClean="0"/>
              <a:t>In modern projects, 50% of requirements are either new or modified after project has started</a:t>
            </a:r>
          </a:p>
          <a:p>
            <a:pPr lvl="2"/>
            <a:r>
              <a:rPr lang="en-IN" dirty="0" smtClean="0"/>
              <a:t>Frequent requirement changes lead to lot of rework and results in inefficient</a:t>
            </a:r>
          </a:p>
          <a:p>
            <a:pPr lvl="1"/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588E-38E9-4677-8983-8BD4A360546E}" type="datetime3">
              <a:rPr lang="en-US" smtClean="0"/>
              <a:pPr/>
              <a:t>6 July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645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146448"/>
            <a:ext cx="9603275" cy="645140"/>
          </a:xfrm>
        </p:spPr>
        <p:txBody>
          <a:bodyPr/>
          <a:lstStyle/>
          <a:p>
            <a:r>
              <a:rPr lang="en-IN" dirty="0" smtClean="0"/>
              <a:t>Agile Methods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1081668"/>
            <a:ext cx="9603275" cy="438467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 smtClean="0">
                <a:solidFill>
                  <a:srgbClr val="0000CC"/>
                </a:solidFill>
              </a:rPr>
              <a:t>Need for Agile methods</a:t>
            </a:r>
          </a:p>
          <a:p>
            <a:r>
              <a:rPr lang="en-IN" dirty="0" smtClean="0"/>
              <a:t>Heavy weight software development methodologies – difficulties</a:t>
            </a:r>
          </a:p>
          <a:p>
            <a:pPr lvl="1"/>
            <a:r>
              <a:rPr lang="en-IN" dirty="0" smtClean="0"/>
              <a:t>Documentation-driven</a:t>
            </a:r>
          </a:p>
          <a:p>
            <a:pPr lvl="2"/>
            <a:r>
              <a:rPr lang="en-IN" dirty="0" smtClean="0"/>
              <a:t>Mandate production of voluminous documents – rarely referred by anyone</a:t>
            </a:r>
          </a:p>
          <a:p>
            <a:pPr lvl="2"/>
            <a:r>
              <a:rPr lang="en-IN" dirty="0" smtClean="0"/>
              <a:t>50 percent of the development efforts </a:t>
            </a:r>
          </a:p>
          <a:p>
            <a:pPr lvl="1"/>
            <a:r>
              <a:rPr lang="en-IN" dirty="0" smtClean="0"/>
              <a:t>Too rigid</a:t>
            </a:r>
          </a:p>
          <a:p>
            <a:pPr lvl="2"/>
            <a:r>
              <a:rPr lang="en-IN" dirty="0" smtClean="0"/>
              <a:t>Fine when software is developed from scratch</a:t>
            </a:r>
          </a:p>
          <a:p>
            <a:pPr lvl="2"/>
            <a:r>
              <a:rPr lang="en-IN" dirty="0" smtClean="0"/>
              <a:t>Not suitable for code reuse</a:t>
            </a:r>
          </a:p>
          <a:p>
            <a:pPr lvl="1"/>
            <a:endParaRPr lang="en-IN" dirty="0" smtClean="0"/>
          </a:p>
          <a:p>
            <a:pPr lvl="1"/>
            <a:endParaRPr lang="en-IN" dirty="0" smtClean="0"/>
          </a:p>
          <a:p>
            <a:pPr lvl="1"/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588E-38E9-4677-8983-8BD4A360546E}" type="datetime3">
              <a:rPr lang="en-US" smtClean="0"/>
              <a:pPr/>
              <a:t>6 July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6904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agile methods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1382752"/>
            <a:ext cx="9603275" cy="4083594"/>
          </a:xfrm>
        </p:spPr>
        <p:txBody>
          <a:bodyPr>
            <a:normAutofit lnSpcReduction="10000"/>
          </a:bodyPr>
          <a:lstStyle/>
          <a:p>
            <a:r>
              <a:rPr lang="en-IN" dirty="0"/>
              <a:t>Overview of agile </a:t>
            </a:r>
            <a:r>
              <a:rPr lang="en-IN" dirty="0" smtClean="0"/>
              <a:t>methods</a:t>
            </a:r>
          </a:p>
          <a:p>
            <a:r>
              <a:rPr lang="en-IN" dirty="0" smtClean="0"/>
              <a:t>To overcome the important disadvantages of the heavyweight development methodologies</a:t>
            </a:r>
          </a:p>
          <a:p>
            <a:pPr lvl="1"/>
            <a:r>
              <a:rPr lang="en-IN" dirty="0" smtClean="0"/>
              <a:t>Iterative development</a:t>
            </a:r>
          </a:p>
          <a:p>
            <a:pPr lvl="1"/>
            <a:r>
              <a:rPr lang="en-IN" dirty="0" smtClean="0"/>
              <a:t>Only one feature at a time by making only short-term plans</a:t>
            </a:r>
          </a:p>
          <a:p>
            <a:pPr lvl="1"/>
            <a:r>
              <a:rPr lang="en-IN" dirty="0" smtClean="0"/>
              <a:t>After each feature is developed, the software is released and to the customers for their use and feedback</a:t>
            </a:r>
          </a:p>
          <a:p>
            <a:pPr lvl="1"/>
            <a:r>
              <a:rPr lang="en-IN" dirty="0" smtClean="0"/>
              <a:t>Few customer representatives included in the development team</a:t>
            </a:r>
          </a:p>
          <a:p>
            <a:pPr lvl="1"/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588E-38E9-4677-8983-8BD4A360546E}" type="datetime3">
              <a:rPr lang="en-US" smtClean="0"/>
              <a:pPr/>
              <a:t>6 July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3871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533952"/>
            <a:ext cx="9603275" cy="477871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agile </a:t>
            </a:r>
            <a:r>
              <a:rPr lang="en-IN" dirty="0"/>
              <a:t>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1260088"/>
            <a:ext cx="9603275" cy="4206257"/>
          </a:xfrm>
        </p:spPr>
        <p:txBody>
          <a:bodyPr/>
          <a:lstStyle/>
          <a:p>
            <a:r>
              <a:rPr lang="en-IN" dirty="0" smtClean="0"/>
              <a:t>Agile method refers to group of development processes</a:t>
            </a:r>
          </a:p>
          <a:p>
            <a:pPr lvl="1"/>
            <a:r>
              <a:rPr lang="en-IN" dirty="0" smtClean="0"/>
              <a:t>Crystal technologies</a:t>
            </a:r>
          </a:p>
          <a:p>
            <a:pPr lvl="1"/>
            <a:r>
              <a:rPr lang="en-IN" dirty="0" err="1" smtClean="0"/>
              <a:t>Atern</a:t>
            </a:r>
            <a:r>
              <a:rPr lang="en-IN" dirty="0" smtClean="0"/>
              <a:t> (formerly DSDM)</a:t>
            </a:r>
          </a:p>
          <a:p>
            <a:pPr lvl="1"/>
            <a:r>
              <a:rPr lang="en-IN" dirty="0" smtClean="0"/>
              <a:t>Feature-driven development</a:t>
            </a:r>
          </a:p>
          <a:p>
            <a:pPr lvl="1"/>
            <a:r>
              <a:rPr lang="en-IN" dirty="0" smtClean="0"/>
              <a:t>Scrum</a:t>
            </a:r>
          </a:p>
          <a:p>
            <a:pPr lvl="1"/>
            <a:r>
              <a:rPr lang="en-IN" dirty="0" smtClean="0"/>
              <a:t>Extreme programming (XP)</a:t>
            </a:r>
          </a:p>
          <a:p>
            <a:pPr lvl="1"/>
            <a:r>
              <a:rPr lang="en-IN" dirty="0" smtClean="0"/>
              <a:t>Lean 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588E-38E9-4677-8983-8BD4A360546E}" type="datetime3">
              <a:rPr lang="en-US" smtClean="0"/>
              <a:pPr/>
              <a:t>6 July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3338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391925"/>
            <a:ext cx="9603275" cy="522476"/>
          </a:xfrm>
        </p:spPr>
        <p:txBody>
          <a:bodyPr>
            <a:normAutofit fontScale="90000"/>
          </a:bodyPr>
          <a:lstStyle/>
          <a:p>
            <a:r>
              <a:rPr lang="en-IN" dirty="0"/>
              <a:t>agile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1126273"/>
            <a:ext cx="9603275" cy="4340072"/>
          </a:xfrm>
        </p:spPr>
        <p:txBody>
          <a:bodyPr/>
          <a:lstStyle/>
          <a:p>
            <a:r>
              <a:rPr lang="en-IN" dirty="0" smtClean="0"/>
              <a:t>Basic principles</a:t>
            </a:r>
          </a:p>
          <a:p>
            <a:r>
              <a:rPr lang="en-IN" dirty="0" smtClean="0"/>
              <a:t>Incremental delivery after each time box</a:t>
            </a:r>
          </a:p>
          <a:p>
            <a:r>
              <a:rPr lang="en-IN" dirty="0" smtClean="0"/>
              <a:t>Face-to-face communication</a:t>
            </a:r>
          </a:p>
          <a:p>
            <a:r>
              <a:rPr lang="en-IN" dirty="0" smtClean="0"/>
              <a:t>Customer interactions</a:t>
            </a:r>
          </a:p>
          <a:p>
            <a:r>
              <a:rPr lang="en-IN" dirty="0" smtClean="0"/>
              <a:t>Minimal documentation</a:t>
            </a:r>
          </a:p>
          <a:p>
            <a:r>
              <a:rPr lang="en-IN" dirty="0" smtClean="0"/>
              <a:t>Pair programming</a:t>
            </a:r>
          </a:p>
          <a:p>
            <a:pPr lvl="1"/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588E-38E9-4677-8983-8BD4A360546E}" type="datetime3">
              <a:rPr lang="en-US" smtClean="0"/>
              <a:pPr/>
              <a:t>6 July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9261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202354"/>
            <a:ext cx="9603275" cy="500174"/>
          </a:xfrm>
        </p:spPr>
        <p:txBody>
          <a:bodyPr>
            <a:normAutofit fontScale="90000"/>
          </a:bodyPr>
          <a:lstStyle/>
          <a:p>
            <a:r>
              <a:rPr lang="en-IN" dirty="0"/>
              <a:t>agile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1025912"/>
            <a:ext cx="9603275" cy="4440433"/>
          </a:xfrm>
        </p:spPr>
        <p:txBody>
          <a:bodyPr/>
          <a:lstStyle/>
          <a:p>
            <a:r>
              <a:rPr lang="en-IN" smtClean="0"/>
              <a:t>Adoption detractors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588E-38E9-4677-8983-8BD4A360546E}" type="datetime3">
              <a:rPr lang="en-US" smtClean="0"/>
              <a:pPr/>
              <a:t>6 July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1704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Extreme programming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Ideas were largely developed on the C3 payroll development project at Chrysler</a:t>
            </a:r>
          </a:p>
          <a:p>
            <a:r>
              <a:rPr lang="en-IN" dirty="0" smtClean="0"/>
              <a:t>Extreme programming – takes </a:t>
            </a:r>
            <a:r>
              <a:rPr lang="en-IN" dirty="0" err="1" smtClean="0"/>
              <a:t>commonsense</a:t>
            </a:r>
            <a:r>
              <a:rPr lang="en-IN" dirty="0" smtClean="0"/>
              <a:t> principles to extreme levels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588E-38E9-4677-8983-8BD4A360546E}" type="datetime3">
              <a:rPr lang="en-US" smtClean="0"/>
              <a:pPr/>
              <a:t>6 July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07496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8" y="269261"/>
            <a:ext cx="9603275" cy="477871"/>
          </a:xfrm>
        </p:spPr>
        <p:txBody>
          <a:bodyPr>
            <a:normAutofit fontScale="90000"/>
          </a:bodyPr>
          <a:lstStyle/>
          <a:p>
            <a:r>
              <a:rPr lang="en-IN" dirty="0"/>
              <a:t>Extreme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8" y="1204331"/>
            <a:ext cx="9603275" cy="4529643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>
                <a:solidFill>
                  <a:srgbClr val="0000CC"/>
                </a:solidFill>
              </a:rPr>
              <a:t>Foundations of XP – core values</a:t>
            </a:r>
            <a:r>
              <a:rPr lang="en-IN" dirty="0" smtClean="0"/>
              <a:t> </a:t>
            </a:r>
          </a:p>
          <a:p>
            <a:r>
              <a:rPr lang="en-IN" dirty="0" smtClean="0"/>
              <a:t>Communication and feedback</a:t>
            </a:r>
          </a:p>
          <a:p>
            <a:r>
              <a:rPr lang="en-IN" dirty="0" smtClean="0"/>
              <a:t>Simplicity</a:t>
            </a:r>
          </a:p>
          <a:p>
            <a:r>
              <a:rPr lang="en-IN" dirty="0" smtClean="0"/>
              <a:t>Responsibility</a:t>
            </a:r>
          </a:p>
          <a:p>
            <a:r>
              <a:rPr lang="en-IN" dirty="0" smtClean="0"/>
              <a:t>Courage 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588E-38E9-4677-8983-8BD4A360546E}" type="datetime3">
              <a:rPr lang="en-US" smtClean="0"/>
              <a:pPr/>
              <a:t>6 July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8933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8" y="269261"/>
            <a:ext cx="9603275" cy="477871"/>
          </a:xfrm>
        </p:spPr>
        <p:txBody>
          <a:bodyPr>
            <a:normAutofit fontScale="90000"/>
          </a:bodyPr>
          <a:lstStyle/>
          <a:p>
            <a:r>
              <a:rPr lang="en-IN" dirty="0"/>
              <a:t>Extreme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936702"/>
            <a:ext cx="9603275" cy="45296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 smtClean="0">
                <a:solidFill>
                  <a:srgbClr val="0000CC"/>
                </a:solidFill>
              </a:rPr>
              <a:t>Core practices</a:t>
            </a:r>
          </a:p>
          <a:p>
            <a:r>
              <a:rPr lang="en-IN" dirty="0" smtClean="0"/>
              <a:t>The planning exercise</a:t>
            </a:r>
          </a:p>
          <a:p>
            <a:pPr lvl="1"/>
            <a:r>
              <a:rPr lang="en-IN" dirty="0" smtClean="0"/>
              <a:t>Releases</a:t>
            </a:r>
          </a:p>
          <a:p>
            <a:pPr lvl="1"/>
            <a:r>
              <a:rPr lang="en-IN" dirty="0" smtClean="0"/>
              <a:t>Iterations</a:t>
            </a:r>
          </a:p>
          <a:p>
            <a:pPr lvl="1"/>
            <a:r>
              <a:rPr lang="en-IN" dirty="0" smtClean="0"/>
              <a:t>Planning game</a:t>
            </a:r>
          </a:p>
          <a:p>
            <a:pPr lvl="1"/>
            <a:r>
              <a:rPr lang="en-IN" dirty="0" smtClean="0"/>
              <a:t>Story</a:t>
            </a:r>
          </a:p>
          <a:p>
            <a:r>
              <a:rPr lang="en-IN" dirty="0" smtClean="0"/>
              <a:t>Small releases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588E-38E9-4677-8983-8BD4A360546E}" type="datetime3">
              <a:rPr lang="en-US" smtClean="0"/>
              <a:pPr/>
              <a:t>6 July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4349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8" y="269261"/>
            <a:ext cx="9603275" cy="477871"/>
          </a:xfrm>
        </p:spPr>
        <p:txBody>
          <a:bodyPr>
            <a:normAutofit fontScale="90000"/>
          </a:bodyPr>
          <a:lstStyle/>
          <a:p>
            <a:r>
              <a:rPr lang="en-IN" dirty="0"/>
              <a:t>Extreme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7" y="1070516"/>
            <a:ext cx="9603275" cy="45296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 smtClean="0">
                <a:solidFill>
                  <a:srgbClr val="0000CC"/>
                </a:solidFill>
              </a:rPr>
              <a:t>Core practices</a:t>
            </a:r>
          </a:p>
          <a:p>
            <a:r>
              <a:rPr lang="en-IN" dirty="0" smtClean="0"/>
              <a:t>Metaphor</a:t>
            </a:r>
          </a:p>
          <a:p>
            <a:r>
              <a:rPr lang="en-IN" dirty="0" smtClean="0"/>
              <a:t>Simple design</a:t>
            </a:r>
          </a:p>
          <a:p>
            <a:r>
              <a:rPr lang="en-IN" dirty="0" smtClean="0"/>
              <a:t>Testing</a:t>
            </a:r>
          </a:p>
          <a:p>
            <a:r>
              <a:rPr lang="en-IN" dirty="0" smtClean="0"/>
              <a:t>Refactoring</a:t>
            </a:r>
          </a:p>
          <a:p>
            <a:r>
              <a:rPr lang="en-IN" dirty="0" smtClean="0"/>
              <a:t>Pair programming</a:t>
            </a:r>
          </a:p>
          <a:p>
            <a:r>
              <a:rPr lang="en-IN" dirty="0" smtClean="0"/>
              <a:t>Collective ownership 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588E-38E9-4677-8983-8BD4A360546E}" type="datetime3">
              <a:rPr lang="en-US" smtClean="0"/>
              <a:pPr/>
              <a:t>6 July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4282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8" y="269261"/>
            <a:ext cx="9603275" cy="477871"/>
          </a:xfrm>
        </p:spPr>
        <p:txBody>
          <a:bodyPr>
            <a:normAutofit fontScale="90000"/>
          </a:bodyPr>
          <a:lstStyle/>
          <a:p>
            <a:r>
              <a:rPr lang="en-IN" dirty="0"/>
              <a:t>Extreme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936702"/>
            <a:ext cx="9603275" cy="4529643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0000CC"/>
                </a:solidFill>
              </a:rPr>
              <a:t>Core </a:t>
            </a:r>
            <a:r>
              <a:rPr lang="en-IN" dirty="0" smtClean="0">
                <a:solidFill>
                  <a:srgbClr val="0000CC"/>
                </a:solidFill>
              </a:rPr>
              <a:t>practices</a:t>
            </a:r>
          </a:p>
          <a:p>
            <a:r>
              <a:rPr lang="en-IN" dirty="0" smtClean="0">
                <a:solidFill>
                  <a:srgbClr val="0000CC"/>
                </a:solidFill>
              </a:rPr>
              <a:t>Continuous integration</a:t>
            </a:r>
          </a:p>
          <a:p>
            <a:r>
              <a:rPr lang="en-IN" dirty="0" smtClean="0">
                <a:solidFill>
                  <a:srgbClr val="0000CC"/>
                </a:solidFill>
              </a:rPr>
              <a:t>Forty-hour weeks</a:t>
            </a:r>
          </a:p>
          <a:p>
            <a:r>
              <a:rPr lang="en-IN" dirty="0" smtClean="0">
                <a:solidFill>
                  <a:srgbClr val="0000CC"/>
                </a:solidFill>
              </a:rPr>
              <a:t>On-site customers</a:t>
            </a:r>
          </a:p>
          <a:p>
            <a:r>
              <a:rPr lang="en-IN" dirty="0" smtClean="0">
                <a:solidFill>
                  <a:srgbClr val="0000CC"/>
                </a:solidFill>
              </a:rPr>
              <a:t>Coding standards</a:t>
            </a:r>
          </a:p>
          <a:p>
            <a:endParaRPr lang="en-IN" dirty="0">
              <a:solidFill>
                <a:srgbClr val="0000CC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588E-38E9-4677-8983-8BD4A360546E}" type="datetime3">
              <a:rPr lang="en-US" smtClean="0"/>
              <a:pPr/>
              <a:t>6 July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4516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8" y="269261"/>
            <a:ext cx="9603275" cy="477871"/>
          </a:xfrm>
        </p:spPr>
        <p:txBody>
          <a:bodyPr>
            <a:normAutofit fontScale="90000"/>
          </a:bodyPr>
          <a:lstStyle/>
          <a:p>
            <a:r>
              <a:rPr lang="en-IN" dirty="0"/>
              <a:t>Extreme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936702"/>
            <a:ext cx="9603275" cy="4529643"/>
          </a:xfrm>
        </p:spPr>
        <p:txBody>
          <a:bodyPr/>
          <a:lstStyle/>
          <a:p>
            <a:r>
              <a:rPr lang="en-IN" dirty="0" smtClean="0"/>
              <a:t>Limitations of XP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588E-38E9-4677-8983-8BD4A360546E}" type="datetime3">
              <a:rPr lang="en-US" smtClean="0"/>
              <a:pPr/>
              <a:t>6 July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5083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8" y="269261"/>
            <a:ext cx="9603275" cy="477871"/>
          </a:xfrm>
        </p:spPr>
        <p:txBody>
          <a:bodyPr>
            <a:normAutofit fontScale="90000"/>
          </a:bodyPr>
          <a:lstStyle/>
          <a:p>
            <a:r>
              <a:rPr lang="en-IN" dirty="0"/>
              <a:t>Extreme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936702"/>
            <a:ext cx="9603275" cy="452964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 smtClean="0">
                <a:solidFill>
                  <a:srgbClr val="0000CC"/>
                </a:solidFill>
              </a:rPr>
              <a:t>Limitations </a:t>
            </a:r>
            <a:r>
              <a:rPr lang="en-US" b="1" dirty="0">
                <a:solidFill>
                  <a:srgbClr val="0000CC"/>
                </a:solidFill>
              </a:rPr>
              <a:t>of XP</a:t>
            </a:r>
            <a:endParaRPr lang="en-IN" dirty="0">
              <a:solidFill>
                <a:srgbClr val="0000CC"/>
              </a:solidFill>
            </a:endParaRPr>
          </a:p>
          <a:p>
            <a:pPr lvl="0"/>
            <a:r>
              <a:rPr lang="en-US" dirty="0"/>
              <a:t>There must be easy access to users, or at least a customer representative who is a domain expert (difficult if they belong to different organizations)</a:t>
            </a:r>
            <a:endParaRPr lang="en-IN" dirty="0"/>
          </a:p>
          <a:p>
            <a:pPr lvl="0"/>
            <a:r>
              <a:rPr lang="en-US" dirty="0"/>
              <a:t>Development staff need to be physically located in the same office</a:t>
            </a:r>
            <a:endParaRPr lang="en-IN" dirty="0"/>
          </a:p>
          <a:p>
            <a:pPr lvl="0"/>
            <a:r>
              <a:rPr lang="en-US" dirty="0"/>
              <a:t>Communication problems if the application does not have a visual interface</a:t>
            </a:r>
            <a:endParaRPr lang="en-IN" dirty="0"/>
          </a:p>
          <a:p>
            <a:pPr lvl="0"/>
            <a:r>
              <a:rPr lang="en-US" dirty="0"/>
              <a:t> The work must be possible to break the system functionality into relatively small and self-contained components</a:t>
            </a:r>
            <a:endParaRPr lang="en-IN" dirty="0"/>
          </a:p>
          <a:p>
            <a:pPr lvl="0"/>
            <a:r>
              <a:rPr lang="en-US" dirty="0"/>
              <a:t>Need significant architectural </a:t>
            </a:r>
            <a:r>
              <a:rPr lang="en-US" dirty="0" smtClean="0"/>
              <a:t>effort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588E-38E9-4677-8983-8BD4A360546E}" type="datetime3">
              <a:rPr lang="en-US" smtClean="0"/>
              <a:pPr/>
              <a:t>6 July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6268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8" y="269261"/>
            <a:ext cx="9603275" cy="477871"/>
          </a:xfrm>
        </p:spPr>
        <p:txBody>
          <a:bodyPr>
            <a:normAutofit fontScale="90000"/>
          </a:bodyPr>
          <a:lstStyle/>
          <a:p>
            <a:r>
              <a:rPr lang="en-IN" dirty="0"/>
              <a:t>Extreme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936702"/>
            <a:ext cx="9603275" cy="452964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0000CC"/>
                </a:solidFill>
              </a:rPr>
              <a:t>Intrinsic </a:t>
            </a:r>
            <a:r>
              <a:rPr lang="en-US" dirty="0">
                <a:solidFill>
                  <a:srgbClr val="0000CC"/>
                </a:solidFill>
              </a:rPr>
              <a:t>potential problems</a:t>
            </a:r>
            <a:endParaRPr lang="en-IN" dirty="0">
              <a:solidFill>
                <a:srgbClr val="0000CC"/>
              </a:solidFill>
            </a:endParaRPr>
          </a:p>
          <a:p>
            <a:pPr lvl="0"/>
            <a:r>
              <a:rPr lang="en-US" dirty="0"/>
              <a:t>Makes software development vulnerable if staff turnover is significant</a:t>
            </a:r>
            <a:endParaRPr lang="en-IN" dirty="0"/>
          </a:p>
          <a:p>
            <a:pPr lvl="0"/>
            <a:r>
              <a:rPr lang="en-US" dirty="0"/>
              <a:t>The tacit, personal, knowledge of the system may decay</a:t>
            </a:r>
            <a:endParaRPr lang="en-IN" dirty="0"/>
          </a:p>
          <a:p>
            <a:pPr lvl="0"/>
            <a:r>
              <a:rPr lang="en-US" dirty="0"/>
              <a:t>Results may not be as helpful as might be expected if the rationale for particular test cases is not documented</a:t>
            </a:r>
            <a:endParaRPr lang="en-IN" dirty="0"/>
          </a:p>
          <a:p>
            <a:pPr lvl="0"/>
            <a:r>
              <a:rPr lang="en-US" dirty="0"/>
              <a:t>Encouraging code reuse as a means of improving software development productivity – such a policy would seem to be incompatible with XP</a:t>
            </a:r>
            <a:endParaRPr lang="en-IN" dirty="0"/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588E-38E9-4677-8983-8BD4A360546E}" type="datetime3">
              <a:rPr lang="en-US" smtClean="0"/>
              <a:pPr/>
              <a:t>6 July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0409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8" y="269261"/>
            <a:ext cx="9603275" cy="477871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scrum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8" y="1092819"/>
            <a:ext cx="9603275" cy="4529643"/>
          </a:xfrm>
        </p:spPr>
        <p:txBody>
          <a:bodyPr/>
          <a:lstStyle/>
          <a:p>
            <a:r>
              <a:rPr lang="en-IN" dirty="0" smtClean="0"/>
              <a:t>Agile development model</a:t>
            </a:r>
          </a:p>
          <a:p>
            <a:r>
              <a:rPr lang="en-IN" dirty="0" smtClean="0"/>
              <a:t>Sprints – time boxes</a:t>
            </a:r>
          </a:p>
          <a:p>
            <a:pPr lvl="1"/>
            <a:r>
              <a:rPr lang="en-IN" dirty="0" smtClean="0"/>
              <a:t>2 to 4 weeks long</a:t>
            </a:r>
          </a:p>
          <a:p>
            <a:pPr lvl="1"/>
            <a:endParaRPr lang="en-IN" dirty="0" smtClean="0"/>
          </a:p>
          <a:p>
            <a:endParaRPr lang="en-IN" dirty="0" smtClean="0"/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588E-38E9-4677-8983-8BD4A360546E}" type="datetime3">
              <a:rPr lang="en-US" smtClean="0"/>
              <a:pPr/>
              <a:t>6 July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1076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8" y="269261"/>
            <a:ext cx="9603275" cy="477871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scrum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936702"/>
            <a:ext cx="9603275" cy="452964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00CC"/>
                </a:solidFill>
              </a:rPr>
              <a:t>Key roles and Responsibilities</a:t>
            </a:r>
            <a:endParaRPr lang="en-IN" dirty="0">
              <a:solidFill>
                <a:srgbClr val="0000CC"/>
              </a:solidFill>
            </a:endParaRPr>
          </a:p>
          <a:p>
            <a:r>
              <a:rPr lang="en-US" dirty="0"/>
              <a:t>Product owner – represents customer’s perspective and guides the team towards building the right </a:t>
            </a:r>
            <a:r>
              <a:rPr lang="en-US" dirty="0" smtClean="0"/>
              <a:t>software</a:t>
            </a:r>
          </a:p>
          <a:p>
            <a:pPr lvl="1"/>
            <a:r>
              <a:rPr lang="en-US" dirty="0" smtClean="0"/>
              <a:t>Decides with team members features of the software to be developed in the next sprint</a:t>
            </a:r>
            <a:endParaRPr lang="en-IN" dirty="0"/>
          </a:p>
          <a:p>
            <a:r>
              <a:rPr lang="en-US" dirty="0"/>
              <a:t>Scrum master – Acts as the project manager</a:t>
            </a:r>
            <a:endParaRPr lang="en-IN" dirty="0"/>
          </a:p>
          <a:p>
            <a:pPr lvl="1"/>
            <a:r>
              <a:rPr lang="en-US" dirty="0"/>
              <a:t>Removing any impediments that the project may face</a:t>
            </a:r>
            <a:endParaRPr lang="en-IN" dirty="0"/>
          </a:p>
          <a:p>
            <a:pPr lvl="1"/>
            <a:r>
              <a:rPr lang="en-US" dirty="0"/>
              <a:t>Ensuring that the team is fully productive by fostering close cooperation among all team members</a:t>
            </a:r>
            <a:endParaRPr lang="en-IN" dirty="0"/>
          </a:p>
          <a:p>
            <a:r>
              <a:rPr lang="en-US" dirty="0"/>
              <a:t>Team member – consists of cross functional team </a:t>
            </a:r>
            <a:r>
              <a:rPr lang="en-US" dirty="0" smtClean="0"/>
              <a:t>members</a:t>
            </a:r>
          </a:p>
          <a:p>
            <a:pPr lvl="1"/>
            <a:r>
              <a:rPr lang="en-US" dirty="0" smtClean="0"/>
              <a:t>Expertise in areas, quality assurance, programming, user interface design and testing</a:t>
            </a:r>
            <a:endParaRPr lang="en-IN" dirty="0"/>
          </a:p>
          <a:p>
            <a:pPr lvl="1"/>
            <a:r>
              <a:rPr lang="en-US" dirty="0" smtClean="0"/>
              <a:t>Team is self-organizing: Distribute </a:t>
            </a:r>
            <a:r>
              <a:rPr lang="en-US" dirty="0"/>
              <a:t>the responsibilities among themselves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588E-38E9-4677-8983-8BD4A360546E}" type="datetime3">
              <a:rPr lang="en-US" smtClean="0"/>
              <a:pPr/>
              <a:t>6 July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7510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8" y="269261"/>
            <a:ext cx="9603275" cy="477871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scrum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9073" y="979973"/>
            <a:ext cx="6333893" cy="486193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00CC"/>
                </a:solidFill>
              </a:rPr>
              <a:t>Artefacts</a:t>
            </a:r>
            <a:endParaRPr lang="en-IN" dirty="0">
              <a:solidFill>
                <a:srgbClr val="0000CC"/>
              </a:solidFill>
            </a:endParaRPr>
          </a:p>
          <a:p>
            <a:r>
              <a:rPr lang="en-US" dirty="0"/>
              <a:t>Product backlog – lists all the features that remain to be </a:t>
            </a:r>
            <a:r>
              <a:rPr lang="en-US" dirty="0" smtClean="0"/>
              <a:t>developed</a:t>
            </a:r>
          </a:p>
          <a:p>
            <a:pPr lvl="1"/>
            <a:r>
              <a:rPr lang="en-IN" dirty="0" smtClean="0"/>
              <a:t>In the form of user stories</a:t>
            </a:r>
          </a:p>
          <a:p>
            <a:pPr lvl="1"/>
            <a:r>
              <a:rPr lang="en-IN" dirty="0" smtClean="0"/>
              <a:t>Dynamic document</a:t>
            </a:r>
            <a:endParaRPr lang="en-IN" dirty="0"/>
          </a:p>
          <a:p>
            <a:r>
              <a:rPr lang="en-US" dirty="0"/>
              <a:t>Sprint backlog – one or more features from product backlog are identified</a:t>
            </a:r>
            <a:endParaRPr lang="en-IN" dirty="0"/>
          </a:p>
          <a:p>
            <a:r>
              <a:rPr lang="en-US" dirty="0"/>
              <a:t>Sprint burn down chart – used as a tool to visualize the progress </a:t>
            </a:r>
            <a:r>
              <a:rPr lang="en-US" dirty="0" smtClean="0"/>
              <a:t>made</a:t>
            </a:r>
          </a:p>
          <a:p>
            <a:pPr lvl="1"/>
            <a:r>
              <a:rPr lang="en-US" dirty="0" smtClean="0"/>
              <a:t>Horizontal: days in the sprint</a:t>
            </a:r>
          </a:p>
          <a:p>
            <a:pPr lvl="1"/>
            <a:r>
              <a:rPr lang="en-US" dirty="0" smtClean="0"/>
              <a:t>Vertical: amount of work remaining (in hours of effort)</a:t>
            </a:r>
            <a:endParaRPr lang="en-IN" dirty="0"/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588E-38E9-4677-8983-8BD4A360546E}" type="datetime3">
              <a:rPr lang="en-US" smtClean="0"/>
              <a:pPr/>
              <a:t>6 July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38</a:t>
            </a:fld>
            <a:endParaRPr lang="en-US" dirty="0"/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6373726"/>
              </p:ext>
            </p:extLst>
          </p:nvPr>
        </p:nvGraphicFramePr>
        <p:xfrm>
          <a:off x="7253055" y="20574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374566" y="5084956"/>
            <a:ext cx="2486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Days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 rot="16200000">
            <a:off x="6291478" y="3286668"/>
            <a:ext cx="1422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/>
              <a:t>Hours Remaining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59927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8" y="269261"/>
            <a:ext cx="9603275" cy="477871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scrum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936702"/>
            <a:ext cx="9603275" cy="452964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00CC"/>
                </a:solidFill>
              </a:rPr>
              <a:t>Artefacts</a:t>
            </a:r>
            <a:endParaRPr lang="en-IN" dirty="0">
              <a:solidFill>
                <a:srgbClr val="0000CC"/>
              </a:solidFill>
            </a:endParaRPr>
          </a:p>
          <a:p>
            <a:r>
              <a:rPr lang="en-US" dirty="0"/>
              <a:t>Product backlog – lists all the features that remain to be </a:t>
            </a:r>
            <a:r>
              <a:rPr lang="en-US" dirty="0" smtClean="0"/>
              <a:t>developed</a:t>
            </a:r>
          </a:p>
          <a:p>
            <a:pPr lvl="1"/>
            <a:r>
              <a:rPr lang="en-IN" dirty="0" smtClean="0"/>
              <a:t>In the form of user stories</a:t>
            </a:r>
          </a:p>
          <a:p>
            <a:pPr lvl="1"/>
            <a:r>
              <a:rPr lang="en-IN" dirty="0" smtClean="0"/>
              <a:t>Dynamic document</a:t>
            </a:r>
            <a:endParaRPr lang="en-IN" dirty="0"/>
          </a:p>
          <a:p>
            <a:r>
              <a:rPr lang="en-US" dirty="0"/>
              <a:t>Sprint backlog – one or more features from product backlog are identified</a:t>
            </a:r>
            <a:endParaRPr lang="en-IN" dirty="0"/>
          </a:p>
          <a:p>
            <a:r>
              <a:rPr lang="en-US" dirty="0"/>
              <a:t>Sprint burn down chart – used as a tool to visualize the progress </a:t>
            </a:r>
            <a:r>
              <a:rPr lang="en-US" dirty="0" smtClean="0"/>
              <a:t>made</a:t>
            </a:r>
          </a:p>
          <a:p>
            <a:pPr lvl="1"/>
            <a:r>
              <a:rPr lang="en-US" dirty="0" smtClean="0"/>
              <a:t>Horizontal: days in the sprint</a:t>
            </a:r>
          </a:p>
          <a:p>
            <a:pPr lvl="1"/>
            <a:r>
              <a:rPr lang="en-US" dirty="0" smtClean="0"/>
              <a:t>Vertical: amount of work remaining (in hours of effort)</a:t>
            </a:r>
            <a:endParaRPr lang="en-IN" dirty="0"/>
          </a:p>
          <a:p>
            <a:pPr marL="0" indent="0">
              <a:buNone/>
            </a:pPr>
            <a:r>
              <a:rPr lang="en-US" b="1" dirty="0">
                <a:solidFill>
                  <a:srgbClr val="0000CC"/>
                </a:solidFill>
              </a:rPr>
              <a:t>Scrum ceremonies</a:t>
            </a:r>
            <a:endParaRPr lang="en-IN" dirty="0">
              <a:solidFill>
                <a:srgbClr val="0000CC"/>
              </a:solidFill>
            </a:endParaRPr>
          </a:p>
          <a:p>
            <a:pPr lvl="0"/>
            <a:r>
              <a:rPr lang="en-US" dirty="0"/>
              <a:t>Sprint planning</a:t>
            </a:r>
            <a:endParaRPr lang="en-IN" dirty="0"/>
          </a:p>
          <a:p>
            <a:pPr lvl="0"/>
            <a:r>
              <a:rPr lang="en-US" dirty="0"/>
              <a:t>Daily scrum</a:t>
            </a:r>
            <a:endParaRPr lang="en-IN" dirty="0"/>
          </a:p>
          <a:p>
            <a:pPr lvl="0"/>
            <a:r>
              <a:rPr lang="en-US" dirty="0"/>
              <a:t>Sprint review meeting</a:t>
            </a:r>
            <a:endParaRPr lang="en-IN" dirty="0"/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588E-38E9-4677-8983-8BD4A360546E}" type="datetime3">
              <a:rPr lang="en-US" smtClean="0"/>
              <a:pPr/>
              <a:t>6 July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  Dr. D Evangelin Geetha    Dept. of MCA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39</a:t>
            </a:fld>
            <a:endParaRPr lang="en-US" dirty="0"/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5807708"/>
              </p:ext>
            </p:extLst>
          </p:nvPr>
        </p:nvGraphicFramePr>
        <p:xfrm>
          <a:off x="7253055" y="20574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4421153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3762</TotalTime>
  <Words>2205</Words>
  <Application>Microsoft Office PowerPoint</Application>
  <PresentationFormat>Widescreen</PresentationFormat>
  <Paragraphs>388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Arial</vt:lpstr>
      <vt:lpstr>Calibri</vt:lpstr>
      <vt:lpstr>Gill Sans MT</vt:lpstr>
      <vt:lpstr>Gallery</vt:lpstr>
      <vt:lpstr>Software Project Management  Selection of an Appropriate Project Approach</vt:lpstr>
      <vt:lpstr>Introduction</vt:lpstr>
      <vt:lpstr>Build or Buy?</vt:lpstr>
      <vt:lpstr>Build or Buy?</vt:lpstr>
      <vt:lpstr>Choosing methodologies and technologies</vt:lpstr>
      <vt:lpstr>Choosing methodologies and technologies</vt:lpstr>
      <vt:lpstr>Choosing methodologies and technologies</vt:lpstr>
      <vt:lpstr>Choosing methodologies and technologies - Steps of project analysis </vt:lpstr>
      <vt:lpstr>Choosing methodologies and technologies - Steps of project analysis </vt:lpstr>
      <vt:lpstr>Choosing methodologies and technologies - Steps of project analysis </vt:lpstr>
      <vt:lpstr>Choosing methodologies and technologies - Steps of project analysis </vt:lpstr>
      <vt:lpstr>Choosing methodologies and technologies - Steps of project analysis </vt:lpstr>
      <vt:lpstr>Choosing methodologies and technologies - Steps of project analysis </vt:lpstr>
      <vt:lpstr>Software processes and process models</vt:lpstr>
      <vt:lpstr>Software processes and process models</vt:lpstr>
      <vt:lpstr>Choice of process models</vt:lpstr>
      <vt:lpstr>Rapid application development (rad)</vt:lpstr>
      <vt:lpstr>Rapid application development (rad)</vt:lpstr>
      <vt:lpstr>Rapid application development (rad)</vt:lpstr>
      <vt:lpstr>Rapid application development (rad)</vt:lpstr>
      <vt:lpstr>Agile Methods</vt:lpstr>
      <vt:lpstr>Agile Methods</vt:lpstr>
      <vt:lpstr>Agile Methods</vt:lpstr>
      <vt:lpstr>agile methods</vt:lpstr>
      <vt:lpstr>agile methods</vt:lpstr>
      <vt:lpstr>agile methods</vt:lpstr>
      <vt:lpstr>agile methods</vt:lpstr>
      <vt:lpstr>Extreme programming</vt:lpstr>
      <vt:lpstr>Extreme programming</vt:lpstr>
      <vt:lpstr>Extreme programming</vt:lpstr>
      <vt:lpstr>Extreme programming</vt:lpstr>
      <vt:lpstr>Extreme programming</vt:lpstr>
      <vt:lpstr>Extreme programming</vt:lpstr>
      <vt:lpstr>Extreme programming</vt:lpstr>
      <vt:lpstr>Extreme programming</vt:lpstr>
      <vt:lpstr>scrum</vt:lpstr>
      <vt:lpstr>scrum</vt:lpstr>
      <vt:lpstr>scrum</vt:lpstr>
      <vt:lpstr>scrum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Project Management</dc:title>
  <dc:creator>Evangelin D</dc:creator>
  <cp:lastModifiedBy>Evangelin D</cp:lastModifiedBy>
  <cp:revision>360</cp:revision>
  <dcterms:created xsi:type="dcterms:W3CDTF">2019-08-23T04:10:40Z</dcterms:created>
  <dcterms:modified xsi:type="dcterms:W3CDTF">2021-07-06T04:17:57Z</dcterms:modified>
</cp:coreProperties>
</file>