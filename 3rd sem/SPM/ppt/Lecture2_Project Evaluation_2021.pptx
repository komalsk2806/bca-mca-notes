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autoCompressPictures="0">
  <p:sldMasterIdLst>
    <p:sldMasterId id="2147483648" r:id="rId1"/>
  </p:sldMasterIdLst>
  <p:notesMasterIdLst>
    <p:notesMasterId r:id="rId73"/>
  </p:notesMasterIdLst>
  <p:sldIdLst>
    <p:sldId id="256" r:id="rId2"/>
    <p:sldId id="257" r:id="rId3"/>
    <p:sldId id="259" r:id="rId4"/>
    <p:sldId id="258" r:id="rId5"/>
    <p:sldId id="260" r:id="rId6"/>
    <p:sldId id="261" r:id="rId7"/>
    <p:sldId id="264" r:id="rId8"/>
    <p:sldId id="267" r:id="rId9"/>
    <p:sldId id="266" r:id="rId10"/>
    <p:sldId id="265" r:id="rId11"/>
    <p:sldId id="262" r:id="rId12"/>
    <p:sldId id="268" r:id="rId13"/>
    <p:sldId id="263" r:id="rId14"/>
    <p:sldId id="271" r:id="rId15"/>
    <p:sldId id="269" r:id="rId16"/>
    <p:sldId id="270" r:id="rId17"/>
    <p:sldId id="272" r:id="rId18"/>
    <p:sldId id="273" r:id="rId19"/>
    <p:sldId id="274" r:id="rId20"/>
    <p:sldId id="299" r:id="rId21"/>
    <p:sldId id="298" r:id="rId22"/>
    <p:sldId id="276" r:id="rId23"/>
    <p:sldId id="301" r:id="rId24"/>
    <p:sldId id="300" r:id="rId25"/>
    <p:sldId id="303" r:id="rId26"/>
    <p:sldId id="302" r:id="rId27"/>
    <p:sldId id="275" r:id="rId28"/>
    <p:sldId id="278" r:id="rId29"/>
    <p:sldId id="305" r:id="rId30"/>
    <p:sldId id="304" r:id="rId31"/>
    <p:sldId id="280" r:id="rId32"/>
    <p:sldId id="284" r:id="rId33"/>
    <p:sldId id="285" r:id="rId34"/>
    <p:sldId id="281" r:id="rId35"/>
    <p:sldId id="286" r:id="rId36"/>
    <p:sldId id="282" r:id="rId37"/>
    <p:sldId id="308" r:id="rId38"/>
    <p:sldId id="309" r:id="rId39"/>
    <p:sldId id="311" r:id="rId40"/>
    <p:sldId id="310" r:id="rId41"/>
    <p:sldId id="312" r:id="rId42"/>
    <p:sldId id="306" r:id="rId43"/>
    <p:sldId id="313" r:id="rId44"/>
    <p:sldId id="317" r:id="rId45"/>
    <p:sldId id="318" r:id="rId46"/>
    <p:sldId id="319" r:id="rId47"/>
    <p:sldId id="320" r:id="rId48"/>
    <p:sldId id="321" r:id="rId49"/>
    <p:sldId id="322" r:id="rId50"/>
    <p:sldId id="323" r:id="rId51"/>
    <p:sldId id="324" r:id="rId52"/>
    <p:sldId id="325" r:id="rId53"/>
    <p:sldId id="326" r:id="rId54"/>
    <p:sldId id="327" r:id="rId55"/>
    <p:sldId id="279" r:id="rId56"/>
    <p:sldId id="287" r:id="rId57"/>
    <p:sldId id="277" r:id="rId58"/>
    <p:sldId id="288" r:id="rId59"/>
    <p:sldId id="289" r:id="rId60"/>
    <p:sldId id="290" r:id="rId61"/>
    <p:sldId id="314" r:id="rId62"/>
    <p:sldId id="291" r:id="rId63"/>
    <p:sldId id="292" r:id="rId64"/>
    <p:sldId id="293" r:id="rId65"/>
    <p:sldId id="294" r:id="rId66"/>
    <p:sldId id="315" r:id="rId67"/>
    <p:sldId id="316" r:id="rId68"/>
    <p:sldId id="295" r:id="rId69"/>
    <p:sldId id="296" r:id="rId70"/>
    <p:sldId id="297" r:id="rId71"/>
    <p:sldId id="328" r:id="rId7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CC"/>
    <a:srgbClr val="FFFF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6531" autoAdjust="0"/>
    <p:restoredTop sz="94651" autoAdjust="0"/>
  </p:normalViewPr>
  <p:slideViewPr>
    <p:cSldViewPr snapToGrid="0">
      <p:cViewPr varScale="1">
        <p:scale>
          <a:sx n="86" d="100"/>
          <a:sy n="86" d="100"/>
        </p:scale>
        <p:origin x="690" y="96"/>
      </p:cViewPr>
      <p:guideLst>
        <p:guide orient="horz" pos="2160"/>
        <p:guide pos="3840"/>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56B3128-46BE-4F05-B90D-E0A81F2C74CE}" type="datetimeFigureOut">
              <a:rPr lang="en-IN" smtClean="0"/>
              <a:t>28-11-2023</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291995B-7B11-49A8-9854-153F0D049CDE}" type="slidenum">
              <a:rPr lang="en-IN" smtClean="0"/>
              <a:t>‹#›</a:t>
            </a:fld>
            <a:endParaRPr lang="en-IN"/>
          </a:p>
        </p:txBody>
      </p:sp>
    </p:spTree>
    <p:extLst>
      <p:ext uri="{BB962C8B-B14F-4D97-AF65-F5344CB8AC3E}">
        <p14:creationId xmlns:p14="http://schemas.microsoft.com/office/powerpoint/2010/main" val="32932806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B7FDD13-D7B8-4719-98C3-011293041327}" type="slidenum">
              <a:rPr lang="en-GB" altLang="en-US"/>
              <a:pPr/>
              <a:t>28</a:t>
            </a:fld>
            <a:endParaRPr lang="en-GB" altLang="en-US"/>
          </a:p>
        </p:txBody>
      </p:sp>
      <p:sp>
        <p:nvSpPr>
          <p:cNvPr id="39938" name="Rectangle 2"/>
          <p:cNvSpPr>
            <a:spLocks noGrp="1" noRot="1" noChangeAspect="1" noChangeArrowheads="1" noTextEdit="1"/>
          </p:cNvSpPr>
          <p:nvPr>
            <p:ph type="sldImg"/>
          </p:nvPr>
        </p:nvSpPr>
        <p:spPr>
          <a:ln/>
        </p:spPr>
      </p:sp>
      <p:sp>
        <p:nvSpPr>
          <p:cNvPr id="39939" name="Rectangle 3"/>
          <p:cNvSpPr>
            <a:spLocks noGrp="1" noChangeArrowheads="1"/>
          </p:cNvSpPr>
          <p:nvPr>
            <p:ph type="body" idx="1"/>
          </p:nvPr>
        </p:nvSpPr>
        <p:spPr/>
        <p:txBody>
          <a:bodyPr/>
          <a:lstStyle/>
          <a:p>
            <a:r>
              <a:rPr lang="en-GB" altLang="en-US"/>
              <a:t>Exercise 3.4. gives further practice is calculating ROI.</a:t>
            </a:r>
          </a:p>
        </p:txBody>
      </p:sp>
    </p:spTree>
    <p:extLst>
      <p:ext uri="{BB962C8B-B14F-4D97-AF65-F5344CB8AC3E}">
        <p14:creationId xmlns:p14="http://schemas.microsoft.com/office/powerpoint/2010/main" val="344169955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B7FDD13-D7B8-4719-98C3-011293041327}" type="slidenum">
              <a:rPr lang="en-GB" altLang="en-US"/>
              <a:pPr/>
              <a:t>29</a:t>
            </a:fld>
            <a:endParaRPr lang="en-GB" altLang="en-US"/>
          </a:p>
        </p:txBody>
      </p:sp>
      <p:sp>
        <p:nvSpPr>
          <p:cNvPr id="39938" name="Rectangle 2"/>
          <p:cNvSpPr>
            <a:spLocks noGrp="1" noRot="1" noChangeAspect="1" noChangeArrowheads="1" noTextEdit="1"/>
          </p:cNvSpPr>
          <p:nvPr>
            <p:ph type="sldImg"/>
          </p:nvPr>
        </p:nvSpPr>
        <p:spPr>
          <a:ln/>
        </p:spPr>
      </p:sp>
      <p:sp>
        <p:nvSpPr>
          <p:cNvPr id="39939" name="Rectangle 3"/>
          <p:cNvSpPr>
            <a:spLocks noGrp="1" noChangeArrowheads="1"/>
          </p:cNvSpPr>
          <p:nvPr>
            <p:ph type="body" idx="1"/>
          </p:nvPr>
        </p:nvSpPr>
        <p:spPr/>
        <p:txBody>
          <a:bodyPr/>
          <a:lstStyle/>
          <a:p>
            <a:r>
              <a:rPr lang="en-GB" altLang="en-US"/>
              <a:t>Exercise 3.4. gives further practice is calculating ROI.</a:t>
            </a:r>
          </a:p>
        </p:txBody>
      </p:sp>
    </p:spTree>
    <p:extLst>
      <p:ext uri="{BB962C8B-B14F-4D97-AF65-F5344CB8AC3E}">
        <p14:creationId xmlns:p14="http://schemas.microsoft.com/office/powerpoint/2010/main" val="407773104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B7FDD13-D7B8-4719-98C3-011293041327}" type="slidenum">
              <a:rPr lang="en-GB" altLang="en-US"/>
              <a:pPr/>
              <a:t>30</a:t>
            </a:fld>
            <a:endParaRPr lang="en-GB" altLang="en-US"/>
          </a:p>
        </p:txBody>
      </p:sp>
      <p:sp>
        <p:nvSpPr>
          <p:cNvPr id="39938" name="Rectangle 2"/>
          <p:cNvSpPr>
            <a:spLocks noGrp="1" noRot="1" noChangeAspect="1" noChangeArrowheads="1" noTextEdit="1"/>
          </p:cNvSpPr>
          <p:nvPr>
            <p:ph type="sldImg"/>
          </p:nvPr>
        </p:nvSpPr>
        <p:spPr>
          <a:ln/>
        </p:spPr>
      </p:sp>
      <p:sp>
        <p:nvSpPr>
          <p:cNvPr id="39939" name="Rectangle 3"/>
          <p:cNvSpPr>
            <a:spLocks noGrp="1" noChangeArrowheads="1"/>
          </p:cNvSpPr>
          <p:nvPr>
            <p:ph type="body" idx="1"/>
          </p:nvPr>
        </p:nvSpPr>
        <p:spPr/>
        <p:txBody>
          <a:bodyPr/>
          <a:lstStyle/>
          <a:p>
            <a:r>
              <a:rPr lang="en-GB" altLang="en-US"/>
              <a:t>Exercise 3.4. gives further practice is calculating ROI.</a:t>
            </a:r>
          </a:p>
        </p:txBody>
      </p:sp>
    </p:spTree>
    <p:extLst>
      <p:ext uri="{BB962C8B-B14F-4D97-AF65-F5344CB8AC3E}">
        <p14:creationId xmlns:p14="http://schemas.microsoft.com/office/powerpoint/2010/main" val="349317684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AD1D58D-A5C3-45E0-97F8-253649EF44B4}" type="slidenum">
              <a:rPr lang="en-GB" altLang="en-US"/>
              <a:pPr/>
              <a:t>31</a:t>
            </a:fld>
            <a:endParaRPr lang="en-GB" altLang="en-US"/>
          </a:p>
        </p:txBody>
      </p:sp>
      <p:sp>
        <p:nvSpPr>
          <p:cNvPr id="41986" name="Rectangle 2"/>
          <p:cNvSpPr>
            <a:spLocks noGrp="1" noRot="1" noChangeAspect="1" noChangeArrowheads="1" noTextEdit="1"/>
          </p:cNvSpPr>
          <p:nvPr>
            <p:ph type="sldImg"/>
          </p:nvPr>
        </p:nvSpPr>
        <p:spPr>
          <a:ln/>
        </p:spPr>
      </p:sp>
      <p:sp>
        <p:nvSpPr>
          <p:cNvPr id="41987" name="Rectangle 3"/>
          <p:cNvSpPr>
            <a:spLocks noGrp="1" noChangeArrowheads="1"/>
          </p:cNvSpPr>
          <p:nvPr>
            <p:ph type="body" idx="1"/>
          </p:nvPr>
        </p:nvSpPr>
        <p:spPr/>
        <p:txBody>
          <a:bodyPr/>
          <a:lstStyle/>
          <a:p>
            <a:r>
              <a:rPr lang="en-GB" altLang="en-US"/>
              <a:t>If you invested £91 now you would get £9.10 in interest which would give you £100.10 in 12 months</a:t>
            </a:r>
          </a:p>
        </p:txBody>
      </p:sp>
    </p:spTree>
    <p:extLst>
      <p:ext uri="{BB962C8B-B14F-4D97-AF65-F5344CB8AC3E}">
        <p14:creationId xmlns:p14="http://schemas.microsoft.com/office/powerpoint/2010/main" val="17439631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3E93703-AE3E-444C-9CC7-FB47E502DF47}" type="slidenum">
              <a:rPr lang="en-GB" altLang="en-US"/>
              <a:pPr/>
              <a:t>36</a:t>
            </a:fld>
            <a:endParaRPr lang="en-GB" altLang="en-US"/>
          </a:p>
        </p:txBody>
      </p:sp>
      <p:sp>
        <p:nvSpPr>
          <p:cNvPr id="46082" name="Rectangle 2"/>
          <p:cNvSpPr>
            <a:spLocks noGrp="1" noRot="1" noChangeAspect="1" noChangeArrowheads="1" noTextEdit="1"/>
          </p:cNvSpPr>
          <p:nvPr>
            <p:ph type="sldImg"/>
          </p:nvPr>
        </p:nvSpPr>
        <p:spPr>
          <a:ln/>
        </p:spPr>
      </p:sp>
      <p:sp>
        <p:nvSpPr>
          <p:cNvPr id="46083" name="Rectangle 3"/>
          <p:cNvSpPr>
            <a:spLocks noGrp="1" noChangeArrowheads="1"/>
          </p:cNvSpPr>
          <p:nvPr>
            <p:ph type="body" idx="1"/>
          </p:nvPr>
        </p:nvSpPr>
        <p:spPr/>
        <p:txBody>
          <a:bodyPr/>
          <a:lstStyle/>
          <a:p>
            <a:r>
              <a:rPr lang="en-GB" altLang="en-US" sz="1000"/>
              <a:t>NPV is the sum of the discounted cash flows for all the years of the ‘project’ (note that in NPV terms the lifetime of the completed application is included in the ‘project’)</a:t>
            </a:r>
          </a:p>
          <a:p>
            <a:r>
              <a:rPr lang="en-GB" altLang="en-US" sz="1000"/>
              <a:t>The figure of £618 means that £618 more would be made than if the money were simply invested at 10%. An NPV of £0 would be the same amount of profit would be generated as investing at 10%.</a:t>
            </a:r>
          </a:p>
        </p:txBody>
      </p:sp>
    </p:spTree>
    <p:extLst>
      <p:ext uri="{BB962C8B-B14F-4D97-AF65-F5344CB8AC3E}">
        <p14:creationId xmlns:p14="http://schemas.microsoft.com/office/powerpoint/2010/main" val="342614647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3E93703-AE3E-444C-9CC7-FB47E502DF47}" type="slidenum">
              <a:rPr lang="en-GB" altLang="en-US"/>
              <a:pPr/>
              <a:t>48</a:t>
            </a:fld>
            <a:endParaRPr lang="en-GB" altLang="en-US"/>
          </a:p>
        </p:txBody>
      </p:sp>
      <p:sp>
        <p:nvSpPr>
          <p:cNvPr id="46082" name="Rectangle 2"/>
          <p:cNvSpPr>
            <a:spLocks noGrp="1" noRot="1" noChangeAspect="1" noChangeArrowheads="1" noTextEdit="1"/>
          </p:cNvSpPr>
          <p:nvPr>
            <p:ph type="sldImg"/>
          </p:nvPr>
        </p:nvSpPr>
        <p:spPr>
          <a:ln/>
        </p:spPr>
      </p:sp>
      <p:sp>
        <p:nvSpPr>
          <p:cNvPr id="46083" name="Rectangle 3"/>
          <p:cNvSpPr>
            <a:spLocks noGrp="1" noChangeArrowheads="1"/>
          </p:cNvSpPr>
          <p:nvPr>
            <p:ph type="body" idx="1"/>
          </p:nvPr>
        </p:nvSpPr>
        <p:spPr/>
        <p:txBody>
          <a:bodyPr/>
          <a:lstStyle/>
          <a:p>
            <a:r>
              <a:rPr lang="en-GB" altLang="en-US" sz="1000"/>
              <a:t>NPV is the sum of the discounted cash flows for all the years of the ‘project’ (note that in NPV terms the lifetime of the completed application is included in the ‘project’)</a:t>
            </a:r>
          </a:p>
          <a:p>
            <a:r>
              <a:rPr lang="en-GB" altLang="en-US" sz="1000"/>
              <a:t>The figure of £618 means that £618 more would be made than if the money were simply invested at 10%. An NPV of £0 would be the same amount of profit would be generated as investing at 10%.</a:t>
            </a:r>
          </a:p>
        </p:txBody>
      </p:sp>
    </p:spTree>
    <p:extLst>
      <p:ext uri="{BB962C8B-B14F-4D97-AF65-F5344CB8AC3E}">
        <p14:creationId xmlns:p14="http://schemas.microsoft.com/office/powerpoint/2010/main" val="420869845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7"/>
          <p:cNvSpPr>
            <a:spLocks noGrp="1" noChangeArrowheads="1"/>
          </p:cNvSpPr>
          <p:nvPr>
            <p:ph type="sldNum" sz="quarter" idx="5"/>
          </p:nvPr>
        </p:nvSpPr>
        <p:spPr>
          <a:noFill/>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E0670440-C5E1-4061-84EE-C1C6C64D20F1}" type="slidenum">
              <a:rPr lang="en-GB" altLang="en-US"/>
              <a:pPr>
                <a:spcBef>
                  <a:spcPct val="0"/>
                </a:spcBef>
              </a:pPr>
              <a:t>68</a:t>
            </a:fld>
            <a:endParaRPr lang="en-GB" altLang="en-US"/>
          </a:p>
        </p:txBody>
      </p:sp>
      <p:sp>
        <p:nvSpPr>
          <p:cNvPr id="8195" name="Rectangle 2"/>
          <p:cNvSpPr>
            <a:spLocks noGrp="1" noRot="1" noChangeAspect="1" noChangeArrowheads="1" noTextEdit="1"/>
          </p:cNvSpPr>
          <p:nvPr>
            <p:ph type="sldImg"/>
          </p:nvPr>
        </p:nvSpPr>
        <p:spPr>
          <a:ln/>
        </p:spPr>
      </p:sp>
      <p:sp>
        <p:nvSpPr>
          <p:cNvPr id="8196" name="Rectangle 3"/>
          <p:cNvSpPr>
            <a:spLocks noGrp="1" noChangeArrowheads="1"/>
          </p:cNvSpPr>
          <p:nvPr>
            <p:ph type="body" idx="1"/>
          </p:nvPr>
        </p:nvSpPr>
        <p:spPr>
          <a:noFill/>
        </p:spPr>
        <p:txBody>
          <a:bodyPr/>
          <a:lstStyle/>
          <a:p>
            <a:pPr eaLnBrk="1" hangingPunct="1"/>
            <a:r>
              <a:rPr lang="en-GB" altLang="en-US">
                <a:latin typeface="Arial" panose="020B0604020202020204" pitchFamily="34" charset="0"/>
              </a:rPr>
              <a:t>The quotation is from a paper that appeared in the </a:t>
            </a:r>
            <a:r>
              <a:rPr lang="en-GB" altLang="en-US" i="1">
                <a:latin typeface="Arial" panose="020B0604020202020204" pitchFamily="34" charset="0"/>
              </a:rPr>
              <a:t>International Journal of Project Management</a:t>
            </a:r>
            <a:r>
              <a:rPr lang="en-GB" altLang="en-US">
                <a:latin typeface="Arial" panose="020B0604020202020204" pitchFamily="34" charset="0"/>
              </a:rPr>
              <a:t>  August 1991</a:t>
            </a:r>
          </a:p>
        </p:txBody>
      </p:sp>
    </p:spTree>
    <p:extLst>
      <p:ext uri="{BB962C8B-B14F-4D97-AF65-F5344CB8AC3E}">
        <p14:creationId xmlns:p14="http://schemas.microsoft.com/office/powerpoint/2010/main" val="34362374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7"/>
          <p:cNvSpPr>
            <a:spLocks noGrp="1" noChangeArrowheads="1"/>
          </p:cNvSpPr>
          <p:nvPr>
            <p:ph type="sldNum" sz="quarter" idx="5"/>
          </p:nvPr>
        </p:nvSpPr>
        <p:spPr>
          <a:noFill/>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DB6516D1-7CC3-4FD3-B9AB-390DB347B030}" type="slidenum">
              <a:rPr lang="en-GB" altLang="en-US"/>
              <a:pPr>
                <a:spcBef>
                  <a:spcPct val="0"/>
                </a:spcBef>
              </a:pPr>
              <a:t>69</a:t>
            </a:fld>
            <a:endParaRPr lang="en-GB" altLang="en-US"/>
          </a:p>
        </p:txBody>
      </p:sp>
      <p:sp>
        <p:nvSpPr>
          <p:cNvPr id="10243" name="Rectangle 2"/>
          <p:cNvSpPr>
            <a:spLocks noGrp="1" noRot="1" noChangeAspect="1" noChangeArrowheads="1" noTextEdit="1"/>
          </p:cNvSpPr>
          <p:nvPr>
            <p:ph type="sldImg"/>
          </p:nvPr>
        </p:nvSpPr>
        <p:spPr>
          <a:ln/>
        </p:spPr>
      </p:sp>
      <p:sp>
        <p:nvSpPr>
          <p:cNvPr id="10244" name="Rectangle 3"/>
          <p:cNvSpPr>
            <a:spLocks noGrp="1" noChangeArrowheads="1"/>
          </p:cNvSpPr>
          <p:nvPr>
            <p:ph type="body" idx="1"/>
          </p:nvPr>
        </p:nvSpPr>
        <p:spPr>
          <a:noFill/>
        </p:spPr>
        <p:txBody>
          <a:bodyPr/>
          <a:lstStyle/>
          <a:p>
            <a:pPr eaLnBrk="1" hangingPunct="1">
              <a:lnSpc>
                <a:spcPct val="90000"/>
              </a:lnSpc>
            </a:pPr>
            <a:r>
              <a:rPr lang="en-GB" altLang="en-US" i="1">
                <a:latin typeface="Arial" panose="020B0604020202020204" pitchFamily="34" charset="0"/>
              </a:rPr>
              <a:t>Strategic</a:t>
            </a:r>
          </a:p>
          <a:p>
            <a:pPr eaLnBrk="1" hangingPunct="1">
              <a:lnSpc>
                <a:spcPct val="90000"/>
              </a:lnSpc>
            </a:pPr>
            <a:r>
              <a:rPr lang="en-GB" altLang="en-US">
                <a:latin typeface="Arial" panose="020B0604020202020204" pitchFamily="34" charset="0"/>
              </a:rPr>
              <a:t>Several projects together implement a single strategy. For example, merging two organizations will involve many different activities e.g. physical re-organization of offices, redesigning the corporate image, merging ICT systems etc. Each of these activities could be project within an overarching programme.</a:t>
            </a:r>
          </a:p>
          <a:p>
            <a:pPr eaLnBrk="1" hangingPunct="1">
              <a:lnSpc>
                <a:spcPct val="90000"/>
              </a:lnSpc>
            </a:pPr>
            <a:r>
              <a:rPr lang="en-GB" altLang="en-US" i="1">
                <a:latin typeface="Arial" panose="020B0604020202020204" pitchFamily="34" charset="0"/>
              </a:rPr>
              <a:t>Business cycle programmes</a:t>
            </a:r>
          </a:p>
          <a:p>
            <a:pPr eaLnBrk="1" hangingPunct="1">
              <a:lnSpc>
                <a:spcPct val="90000"/>
              </a:lnSpc>
            </a:pPr>
            <a:r>
              <a:rPr lang="en-GB" altLang="en-US">
                <a:latin typeface="Arial" panose="020B0604020202020204" pitchFamily="34" charset="0"/>
              </a:rPr>
              <a:t>A portfolio of project that are to take place within a certain time frame e.g. the next financial year</a:t>
            </a:r>
          </a:p>
          <a:p>
            <a:pPr eaLnBrk="1" hangingPunct="1">
              <a:lnSpc>
                <a:spcPct val="90000"/>
              </a:lnSpc>
            </a:pPr>
            <a:r>
              <a:rPr lang="en-GB" altLang="en-US" i="1">
                <a:latin typeface="Arial" panose="020B0604020202020204" pitchFamily="34" charset="0"/>
              </a:rPr>
              <a:t>Infrastructure programmes</a:t>
            </a:r>
          </a:p>
          <a:p>
            <a:pPr eaLnBrk="1" hangingPunct="1">
              <a:lnSpc>
                <a:spcPct val="90000"/>
              </a:lnSpc>
            </a:pPr>
            <a:r>
              <a:rPr lang="en-GB" altLang="en-US">
                <a:latin typeface="Arial" panose="020B0604020202020204" pitchFamily="34" charset="0"/>
              </a:rPr>
              <a:t>In an organization there may be many different ICT-based applications which share the same hardware/software infrastructure</a:t>
            </a:r>
          </a:p>
          <a:p>
            <a:pPr eaLnBrk="1" hangingPunct="1">
              <a:lnSpc>
                <a:spcPct val="90000"/>
              </a:lnSpc>
            </a:pPr>
            <a:r>
              <a:rPr lang="en-GB" altLang="en-US" i="1">
                <a:latin typeface="Arial" panose="020B0604020202020204" pitchFamily="34" charset="0"/>
              </a:rPr>
              <a:t>Research and development programmes</a:t>
            </a:r>
          </a:p>
          <a:p>
            <a:pPr eaLnBrk="1" hangingPunct="1">
              <a:lnSpc>
                <a:spcPct val="90000"/>
              </a:lnSpc>
            </a:pPr>
            <a:r>
              <a:rPr lang="en-GB" altLang="en-US">
                <a:latin typeface="Arial" panose="020B0604020202020204" pitchFamily="34" charset="0"/>
              </a:rPr>
              <a:t>In a very innovative environment where new products are being developed, a range of products could be developed some of which are very speculative and high-risk but potentially very profitable and some will have a lower risk but will return a lower profit. Getting the right balance would be key to the organization’s long term success</a:t>
            </a:r>
          </a:p>
          <a:p>
            <a:pPr eaLnBrk="1" hangingPunct="1">
              <a:lnSpc>
                <a:spcPct val="90000"/>
              </a:lnSpc>
            </a:pPr>
            <a:r>
              <a:rPr lang="en-GB" altLang="en-US" i="1">
                <a:latin typeface="Arial" panose="020B0604020202020204" pitchFamily="34" charset="0"/>
              </a:rPr>
              <a:t>Innovative partnerships</a:t>
            </a:r>
          </a:p>
          <a:p>
            <a:pPr eaLnBrk="1" hangingPunct="1">
              <a:lnSpc>
                <a:spcPct val="90000"/>
              </a:lnSpc>
            </a:pPr>
            <a:r>
              <a:rPr lang="en-GB" altLang="en-US">
                <a:latin typeface="Arial" panose="020B0604020202020204" pitchFamily="34" charset="0"/>
              </a:rPr>
              <a:t>e.g. pre-competitive co-operation to develop new technologies that could be exploited by a whole range of companies</a:t>
            </a:r>
          </a:p>
        </p:txBody>
      </p:sp>
    </p:spTree>
    <p:extLst>
      <p:ext uri="{BB962C8B-B14F-4D97-AF65-F5344CB8AC3E}">
        <p14:creationId xmlns:p14="http://schemas.microsoft.com/office/powerpoint/2010/main" val="394009823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7"/>
          <p:cNvSpPr>
            <a:spLocks noGrp="1" noChangeArrowheads="1"/>
          </p:cNvSpPr>
          <p:nvPr>
            <p:ph type="sldNum" sz="quarter" idx="5"/>
          </p:nvPr>
        </p:nvSpPr>
        <p:spPr>
          <a:noFill/>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DEBF99D4-C383-427A-919F-05F1D75C7F5A}" type="slidenum">
              <a:rPr lang="en-GB" altLang="en-US"/>
              <a:pPr>
                <a:spcBef>
                  <a:spcPct val="0"/>
                </a:spcBef>
              </a:pPr>
              <a:t>70</a:t>
            </a:fld>
            <a:endParaRPr lang="en-GB" altLang="en-US"/>
          </a:p>
        </p:txBody>
      </p:sp>
      <p:sp>
        <p:nvSpPr>
          <p:cNvPr id="12291" name="Rectangle 2"/>
          <p:cNvSpPr>
            <a:spLocks noGrp="1" noRot="1" noChangeAspect="1" noChangeArrowheads="1" noTextEdit="1"/>
          </p:cNvSpPr>
          <p:nvPr>
            <p:ph type="sldImg"/>
          </p:nvPr>
        </p:nvSpPr>
        <p:spPr>
          <a:ln/>
        </p:spPr>
      </p:sp>
      <p:sp>
        <p:nvSpPr>
          <p:cNvPr id="12292" name="Rectangle 3"/>
          <p:cNvSpPr>
            <a:spLocks noGrp="1" noChangeArrowheads="1"/>
          </p:cNvSpPr>
          <p:nvPr>
            <p:ph type="body" idx="1"/>
          </p:nvPr>
        </p:nvSpPr>
        <p:spPr>
          <a:noFill/>
        </p:spPr>
        <p:txBody>
          <a:bodyPr/>
          <a:lstStyle/>
          <a:p>
            <a:pPr eaLnBrk="1" hangingPunct="1"/>
            <a:r>
              <a:rPr lang="en-GB" altLang="en-US">
                <a:latin typeface="Arial" panose="020B0604020202020204" pitchFamily="34" charset="0"/>
              </a:rPr>
              <a:t>The programme manager may well have a pool of staff upon which to call. He/she will be concerned with ensuring the best use of staff e.g ensuring that staff have regular work with no periods of enforced idleness between project tasks. The project leader would think in terms of  ‘I need a Java programmer for four weeks’ without being concerned which specific person it is (beyond obvious concerns that they are fully capable).</a:t>
            </a:r>
          </a:p>
        </p:txBody>
      </p:sp>
    </p:spTree>
    <p:extLst>
      <p:ext uri="{BB962C8B-B14F-4D97-AF65-F5344CB8AC3E}">
        <p14:creationId xmlns:p14="http://schemas.microsoft.com/office/powerpoint/2010/main" val="109859496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nchor="t"/>
          <a:lstStyle>
            <a:lvl1pPr>
              <a:defRPr sz="2800"/>
            </a:lvl1pPr>
            <a:lvl2pPr>
              <a:defRPr sz="2400"/>
            </a:lvl2pPr>
            <a:lvl3pPr>
              <a:defRPr sz="2000"/>
            </a:lvl3pPr>
            <a:lvl4pPr>
              <a:defRPr sz="2000"/>
            </a:lvl4pPr>
            <a:lvl5pPr>
              <a:defRPr sz="2000"/>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a:xfrm>
            <a:off x="7253055" y="6470254"/>
            <a:ext cx="3500715" cy="309201"/>
          </a:xfrm>
        </p:spPr>
        <p:txBody>
          <a:bodyPr/>
          <a:lstStyle>
            <a:lvl1pPr>
              <a:defRPr>
                <a:solidFill>
                  <a:srgbClr val="FFFF99"/>
                </a:solidFill>
              </a:defRPr>
            </a:lvl1pPr>
          </a:lstStyle>
          <a:p>
            <a:fld id="{B2F0588E-38E9-4677-8983-8BD4A360546E}" type="datetime3">
              <a:rPr lang="en-US" smtClean="0"/>
              <a:pPr/>
              <a:t>28 November 2023</a:t>
            </a:fld>
            <a:endParaRPr lang="en-US" dirty="0"/>
          </a:p>
        </p:txBody>
      </p:sp>
      <p:sp>
        <p:nvSpPr>
          <p:cNvPr id="5" name="Footer Placeholder 4"/>
          <p:cNvSpPr>
            <a:spLocks noGrp="1"/>
          </p:cNvSpPr>
          <p:nvPr>
            <p:ph type="ftr" sz="quarter" idx="11"/>
          </p:nvPr>
        </p:nvSpPr>
        <p:spPr>
          <a:xfrm>
            <a:off x="570633" y="6470254"/>
            <a:ext cx="5938836" cy="309201"/>
          </a:xfrm>
        </p:spPr>
        <p:txBody>
          <a:bodyPr/>
          <a:lstStyle>
            <a:lvl1pPr>
              <a:defRPr>
                <a:solidFill>
                  <a:srgbClr val="FFFF99"/>
                </a:solidFill>
              </a:defRPr>
            </a:lvl1pPr>
          </a:lstStyle>
          <a:p>
            <a:r>
              <a:rPr lang="en-US"/>
              <a:t>Software Project Management       Dr. D Evangelin Geetha    Dept. of MCA     RIT</a:t>
            </a:r>
            <a:endParaRPr lang="en-US" dirty="0"/>
          </a:p>
        </p:txBody>
      </p:sp>
      <p:sp>
        <p:nvSpPr>
          <p:cNvPr id="6" name="Slide Number Placeholder 5"/>
          <p:cNvSpPr>
            <a:spLocks noGrp="1"/>
          </p:cNvSpPr>
          <p:nvPr>
            <p:ph type="sldNum" sz="quarter" idx="12"/>
          </p:nvPr>
        </p:nvSpPr>
        <p:spPr>
          <a:xfrm>
            <a:off x="11274440" y="6389649"/>
            <a:ext cx="811019" cy="387664"/>
          </a:xfrm>
        </p:spPr>
        <p:txBody>
          <a:bodyPr/>
          <a:lstStyle>
            <a:lvl1pPr>
              <a:defRPr sz="1800">
                <a:solidFill>
                  <a:srgbClr val="FFFF99"/>
                </a:solidFill>
              </a:defRPr>
            </a:lvl1pPr>
          </a:lstStyle>
          <a:p>
            <a:fld id="{6D22F896-40B5-4ADD-8801-0D06FADFA095}" type="slidenum">
              <a:rPr lang="en-US" smtClean="0"/>
              <a:pPr/>
              <a:t>‹#›</a:t>
            </a:fld>
            <a:endParaRPr lang="en-US" dirty="0"/>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DB9BD9B4-6AF9-4365-AC1E-B61A168497A6}" type="datetime3">
              <a:rPr lang="en-US" smtClean="0"/>
              <a:t>28 November 2023</a:t>
            </a:fld>
            <a:endParaRPr lang="en-US" dirty="0"/>
          </a:p>
        </p:txBody>
      </p:sp>
      <p:sp>
        <p:nvSpPr>
          <p:cNvPr id="5" name="Footer Placeholder 4"/>
          <p:cNvSpPr>
            <a:spLocks noGrp="1"/>
          </p:cNvSpPr>
          <p:nvPr>
            <p:ph type="ftr" sz="quarter" idx="11"/>
          </p:nvPr>
        </p:nvSpPr>
        <p:spPr/>
        <p:txBody>
          <a:bodyPr/>
          <a:lstStyle/>
          <a:p>
            <a:r>
              <a:rPr lang="en-US"/>
              <a:t>Software Project Management       Dr. D Evangelin Geetha    Dept. of MCA     RIT</a:t>
            </a:r>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B7C6265-89CA-4295-AB72-9817D3FFB07B}" type="datetime3">
              <a:rPr lang="en-US" smtClean="0"/>
              <a:t>28 November 2023</a:t>
            </a:fld>
            <a:endParaRPr lang="en-US" dirty="0"/>
          </a:p>
        </p:txBody>
      </p:sp>
      <p:sp>
        <p:nvSpPr>
          <p:cNvPr id="6" name="Footer Placeholder 5"/>
          <p:cNvSpPr>
            <a:spLocks noGrp="1"/>
          </p:cNvSpPr>
          <p:nvPr>
            <p:ph type="ftr" sz="quarter" idx="11"/>
          </p:nvPr>
        </p:nvSpPr>
        <p:spPr/>
        <p:txBody>
          <a:bodyPr/>
          <a:lstStyle/>
          <a:p>
            <a:r>
              <a:rPr lang="en-US"/>
              <a:t>Software Project Management       Dr. D Evangelin Geetha    Dept. of MCA     RIT</a:t>
            </a:r>
            <a:endParaRPr lang="en-US" dirty="0"/>
          </a:p>
        </p:txBody>
      </p:sp>
      <p:sp>
        <p:nvSpPr>
          <p:cNvPr id="7" name="Slide Number Placeholder 6"/>
          <p:cNvSpPr>
            <a:spLocks noGrp="1"/>
          </p:cNvSpPr>
          <p:nvPr>
            <p:ph type="sldNum" sz="quarter" idx="12"/>
          </p:nvPr>
        </p:nvSpPr>
        <p:spPr>
          <a:xfrm>
            <a:off x="11171506" y="5458863"/>
            <a:ext cx="811019" cy="503578"/>
          </a:xfrm>
        </p:spPr>
        <p:txBody>
          <a:bodyPr/>
          <a:lstStyle/>
          <a:p>
            <a:fld id="{6D22F896-40B5-4ADD-8801-0D06FADFA095}" type="slidenum">
              <a:rPr lang="en-US" dirty="0"/>
              <a:t>‹#›</a:t>
            </a:fld>
            <a:endParaRPr lang="en-US" dirty="0"/>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AFA8FD0-B2EC-45AD-9D85-68166E7B1D59}" type="datetime3">
              <a:rPr lang="en-US" smtClean="0"/>
              <a:t>28 November 2023</a:t>
            </a:fld>
            <a:endParaRPr lang="en-US" dirty="0"/>
          </a:p>
        </p:txBody>
      </p:sp>
      <p:sp>
        <p:nvSpPr>
          <p:cNvPr id="8" name="Footer Placeholder 7"/>
          <p:cNvSpPr>
            <a:spLocks noGrp="1"/>
          </p:cNvSpPr>
          <p:nvPr>
            <p:ph type="ftr" sz="quarter" idx="11"/>
          </p:nvPr>
        </p:nvSpPr>
        <p:spPr/>
        <p:txBody>
          <a:bodyPr/>
          <a:lstStyle/>
          <a:p>
            <a:r>
              <a:rPr lang="en-US"/>
              <a:t>Software Project Management       Dr. D Evangelin Geetha    Dept. of MCA     RIT</a:t>
            </a:r>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dirty="0"/>
              <a:t>‹#›</a:t>
            </a:fld>
            <a:endParaRPr lang="en-US" dirty="0"/>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F276073-D857-40AB-9351-3CA4F808AE0E}" type="datetime3">
              <a:rPr lang="en-US" smtClean="0"/>
              <a:t>28 November 2023</a:t>
            </a:fld>
            <a:endParaRPr lang="en-US" dirty="0"/>
          </a:p>
        </p:txBody>
      </p:sp>
      <p:sp>
        <p:nvSpPr>
          <p:cNvPr id="4" name="Footer Placeholder 3"/>
          <p:cNvSpPr>
            <a:spLocks noGrp="1"/>
          </p:cNvSpPr>
          <p:nvPr>
            <p:ph type="ftr" sz="quarter" idx="11"/>
          </p:nvPr>
        </p:nvSpPr>
        <p:spPr/>
        <p:txBody>
          <a:bodyPr/>
          <a:lstStyle/>
          <a:p>
            <a:r>
              <a:rPr lang="en-US"/>
              <a:t>Software Project Management       Dr. D Evangelin Geetha    Dept. of MCA     RIT</a:t>
            </a:r>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5D35F9B-2F9F-4993-83EF-B51903F19EB1}" type="datetime3">
              <a:rPr lang="en-US" smtClean="0"/>
              <a:t>28 November 2023</a:t>
            </a:fld>
            <a:endParaRPr lang="en-US" dirty="0"/>
          </a:p>
        </p:txBody>
      </p:sp>
      <p:sp>
        <p:nvSpPr>
          <p:cNvPr id="3" name="Footer Placeholder 2"/>
          <p:cNvSpPr>
            <a:spLocks noGrp="1"/>
          </p:cNvSpPr>
          <p:nvPr>
            <p:ph type="ftr" sz="quarter" idx="11"/>
          </p:nvPr>
        </p:nvSpPr>
        <p:spPr/>
        <p:txBody>
          <a:bodyPr/>
          <a:lstStyle/>
          <a:p>
            <a:r>
              <a:rPr lang="en-US"/>
              <a:t>Software Project Management       Dr. D Evangelin Geetha    Dept. of MCA     RIT</a:t>
            </a:r>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6B7D550B-4280-46B1-87A3-29D28FF41DDD}" type="datetime3">
              <a:rPr lang="en-US" smtClean="0"/>
              <a:t>28 November 2023</a:t>
            </a:fld>
            <a:endParaRPr lang="en-US" dirty="0"/>
          </a:p>
        </p:txBody>
      </p:sp>
      <p:sp>
        <p:nvSpPr>
          <p:cNvPr id="6" name="Footer Placeholder 5"/>
          <p:cNvSpPr>
            <a:spLocks noGrp="1"/>
          </p:cNvSpPr>
          <p:nvPr>
            <p:ph type="ftr" sz="quarter" idx="11"/>
          </p:nvPr>
        </p:nvSpPr>
        <p:spPr/>
        <p:txBody>
          <a:bodyPr/>
          <a:lstStyle/>
          <a:p>
            <a:r>
              <a:rPr lang="en-US"/>
              <a:t>Software Project Management       Dr. D Evangelin Geetha    Dept. of MCA     RIT</a:t>
            </a:r>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fld id="{313B98EA-A315-4E21-9C35-6B7803FC6F0E}" type="datetime3">
              <a:rPr lang="en-US" smtClean="0"/>
              <a:t>28 November 2023</a:t>
            </a:fld>
            <a:endParaRPr lang="en-US" dirty="0"/>
          </a:p>
        </p:txBody>
      </p:sp>
      <p:sp>
        <p:nvSpPr>
          <p:cNvPr id="6" name="Footer Placeholder 5"/>
          <p:cNvSpPr>
            <a:spLocks noGrp="1"/>
          </p:cNvSpPr>
          <p:nvPr>
            <p:ph type="ftr" sz="quarter" idx="11"/>
          </p:nvPr>
        </p:nvSpPr>
        <p:spPr>
          <a:xfrm>
            <a:off x="1447382" y="318640"/>
            <a:ext cx="5541004" cy="320931"/>
          </a:xfrm>
        </p:spPr>
        <p:txBody>
          <a:bodyPr/>
          <a:lstStyle/>
          <a:p>
            <a:r>
              <a:rPr lang="en-US"/>
              <a:t>Software Project Management       Dr. D Evangelin Geetha    Dept. of MCA     RIT</a:t>
            </a:r>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A630C62-CD3F-4343-8E1D-B2D111C0EA6A}" type="datetime3">
              <a:rPr lang="en-US" smtClean="0"/>
              <a:t>28 November 2023</a:t>
            </a:fld>
            <a:endParaRPr lang="en-US" dirty="0"/>
          </a:p>
        </p:txBody>
      </p:sp>
      <p:sp>
        <p:nvSpPr>
          <p:cNvPr id="5" name="Footer Placeholder 4"/>
          <p:cNvSpPr>
            <a:spLocks noGrp="1"/>
          </p:cNvSpPr>
          <p:nvPr>
            <p:ph type="ftr" sz="quarter" idx="11"/>
          </p:nvPr>
        </p:nvSpPr>
        <p:spPr/>
        <p:txBody>
          <a:bodyPr/>
          <a:lstStyle/>
          <a:p>
            <a:r>
              <a:rPr lang="en-US"/>
              <a:t>Software Project Management       Dr. D Evangelin Geetha    Dept. of MCA     RIT</a:t>
            </a:r>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6185F89-4CA7-4D82-A175-71691C88872F}" type="datetime3">
              <a:rPr lang="en-US" smtClean="0"/>
              <a:t>28 November 2023</a:t>
            </a:fld>
            <a:endParaRPr lang="en-US" dirty="0"/>
          </a:p>
        </p:txBody>
      </p:sp>
      <p:sp>
        <p:nvSpPr>
          <p:cNvPr id="5" name="Footer Placeholder 4"/>
          <p:cNvSpPr>
            <a:spLocks noGrp="1"/>
          </p:cNvSpPr>
          <p:nvPr>
            <p:ph type="ftr" sz="quarter" idx="11"/>
          </p:nvPr>
        </p:nvSpPr>
        <p:spPr/>
        <p:txBody>
          <a:bodyPr/>
          <a:lstStyle/>
          <a:p>
            <a:r>
              <a:rPr lang="en-US"/>
              <a:t>Software Project Management       Dr. D Evangelin Geetha    Dept. of MCA     RIT</a:t>
            </a:r>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914400" y="609600"/>
            <a:ext cx="10363200" cy="1143000"/>
          </a:xfrm>
        </p:spPr>
        <p:txBody>
          <a:bodyPr/>
          <a:lstStyle/>
          <a:p>
            <a:r>
              <a:rPr lang="en-US"/>
              <a:t>Click to edit Master title style</a:t>
            </a:r>
            <a:endParaRPr lang="en-IN"/>
          </a:p>
        </p:txBody>
      </p:sp>
      <p:sp>
        <p:nvSpPr>
          <p:cNvPr id="3" name="Text Placeholder 2"/>
          <p:cNvSpPr>
            <a:spLocks noGrp="1"/>
          </p:cNvSpPr>
          <p:nvPr>
            <p:ph type="body" sz="half" idx="1"/>
          </p:nvPr>
        </p:nvSpPr>
        <p:spPr>
          <a:xfrm>
            <a:off x="914400" y="1981200"/>
            <a:ext cx="5080000" cy="41148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97600" y="1981200"/>
            <a:ext cx="5080000" cy="41148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Slide Number Placeholder 4"/>
          <p:cNvSpPr>
            <a:spLocks noGrp="1"/>
          </p:cNvSpPr>
          <p:nvPr>
            <p:ph type="sldNum" sz="quarter" idx="10"/>
          </p:nvPr>
        </p:nvSpPr>
        <p:spPr>
          <a:xfrm>
            <a:off x="4470400" y="6324600"/>
            <a:ext cx="3048000" cy="381000"/>
          </a:xfrm>
        </p:spPr>
        <p:txBody>
          <a:bodyPr/>
          <a:lstStyle>
            <a:lvl1pPr>
              <a:defRPr/>
            </a:lvl1pPr>
          </a:lstStyle>
          <a:p>
            <a:fld id="{DFD4CE90-7F23-48A1-A9FE-EB0C03E482A6}" type="slidenum">
              <a:rPr lang="en-US" altLang="en-US"/>
              <a:pPr/>
              <a:t>‹#›</a:t>
            </a:fld>
            <a:endParaRPr lang="en-US" altLang="en-US"/>
          </a:p>
        </p:txBody>
      </p:sp>
    </p:spTree>
    <p:extLst>
      <p:ext uri="{BB962C8B-B14F-4D97-AF65-F5344CB8AC3E}">
        <p14:creationId xmlns:p14="http://schemas.microsoft.com/office/powerpoint/2010/main" val="176382810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bl">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914400" y="609600"/>
            <a:ext cx="10363200" cy="1143000"/>
          </a:xfrm>
        </p:spPr>
        <p:txBody>
          <a:bodyPr/>
          <a:lstStyle/>
          <a:p>
            <a:r>
              <a:rPr lang="en-US"/>
              <a:t>Click to edit Master title style</a:t>
            </a:r>
            <a:endParaRPr lang="en-IN"/>
          </a:p>
        </p:txBody>
      </p:sp>
      <p:sp>
        <p:nvSpPr>
          <p:cNvPr id="3" name="Table Placeholder 2"/>
          <p:cNvSpPr>
            <a:spLocks noGrp="1"/>
          </p:cNvSpPr>
          <p:nvPr>
            <p:ph type="tbl" idx="1"/>
          </p:nvPr>
        </p:nvSpPr>
        <p:spPr>
          <a:xfrm>
            <a:off x="914400" y="1981200"/>
            <a:ext cx="10363200" cy="4114800"/>
          </a:xfrm>
        </p:spPr>
        <p:txBody>
          <a:bodyPr/>
          <a:lstStyle/>
          <a:p>
            <a:endParaRPr lang="en-IN"/>
          </a:p>
        </p:txBody>
      </p:sp>
      <p:sp>
        <p:nvSpPr>
          <p:cNvPr id="4" name="Slide Number Placeholder 3"/>
          <p:cNvSpPr>
            <a:spLocks noGrp="1"/>
          </p:cNvSpPr>
          <p:nvPr>
            <p:ph type="sldNum" sz="quarter" idx="10"/>
          </p:nvPr>
        </p:nvSpPr>
        <p:spPr>
          <a:xfrm>
            <a:off x="4470400" y="6324600"/>
            <a:ext cx="3048000" cy="381000"/>
          </a:xfrm>
        </p:spPr>
        <p:txBody>
          <a:bodyPr/>
          <a:lstStyle>
            <a:lvl1pPr>
              <a:defRPr/>
            </a:lvl1pPr>
          </a:lstStyle>
          <a:p>
            <a:fld id="{399BBB26-9F41-43CD-8EAB-35C7F62EB89D}" type="slidenum">
              <a:rPr lang="en-US" altLang="en-US"/>
              <a:pPr/>
              <a:t>‹#›</a:t>
            </a:fld>
            <a:endParaRPr lang="en-US" altLang="en-US"/>
          </a:p>
        </p:txBody>
      </p:sp>
    </p:spTree>
    <p:extLst>
      <p:ext uri="{BB962C8B-B14F-4D97-AF65-F5344CB8AC3E}">
        <p14:creationId xmlns:p14="http://schemas.microsoft.com/office/powerpoint/2010/main" val="6309984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jp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2149491"/>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7" name="Picture 6"/>
          <p:cNvPicPr>
            <a:picLocks noChangeAspect="1"/>
          </p:cNvPicPr>
          <p:nvPr/>
        </p:nvPicPr>
        <p:blipFill rotWithShape="1">
          <a:blip r:embed="rId15">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US" dirty="0"/>
              <a:t>Click to edit Master title style</a:t>
            </a:r>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7554138"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5B5B9231-66C8-4E3F-AA98-25498B84860E}" type="datetime3">
              <a:rPr lang="en-US" smtClean="0"/>
              <a:t>28 November 2023</a:t>
            </a:fld>
            <a:endParaRPr lang="en-US" dirty="0"/>
          </a:p>
        </p:txBody>
      </p:sp>
      <p:sp>
        <p:nvSpPr>
          <p:cNvPr id="5" name="Footer Placeholder 4"/>
          <p:cNvSpPr>
            <a:spLocks noGrp="1"/>
          </p:cNvSpPr>
          <p:nvPr>
            <p:ph type="ftr" sz="quarter" idx="3"/>
          </p:nvPr>
        </p:nvSpPr>
        <p:spPr>
          <a:xfrm>
            <a:off x="1451579" y="329307"/>
            <a:ext cx="5938836" cy="309201"/>
          </a:xfrm>
          <a:prstGeom prst="rect">
            <a:avLst/>
          </a:prstGeom>
        </p:spPr>
        <p:txBody>
          <a:bodyPr vert="horz" lIns="91440" tIns="45720" rIns="91440" bIns="45720" rtlCol="0" anchor="ctr"/>
          <a:lstStyle>
            <a:lvl1pPr algn="l">
              <a:defRPr sz="1000">
                <a:solidFill>
                  <a:schemeClr val="tx1">
                    <a:tint val="75000"/>
                  </a:schemeClr>
                </a:solidFill>
              </a:defRPr>
            </a:lvl1pPr>
          </a:lstStyle>
          <a:p>
            <a:r>
              <a:rPr lang="en-US"/>
              <a:t>Software Project Management       Dr. D Evangelin Geetha    Dept. of MCA     RIT</a:t>
            </a:r>
            <a:endParaRPr lang="en-US" dirty="0"/>
          </a:p>
        </p:txBody>
      </p:sp>
      <p:sp>
        <p:nvSpPr>
          <p:cNvPr id="6" name="Slide Number Placeholder 5"/>
          <p:cNvSpPr>
            <a:spLocks noGrp="1"/>
          </p:cNvSpPr>
          <p:nvPr>
            <p:ph type="sldNum" sz="quarter" idx="4"/>
          </p:nvPr>
        </p:nvSpPr>
        <p:spPr>
          <a:xfrm>
            <a:off x="11605846" y="5731459"/>
            <a:ext cx="499772" cy="326443"/>
          </a:xfrm>
          <a:prstGeom prst="rect">
            <a:avLst/>
          </a:prstGeom>
        </p:spPr>
        <p:txBody>
          <a:bodyPr vert="horz" lIns="91440" tIns="45720" rIns="91440" bIns="45720" rtlCol="0" anchor="t"/>
          <a:lstStyle>
            <a:lvl1pPr algn="r">
              <a:defRPr sz="1600">
                <a:solidFill>
                  <a:schemeClr val="accent1"/>
                </a:solidFill>
              </a:defRPr>
            </a:lvl1pPr>
          </a:lstStyle>
          <a:p>
            <a:fld id="{6D22F896-40B5-4ADD-8801-0D06FADFA095}" type="slidenum">
              <a:rPr lang="en-US" smtClean="0"/>
              <a:pPr/>
              <a:t>‹#›</a:t>
            </a:fld>
            <a:endParaRPr lang="en-US" dirty="0"/>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hdr="0"/>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8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24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24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2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24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417780" y="0"/>
            <a:ext cx="8637073" cy="3181082"/>
          </a:xfrm>
        </p:spPr>
        <p:txBody>
          <a:bodyPr>
            <a:normAutofit/>
          </a:bodyPr>
          <a:lstStyle/>
          <a:p>
            <a:r>
              <a:rPr lang="en-IN" sz="4800" dirty="0"/>
              <a:t>Software Project Management </a:t>
            </a:r>
            <a:br>
              <a:rPr lang="en-IN" sz="4800" dirty="0"/>
            </a:br>
            <a:r>
              <a:rPr lang="en-IN" sz="4800" dirty="0">
                <a:solidFill>
                  <a:srgbClr val="0000CC"/>
                </a:solidFill>
              </a:rPr>
              <a:t>Project Evaluation and programme management</a:t>
            </a:r>
          </a:p>
        </p:txBody>
      </p:sp>
      <p:sp>
        <p:nvSpPr>
          <p:cNvPr id="3" name="Subtitle 2"/>
          <p:cNvSpPr>
            <a:spLocks noGrp="1"/>
          </p:cNvSpPr>
          <p:nvPr>
            <p:ph type="subTitle" idx="1"/>
          </p:nvPr>
        </p:nvSpPr>
        <p:spPr>
          <a:xfrm>
            <a:off x="2417780" y="3531204"/>
            <a:ext cx="8637072" cy="1944438"/>
          </a:xfrm>
        </p:spPr>
        <p:txBody>
          <a:bodyPr>
            <a:normAutofit/>
          </a:bodyPr>
          <a:lstStyle/>
          <a:p>
            <a:endParaRPr lang="en-IN" dirty="0"/>
          </a:p>
        </p:txBody>
      </p:sp>
    </p:spTree>
    <p:extLst>
      <p:ext uri="{BB962C8B-B14F-4D97-AF65-F5344CB8AC3E}">
        <p14:creationId xmlns:p14="http://schemas.microsoft.com/office/powerpoint/2010/main" val="35170040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Introduction</a:t>
            </a:r>
          </a:p>
        </p:txBody>
      </p:sp>
      <p:sp>
        <p:nvSpPr>
          <p:cNvPr id="3" name="Content Placeholder 2"/>
          <p:cNvSpPr>
            <a:spLocks noGrp="1"/>
          </p:cNvSpPr>
          <p:nvPr>
            <p:ph idx="1"/>
          </p:nvPr>
        </p:nvSpPr>
        <p:spPr/>
        <p:txBody>
          <a:bodyPr/>
          <a:lstStyle/>
          <a:p>
            <a:r>
              <a:rPr lang="en-US" dirty="0"/>
              <a:t>ICT – Information and Communications Technology</a:t>
            </a:r>
          </a:p>
          <a:p>
            <a:r>
              <a:rPr lang="en-US" dirty="0"/>
              <a:t>ICT projects – analyze the significance </a:t>
            </a:r>
          </a:p>
          <a:p>
            <a:pPr lvl="1"/>
            <a:r>
              <a:rPr lang="en-US" dirty="0"/>
              <a:t>Evaluate benefits of a project</a:t>
            </a:r>
          </a:p>
          <a:p>
            <a:pPr lvl="1"/>
            <a:r>
              <a:rPr lang="en-US" dirty="0"/>
              <a:t>Selection of the projects</a:t>
            </a:r>
          </a:p>
          <a:p>
            <a:pPr lvl="1"/>
            <a:endParaRPr lang="en-US" dirty="0"/>
          </a:p>
          <a:p>
            <a:pPr lvl="1"/>
            <a:endParaRPr lang="en-US" dirty="0"/>
          </a:p>
        </p:txBody>
      </p:sp>
      <p:sp>
        <p:nvSpPr>
          <p:cNvPr id="4" name="Date Placeholder 3"/>
          <p:cNvSpPr>
            <a:spLocks noGrp="1"/>
          </p:cNvSpPr>
          <p:nvPr>
            <p:ph type="dt" sz="half" idx="10"/>
          </p:nvPr>
        </p:nvSpPr>
        <p:spPr/>
        <p:txBody>
          <a:bodyPr/>
          <a:lstStyle/>
          <a:p>
            <a:fld id="{916E9980-19DB-44FE-BE2A-7F6D84B05341}" type="datetime3">
              <a:rPr lang="en-US" smtClean="0"/>
              <a:t>28 November 2023</a:t>
            </a:fld>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2</a:t>
            </a:fld>
            <a:endParaRPr lang="en-US" dirty="0"/>
          </a:p>
        </p:txBody>
      </p:sp>
    </p:spTree>
    <p:extLst>
      <p:ext uri="{BB962C8B-B14F-4D97-AF65-F5344CB8AC3E}">
        <p14:creationId xmlns:p14="http://schemas.microsoft.com/office/powerpoint/2010/main" val="40361816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Business case</a:t>
            </a:r>
          </a:p>
        </p:txBody>
      </p:sp>
      <p:sp>
        <p:nvSpPr>
          <p:cNvPr id="3" name="Content Placeholder 2"/>
          <p:cNvSpPr>
            <a:spLocks noGrp="1"/>
          </p:cNvSpPr>
          <p:nvPr>
            <p:ph idx="1"/>
          </p:nvPr>
        </p:nvSpPr>
        <p:spPr/>
        <p:txBody>
          <a:bodyPr>
            <a:normAutofit fontScale="92500" lnSpcReduction="10000"/>
          </a:bodyPr>
          <a:lstStyle/>
          <a:p>
            <a:r>
              <a:rPr lang="en-US" dirty="0"/>
              <a:t>Feasibility study or project justification</a:t>
            </a:r>
          </a:p>
          <a:p>
            <a:r>
              <a:rPr lang="en-US" dirty="0"/>
              <a:t>Business case document contains</a:t>
            </a:r>
          </a:p>
          <a:p>
            <a:pPr lvl="1"/>
            <a:r>
              <a:rPr lang="en-US" dirty="0"/>
              <a:t>Introduction and background to the proposal</a:t>
            </a:r>
          </a:p>
          <a:p>
            <a:pPr lvl="1"/>
            <a:r>
              <a:rPr lang="en-US" dirty="0"/>
              <a:t>The proposed project</a:t>
            </a:r>
          </a:p>
          <a:p>
            <a:pPr lvl="1"/>
            <a:r>
              <a:rPr lang="en-US" dirty="0"/>
              <a:t>The market</a:t>
            </a:r>
          </a:p>
          <a:p>
            <a:pPr lvl="1"/>
            <a:r>
              <a:rPr lang="en-US" dirty="0"/>
              <a:t>Organizational and operational infrastructure</a:t>
            </a:r>
          </a:p>
          <a:p>
            <a:pPr lvl="1"/>
            <a:r>
              <a:rPr lang="en-US" dirty="0"/>
              <a:t>The benefits</a:t>
            </a:r>
          </a:p>
          <a:p>
            <a:endParaRPr lang="en-US" dirty="0"/>
          </a:p>
        </p:txBody>
      </p:sp>
      <p:sp>
        <p:nvSpPr>
          <p:cNvPr id="4" name="Date Placeholder 3"/>
          <p:cNvSpPr>
            <a:spLocks noGrp="1"/>
          </p:cNvSpPr>
          <p:nvPr>
            <p:ph type="dt" sz="half" idx="10"/>
          </p:nvPr>
        </p:nvSpPr>
        <p:spPr/>
        <p:txBody>
          <a:bodyPr/>
          <a:lstStyle/>
          <a:p>
            <a:fld id="{613EB57E-B7C0-4A1D-B7E5-91BD04FD8CC1}" type="datetime3">
              <a:rPr lang="en-US" smtClean="0"/>
              <a:t>28 November 2023</a:t>
            </a:fld>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3</a:t>
            </a:fld>
            <a:endParaRPr lang="en-US" dirty="0"/>
          </a:p>
        </p:txBody>
      </p:sp>
    </p:spTree>
    <p:extLst>
      <p:ext uri="{BB962C8B-B14F-4D97-AF65-F5344CB8AC3E}">
        <p14:creationId xmlns:p14="http://schemas.microsoft.com/office/powerpoint/2010/main" val="28563738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Business case</a:t>
            </a:r>
          </a:p>
        </p:txBody>
      </p:sp>
      <p:sp>
        <p:nvSpPr>
          <p:cNvPr id="3" name="Content Placeholder 2"/>
          <p:cNvSpPr>
            <a:spLocks noGrp="1"/>
          </p:cNvSpPr>
          <p:nvPr>
            <p:ph idx="1"/>
          </p:nvPr>
        </p:nvSpPr>
        <p:spPr/>
        <p:txBody>
          <a:bodyPr>
            <a:normAutofit fontScale="92500" lnSpcReduction="10000"/>
          </a:bodyPr>
          <a:lstStyle/>
          <a:p>
            <a:r>
              <a:rPr lang="en-US" dirty="0"/>
              <a:t>Feasibility study or project justification</a:t>
            </a:r>
          </a:p>
          <a:p>
            <a:r>
              <a:rPr lang="en-US" dirty="0"/>
              <a:t>Business case document contains</a:t>
            </a:r>
          </a:p>
          <a:p>
            <a:pPr lvl="1"/>
            <a:r>
              <a:rPr lang="en-US" dirty="0"/>
              <a:t>Outline implementation plan</a:t>
            </a:r>
          </a:p>
          <a:p>
            <a:pPr lvl="1"/>
            <a:r>
              <a:rPr lang="en-US" dirty="0"/>
              <a:t>Costs</a:t>
            </a:r>
          </a:p>
          <a:p>
            <a:pPr lvl="1"/>
            <a:r>
              <a:rPr lang="en-US" dirty="0"/>
              <a:t>The financial case</a:t>
            </a:r>
          </a:p>
          <a:p>
            <a:pPr lvl="1"/>
            <a:r>
              <a:rPr lang="en-US" dirty="0"/>
              <a:t>Risks</a:t>
            </a:r>
          </a:p>
          <a:p>
            <a:pPr lvl="1"/>
            <a:r>
              <a:rPr lang="en-US" dirty="0"/>
              <a:t>Management plan</a:t>
            </a:r>
          </a:p>
          <a:p>
            <a:endParaRPr lang="en-US" dirty="0"/>
          </a:p>
        </p:txBody>
      </p:sp>
      <p:sp>
        <p:nvSpPr>
          <p:cNvPr id="4" name="Date Placeholder 3"/>
          <p:cNvSpPr>
            <a:spLocks noGrp="1"/>
          </p:cNvSpPr>
          <p:nvPr>
            <p:ph type="dt" sz="half" idx="10"/>
          </p:nvPr>
        </p:nvSpPr>
        <p:spPr/>
        <p:txBody>
          <a:bodyPr/>
          <a:lstStyle/>
          <a:p>
            <a:fld id="{92E51864-0D45-493D-8C38-411563C8E8DA}" type="datetime3">
              <a:rPr lang="en-US" smtClean="0"/>
              <a:t>28 November 2023</a:t>
            </a:fld>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4</a:t>
            </a:fld>
            <a:endParaRPr lang="en-US" dirty="0"/>
          </a:p>
        </p:txBody>
      </p:sp>
    </p:spTree>
    <p:extLst>
      <p:ext uri="{BB962C8B-B14F-4D97-AF65-F5344CB8AC3E}">
        <p14:creationId xmlns:p14="http://schemas.microsoft.com/office/powerpoint/2010/main" val="2752351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Project portfolio management</a:t>
            </a:r>
          </a:p>
        </p:txBody>
      </p:sp>
      <p:sp>
        <p:nvSpPr>
          <p:cNvPr id="3" name="Content Placeholder 2"/>
          <p:cNvSpPr>
            <a:spLocks noGrp="1"/>
          </p:cNvSpPr>
          <p:nvPr>
            <p:ph idx="1"/>
          </p:nvPr>
        </p:nvSpPr>
        <p:spPr/>
        <p:txBody>
          <a:bodyPr/>
          <a:lstStyle/>
          <a:p>
            <a:r>
              <a:rPr lang="en-US" dirty="0"/>
              <a:t>Overview of all the projects</a:t>
            </a:r>
          </a:p>
          <a:p>
            <a:r>
              <a:rPr lang="en-US" dirty="0"/>
              <a:t>Prioritizes allocation of resources</a:t>
            </a:r>
          </a:p>
          <a:p>
            <a:r>
              <a:rPr lang="en-US" dirty="0"/>
              <a:t>Decides which projects to accept and to drop</a:t>
            </a:r>
          </a:p>
          <a:p>
            <a:endParaRPr lang="en-US" dirty="0"/>
          </a:p>
        </p:txBody>
      </p:sp>
      <p:sp>
        <p:nvSpPr>
          <p:cNvPr id="4" name="Date Placeholder 3"/>
          <p:cNvSpPr>
            <a:spLocks noGrp="1"/>
          </p:cNvSpPr>
          <p:nvPr>
            <p:ph type="dt" sz="half" idx="10"/>
          </p:nvPr>
        </p:nvSpPr>
        <p:spPr/>
        <p:txBody>
          <a:bodyPr/>
          <a:lstStyle/>
          <a:p>
            <a:fld id="{0AA571B5-C0AE-4F16-BE6B-A479D8DFA016}" type="datetime3">
              <a:rPr lang="en-US" smtClean="0"/>
              <a:t>28 November 2023</a:t>
            </a:fld>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5</a:t>
            </a:fld>
            <a:endParaRPr lang="en-US" dirty="0"/>
          </a:p>
        </p:txBody>
      </p:sp>
    </p:spTree>
    <p:extLst>
      <p:ext uri="{BB962C8B-B14F-4D97-AF65-F5344CB8AC3E}">
        <p14:creationId xmlns:p14="http://schemas.microsoft.com/office/powerpoint/2010/main" val="14951786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Project portfolio management</a:t>
            </a:r>
          </a:p>
        </p:txBody>
      </p:sp>
      <p:sp>
        <p:nvSpPr>
          <p:cNvPr id="3" name="Content Placeholder 2"/>
          <p:cNvSpPr>
            <a:spLocks noGrp="1"/>
          </p:cNvSpPr>
          <p:nvPr>
            <p:ph idx="1"/>
          </p:nvPr>
        </p:nvSpPr>
        <p:spPr/>
        <p:txBody>
          <a:bodyPr>
            <a:normAutofit lnSpcReduction="10000"/>
          </a:bodyPr>
          <a:lstStyle/>
          <a:p>
            <a:r>
              <a:rPr lang="en-US" dirty="0"/>
              <a:t>Concerns</a:t>
            </a:r>
          </a:p>
          <a:p>
            <a:pPr lvl="1"/>
            <a:r>
              <a:rPr lang="en-US" dirty="0"/>
              <a:t>Identifying project proposals to implement</a:t>
            </a:r>
          </a:p>
          <a:p>
            <a:pPr lvl="1"/>
            <a:r>
              <a:rPr lang="en-US" dirty="0"/>
              <a:t>Assessing the amount of risk of failure</a:t>
            </a:r>
          </a:p>
          <a:p>
            <a:pPr lvl="1"/>
            <a:r>
              <a:rPr lang="en-US" dirty="0"/>
              <a:t>Deciding how to share limited resources</a:t>
            </a:r>
          </a:p>
          <a:p>
            <a:pPr lvl="1"/>
            <a:r>
              <a:rPr lang="en-US" dirty="0"/>
              <a:t>Being aware of the dependencies between projects </a:t>
            </a:r>
          </a:p>
          <a:p>
            <a:pPr lvl="1"/>
            <a:r>
              <a:rPr lang="en-US" dirty="0"/>
              <a:t>Ensuring projects do not duplicate work</a:t>
            </a:r>
          </a:p>
          <a:p>
            <a:pPr lvl="1"/>
            <a:r>
              <a:rPr lang="en-US" dirty="0"/>
              <a:t>Ensuring that necessary developments have not been missed</a:t>
            </a:r>
          </a:p>
        </p:txBody>
      </p:sp>
      <p:sp>
        <p:nvSpPr>
          <p:cNvPr id="4" name="Date Placeholder 3"/>
          <p:cNvSpPr>
            <a:spLocks noGrp="1"/>
          </p:cNvSpPr>
          <p:nvPr>
            <p:ph type="dt" sz="half" idx="10"/>
          </p:nvPr>
        </p:nvSpPr>
        <p:spPr/>
        <p:txBody>
          <a:bodyPr/>
          <a:lstStyle/>
          <a:p>
            <a:fld id="{AAEDA828-2FD5-4F27-ADD5-56607E5415D3}" type="datetime3">
              <a:rPr lang="en-US" smtClean="0"/>
              <a:t>28 November 2023</a:t>
            </a:fld>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6</a:t>
            </a:fld>
            <a:endParaRPr lang="en-US" dirty="0"/>
          </a:p>
        </p:txBody>
      </p:sp>
    </p:spTree>
    <p:extLst>
      <p:ext uri="{BB962C8B-B14F-4D97-AF65-F5344CB8AC3E}">
        <p14:creationId xmlns:p14="http://schemas.microsoft.com/office/powerpoint/2010/main" val="33038457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Project portfolio management</a:t>
            </a:r>
          </a:p>
        </p:txBody>
      </p:sp>
      <p:sp>
        <p:nvSpPr>
          <p:cNvPr id="3" name="Content Placeholder 2"/>
          <p:cNvSpPr>
            <a:spLocks noGrp="1"/>
          </p:cNvSpPr>
          <p:nvPr>
            <p:ph idx="1"/>
          </p:nvPr>
        </p:nvSpPr>
        <p:spPr/>
        <p:txBody>
          <a:bodyPr/>
          <a:lstStyle/>
          <a:p>
            <a:r>
              <a:rPr lang="en-US" dirty="0"/>
              <a:t>3  key aspects of project portfolio management:</a:t>
            </a:r>
          </a:p>
          <a:p>
            <a:pPr lvl="1"/>
            <a:r>
              <a:rPr lang="en-US" sz="2800" dirty="0"/>
              <a:t>Project portfolio definition</a:t>
            </a:r>
          </a:p>
          <a:p>
            <a:pPr lvl="1"/>
            <a:r>
              <a:rPr lang="en-US" sz="2800" dirty="0"/>
              <a:t>Project portfolio management</a:t>
            </a:r>
          </a:p>
          <a:p>
            <a:pPr lvl="1"/>
            <a:r>
              <a:rPr lang="en-US" sz="2800" dirty="0"/>
              <a:t>Project portfolio optimization</a:t>
            </a:r>
          </a:p>
        </p:txBody>
      </p:sp>
      <p:sp>
        <p:nvSpPr>
          <p:cNvPr id="4" name="Date Placeholder 3"/>
          <p:cNvSpPr>
            <a:spLocks noGrp="1"/>
          </p:cNvSpPr>
          <p:nvPr>
            <p:ph type="dt" sz="half" idx="10"/>
          </p:nvPr>
        </p:nvSpPr>
        <p:spPr/>
        <p:txBody>
          <a:bodyPr/>
          <a:lstStyle/>
          <a:p>
            <a:fld id="{FF8D4F42-1B94-4B5A-8CC0-7F1B2F485445}" type="datetime3">
              <a:rPr lang="en-US" smtClean="0"/>
              <a:t>28 November 2023</a:t>
            </a:fld>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7</a:t>
            </a:fld>
            <a:endParaRPr lang="en-US" dirty="0"/>
          </a:p>
        </p:txBody>
      </p:sp>
    </p:spTree>
    <p:extLst>
      <p:ext uri="{BB962C8B-B14F-4D97-AF65-F5344CB8AC3E}">
        <p14:creationId xmlns:p14="http://schemas.microsoft.com/office/powerpoint/2010/main" val="203096991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Project portfolio management</a:t>
            </a:r>
          </a:p>
        </p:txBody>
      </p:sp>
      <p:sp>
        <p:nvSpPr>
          <p:cNvPr id="3" name="Content Placeholder 2"/>
          <p:cNvSpPr>
            <a:spLocks noGrp="1"/>
          </p:cNvSpPr>
          <p:nvPr>
            <p:ph idx="1"/>
          </p:nvPr>
        </p:nvSpPr>
        <p:spPr/>
        <p:txBody>
          <a:bodyPr/>
          <a:lstStyle/>
          <a:p>
            <a:r>
              <a:rPr lang="en-US" dirty="0"/>
              <a:t>Project portfolio definition</a:t>
            </a:r>
          </a:p>
          <a:p>
            <a:pPr lvl="1"/>
            <a:r>
              <a:rPr lang="en-US" dirty="0"/>
              <a:t>Single repository for projects</a:t>
            </a:r>
          </a:p>
          <a:p>
            <a:pPr lvl="1"/>
            <a:r>
              <a:rPr lang="en-US" dirty="0"/>
              <a:t>Repository for only ICT projects or others also</a:t>
            </a:r>
          </a:p>
          <a:p>
            <a:pPr lvl="1"/>
            <a:r>
              <a:rPr lang="en-US" dirty="0"/>
              <a:t>Projects </a:t>
            </a:r>
          </a:p>
          <a:p>
            <a:pPr lvl="2"/>
            <a:r>
              <a:rPr lang="en-US" dirty="0"/>
              <a:t>New Product Developments (NPD) – E.g. Game</a:t>
            </a:r>
          </a:p>
          <a:p>
            <a:pPr lvl="2"/>
            <a:r>
              <a:rPr lang="en-US" dirty="0"/>
              <a:t>Renewal Projects – E.g. information Systems</a:t>
            </a:r>
          </a:p>
        </p:txBody>
      </p:sp>
      <p:sp>
        <p:nvSpPr>
          <p:cNvPr id="4" name="Date Placeholder 3"/>
          <p:cNvSpPr>
            <a:spLocks noGrp="1"/>
          </p:cNvSpPr>
          <p:nvPr>
            <p:ph type="dt" sz="half" idx="10"/>
          </p:nvPr>
        </p:nvSpPr>
        <p:spPr/>
        <p:txBody>
          <a:bodyPr/>
          <a:lstStyle/>
          <a:p>
            <a:fld id="{D48C16FB-C13B-4198-B986-9F1BCD87723B}" type="datetime3">
              <a:rPr lang="en-US" smtClean="0"/>
              <a:t>28 November 2023</a:t>
            </a:fld>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8</a:t>
            </a:fld>
            <a:endParaRPr lang="en-US" dirty="0"/>
          </a:p>
        </p:txBody>
      </p:sp>
    </p:spTree>
    <p:extLst>
      <p:ext uri="{BB962C8B-B14F-4D97-AF65-F5344CB8AC3E}">
        <p14:creationId xmlns:p14="http://schemas.microsoft.com/office/powerpoint/2010/main" val="12061755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Project portfolio management</a:t>
            </a:r>
          </a:p>
        </p:txBody>
      </p:sp>
      <p:sp>
        <p:nvSpPr>
          <p:cNvPr id="3" name="Content Placeholder 2"/>
          <p:cNvSpPr>
            <a:spLocks noGrp="1"/>
          </p:cNvSpPr>
          <p:nvPr>
            <p:ph idx="1"/>
          </p:nvPr>
        </p:nvSpPr>
        <p:spPr/>
        <p:txBody>
          <a:bodyPr/>
          <a:lstStyle/>
          <a:p>
            <a:r>
              <a:rPr lang="en-US" dirty="0"/>
              <a:t>Project portfolio management</a:t>
            </a:r>
          </a:p>
          <a:p>
            <a:pPr lvl="1"/>
            <a:r>
              <a:rPr lang="en-US" sz="2800" dirty="0"/>
              <a:t>Details about costings of projects recorded</a:t>
            </a:r>
          </a:p>
          <a:p>
            <a:pPr lvl="1"/>
            <a:r>
              <a:rPr lang="en-US" sz="2800" dirty="0"/>
              <a:t>Tracking</a:t>
            </a:r>
          </a:p>
          <a:p>
            <a:pPr lvl="1"/>
            <a:r>
              <a:rPr lang="en-US" sz="2800" dirty="0"/>
              <a:t>Basis for the more rigorous screening of new projects</a:t>
            </a:r>
          </a:p>
        </p:txBody>
      </p:sp>
      <p:sp>
        <p:nvSpPr>
          <p:cNvPr id="4" name="Date Placeholder 3"/>
          <p:cNvSpPr>
            <a:spLocks noGrp="1"/>
          </p:cNvSpPr>
          <p:nvPr>
            <p:ph type="dt" sz="half" idx="10"/>
          </p:nvPr>
        </p:nvSpPr>
        <p:spPr/>
        <p:txBody>
          <a:bodyPr/>
          <a:lstStyle/>
          <a:p>
            <a:fld id="{B36DCB89-B763-443D-845D-6DCEA2EA0EBF}" type="datetime3">
              <a:rPr lang="en-US" smtClean="0"/>
              <a:t>28 November 2023</a:t>
            </a:fld>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9</a:t>
            </a:fld>
            <a:endParaRPr lang="en-US" dirty="0"/>
          </a:p>
        </p:txBody>
      </p:sp>
    </p:spTree>
    <p:extLst>
      <p:ext uri="{BB962C8B-B14F-4D97-AF65-F5344CB8AC3E}">
        <p14:creationId xmlns:p14="http://schemas.microsoft.com/office/powerpoint/2010/main" val="13130861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Project portfolio management</a:t>
            </a:r>
          </a:p>
        </p:txBody>
      </p:sp>
      <p:sp>
        <p:nvSpPr>
          <p:cNvPr id="3" name="Content Placeholder 2"/>
          <p:cNvSpPr>
            <a:spLocks noGrp="1"/>
          </p:cNvSpPr>
          <p:nvPr>
            <p:ph idx="1"/>
          </p:nvPr>
        </p:nvSpPr>
        <p:spPr/>
        <p:txBody>
          <a:bodyPr/>
          <a:lstStyle/>
          <a:p>
            <a:r>
              <a:rPr lang="en-US" dirty="0"/>
              <a:t>Project portfolio optimization</a:t>
            </a:r>
          </a:p>
          <a:p>
            <a:pPr lvl="1"/>
            <a:r>
              <a:rPr lang="en-US" dirty="0"/>
              <a:t>Performance of the portfolio will be tracked</a:t>
            </a:r>
          </a:p>
          <a:p>
            <a:pPr lvl="1"/>
            <a:r>
              <a:rPr lang="en-US" dirty="0"/>
              <a:t>May not be profitable – e-commerce site</a:t>
            </a:r>
          </a:p>
          <a:p>
            <a:pPr lvl="1"/>
            <a:r>
              <a:rPr lang="en-US" dirty="0"/>
              <a:t>Moderate benefit – automating processes</a:t>
            </a:r>
          </a:p>
          <a:p>
            <a:r>
              <a:rPr lang="en-US" dirty="0">
                <a:solidFill>
                  <a:srgbClr val="0000CC"/>
                </a:solidFill>
              </a:rPr>
              <a:t>Need thought-out balance between two types of projects</a:t>
            </a:r>
          </a:p>
        </p:txBody>
      </p:sp>
      <p:sp>
        <p:nvSpPr>
          <p:cNvPr id="4" name="Date Placeholder 3"/>
          <p:cNvSpPr>
            <a:spLocks noGrp="1"/>
          </p:cNvSpPr>
          <p:nvPr>
            <p:ph type="dt" sz="half" idx="10"/>
          </p:nvPr>
        </p:nvSpPr>
        <p:spPr/>
        <p:txBody>
          <a:bodyPr/>
          <a:lstStyle/>
          <a:p>
            <a:fld id="{998C0B98-58B8-4BFF-9F72-3F05B95C1758}" type="datetime3">
              <a:rPr lang="en-US" smtClean="0"/>
              <a:t>28 November 2023</a:t>
            </a:fld>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10</a:t>
            </a:fld>
            <a:endParaRPr lang="en-US" dirty="0"/>
          </a:p>
        </p:txBody>
      </p:sp>
    </p:spTree>
    <p:extLst>
      <p:ext uri="{BB962C8B-B14F-4D97-AF65-F5344CB8AC3E}">
        <p14:creationId xmlns:p14="http://schemas.microsoft.com/office/powerpoint/2010/main" val="177825283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Project portfolio management</a:t>
            </a:r>
          </a:p>
        </p:txBody>
      </p:sp>
      <p:sp>
        <p:nvSpPr>
          <p:cNvPr id="3" name="Content Placeholder 2"/>
          <p:cNvSpPr>
            <a:spLocks noGrp="1"/>
          </p:cNvSpPr>
          <p:nvPr>
            <p:ph idx="1"/>
          </p:nvPr>
        </p:nvSpPr>
        <p:spPr/>
        <p:txBody>
          <a:bodyPr/>
          <a:lstStyle/>
          <a:p>
            <a:r>
              <a:rPr lang="en-US" dirty="0"/>
              <a:t>Problems with project portfolio management</a:t>
            </a:r>
          </a:p>
          <a:p>
            <a:pPr lvl="1"/>
            <a:r>
              <a:rPr lang="en-US" dirty="0"/>
              <a:t>Allocation of full-time staff</a:t>
            </a:r>
          </a:p>
          <a:p>
            <a:pPr lvl="1"/>
            <a:r>
              <a:rPr lang="en-US" dirty="0"/>
              <a:t>Projects that are over a level of cost will be recorded in the portfolio</a:t>
            </a:r>
          </a:p>
          <a:p>
            <a:pPr lvl="1"/>
            <a:endParaRPr lang="en-US" dirty="0"/>
          </a:p>
        </p:txBody>
      </p:sp>
      <p:sp>
        <p:nvSpPr>
          <p:cNvPr id="4" name="Date Placeholder 3"/>
          <p:cNvSpPr>
            <a:spLocks noGrp="1"/>
          </p:cNvSpPr>
          <p:nvPr>
            <p:ph type="dt" sz="half" idx="10"/>
          </p:nvPr>
        </p:nvSpPr>
        <p:spPr/>
        <p:txBody>
          <a:bodyPr/>
          <a:lstStyle/>
          <a:p>
            <a:fld id="{82CB9336-AFC7-4C88-8D88-CFBF9B3553A7}" type="datetime3">
              <a:rPr lang="en-US" smtClean="0"/>
              <a:t>28 November 2023</a:t>
            </a:fld>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11</a:t>
            </a:fld>
            <a:endParaRPr lang="en-US" dirty="0"/>
          </a:p>
        </p:txBody>
      </p:sp>
    </p:spTree>
    <p:extLst>
      <p:ext uri="{BB962C8B-B14F-4D97-AF65-F5344CB8AC3E}">
        <p14:creationId xmlns:p14="http://schemas.microsoft.com/office/powerpoint/2010/main" val="74781067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Evaluation of individual projects</a:t>
            </a:r>
          </a:p>
        </p:txBody>
      </p:sp>
      <p:sp>
        <p:nvSpPr>
          <p:cNvPr id="3" name="Content Placeholder 2"/>
          <p:cNvSpPr>
            <a:spLocks noGrp="1"/>
          </p:cNvSpPr>
          <p:nvPr>
            <p:ph idx="1"/>
          </p:nvPr>
        </p:nvSpPr>
        <p:spPr/>
        <p:txBody>
          <a:bodyPr>
            <a:normAutofit/>
          </a:bodyPr>
          <a:lstStyle/>
          <a:p>
            <a:r>
              <a:rPr lang="en-US" dirty="0"/>
              <a:t>Technical assessment</a:t>
            </a:r>
          </a:p>
          <a:p>
            <a:r>
              <a:rPr lang="en-US" dirty="0"/>
              <a:t>Cost-benefit analysis</a:t>
            </a:r>
          </a:p>
          <a:p>
            <a:r>
              <a:rPr lang="en-US" dirty="0"/>
              <a:t>Cash flow forecasting</a:t>
            </a:r>
          </a:p>
          <a:p>
            <a:pPr lvl="1"/>
            <a:endParaRPr lang="en-US" dirty="0"/>
          </a:p>
        </p:txBody>
      </p:sp>
      <p:sp>
        <p:nvSpPr>
          <p:cNvPr id="4" name="Date Placeholder 3"/>
          <p:cNvSpPr>
            <a:spLocks noGrp="1"/>
          </p:cNvSpPr>
          <p:nvPr>
            <p:ph type="dt" sz="half" idx="10"/>
          </p:nvPr>
        </p:nvSpPr>
        <p:spPr/>
        <p:txBody>
          <a:bodyPr/>
          <a:lstStyle/>
          <a:p>
            <a:fld id="{C253C446-27E9-4502-85F0-D607306DABB2}" type="datetime3">
              <a:rPr lang="en-US" smtClean="0"/>
              <a:t>28 November 2023</a:t>
            </a:fld>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12</a:t>
            </a:fld>
            <a:endParaRPr lang="en-US" dirty="0"/>
          </a:p>
        </p:txBody>
      </p:sp>
    </p:spTree>
    <p:extLst>
      <p:ext uri="{BB962C8B-B14F-4D97-AF65-F5344CB8AC3E}">
        <p14:creationId xmlns:p14="http://schemas.microsoft.com/office/powerpoint/2010/main" val="93368428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Evaluation of individual projects</a:t>
            </a:r>
          </a:p>
        </p:txBody>
      </p:sp>
      <p:sp>
        <p:nvSpPr>
          <p:cNvPr id="3" name="Content Placeholder 2"/>
          <p:cNvSpPr>
            <a:spLocks noGrp="1"/>
          </p:cNvSpPr>
          <p:nvPr>
            <p:ph idx="1"/>
          </p:nvPr>
        </p:nvSpPr>
        <p:spPr/>
        <p:txBody>
          <a:bodyPr>
            <a:normAutofit/>
          </a:bodyPr>
          <a:lstStyle/>
          <a:p>
            <a:r>
              <a:rPr lang="en-US" dirty="0"/>
              <a:t>Technical assessment</a:t>
            </a:r>
          </a:p>
          <a:p>
            <a:pPr lvl="1"/>
            <a:r>
              <a:rPr lang="en-US" sz="2800" dirty="0"/>
              <a:t>Required functionality can be achieved with current affordable technologies</a:t>
            </a:r>
          </a:p>
          <a:p>
            <a:pPr lvl="1"/>
            <a:r>
              <a:rPr lang="en-US" sz="2800" dirty="0"/>
              <a:t>Hardware/software</a:t>
            </a:r>
          </a:p>
          <a:p>
            <a:pPr lvl="1"/>
            <a:r>
              <a:rPr lang="en-US" sz="2800" dirty="0"/>
              <a:t>Cost-benefit analysis</a:t>
            </a:r>
          </a:p>
        </p:txBody>
      </p:sp>
      <p:sp>
        <p:nvSpPr>
          <p:cNvPr id="4" name="Date Placeholder 3"/>
          <p:cNvSpPr>
            <a:spLocks noGrp="1"/>
          </p:cNvSpPr>
          <p:nvPr>
            <p:ph type="dt" sz="half" idx="10"/>
          </p:nvPr>
        </p:nvSpPr>
        <p:spPr/>
        <p:txBody>
          <a:bodyPr/>
          <a:lstStyle/>
          <a:p>
            <a:fld id="{C0F867AE-8441-4458-993A-C4ECAE6A43A7}" type="datetime3">
              <a:rPr lang="en-US" smtClean="0"/>
              <a:t>28 November 2023</a:t>
            </a:fld>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13</a:t>
            </a:fld>
            <a:endParaRPr lang="en-US" dirty="0"/>
          </a:p>
        </p:txBody>
      </p:sp>
    </p:spTree>
    <p:extLst>
      <p:ext uri="{BB962C8B-B14F-4D97-AF65-F5344CB8AC3E}">
        <p14:creationId xmlns:p14="http://schemas.microsoft.com/office/powerpoint/2010/main" val="2498346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Evaluation of individual projects</a:t>
            </a:r>
          </a:p>
        </p:txBody>
      </p:sp>
      <p:sp>
        <p:nvSpPr>
          <p:cNvPr id="3" name="Content Placeholder 2"/>
          <p:cNvSpPr>
            <a:spLocks noGrp="1"/>
          </p:cNvSpPr>
          <p:nvPr>
            <p:ph idx="1"/>
          </p:nvPr>
        </p:nvSpPr>
        <p:spPr/>
        <p:txBody>
          <a:bodyPr>
            <a:normAutofit/>
          </a:bodyPr>
          <a:lstStyle/>
          <a:p>
            <a:r>
              <a:rPr lang="en-US" dirty="0"/>
              <a:t>Cost-benefit analysis</a:t>
            </a:r>
          </a:p>
          <a:p>
            <a:pPr lvl="1"/>
            <a:r>
              <a:rPr lang="en-US" sz="2800" dirty="0"/>
              <a:t>Most valuable projects should get most resources</a:t>
            </a:r>
          </a:p>
          <a:p>
            <a:pPr lvl="1"/>
            <a:r>
              <a:rPr lang="en-US" sz="2800" dirty="0"/>
              <a:t>2 steps</a:t>
            </a:r>
          </a:p>
          <a:p>
            <a:pPr lvl="2"/>
            <a:r>
              <a:rPr lang="en-US" sz="2400" dirty="0"/>
              <a:t>Identifying all of the costs and benefits of carrying out the project and operating the delivered application</a:t>
            </a:r>
          </a:p>
          <a:p>
            <a:pPr lvl="2"/>
            <a:r>
              <a:rPr lang="en-US" sz="2400" dirty="0"/>
              <a:t>Expressing these costs and benefits in common units</a:t>
            </a:r>
          </a:p>
        </p:txBody>
      </p:sp>
      <p:sp>
        <p:nvSpPr>
          <p:cNvPr id="4" name="Date Placeholder 3"/>
          <p:cNvSpPr>
            <a:spLocks noGrp="1"/>
          </p:cNvSpPr>
          <p:nvPr>
            <p:ph type="dt" sz="half" idx="10"/>
          </p:nvPr>
        </p:nvSpPr>
        <p:spPr/>
        <p:txBody>
          <a:bodyPr/>
          <a:lstStyle/>
          <a:p>
            <a:fld id="{77F4CA94-49AD-4FCF-AB0E-55A67C7331B5}" type="datetime3">
              <a:rPr lang="en-US" smtClean="0"/>
              <a:t>28 November 2023</a:t>
            </a:fld>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14</a:t>
            </a:fld>
            <a:endParaRPr lang="en-US" dirty="0"/>
          </a:p>
        </p:txBody>
      </p:sp>
    </p:spTree>
    <p:extLst>
      <p:ext uri="{BB962C8B-B14F-4D97-AF65-F5344CB8AC3E}">
        <p14:creationId xmlns:p14="http://schemas.microsoft.com/office/powerpoint/2010/main" val="89980969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Evaluation of individual projects</a:t>
            </a:r>
          </a:p>
        </p:txBody>
      </p:sp>
      <p:sp>
        <p:nvSpPr>
          <p:cNvPr id="3" name="Content Placeholder 2"/>
          <p:cNvSpPr>
            <a:spLocks noGrp="1"/>
          </p:cNvSpPr>
          <p:nvPr>
            <p:ph idx="1"/>
          </p:nvPr>
        </p:nvSpPr>
        <p:spPr/>
        <p:txBody>
          <a:bodyPr>
            <a:normAutofit/>
          </a:bodyPr>
          <a:lstStyle/>
          <a:p>
            <a:r>
              <a:rPr lang="en-US" dirty="0"/>
              <a:t>Cost-benefit analysis</a:t>
            </a:r>
          </a:p>
          <a:p>
            <a:pPr lvl="1"/>
            <a:r>
              <a:rPr lang="en-US" dirty="0"/>
              <a:t>Direct cost</a:t>
            </a:r>
          </a:p>
          <a:p>
            <a:pPr lvl="2"/>
            <a:r>
              <a:rPr lang="en-US" sz="2400" dirty="0"/>
              <a:t>Development cost</a:t>
            </a:r>
          </a:p>
          <a:p>
            <a:pPr lvl="2"/>
            <a:r>
              <a:rPr lang="en-US" sz="2400" dirty="0"/>
              <a:t>Setup cost</a:t>
            </a:r>
          </a:p>
          <a:p>
            <a:pPr lvl="2"/>
            <a:r>
              <a:rPr lang="en-US" sz="2400" dirty="0"/>
              <a:t>Operational cost</a:t>
            </a:r>
          </a:p>
        </p:txBody>
      </p:sp>
      <p:sp>
        <p:nvSpPr>
          <p:cNvPr id="4" name="Date Placeholder 3"/>
          <p:cNvSpPr>
            <a:spLocks noGrp="1"/>
          </p:cNvSpPr>
          <p:nvPr>
            <p:ph type="dt" sz="half" idx="10"/>
          </p:nvPr>
        </p:nvSpPr>
        <p:spPr/>
        <p:txBody>
          <a:bodyPr/>
          <a:lstStyle/>
          <a:p>
            <a:fld id="{A8DACC2E-6FCA-4C71-B035-E4CC421C2A83}" type="datetime3">
              <a:rPr lang="en-US" smtClean="0"/>
              <a:t>28 November 2023</a:t>
            </a:fld>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15</a:t>
            </a:fld>
            <a:endParaRPr lang="en-US" dirty="0"/>
          </a:p>
        </p:txBody>
      </p:sp>
    </p:spTree>
    <p:extLst>
      <p:ext uri="{BB962C8B-B14F-4D97-AF65-F5344CB8AC3E}">
        <p14:creationId xmlns:p14="http://schemas.microsoft.com/office/powerpoint/2010/main" val="383007756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Evaluation of individual projects</a:t>
            </a:r>
          </a:p>
        </p:txBody>
      </p:sp>
      <p:sp>
        <p:nvSpPr>
          <p:cNvPr id="3" name="Content Placeholder 2"/>
          <p:cNvSpPr>
            <a:spLocks noGrp="1"/>
          </p:cNvSpPr>
          <p:nvPr>
            <p:ph idx="1"/>
          </p:nvPr>
        </p:nvSpPr>
        <p:spPr/>
        <p:txBody>
          <a:bodyPr>
            <a:normAutofit/>
          </a:bodyPr>
          <a:lstStyle/>
          <a:p>
            <a:r>
              <a:rPr lang="en-US" dirty="0"/>
              <a:t>Cash flow forecasting</a:t>
            </a:r>
          </a:p>
          <a:p>
            <a:pPr lvl="1"/>
            <a:r>
              <a:rPr lang="en-US" dirty="0"/>
              <a:t>When expenditure and income takes place</a:t>
            </a:r>
          </a:p>
          <a:p>
            <a:pPr lvl="1"/>
            <a:r>
              <a:rPr lang="en-US" dirty="0"/>
              <a:t>E.g. salary, income</a:t>
            </a:r>
          </a:p>
          <a:p>
            <a:pPr lvl="1"/>
            <a:endParaRPr lang="en-US" dirty="0"/>
          </a:p>
        </p:txBody>
      </p:sp>
      <p:sp>
        <p:nvSpPr>
          <p:cNvPr id="4" name="Date Placeholder 3"/>
          <p:cNvSpPr>
            <a:spLocks noGrp="1"/>
          </p:cNvSpPr>
          <p:nvPr>
            <p:ph type="dt" sz="half" idx="10"/>
          </p:nvPr>
        </p:nvSpPr>
        <p:spPr/>
        <p:txBody>
          <a:bodyPr/>
          <a:lstStyle/>
          <a:p>
            <a:fld id="{E59BC2A3-3123-4C01-9C32-4314E2A863F0}" type="datetime3">
              <a:rPr lang="en-US" smtClean="0"/>
              <a:t>28 November 2023</a:t>
            </a:fld>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16</a:t>
            </a:fld>
            <a:endParaRPr lang="en-US" dirty="0"/>
          </a:p>
        </p:txBody>
      </p:sp>
    </p:spTree>
    <p:extLst>
      <p:ext uri="{BB962C8B-B14F-4D97-AF65-F5344CB8AC3E}">
        <p14:creationId xmlns:p14="http://schemas.microsoft.com/office/powerpoint/2010/main" val="408933857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Cost-benefit evaluation techniques</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4039295798"/>
              </p:ext>
            </p:extLst>
          </p:nvPr>
        </p:nvGraphicFramePr>
        <p:xfrm>
          <a:off x="1450975" y="2016125"/>
          <a:ext cx="9604375" cy="3161039"/>
        </p:xfrm>
        <a:graphic>
          <a:graphicData uri="http://schemas.openxmlformats.org/drawingml/2006/table">
            <a:tbl>
              <a:tblPr firstRow="1" bandRow="1">
                <a:tableStyleId>{5C22544A-7EE6-4342-B048-85BDC9FD1C3A}</a:tableStyleId>
              </a:tblPr>
              <a:tblGrid>
                <a:gridCol w="1920875">
                  <a:extLst>
                    <a:ext uri="{9D8B030D-6E8A-4147-A177-3AD203B41FA5}">
                      <a16:colId xmlns:a16="http://schemas.microsoft.com/office/drawing/2014/main" val="20000"/>
                    </a:ext>
                  </a:extLst>
                </a:gridCol>
                <a:gridCol w="1920875">
                  <a:extLst>
                    <a:ext uri="{9D8B030D-6E8A-4147-A177-3AD203B41FA5}">
                      <a16:colId xmlns:a16="http://schemas.microsoft.com/office/drawing/2014/main" val="20001"/>
                    </a:ext>
                  </a:extLst>
                </a:gridCol>
                <a:gridCol w="1920875">
                  <a:extLst>
                    <a:ext uri="{9D8B030D-6E8A-4147-A177-3AD203B41FA5}">
                      <a16:colId xmlns:a16="http://schemas.microsoft.com/office/drawing/2014/main" val="20002"/>
                    </a:ext>
                  </a:extLst>
                </a:gridCol>
                <a:gridCol w="1920875">
                  <a:extLst>
                    <a:ext uri="{9D8B030D-6E8A-4147-A177-3AD203B41FA5}">
                      <a16:colId xmlns:a16="http://schemas.microsoft.com/office/drawing/2014/main" val="20003"/>
                    </a:ext>
                  </a:extLst>
                </a:gridCol>
                <a:gridCol w="1920875">
                  <a:extLst>
                    <a:ext uri="{9D8B030D-6E8A-4147-A177-3AD203B41FA5}">
                      <a16:colId xmlns:a16="http://schemas.microsoft.com/office/drawing/2014/main" val="20004"/>
                    </a:ext>
                  </a:extLst>
                </a:gridCol>
              </a:tblGrid>
              <a:tr h="370840">
                <a:tc>
                  <a:txBody>
                    <a:bodyPr/>
                    <a:lstStyle/>
                    <a:p>
                      <a:r>
                        <a:rPr lang="en-US" dirty="0"/>
                        <a:t>Year</a:t>
                      </a:r>
                    </a:p>
                  </a:txBody>
                  <a:tcPr/>
                </a:tc>
                <a:tc>
                  <a:txBody>
                    <a:bodyPr/>
                    <a:lstStyle/>
                    <a:p>
                      <a:r>
                        <a:rPr lang="en-US" dirty="0"/>
                        <a:t>Project 1</a:t>
                      </a:r>
                    </a:p>
                  </a:txBody>
                  <a:tcPr/>
                </a:tc>
                <a:tc>
                  <a:txBody>
                    <a:bodyPr/>
                    <a:lstStyle/>
                    <a:p>
                      <a:r>
                        <a:rPr lang="en-US" dirty="0"/>
                        <a:t>Project 2</a:t>
                      </a:r>
                    </a:p>
                  </a:txBody>
                  <a:tcPr/>
                </a:tc>
                <a:tc>
                  <a:txBody>
                    <a:bodyPr/>
                    <a:lstStyle/>
                    <a:p>
                      <a:r>
                        <a:rPr lang="en-US" dirty="0"/>
                        <a:t>Project 3</a:t>
                      </a:r>
                    </a:p>
                  </a:txBody>
                  <a:tcPr/>
                </a:tc>
                <a:tc>
                  <a:txBody>
                    <a:bodyPr/>
                    <a:lstStyle/>
                    <a:p>
                      <a:r>
                        <a:rPr lang="en-US" dirty="0"/>
                        <a:t>Project 4</a:t>
                      </a:r>
                    </a:p>
                  </a:txBody>
                  <a:tcPr/>
                </a:tc>
                <a:extLst>
                  <a:ext uri="{0D108BD9-81ED-4DB2-BD59-A6C34878D82A}">
                    <a16:rowId xmlns:a16="http://schemas.microsoft.com/office/drawing/2014/main" val="10000"/>
                  </a:ext>
                </a:extLst>
              </a:tr>
              <a:tr h="370840">
                <a:tc>
                  <a:txBody>
                    <a:bodyPr/>
                    <a:lstStyle/>
                    <a:p>
                      <a:r>
                        <a:rPr lang="en-US" dirty="0"/>
                        <a:t>0</a:t>
                      </a:r>
                    </a:p>
                  </a:txBody>
                  <a:tcPr/>
                </a:tc>
                <a:tc>
                  <a:txBody>
                    <a:bodyPr/>
                    <a:lstStyle/>
                    <a:p>
                      <a:pPr algn="r"/>
                      <a:r>
                        <a:rPr lang="en-US" dirty="0"/>
                        <a:t>-1,00,000</a:t>
                      </a:r>
                    </a:p>
                  </a:txBody>
                  <a:tcPr/>
                </a:tc>
                <a:tc>
                  <a:txBody>
                    <a:bodyPr/>
                    <a:lstStyle/>
                    <a:p>
                      <a:pPr algn="r"/>
                      <a:r>
                        <a:rPr lang="en-US" dirty="0"/>
                        <a:t>-10,00,000</a:t>
                      </a:r>
                    </a:p>
                  </a:txBody>
                  <a:tcPr/>
                </a:tc>
                <a:tc>
                  <a:txBody>
                    <a:bodyPr/>
                    <a:lstStyle/>
                    <a:p>
                      <a:pPr algn="r"/>
                      <a:r>
                        <a:rPr lang="en-US" dirty="0"/>
                        <a:t>-1,00,000</a:t>
                      </a:r>
                    </a:p>
                  </a:txBody>
                  <a:tcPr/>
                </a:tc>
                <a:tc>
                  <a:txBody>
                    <a:bodyPr/>
                    <a:lstStyle/>
                    <a:p>
                      <a:pPr algn="r"/>
                      <a:r>
                        <a:rPr lang="en-US" dirty="0"/>
                        <a:t>-1,20,000</a:t>
                      </a:r>
                    </a:p>
                  </a:txBody>
                  <a:tcPr/>
                </a:tc>
                <a:extLst>
                  <a:ext uri="{0D108BD9-81ED-4DB2-BD59-A6C34878D82A}">
                    <a16:rowId xmlns:a16="http://schemas.microsoft.com/office/drawing/2014/main" val="10001"/>
                  </a:ext>
                </a:extLst>
              </a:tr>
              <a:tr h="370840">
                <a:tc>
                  <a:txBody>
                    <a:bodyPr/>
                    <a:lstStyle/>
                    <a:p>
                      <a:r>
                        <a:rPr lang="en-US" dirty="0"/>
                        <a:t>1</a:t>
                      </a:r>
                    </a:p>
                  </a:txBody>
                  <a:tcPr/>
                </a:tc>
                <a:tc>
                  <a:txBody>
                    <a:bodyPr/>
                    <a:lstStyle/>
                    <a:p>
                      <a:pPr algn="r"/>
                      <a:r>
                        <a:rPr lang="en-US" dirty="0"/>
                        <a:t>10,000</a:t>
                      </a:r>
                    </a:p>
                  </a:txBody>
                  <a:tcPr/>
                </a:tc>
                <a:tc>
                  <a:txBody>
                    <a:bodyPr/>
                    <a:lstStyle/>
                    <a:p>
                      <a:pPr algn="r"/>
                      <a:r>
                        <a:rPr lang="en-US" dirty="0"/>
                        <a:t>2,00,000</a:t>
                      </a:r>
                    </a:p>
                  </a:txBody>
                  <a:tcPr/>
                </a:tc>
                <a:tc>
                  <a:txBody>
                    <a:bodyPr/>
                    <a:lstStyle/>
                    <a:p>
                      <a:pPr algn="r"/>
                      <a:r>
                        <a:rPr lang="en-US" dirty="0"/>
                        <a:t>30,000</a:t>
                      </a:r>
                    </a:p>
                  </a:txBody>
                  <a:tcPr/>
                </a:tc>
                <a:tc>
                  <a:txBody>
                    <a:bodyPr/>
                    <a:lstStyle/>
                    <a:p>
                      <a:pPr algn="r"/>
                      <a:r>
                        <a:rPr lang="en-US" dirty="0"/>
                        <a:t>30,0000</a:t>
                      </a:r>
                    </a:p>
                  </a:txBody>
                  <a:tcPr/>
                </a:tc>
                <a:extLst>
                  <a:ext uri="{0D108BD9-81ED-4DB2-BD59-A6C34878D82A}">
                    <a16:rowId xmlns:a16="http://schemas.microsoft.com/office/drawing/2014/main" val="10002"/>
                  </a:ext>
                </a:extLst>
              </a:tr>
              <a:tr h="370840">
                <a:tc>
                  <a:txBody>
                    <a:bodyPr/>
                    <a:lstStyle/>
                    <a:p>
                      <a:r>
                        <a:rPr lang="en-US" dirty="0"/>
                        <a:t>2</a:t>
                      </a:r>
                    </a:p>
                  </a:txBody>
                  <a:tcPr/>
                </a:tc>
                <a:tc>
                  <a:txBody>
                    <a:bodyPr/>
                    <a:lstStyle/>
                    <a:p>
                      <a:pPr algn="r"/>
                      <a:r>
                        <a:rPr lang="en-US" dirty="0"/>
                        <a:t>10,000</a:t>
                      </a:r>
                    </a:p>
                  </a:txBody>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dirty="0"/>
                        <a:t>2,00,000</a:t>
                      </a:r>
                    </a:p>
                  </a:txBody>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dirty="0"/>
                        <a:t>30,000</a:t>
                      </a:r>
                    </a:p>
                  </a:txBody>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dirty="0"/>
                        <a:t>30,0000</a:t>
                      </a:r>
                    </a:p>
                  </a:txBody>
                  <a:tcPr/>
                </a:tc>
                <a:extLst>
                  <a:ext uri="{0D108BD9-81ED-4DB2-BD59-A6C34878D82A}">
                    <a16:rowId xmlns:a16="http://schemas.microsoft.com/office/drawing/2014/main" val="10003"/>
                  </a:ext>
                </a:extLst>
              </a:tr>
              <a:tr h="570239">
                <a:tc>
                  <a:txBody>
                    <a:bodyPr/>
                    <a:lstStyle/>
                    <a:p>
                      <a:r>
                        <a:rPr lang="en-US" dirty="0"/>
                        <a:t>3</a:t>
                      </a:r>
                    </a:p>
                  </a:txBody>
                  <a:tcPr/>
                </a:tc>
                <a:tc>
                  <a:txBody>
                    <a:bodyPr/>
                    <a:lstStyle/>
                    <a:p>
                      <a:pPr algn="r"/>
                      <a:r>
                        <a:rPr lang="en-US" dirty="0"/>
                        <a:t>10,000</a:t>
                      </a:r>
                    </a:p>
                  </a:txBody>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dirty="0"/>
                        <a:t>2,00,000</a:t>
                      </a:r>
                    </a:p>
                  </a:txBody>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dirty="0"/>
                        <a:t>30,000</a:t>
                      </a:r>
                    </a:p>
                  </a:txBody>
                  <a:tcPr/>
                </a:tc>
                <a:tc>
                  <a:txBody>
                    <a:bodyPr/>
                    <a:lstStyle/>
                    <a:p>
                      <a:pPr algn="r"/>
                      <a:r>
                        <a:rPr lang="en-US" dirty="0"/>
                        <a:t>30,0000</a:t>
                      </a:r>
                    </a:p>
                  </a:txBody>
                  <a:tcPr/>
                </a:tc>
                <a:extLst>
                  <a:ext uri="{0D108BD9-81ED-4DB2-BD59-A6C34878D82A}">
                    <a16:rowId xmlns:a16="http://schemas.microsoft.com/office/drawing/2014/main" val="10004"/>
                  </a:ext>
                </a:extLst>
              </a:tr>
              <a:tr h="0">
                <a:tc>
                  <a:txBody>
                    <a:bodyPr/>
                    <a:lstStyle/>
                    <a:p>
                      <a:r>
                        <a:rPr lang="en-US" dirty="0"/>
                        <a:t>4</a:t>
                      </a:r>
                    </a:p>
                  </a:txBody>
                  <a:tcPr/>
                </a:tc>
                <a:tc>
                  <a:txBody>
                    <a:bodyPr/>
                    <a:lstStyle/>
                    <a:p>
                      <a:pPr algn="r"/>
                      <a:r>
                        <a:rPr lang="en-US" dirty="0"/>
                        <a:t>20,000</a:t>
                      </a:r>
                    </a:p>
                  </a:txBody>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dirty="0"/>
                        <a:t>2,00,000</a:t>
                      </a:r>
                    </a:p>
                  </a:txBody>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dirty="0"/>
                        <a:t>30,000</a:t>
                      </a:r>
                    </a:p>
                  </a:txBody>
                  <a:tcPr/>
                </a:tc>
                <a:tc>
                  <a:txBody>
                    <a:bodyPr/>
                    <a:lstStyle/>
                    <a:p>
                      <a:pPr algn="r"/>
                      <a:r>
                        <a:rPr lang="en-US" dirty="0"/>
                        <a:t>30,0000</a:t>
                      </a:r>
                    </a:p>
                  </a:txBody>
                  <a:tcPr/>
                </a:tc>
                <a:extLst>
                  <a:ext uri="{0D108BD9-81ED-4DB2-BD59-A6C34878D82A}">
                    <a16:rowId xmlns:a16="http://schemas.microsoft.com/office/drawing/2014/main" val="10005"/>
                  </a:ext>
                </a:extLst>
              </a:tr>
              <a:tr h="370840">
                <a:tc>
                  <a:txBody>
                    <a:bodyPr/>
                    <a:lstStyle/>
                    <a:p>
                      <a:r>
                        <a:rPr lang="en-US" dirty="0"/>
                        <a:t>5</a:t>
                      </a:r>
                    </a:p>
                  </a:txBody>
                  <a:tcPr/>
                </a:tc>
                <a:tc>
                  <a:txBody>
                    <a:bodyPr/>
                    <a:lstStyle/>
                    <a:p>
                      <a:pPr algn="r"/>
                      <a:r>
                        <a:rPr lang="en-US" dirty="0"/>
                        <a:t>1,00,000</a:t>
                      </a:r>
                    </a:p>
                  </a:txBody>
                  <a:tcPr/>
                </a:tc>
                <a:tc>
                  <a:txBody>
                    <a:bodyPr/>
                    <a:lstStyle/>
                    <a:p>
                      <a:pPr algn="r"/>
                      <a:r>
                        <a:rPr lang="en-US" dirty="0"/>
                        <a:t>3,00,000</a:t>
                      </a:r>
                    </a:p>
                  </a:txBody>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dirty="0"/>
                        <a:t>30,000</a:t>
                      </a:r>
                    </a:p>
                  </a:txBody>
                  <a:tcPr/>
                </a:tc>
                <a:tc>
                  <a:txBody>
                    <a:bodyPr/>
                    <a:lstStyle/>
                    <a:p>
                      <a:pPr algn="r"/>
                      <a:r>
                        <a:rPr lang="en-US" dirty="0"/>
                        <a:t>75,000</a:t>
                      </a:r>
                    </a:p>
                  </a:txBody>
                  <a:tcPr/>
                </a:tc>
                <a:extLst>
                  <a:ext uri="{0D108BD9-81ED-4DB2-BD59-A6C34878D82A}">
                    <a16:rowId xmlns:a16="http://schemas.microsoft.com/office/drawing/2014/main" val="10006"/>
                  </a:ext>
                </a:extLst>
              </a:tr>
              <a:tr h="370840">
                <a:tc>
                  <a:txBody>
                    <a:bodyPr/>
                    <a:lstStyle/>
                    <a:p>
                      <a:r>
                        <a:rPr lang="en-US" dirty="0"/>
                        <a:t>Net profit</a:t>
                      </a:r>
                    </a:p>
                  </a:txBody>
                  <a:tcPr/>
                </a:tc>
                <a:tc>
                  <a:txBody>
                    <a:bodyPr/>
                    <a:lstStyle/>
                    <a:p>
                      <a:pPr algn="r"/>
                      <a:r>
                        <a:rPr lang="en-US" dirty="0"/>
                        <a:t>50,000</a:t>
                      </a:r>
                    </a:p>
                  </a:txBody>
                  <a:tcPr/>
                </a:tc>
                <a:tc>
                  <a:txBody>
                    <a:bodyPr/>
                    <a:lstStyle/>
                    <a:p>
                      <a:pPr algn="r"/>
                      <a:r>
                        <a:rPr lang="en-US" dirty="0"/>
                        <a:t>1,00,000</a:t>
                      </a:r>
                    </a:p>
                  </a:txBody>
                  <a:tcPr/>
                </a:tc>
                <a:tc>
                  <a:txBody>
                    <a:bodyPr/>
                    <a:lstStyle/>
                    <a:p>
                      <a:pPr algn="r"/>
                      <a:r>
                        <a:rPr lang="en-US"/>
                        <a:t>50,000</a:t>
                      </a:r>
                      <a:endParaRPr lang="en-US" dirty="0"/>
                    </a:p>
                  </a:txBody>
                  <a:tcPr/>
                </a:tc>
                <a:tc>
                  <a:txBody>
                    <a:bodyPr/>
                    <a:lstStyle/>
                    <a:p>
                      <a:pPr algn="r"/>
                      <a:r>
                        <a:rPr lang="en-US" dirty="0"/>
                        <a:t>75,000</a:t>
                      </a:r>
                    </a:p>
                  </a:txBody>
                  <a:tcPr/>
                </a:tc>
                <a:extLst>
                  <a:ext uri="{0D108BD9-81ED-4DB2-BD59-A6C34878D82A}">
                    <a16:rowId xmlns:a16="http://schemas.microsoft.com/office/drawing/2014/main" val="10007"/>
                  </a:ext>
                </a:extLst>
              </a:tr>
            </a:tbl>
          </a:graphicData>
        </a:graphic>
      </p:graphicFrame>
      <p:sp>
        <p:nvSpPr>
          <p:cNvPr id="3" name="Date Placeholder 2"/>
          <p:cNvSpPr>
            <a:spLocks noGrp="1"/>
          </p:cNvSpPr>
          <p:nvPr>
            <p:ph type="dt" sz="half" idx="10"/>
          </p:nvPr>
        </p:nvSpPr>
        <p:spPr/>
        <p:txBody>
          <a:bodyPr/>
          <a:lstStyle/>
          <a:p>
            <a:fld id="{C710F945-E2DD-47DA-B95F-7866C95D454F}" type="datetime3">
              <a:rPr lang="en-US" smtClean="0"/>
              <a:t>28 November 2023</a:t>
            </a:fld>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17</a:t>
            </a:fld>
            <a:endParaRPr lang="en-US" dirty="0"/>
          </a:p>
        </p:txBody>
      </p:sp>
    </p:spTree>
    <p:extLst>
      <p:ext uri="{BB962C8B-B14F-4D97-AF65-F5344CB8AC3E}">
        <p14:creationId xmlns:p14="http://schemas.microsoft.com/office/powerpoint/2010/main" val="348435819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Net Profit</a:t>
            </a:r>
          </a:p>
        </p:txBody>
      </p:sp>
      <p:sp>
        <p:nvSpPr>
          <p:cNvPr id="3" name="Content Placeholder 2"/>
          <p:cNvSpPr>
            <a:spLocks noGrp="1"/>
          </p:cNvSpPr>
          <p:nvPr>
            <p:ph sz="half" idx="1"/>
          </p:nvPr>
        </p:nvSpPr>
        <p:spPr/>
        <p:txBody>
          <a:bodyPr>
            <a:normAutofit fontScale="70000" lnSpcReduction="20000"/>
          </a:bodyPr>
          <a:lstStyle/>
          <a:p>
            <a:r>
              <a:rPr lang="en-IN" dirty="0"/>
              <a:t>Difference between the total costs and the total income over the life of the project</a:t>
            </a:r>
          </a:p>
          <a:p>
            <a:r>
              <a:rPr lang="en-GB" altLang="en-US" dirty="0"/>
              <a:t>‘Year 0’ represents all the costs before system is operation</a:t>
            </a:r>
          </a:p>
          <a:p>
            <a:r>
              <a:rPr lang="en-GB" altLang="en-US" dirty="0"/>
              <a:t>‘Cash-flow’ is value of income minus outgoing </a:t>
            </a:r>
          </a:p>
          <a:p>
            <a:r>
              <a:rPr lang="en-GB" altLang="en-US" dirty="0"/>
              <a:t>Net profit value of all the cash-flows for the lifetime of the application</a:t>
            </a:r>
          </a:p>
          <a:p>
            <a:endParaRPr lang="en-IN" dirty="0"/>
          </a:p>
        </p:txBody>
      </p:sp>
      <p:graphicFrame>
        <p:nvGraphicFramePr>
          <p:cNvPr id="6" name="Content Placeholder 5"/>
          <p:cNvGraphicFramePr>
            <a:graphicFrameLocks noGrp="1"/>
          </p:cNvGraphicFramePr>
          <p:nvPr>
            <p:ph sz="half" idx="2"/>
            <p:extLst>
              <p:ext uri="{D42A27DB-BD31-4B8C-83A1-F6EECF244321}">
                <p14:modId xmlns:p14="http://schemas.microsoft.com/office/powerpoint/2010/main" val="321633408"/>
              </p:ext>
            </p:extLst>
          </p:nvPr>
        </p:nvGraphicFramePr>
        <p:xfrm>
          <a:off x="6409826" y="2010878"/>
          <a:ext cx="4645026" cy="3657600"/>
        </p:xfrm>
        <a:graphic>
          <a:graphicData uri="http://schemas.openxmlformats.org/drawingml/2006/table">
            <a:tbl>
              <a:tblPr firstRow="1" bandRow="1">
                <a:tableStyleId>{5C22544A-7EE6-4342-B048-85BDC9FD1C3A}</a:tableStyleId>
              </a:tblPr>
              <a:tblGrid>
                <a:gridCol w="2322513">
                  <a:extLst>
                    <a:ext uri="{9D8B030D-6E8A-4147-A177-3AD203B41FA5}">
                      <a16:colId xmlns:a16="http://schemas.microsoft.com/office/drawing/2014/main" val="2900559629"/>
                    </a:ext>
                  </a:extLst>
                </a:gridCol>
                <a:gridCol w="2322513">
                  <a:extLst>
                    <a:ext uri="{9D8B030D-6E8A-4147-A177-3AD203B41FA5}">
                      <a16:colId xmlns:a16="http://schemas.microsoft.com/office/drawing/2014/main" val="726724742"/>
                    </a:ext>
                  </a:extLst>
                </a:gridCol>
              </a:tblGrid>
              <a:tr h="370840">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GB" altLang="en-US" sz="2400" b="0" i="0" u="none" strike="noStrike" cap="none" normalizeH="0" baseline="0" dirty="0">
                          <a:ln>
                            <a:noFill/>
                          </a:ln>
                          <a:solidFill>
                            <a:schemeClr val="tx1"/>
                          </a:solidFill>
                          <a:effectLst/>
                          <a:latin typeface="Tahoma" panose="020B0604030504040204" pitchFamily="34" charset="0"/>
                        </a:rPr>
                        <a:t>Year</a:t>
                      </a:r>
                    </a:p>
                  </a:txBody>
                  <a:tcPr horzOverflow="overflow"/>
                </a:tc>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GB" altLang="en-US" sz="2400" b="0" i="0" u="none" strike="noStrike" cap="none" normalizeH="0" baseline="0">
                          <a:ln>
                            <a:noFill/>
                          </a:ln>
                          <a:solidFill>
                            <a:schemeClr val="tx1"/>
                          </a:solidFill>
                          <a:effectLst/>
                          <a:latin typeface="Tahoma" panose="020B0604030504040204" pitchFamily="34" charset="0"/>
                        </a:rPr>
                        <a:t>Cash-flow</a:t>
                      </a:r>
                    </a:p>
                  </a:txBody>
                  <a:tcPr horzOverflow="overflow"/>
                </a:tc>
                <a:extLst>
                  <a:ext uri="{0D108BD9-81ED-4DB2-BD59-A6C34878D82A}">
                    <a16:rowId xmlns:a16="http://schemas.microsoft.com/office/drawing/2014/main" val="2130271568"/>
                  </a:ext>
                </a:extLst>
              </a:tr>
              <a:tr h="370840">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GB" altLang="en-US" sz="2400" b="0" i="0" u="none" strike="noStrike" cap="none" normalizeH="0" baseline="0" dirty="0">
                          <a:ln>
                            <a:noFill/>
                          </a:ln>
                          <a:solidFill>
                            <a:schemeClr val="tx1"/>
                          </a:solidFill>
                          <a:effectLst/>
                          <a:latin typeface="Tahoma" panose="020B0604030504040204" pitchFamily="34" charset="0"/>
                        </a:rPr>
                        <a:t>0</a:t>
                      </a:r>
                    </a:p>
                  </a:txBody>
                  <a:tcPr horzOverflow="overflow"/>
                </a:tc>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GB" altLang="en-US" sz="2400" b="0" i="0" u="none" strike="noStrike" cap="none" normalizeH="0" baseline="0">
                          <a:ln>
                            <a:noFill/>
                          </a:ln>
                          <a:solidFill>
                            <a:schemeClr val="tx1"/>
                          </a:solidFill>
                          <a:effectLst/>
                          <a:latin typeface="Tahoma" panose="020B0604030504040204" pitchFamily="34" charset="0"/>
                        </a:rPr>
                        <a:t>-100,000</a:t>
                      </a:r>
                    </a:p>
                  </a:txBody>
                  <a:tcPr horzOverflow="overflow"/>
                </a:tc>
                <a:extLst>
                  <a:ext uri="{0D108BD9-81ED-4DB2-BD59-A6C34878D82A}">
                    <a16:rowId xmlns:a16="http://schemas.microsoft.com/office/drawing/2014/main" val="74002440"/>
                  </a:ext>
                </a:extLst>
              </a:tr>
              <a:tr h="370840">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GB" altLang="en-US" sz="2400" b="0" i="0" u="none" strike="noStrike" cap="none" normalizeH="0" baseline="0" dirty="0">
                          <a:ln>
                            <a:noFill/>
                          </a:ln>
                          <a:solidFill>
                            <a:schemeClr val="tx1"/>
                          </a:solidFill>
                          <a:effectLst/>
                          <a:latin typeface="Tahoma" panose="020B0604030504040204" pitchFamily="34" charset="0"/>
                        </a:rPr>
                        <a:t>1</a:t>
                      </a:r>
                    </a:p>
                  </a:txBody>
                  <a:tcPr horzOverflow="overflow"/>
                </a:tc>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GB" altLang="en-US" sz="2400" b="0" i="0" u="none" strike="noStrike" cap="none" normalizeH="0" baseline="0" dirty="0">
                          <a:ln>
                            <a:noFill/>
                          </a:ln>
                          <a:solidFill>
                            <a:schemeClr val="tx1"/>
                          </a:solidFill>
                          <a:effectLst/>
                          <a:latin typeface="Tahoma" panose="020B0604030504040204" pitchFamily="34" charset="0"/>
                        </a:rPr>
                        <a:t>10,000</a:t>
                      </a:r>
                    </a:p>
                  </a:txBody>
                  <a:tcPr horzOverflow="overflow"/>
                </a:tc>
                <a:extLst>
                  <a:ext uri="{0D108BD9-81ED-4DB2-BD59-A6C34878D82A}">
                    <a16:rowId xmlns:a16="http://schemas.microsoft.com/office/drawing/2014/main" val="2254246455"/>
                  </a:ext>
                </a:extLst>
              </a:tr>
              <a:tr h="370840">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GB" altLang="en-US" sz="2400" b="0" i="0" u="none" strike="noStrike" cap="none" normalizeH="0" baseline="0" dirty="0">
                          <a:ln>
                            <a:noFill/>
                          </a:ln>
                          <a:solidFill>
                            <a:schemeClr val="tx1"/>
                          </a:solidFill>
                          <a:effectLst/>
                          <a:latin typeface="Tahoma" panose="020B0604030504040204" pitchFamily="34" charset="0"/>
                        </a:rPr>
                        <a:t>2</a:t>
                      </a:r>
                    </a:p>
                  </a:txBody>
                  <a:tcPr horzOverflow="overflow"/>
                </a:tc>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GB" altLang="en-US" sz="2400" b="0" i="0" u="none" strike="noStrike" cap="none" normalizeH="0" baseline="0" dirty="0">
                          <a:ln>
                            <a:noFill/>
                          </a:ln>
                          <a:solidFill>
                            <a:schemeClr val="tx1"/>
                          </a:solidFill>
                          <a:effectLst/>
                          <a:latin typeface="Tahoma" panose="020B0604030504040204" pitchFamily="34" charset="0"/>
                        </a:rPr>
                        <a:t>10,000</a:t>
                      </a:r>
                    </a:p>
                  </a:txBody>
                  <a:tcPr horzOverflow="overflow"/>
                </a:tc>
                <a:extLst>
                  <a:ext uri="{0D108BD9-81ED-4DB2-BD59-A6C34878D82A}">
                    <a16:rowId xmlns:a16="http://schemas.microsoft.com/office/drawing/2014/main" val="3713114116"/>
                  </a:ext>
                </a:extLst>
              </a:tr>
              <a:tr h="370840">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GB" altLang="en-US" sz="2400" b="0" i="0" u="none" strike="noStrike" cap="none" normalizeH="0" baseline="0">
                          <a:ln>
                            <a:noFill/>
                          </a:ln>
                          <a:solidFill>
                            <a:schemeClr val="tx1"/>
                          </a:solidFill>
                          <a:effectLst/>
                          <a:latin typeface="Tahoma" panose="020B0604030504040204" pitchFamily="34" charset="0"/>
                        </a:rPr>
                        <a:t>3</a:t>
                      </a:r>
                    </a:p>
                  </a:txBody>
                  <a:tcPr horzOverflow="overflow"/>
                </a:tc>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GB" altLang="en-US" sz="2400" b="0" i="0" u="none" strike="noStrike" cap="none" normalizeH="0" baseline="0" dirty="0">
                          <a:ln>
                            <a:noFill/>
                          </a:ln>
                          <a:solidFill>
                            <a:schemeClr val="tx1"/>
                          </a:solidFill>
                          <a:effectLst/>
                          <a:latin typeface="Tahoma" panose="020B0604030504040204" pitchFamily="34" charset="0"/>
                        </a:rPr>
                        <a:t>10,000</a:t>
                      </a:r>
                    </a:p>
                  </a:txBody>
                  <a:tcPr horzOverflow="overflow"/>
                </a:tc>
                <a:extLst>
                  <a:ext uri="{0D108BD9-81ED-4DB2-BD59-A6C34878D82A}">
                    <a16:rowId xmlns:a16="http://schemas.microsoft.com/office/drawing/2014/main" val="1173642640"/>
                  </a:ext>
                </a:extLst>
              </a:tr>
              <a:tr h="370840">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GB" altLang="en-US" sz="2400" b="0" i="0" u="none" strike="noStrike" cap="none" normalizeH="0" baseline="0">
                          <a:ln>
                            <a:noFill/>
                          </a:ln>
                          <a:solidFill>
                            <a:schemeClr val="tx1"/>
                          </a:solidFill>
                          <a:effectLst/>
                          <a:latin typeface="Tahoma" panose="020B0604030504040204" pitchFamily="34" charset="0"/>
                        </a:rPr>
                        <a:t>4</a:t>
                      </a:r>
                    </a:p>
                  </a:txBody>
                  <a:tcPr horzOverflow="overflow"/>
                </a:tc>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GB" altLang="en-US" sz="2400" b="0" i="0" u="none" strike="noStrike" cap="none" normalizeH="0" baseline="0" dirty="0">
                          <a:ln>
                            <a:noFill/>
                          </a:ln>
                          <a:solidFill>
                            <a:schemeClr val="tx1"/>
                          </a:solidFill>
                          <a:effectLst/>
                          <a:latin typeface="Tahoma" panose="020B0604030504040204" pitchFamily="34" charset="0"/>
                        </a:rPr>
                        <a:t>20,000</a:t>
                      </a:r>
                    </a:p>
                  </a:txBody>
                  <a:tcPr horzOverflow="overflow"/>
                </a:tc>
                <a:extLst>
                  <a:ext uri="{0D108BD9-81ED-4DB2-BD59-A6C34878D82A}">
                    <a16:rowId xmlns:a16="http://schemas.microsoft.com/office/drawing/2014/main" val="2654217547"/>
                  </a:ext>
                </a:extLst>
              </a:tr>
              <a:tr h="370840">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GB" altLang="en-US" sz="2400" b="0" i="0" u="none" strike="noStrike" cap="none" normalizeH="0" baseline="0">
                          <a:ln>
                            <a:noFill/>
                          </a:ln>
                          <a:solidFill>
                            <a:schemeClr val="tx1"/>
                          </a:solidFill>
                          <a:effectLst/>
                          <a:latin typeface="Tahoma" panose="020B0604030504040204" pitchFamily="34" charset="0"/>
                        </a:rPr>
                        <a:t>5</a:t>
                      </a:r>
                    </a:p>
                  </a:txBody>
                  <a:tcPr anchor="ctr" horzOverflow="overflow"/>
                </a:tc>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GB" altLang="en-US" sz="2400" b="0" i="0" u="none" strike="noStrike" cap="none" normalizeH="0" baseline="0" dirty="0">
                          <a:ln>
                            <a:noFill/>
                          </a:ln>
                          <a:solidFill>
                            <a:schemeClr val="tx1"/>
                          </a:solidFill>
                          <a:effectLst/>
                          <a:latin typeface="Tahoma" panose="020B0604030504040204" pitchFamily="34" charset="0"/>
                        </a:rPr>
                        <a:t>100,000</a:t>
                      </a:r>
                    </a:p>
                  </a:txBody>
                  <a:tcPr anchor="ctr" horzOverflow="overflow"/>
                </a:tc>
                <a:extLst>
                  <a:ext uri="{0D108BD9-81ED-4DB2-BD59-A6C34878D82A}">
                    <a16:rowId xmlns:a16="http://schemas.microsoft.com/office/drawing/2014/main" val="3916064750"/>
                  </a:ext>
                </a:extLst>
              </a:tr>
              <a:tr h="370840">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GB" altLang="en-US" sz="2400" b="0" i="0" u="none" strike="noStrike" cap="none" normalizeH="0" baseline="0" dirty="0">
                          <a:ln>
                            <a:noFill/>
                          </a:ln>
                          <a:solidFill>
                            <a:schemeClr val="tx1"/>
                          </a:solidFill>
                          <a:effectLst/>
                          <a:latin typeface="Tahoma" panose="020B0604030504040204" pitchFamily="34" charset="0"/>
                        </a:rPr>
                        <a:t>Net profit</a:t>
                      </a:r>
                    </a:p>
                  </a:txBody>
                  <a:tcPr anchor="ctr" horzOverflow="overflow"/>
                </a:tc>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GB" altLang="en-US" sz="2400" b="0" i="0" u="none" strike="noStrike" cap="none" normalizeH="0" baseline="0" dirty="0">
                          <a:ln>
                            <a:noFill/>
                          </a:ln>
                          <a:solidFill>
                            <a:schemeClr val="tx1"/>
                          </a:solidFill>
                          <a:effectLst/>
                          <a:latin typeface="Tahoma" panose="020B0604030504040204" pitchFamily="34" charset="0"/>
                        </a:rPr>
                        <a:t>50,000</a:t>
                      </a:r>
                    </a:p>
                  </a:txBody>
                  <a:tcPr anchor="ctr" horzOverflow="overflow"/>
                </a:tc>
                <a:extLst>
                  <a:ext uri="{0D108BD9-81ED-4DB2-BD59-A6C34878D82A}">
                    <a16:rowId xmlns:a16="http://schemas.microsoft.com/office/drawing/2014/main" val="1411618469"/>
                  </a:ext>
                </a:extLst>
              </a:tr>
            </a:tbl>
          </a:graphicData>
        </a:graphic>
      </p:graphicFrame>
      <p:sp>
        <p:nvSpPr>
          <p:cNvPr id="4" name="Date Placeholder 3"/>
          <p:cNvSpPr>
            <a:spLocks noGrp="1"/>
          </p:cNvSpPr>
          <p:nvPr>
            <p:ph type="dt" sz="half" idx="10"/>
          </p:nvPr>
        </p:nvSpPr>
        <p:spPr/>
        <p:txBody>
          <a:bodyPr/>
          <a:lstStyle/>
          <a:p>
            <a:fld id="{AC7E7A2F-05A1-4048-A394-2FD720C2799E}" type="datetime3">
              <a:rPr lang="en-US" smtClean="0"/>
              <a:t>28 November 2023</a:t>
            </a:fld>
            <a:endParaRPr lang="en-US" dirty="0"/>
          </a:p>
        </p:txBody>
      </p:sp>
      <p:sp>
        <p:nvSpPr>
          <p:cNvPr id="5" name="Footer Placeholder 4"/>
          <p:cNvSpPr>
            <a:spLocks noGrp="1"/>
          </p:cNvSpPr>
          <p:nvPr>
            <p:ph type="ftr" sz="quarter" idx="11"/>
          </p:nvPr>
        </p:nvSpPr>
        <p:spPr/>
        <p:txBody>
          <a:bodyPr/>
          <a:lstStyle/>
          <a:p>
            <a:r>
              <a:rPr lang="en-US"/>
              <a:t>Software Project Management       Dr. D Evangelin Geetha    Dept. of MCA     RIT</a:t>
            </a:r>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18</a:t>
            </a:fld>
            <a:endParaRPr lang="en-US" dirty="0"/>
          </a:p>
        </p:txBody>
      </p:sp>
    </p:spTree>
    <p:extLst>
      <p:ext uri="{BB962C8B-B14F-4D97-AF65-F5344CB8AC3E}">
        <p14:creationId xmlns:p14="http://schemas.microsoft.com/office/powerpoint/2010/main" val="408536973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1451579" y="804520"/>
            <a:ext cx="9603275" cy="667442"/>
          </a:xfrm>
        </p:spPr>
        <p:txBody>
          <a:bodyPr/>
          <a:lstStyle/>
          <a:p>
            <a:r>
              <a:rPr lang="en-IN" dirty="0"/>
              <a:t>Net Profit</a:t>
            </a:r>
          </a:p>
        </p:txBody>
      </p:sp>
      <p:sp>
        <p:nvSpPr>
          <p:cNvPr id="6" name="Content Placeholder 5"/>
          <p:cNvSpPr>
            <a:spLocks noGrp="1"/>
          </p:cNvSpPr>
          <p:nvPr>
            <p:ph idx="1"/>
          </p:nvPr>
        </p:nvSpPr>
        <p:spPr>
          <a:xfrm>
            <a:off x="1451579" y="2107580"/>
            <a:ext cx="9603275" cy="3358766"/>
          </a:xfrm>
        </p:spPr>
        <p:txBody>
          <a:bodyPr/>
          <a:lstStyle/>
          <a:p>
            <a:r>
              <a:rPr lang="en-IN" dirty="0"/>
              <a:t>Project 2 Net profit is higher – but investment also higher</a:t>
            </a:r>
          </a:p>
          <a:p>
            <a:r>
              <a:rPr lang="en-IN" dirty="0"/>
              <a:t>Project 1 and 3 – equal</a:t>
            </a:r>
          </a:p>
          <a:p>
            <a:r>
              <a:rPr lang="en-IN" dirty="0"/>
              <a:t>Income</a:t>
            </a:r>
          </a:p>
          <a:p>
            <a:endParaRPr lang="en-IN" dirty="0"/>
          </a:p>
        </p:txBody>
      </p:sp>
      <p:sp>
        <p:nvSpPr>
          <p:cNvPr id="2" name="Date Placeholder 1"/>
          <p:cNvSpPr>
            <a:spLocks noGrp="1"/>
          </p:cNvSpPr>
          <p:nvPr>
            <p:ph type="dt" sz="half" idx="10"/>
          </p:nvPr>
        </p:nvSpPr>
        <p:spPr/>
        <p:txBody>
          <a:bodyPr/>
          <a:lstStyle/>
          <a:p>
            <a:fld id="{EF07F0EF-624D-4186-A7C2-0F17A2B83883}" type="datetime3">
              <a:rPr lang="en-US" smtClean="0"/>
              <a:t>28 November 2023</a:t>
            </a:fld>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smtClean="0"/>
              <a:t>19</a:t>
            </a:fld>
            <a:endParaRPr lang="en-US" dirty="0"/>
          </a:p>
        </p:txBody>
      </p:sp>
    </p:spTree>
    <p:extLst>
      <p:ext uri="{BB962C8B-B14F-4D97-AF65-F5344CB8AC3E}">
        <p14:creationId xmlns:p14="http://schemas.microsoft.com/office/powerpoint/2010/main" val="404794189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Payback period</a:t>
            </a:r>
          </a:p>
        </p:txBody>
      </p:sp>
      <p:sp>
        <p:nvSpPr>
          <p:cNvPr id="3" name="Content Placeholder 2"/>
          <p:cNvSpPr>
            <a:spLocks noGrp="1"/>
          </p:cNvSpPr>
          <p:nvPr>
            <p:ph sz="half" idx="1"/>
          </p:nvPr>
        </p:nvSpPr>
        <p:spPr/>
        <p:txBody>
          <a:bodyPr>
            <a:normAutofit fontScale="92500"/>
          </a:bodyPr>
          <a:lstStyle/>
          <a:p>
            <a:r>
              <a:rPr lang="en-IN" dirty="0"/>
              <a:t>Time taken to break even or pay back the initial investment</a:t>
            </a:r>
          </a:p>
          <a:p>
            <a:r>
              <a:rPr lang="en-GB" altLang="en-US" dirty="0"/>
              <a:t>This is the time it takes to start generating a surplus of income over outgoings. What would it be below?</a:t>
            </a:r>
          </a:p>
        </p:txBody>
      </p:sp>
      <p:graphicFrame>
        <p:nvGraphicFramePr>
          <p:cNvPr id="5" name="Content Placeholder 4"/>
          <p:cNvGraphicFramePr>
            <a:graphicFrameLocks noGrp="1"/>
          </p:cNvGraphicFramePr>
          <p:nvPr>
            <p:ph sz="half" idx="2"/>
            <p:extLst>
              <p:ext uri="{D42A27DB-BD31-4B8C-83A1-F6EECF244321}">
                <p14:modId xmlns:p14="http://schemas.microsoft.com/office/powerpoint/2010/main" val="4008158116"/>
              </p:ext>
            </p:extLst>
          </p:nvPr>
        </p:nvGraphicFramePr>
        <p:xfrm>
          <a:off x="6456555" y="2017713"/>
          <a:ext cx="4601970" cy="3566160"/>
        </p:xfrm>
        <a:graphic>
          <a:graphicData uri="http://schemas.openxmlformats.org/drawingml/2006/table">
            <a:tbl>
              <a:tblPr firstRow="1" bandRow="1">
                <a:tableStyleId>{5C22544A-7EE6-4342-B048-85BDC9FD1C3A}</a:tableStyleId>
              </a:tblPr>
              <a:tblGrid>
                <a:gridCol w="1048216">
                  <a:extLst>
                    <a:ext uri="{9D8B030D-6E8A-4147-A177-3AD203B41FA5}">
                      <a16:colId xmlns:a16="http://schemas.microsoft.com/office/drawing/2014/main" val="2248303887"/>
                    </a:ext>
                  </a:extLst>
                </a:gridCol>
                <a:gridCol w="2019764">
                  <a:extLst>
                    <a:ext uri="{9D8B030D-6E8A-4147-A177-3AD203B41FA5}">
                      <a16:colId xmlns:a16="http://schemas.microsoft.com/office/drawing/2014/main" val="2023753746"/>
                    </a:ext>
                  </a:extLst>
                </a:gridCol>
                <a:gridCol w="1533990">
                  <a:extLst>
                    <a:ext uri="{9D8B030D-6E8A-4147-A177-3AD203B41FA5}">
                      <a16:colId xmlns:a16="http://schemas.microsoft.com/office/drawing/2014/main" val="4244003138"/>
                    </a:ext>
                  </a:extLst>
                </a:gridCol>
              </a:tblGrid>
              <a:tr h="370840">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GB" altLang="en-US" sz="2400" b="0" i="0" u="none" strike="noStrike" cap="none" normalizeH="0" baseline="0" dirty="0">
                          <a:ln>
                            <a:noFill/>
                          </a:ln>
                          <a:solidFill>
                            <a:schemeClr val="bg2"/>
                          </a:solidFill>
                          <a:effectLst/>
                          <a:latin typeface="Tahoma" panose="020B0604030504040204" pitchFamily="34" charset="0"/>
                        </a:rPr>
                        <a:t>Year</a:t>
                      </a:r>
                    </a:p>
                  </a:txBody>
                  <a:tcPr horzOverflow="overflow"/>
                </a:tc>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GB" altLang="en-US" sz="2400" b="0" i="0" u="none" strike="noStrike" cap="none" normalizeH="0" baseline="0" dirty="0">
                          <a:ln>
                            <a:noFill/>
                          </a:ln>
                          <a:solidFill>
                            <a:schemeClr val="bg2"/>
                          </a:solidFill>
                          <a:effectLst/>
                          <a:latin typeface="Tahoma" panose="020B0604030504040204" pitchFamily="34" charset="0"/>
                        </a:rPr>
                        <a:t>Cash-flow</a:t>
                      </a:r>
                    </a:p>
                  </a:txBody>
                  <a:tcPr horzOverflow="overflow"/>
                </a:tc>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GB" altLang="en-US" sz="2400" b="0" i="0" u="none" strike="noStrike" cap="none" normalizeH="0" baseline="0">
                          <a:ln>
                            <a:noFill/>
                          </a:ln>
                          <a:solidFill>
                            <a:schemeClr val="bg2"/>
                          </a:solidFill>
                          <a:effectLst/>
                          <a:latin typeface="Tahoma" panose="020B0604030504040204" pitchFamily="34" charset="0"/>
                        </a:rPr>
                        <a:t>Accumulated</a:t>
                      </a:r>
                    </a:p>
                  </a:txBody>
                  <a:tcPr horzOverflow="overflow"/>
                </a:tc>
                <a:extLst>
                  <a:ext uri="{0D108BD9-81ED-4DB2-BD59-A6C34878D82A}">
                    <a16:rowId xmlns:a16="http://schemas.microsoft.com/office/drawing/2014/main" val="2686042913"/>
                  </a:ext>
                </a:extLst>
              </a:tr>
              <a:tr h="370840">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altLang="en-US" sz="2400" b="0" i="0" u="none" strike="noStrike" cap="none" normalizeH="0" baseline="0" dirty="0">
                          <a:ln>
                            <a:noFill/>
                          </a:ln>
                          <a:solidFill>
                            <a:schemeClr val="tx1"/>
                          </a:solidFill>
                          <a:effectLst/>
                          <a:latin typeface="Tahoma" panose="020B0604030504040204" pitchFamily="34" charset="0"/>
                        </a:rPr>
                        <a:t>0</a:t>
                      </a:r>
                    </a:p>
                  </a:txBody>
                  <a:tcPr horzOverflow="overflow"/>
                </a:tc>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GB" altLang="en-US" sz="2400" b="0" i="0" u="none" strike="noStrike" cap="none" normalizeH="0" baseline="0" dirty="0">
                          <a:ln>
                            <a:noFill/>
                          </a:ln>
                          <a:solidFill>
                            <a:srgbClr val="0000CC"/>
                          </a:solidFill>
                          <a:effectLst/>
                          <a:latin typeface="Tahoma" panose="020B0604030504040204" pitchFamily="34" charset="0"/>
                        </a:rPr>
                        <a:t>-100,000</a:t>
                      </a:r>
                    </a:p>
                  </a:txBody>
                  <a:tcPr horzOverflow="overflow"/>
                </a:tc>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GB" altLang="en-US" sz="2400" b="0" i="0" u="none" strike="noStrike" cap="none" normalizeH="0" baseline="0" dirty="0">
                          <a:ln>
                            <a:noFill/>
                          </a:ln>
                          <a:solidFill>
                            <a:srgbClr val="0000CC"/>
                          </a:solidFill>
                          <a:effectLst/>
                          <a:latin typeface="Tahoma" panose="020B0604030504040204" pitchFamily="34" charset="0"/>
                        </a:rPr>
                        <a:t>-100,000</a:t>
                      </a:r>
                    </a:p>
                  </a:txBody>
                  <a:tcPr horzOverflow="overflow"/>
                </a:tc>
                <a:extLst>
                  <a:ext uri="{0D108BD9-81ED-4DB2-BD59-A6C34878D82A}">
                    <a16:rowId xmlns:a16="http://schemas.microsoft.com/office/drawing/2014/main" val="2715192214"/>
                  </a:ext>
                </a:extLst>
              </a:tr>
              <a:tr h="370840">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altLang="en-US" sz="2400" b="0" i="0" u="none" strike="noStrike" cap="none" normalizeH="0" baseline="0" dirty="0">
                          <a:ln>
                            <a:noFill/>
                          </a:ln>
                          <a:solidFill>
                            <a:schemeClr val="tx1"/>
                          </a:solidFill>
                          <a:effectLst/>
                          <a:latin typeface="Tahoma" panose="020B0604030504040204" pitchFamily="34" charset="0"/>
                        </a:rPr>
                        <a:t>1</a:t>
                      </a:r>
                    </a:p>
                  </a:txBody>
                  <a:tcPr horzOverflow="overflow"/>
                </a:tc>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GB" altLang="en-US" sz="2400" b="0" i="0" u="none" strike="noStrike" cap="none" normalizeH="0" baseline="0" dirty="0">
                          <a:ln>
                            <a:noFill/>
                          </a:ln>
                          <a:solidFill>
                            <a:schemeClr val="tx1"/>
                          </a:solidFill>
                          <a:effectLst/>
                          <a:latin typeface="Tahoma" panose="020B0604030504040204" pitchFamily="34" charset="0"/>
                        </a:rPr>
                        <a:t>10,000</a:t>
                      </a:r>
                    </a:p>
                  </a:txBody>
                  <a:tcPr horzOverflow="overflow"/>
                </a:tc>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GB" altLang="en-US" sz="2400" b="0" i="0" u="none" strike="noStrike" cap="none" normalizeH="0" baseline="0">
                          <a:ln>
                            <a:noFill/>
                          </a:ln>
                          <a:solidFill>
                            <a:srgbClr val="0000CC"/>
                          </a:solidFill>
                          <a:effectLst/>
                          <a:latin typeface="Tahoma" panose="020B0604030504040204" pitchFamily="34" charset="0"/>
                        </a:rPr>
                        <a:t>-90,000</a:t>
                      </a:r>
                      <a:endParaRPr kumimoji="0" lang="en-GB" altLang="en-US" sz="2400" b="0" i="0" u="none" strike="noStrike" cap="none" normalizeH="0" baseline="0" dirty="0">
                        <a:ln>
                          <a:noFill/>
                        </a:ln>
                        <a:solidFill>
                          <a:srgbClr val="0000CC"/>
                        </a:solidFill>
                        <a:effectLst/>
                        <a:latin typeface="Tahoma" panose="020B0604030504040204" pitchFamily="34" charset="0"/>
                      </a:endParaRPr>
                    </a:p>
                  </a:txBody>
                  <a:tcPr horzOverflow="overflow"/>
                </a:tc>
                <a:extLst>
                  <a:ext uri="{0D108BD9-81ED-4DB2-BD59-A6C34878D82A}">
                    <a16:rowId xmlns:a16="http://schemas.microsoft.com/office/drawing/2014/main" val="3098725958"/>
                  </a:ext>
                </a:extLst>
              </a:tr>
              <a:tr h="370840">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altLang="en-US" sz="2400" b="0" i="0" u="none" strike="noStrike" cap="none" normalizeH="0" baseline="0" dirty="0">
                          <a:ln>
                            <a:noFill/>
                          </a:ln>
                          <a:solidFill>
                            <a:schemeClr val="tx1"/>
                          </a:solidFill>
                          <a:effectLst/>
                          <a:latin typeface="Tahoma" panose="020B0604030504040204" pitchFamily="34" charset="0"/>
                        </a:rPr>
                        <a:t>2</a:t>
                      </a:r>
                    </a:p>
                  </a:txBody>
                  <a:tcPr horzOverflow="overflow"/>
                </a:tc>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GB" altLang="en-US" sz="2400" b="0" i="0" u="none" strike="noStrike" cap="none" normalizeH="0" baseline="0" dirty="0">
                          <a:ln>
                            <a:noFill/>
                          </a:ln>
                          <a:solidFill>
                            <a:schemeClr val="tx1"/>
                          </a:solidFill>
                          <a:effectLst/>
                          <a:latin typeface="Tahoma" panose="020B0604030504040204" pitchFamily="34" charset="0"/>
                        </a:rPr>
                        <a:t>10,000</a:t>
                      </a:r>
                    </a:p>
                  </a:txBody>
                  <a:tcPr horzOverflow="overflow"/>
                </a:tc>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r" defTabSz="914400" rtl="0" eaLnBrk="1" fontAlgn="base" latinLnBrk="0" hangingPunct="1">
                        <a:lnSpc>
                          <a:spcPct val="100000"/>
                        </a:lnSpc>
                        <a:spcBef>
                          <a:spcPct val="20000"/>
                        </a:spcBef>
                        <a:spcAft>
                          <a:spcPct val="0"/>
                        </a:spcAft>
                        <a:buClrTx/>
                        <a:buSzTx/>
                        <a:buFontTx/>
                        <a:buNone/>
                        <a:tabLst/>
                      </a:pPr>
                      <a:endParaRPr kumimoji="0" lang="en-GB" altLang="en-US" sz="2400" b="0" i="0" u="none" strike="noStrike" cap="none" normalizeH="0" baseline="0" dirty="0">
                        <a:ln>
                          <a:noFill/>
                        </a:ln>
                        <a:solidFill>
                          <a:srgbClr val="0000CC"/>
                        </a:solidFill>
                        <a:effectLst/>
                        <a:latin typeface="Tahoma" panose="020B0604030504040204" pitchFamily="34" charset="0"/>
                      </a:endParaRPr>
                    </a:p>
                  </a:txBody>
                  <a:tcPr horzOverflow="overflow"/>
                </a:tc>
                <a:extLst>
                  <a:ext uri="{0D108BD9-81ED-4DB2-BD59-A6C34878D82A}">
                    <a16:rowId xmlns:a16="http://schemas.microsoft.com/office/drawing/2014/main" val="929871789"/>
                  </a:ext>
                </a:extLst>
              </a:tr>
              <a:tr h="370840">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altLang="en-US" sz="2400" b="0" i="0" u="none" strike="noStrike" cap="none" normalizeH="0" baseline="0" dirty="0">
                          <a:ln>
                            <a:noFill/>
                          </a:ln>
                          <a:solidFill>
                            <a:schemeClr val="tx1"/>
                          </a:solidFill>
                          <a:effectLst/>
                          <a:latin typeface="Tahoma" panose="020B0604030504040204" pitchFamily="34" charset="0"/>
                        </a:rPr>
                        <a:t>3</a:t>
                      </a:r>
                    </a:p>
                  </a:txBody>
                  <a:tcPr horzOverflow="overflow"/>
                </a:tc>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GB" altLang="en-US" sz="2400" b="0" i="0" u="none" strike="noStrike" cap="none" normalizeH="0" baseline="0" dirty="0">
                          <a:ln>
                            <a:noFill/>
                          </a:ln>
                          <a:solidFill>
                            <a:schemeClr val="tx1"/>
                          </a:solidFill>
                          <a:effectLst/>
                          <a:latin typeface="Tahoma" panose="020B0604030504040204" pitchFamily="34" charset="0"/>
                        </a:rPr>
                        <a:t>10,000</a:t>
                      </a:r>
                    </a:p>
                  </a:txBody>
                  <a:tcPr horzOverflow="overflow"/>
                </a:tc>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r" defTabSz="914400" rtl="0" eaLnBrk="1" fontAlgn="base" latinLnBrk="0" hangingPunct="1">
                        <a:lnSpc>
                          <a:spcPct val="100000"/>
                        </a:lnSpc>
                        <a:spcBef>
                          <a:spcPct val="20000"/>
                        </a:spcBef>
                        <a:spcAft>
                          <a:spcPct val="0"/>
                        </a:spcAft>
                        <a:buClrTx/>
                        <a:buSzTx/>
                        <a:buFontTx/>
                        <a:buNone/>
                        <a:tabLst/>
                      </a:pPr>
                      <a:endParaRPr kumimoji="0" lang="en-GB" altLang="en-US" sz="2400" b="0" i="0" u="none" strike="noStrike" cap="none" normalizeH="0" baseline="0" dirty="0">
                        <a:ln>
                          <a:noFill/>
                        </a:ln>
                        <a:solidFill>
                          <a:srgbClr val="0000CC"/>
                        </a:solidFill>
                        <a:effectLst/>
                        <a:latin typeface="Tahoma" panose="020B0604030504040204" pitchFamily="34" charset="0"/>
                      </a:endParaRPr>
                    </a:p>
                  </a:txBody>
                  <a:tcPr horzOverflow="overflow"/>
                </a:tc>
                <a:extLst>
                  <a:ext uri="{0D108BD9-81ED-4DB2-BD59-A6C34878D82A}">
                    <a16:rowId xmlns:a16="http://schemas.microsoft.com/office/drawing/2014/main" val="292312927"/>
                  </a:ext>
                </a:extLst>
              </a:tr>
              <a:tr h="370840">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altLang="en-US" sz="2400" b="0" i="0" u="none" strike="noStrike" cap="none" normalizeH="0" baseline="0" dirty="0">
                          <a:ln>
                            <a:noFill/>
                          </a:ln>
                          <a:solidFill>
                            <a:schemeClr val="tx1"/>
                          </a:solidFill>
                          <a:effectLst/>
                          <a:latin typeface="Tahoma" panose="020B0604030504040204" pitchFamily="34" charset="0"/>
                        </a:rPr>
                        <a:t>4</a:t>
                      </a:r>
                    </a:p>
                  </a:txBody>
                  <a:tcPr horzOverflow="overflow"/>
                </a:tc>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GB" altLang="en-US" sz="2400" b="0" i="0" u="none" strike="noStrike" cap="none" normalizeH="0" baseline="0" dirty="0">
                          <a:ln>
                            <a:noFill/>
                          </a:ln>
                          <a:solidFill>
                            <a:schemeClr val="tx1"/>
                          </a:solidFill>
                          <a:effectLst/>
                          <a:latin typeface="Tahoma" panose="020B0604030504040204" pitchFamily="34" charset="0"/>
                        </a:rPr>
                        <a:t>20,000</a:t>
                      </a:r>
                    </a:p>
                  </a:txBody>
                  <a:tcPr horzOverflow="overflow"/>
                </a:tc>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r" defTabSz="914400" rtl="0" eaLnBrk="1" fontAlgn="base" latinLnBrk="0" hangingPunct="1">
                        <a:lnSpc>
                          <a:spcPct val="100000"/>
                        </a:lnSpc>
                        <a:spcBef>
                          <a:spcPct val="20000"/>
                        </a:spcBef>
                        <a:spcAft>
                          <a:spcPct val="0"/>
                        </a:spcAft>
                        <a:buClrTx/>
                        <a:buSzTx/>
                        <a:buFontTx/>
                        <a:buNone/>
                        <a:tabLst/>
                      </a:pPr>
                      <a:endParaRPr kumimoji="0" lang="en-GB" altLang="en-US" sz="2400" b="0" i="0" u="none" strike="noStrike" cap="none" normalizeH="0" baseline="0" dirty="0">
                        <a:ln>
                          <a:noFill/>
                        </a:ln>
                        <a:solidFill>
                          <a:srgbClr val="0000CC"/>
                        </a:solidFill>
                        <a:effectLst/>
                        <a:latin typeface="Tahoma" panose="020B0604030504040204" pitchFamily="34" charset="0"/>
                      </a:endParaRPr>
                    </a:p>
                  </a:txBody>
                  <a:tcPr horzOverflow="overflow"/>
                </a:tc>
                <a:extLst>
                  <a:ext uri="{0D108BD9-81ED-4DB2-BD59-A6C34878D82A}">
                    <a16:rowId xmlns:a16="http://schemas.microsoft.com/office/drawing/2014/main" val="2077385687"/>
                  </a:ext>
                </a:extLst>
              </a:tr>
              <a:tr h="370840">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altLang="en-US" sz="2400" b="0" i="0" u="none" strike="noStrike" cap="none" normalizeH="0" baseline="0" dirty="0">
                          <a:ln>
                            <a:noFill/>
                          </a:ln>
                          <a:solidFill>
                            <a:schemeClr val="tx1"/>
                          </a:solidFill>
                          <a:effectLst/>
                          <a:latin typeface="Tahoma" panose="020B0604030504040204" pitchFamily="34" charset="0"/>
                        </a:rPr>
                        <a:t>5</a:t>
                      </a:r>
                    </a:p>
                  </a:txBody>
                  <a:tcPr anchor="ctr" horzOverflow="overflow"/>
                </a:tc>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GB" altLang="en-US" sz="2400" b="0" i="0" u="none" strike="noStrike" cap="none" normalizeH="0" baseline="0" dirty="0">
                          <a:ln>
                            <a:noFill/>
                          </a:ln>
                          <a:solidFill>
                            <a:schemeClr val="tx1"/>
                          </a:solidFill>
                          <a:effectLst/>
                          <a:latin typeface="Tahoma" panose="020B0604030504040204" pitchFamily="34" charset="0"/>
                        </a:rPr>
                        <a:t>100,000</a:t>
                      </a:r>
                    </a:p>
                  </a:txBody>
                  <a:tcPr anchor="ctr" horzOverflow="overflow"/>
                </a:tc>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r" defTabSz="914400" rtl="0" eaLnBrk="1" fontAlgn="base" latinLnBrk="0" hangingPunct="1">
                        <a:lnSpc>
                          <a:spcPct val="100000"/>
                        </a:lnSpc>
                        <a:spcBef>
                          <a:spcPct val="20000"/>
                        </a:spcBef>
                        <a:spcAft>
                          <a:spcPct val="0"/>
                        </a:spcAft>
                        <a:buClrTx/>
                        <a:buSzTx/>
                        <a:buFontTx/>
                        <a:buNone/>
                        <a:tabLst/>
                      </a:pPr>
                      <a:endParaRPr kumimoji="0" lang="en-GB" altLang="en-US" sz="2400" b="0" i="0" u="none" strike="noStrike" cap="none" normalizeH="0" baseline="0" dirty="0">
                        <a:ln>
                          <a:noFill/>
                        </a:ln>
                        <a:solidFill>
                          <a:schemeClr val="tx1"/>
                        </a:solidFill>
                        <a:effectLst/>
                        <a:latin typeface="Tahoma" panose="020B0604030504040204" pitchFamily="34" charset="0"/>
                      </a:endParaRPr>
                    </a:p>
                  </a:txBody>
                  <a:tcPr anchor="ctr" horzOverflow="overflow"/>
                </a:tc>
                <a:extLst>
                  <a:ext uri="{0D108BD9-81ED-4DB2-BD59-A6C34878D82A}">
                    <a16:rowId xmlns:a16="http://schemas.microsoft.com/office/drawing/2014/main" val="3884061334"/>
                  </a:ext>
                </a:extLst>
              </a:tr>
            </a:tbl>
          </a:graphicData>
        </a:graphic>
      </p:graphicFrame>
      <p:sp>
        <p:nvSpPr>
          <p:cNvPr id="4" name="Date Placeholder 3"/>
          <p:cNvSpPr>
            <a:spLocks noGrp="1"/>
          </p:cNvSpPr>
          <p:nvPr>
            <p:ph type="dt" sz="half" idx="10"/>
          </p:nvPr>
        </p:nvSpPr>
        <p:spPr/>
        <p:txBody>
          <a:bodyPr/>
          <a:lstStyle/>
          <a:p>
            <a:fld id="{E9376695-FE31-4FE3-8789-583C0374522F}" type="datetime3">
              <a:rPr lang="en-US" smtClean="0"/>
              <a:t>28 November 2023</a:t>
            </a:fld>
            <a:endParaRPr lang="en-US" dirty="0"/>
          </a:p>
        </p:txBody>
      </p:sp>
      <p:sp>
        <p:nvSpPr>
          <p:cNvPr id="6" name="Footer Placeholder 5"/>
          <p:cNvSpPr>
            <a:spLocks noGrp="1"/>
          </p:cNvSpPr>
          <p:nvPr>
            <p:ph type="ftr" sz="quarter" idx="11"/>
          </p:nvPr>
        </p:nvSpPr>
        <p:spPr/>
        <p:txBody>
          <a:bodyPr/>
          <a:lstStyle/>
          <a:p>
            <a:r>
              <a:rPr lang="en-US"/>
              <a:t>Software Project Management       Dr. D Evangelin Geetha    Dept. of MCA     RIT</a:t>
            </a:r>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20</a:t>
            </a:fld>
            <a:endParaRPr lang="en-US" dirty="0"/>
          </a:p>
        </p:txBody>
      </p:sp>
    </p:spTree>
    <p:extLst>
      <p:ext uri="{BB962C8B-B14F-4D97-AF65-F5344CB8AC3E}">
        <p14:creationId xmlns:p14="http://schemas.microsoft.com/office/powerpoint/2010/main" val="61769853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Payback period</a:t>
            </a:r>
          </a:p>
        </p:txBody>
      </p:sp>
      <p:sp>
        <p:nvSpPr>
          <p:cNvPr id="3" name="Content Placeholder 2"/>
          <p:cNvSpPr>
            <a:spLocks noGrp="1"/>
          </p:cNvSpPr>
          <p:nvPr>
            <p:ph sz="half" idx="1"/>
          </p:nvPr>
        </p:nvSpPr>
        <p:spPr/>
        <p:txBody>
          <a:bodyPr>
            <a:normAutofit fontScale="92500"/>
          </a:bodyPr>
          <a:lstStyle/>
          <a:p>
            <a:r>
              <a:rPr lang="en-IN" dirty="0"/>
              <a:t>Time taken to break even or pay back the initial investment</a:t>
            </a:r>
          </a:p>
          <a:p>
            <a:r>
              <a:rPr lang="en-GB" altLang="en-US" dirty="0"/>
              <a:t>This is the time it takes to start generating a surplus of income over outgoings. What would it be below?</a:t>
            </a:r>
          </a:p>
        </p:txBody>
      </p:sp>
      <p:graphicFrame>
        <p:nvGraphicFramePr>
          <p:cNvPr id="5" name="Content Placeholder 4"/>
          <p:cNvGraphicFramePr>
            <a:graphicFrameLocks noGrp="1"/>
          </p:cNvGraphicFramePr>
          <p:nvPr>
            <p:ph sz="half" idx="2"/>
            <p:extLst>
              <p:ext uri="{D42A27DB-BD31-4B8C-83A1-F6EECF244321}">
                <p14:modId xmlns:p14="http://schemas.microsoft.com/office/powerpoint/2010/main" val="803897929"/>
              </p:ext>
            </p:extLst>
          </p:nvPr>
        </p:nvGraphicFramePr>
        <p:xfrm>
          <a:off x="6456555" y="2017713"/>
          <a:ext cx="4601970" cy="3566160"/>
        </p:xfrm>
        <a:graphic>
          <a:graphicData uri="http://schemas.openxmlformats.org/drawingml/2006/table">
            <a:tbl>
              <a:tblPr firstRow="1" bandRow="1">
                <a:tableStyleId>{5C22544A-7EE6-4342-B048-85BDC9FD1C3A}</a:tableStyleId>
              </a:tblPr>
              <a:tblGrid>
                <a:gridCol w="1048216">
                  <a:extLst>
                    <a:ext uri="{9D8B030D-6E8A-4147-A177-3AD203B41FA5}">
                      <a16:colId xmlns:a16="http://schemas.microsoft.com/office/drawing/2014/main" val="2248303887"/>
                    </a:ext>
                  </a:extLst>
                </a:gridCol>
                <a:gridCol w="2019764">
                  <a:extLst>
                    <a:ext uri="{9D8B030D-6E8A-4147-A177-3AD203B41FA5}">
                      <a16:colId xmlns:a16="http://schemas.microsoft.com/office/drawing/2014/main" val="2023753746"/>
                    </a:ext>
                  </a:extLst>
                </a:gridCol>
                <a:gridCol w="1533990">
                  <a:extLst>
                    <a:ext uri="{9D8B030D-6E8A-4147-A177-3AD203B41FA5}">
                      <a16:colId xmlns:a16="http://schemas.microsoft.com/office/drawing/2014/main" val="4244003138"/>
                    </a:ext>
                  </a:extLst>
                </a:gridCol>
              </a:tblGrid>
              <a:tr h="370840">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GB" altLang="en-US" sz="2400" b="0" i="0" u="none" strike="noStrike" cap="none" normalizeH="0" baseline="0" dirty="0">
                          <a:ln>
                            <a:noFill/>
                          </a:ln>
                          <a:solidFill>
                            <a:schemeClr val="bg2"/>
                          </a:solidFill>
                          <a:effectLst/>
                          <a:latin typeface="Tahoma" panose="020B0604030504040204" pitchFamily="34" charset="0"/>
                        </a:rPr>
                        <a:t>Year</a:t>
                      </a:r>
                    </a:p>
                  </a:txBody>
                  <a:tcPr horzOverflow="overflow"/>
                </a:tc>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GB" altLang="en-US" sz="2400" b="0" i="0" u="none" strike="noStrike" cap="none" normalizeH="0" baseline="0" dirty="0">
                          <a:ln>
                            <a:noFill/>
                          </a:ln>
                          <a:solidFill>
                            <a:schemeClr val="bg2"/>
                          </a:solidFill>
                          <a:effectLst/>
                          <a:latin typeface="Tahoma" panose="020B0604030504040204" pitchFamily="34" charset="0"/>
                        </a:rPr>
                        <a:t>Cash-flow</a:t>
                      </a:r>
                    </a:p>
                  </a:txBody>
                  <a:tcPr horzOverflow="overflow"/>
                </a:tc>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GB" altLang="en-US" sz="2400" b="0" i="0" u="none" strike="noStrike" cap="none" normalizeH="0" baseline="0">
                          <a:ln>
                            <a:noFill/>
                          </a:ln>
                          <a:solidFill>
                            <a:schemeClr val="bg2"/>
                          </a:solidFill>
                          <a:effectLst/>
                          <a:latin typeface="Tahoma" panose="020B0604030504040204" pitchFamily="34" charset="0"/>
                        </a:rPr>
                        <a:t>Accumulated</a:t>
                      </a:r>
                    </a:p>
                  </a:txBody>
                  <a:tcPr horzOverflow="overflow"/>
                </a:tc>
                <a:extLst>
                  <a:ext uri="{0D108BD9-81ED-4DB2-BD59-A6C34878D82A}">
                    <a16:rowId xmlns:a16="http://schemas.microsoft.com/office/drawing/2014/main" val="2686042913"/>
                  </a:ext>
                </a:extLst>
              </a:tr>
              <a:tr h="370840">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altLang="en-US" sz="2400" b="0" i="0" u="none" strike="noStrike" cap="none" normalizeH="0" baseline="0" dirty="0">
                          <a:ln>
                            <a:noFill/>
                          </a:ln>
                          <a:solidFill>
                            <a:schemeClr val="tx1"/>
                          </a:solidFill>
                          <a:effectLst/>
                          <a:latin typeface="Tahoma" panose="020B0604030504040204" pitchFamily="34" charset="0"/>
                        </a:rPr>
                        <a:t>0</a:t>
                      </a:r>
                    </a:p>
                  </a:txBody>
                  <a:tcPr horzOverflow="overflow"/>
                </a:tc>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GB" altLang="en-US" sz="2400" b="0" i="0" u="none" strike="noStrike" cap="none" normalizeH="0" baseline="0" dirty="0">
                          <a:ln>
                            <a:noFill/>
                          </a:ln>
                          <a:solidFill>
                            <a:srgbClr val="0000CC"/>
                          </a:solidFill>
                          <a:effectLst/>
                          <a:latin typeface="Tahoma" panose="020B0604030504040204" pitchFamily="34" charset="0"/>
                        </a:rPr>
                        <a:t>-100,000</a:t>
                      </a:r>
                    </a:p>
                  </a:txBody>
                  <a:tcPr horzOverflow="overflow"/>
                </a:tc>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GB" altLang="en-US" sz="2400" b="0" i="0" u="none" strike="noStrike" cap="none" normalizeH="0" baseline="0" dirty="0">
                          <a:ln>
                            <a:noFill/>
                          </a:ln>
                          <a:solidFill>
                            <a:srgbClr val="0000CC"/>
                          </a:solidFill>
                          <a:effectLst/>
                          <a:latin typeface="Tahoma" panose="020B0604030504040204" pitchFamily="34" charset="0"/>
                        </a:rPr>
                        <a:t>-100,000</a:t>
                      </a:r>
                    </a:p>
                  </a:txBody>
                  <a:tcPr horzOverflow="overflow"/>
                </a:tc>
                <a:extLst>
                  <a:ext uri="{0D108BD9-81ED-4DB2-BD59-A6C34878D82A}">
                    <a16:rowId xmlns:a16="http://schemas.microsoft.com/office/drawing/2014/main" val="2715192214"/>
                  </a:ext>
                </a:extLst>
              </a:tr>
              <a:tr h="370840">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altLang="en-US" sz="2400" b="0" i="0" u="none" strike="noStrike" cap="none" normalizeH="0" baseline="0" dirty="0">
                          <a:ln>
                            <a:noFill/>
                          </a:ln>
                          <a:solidFill>
                            <a:schemeClr val="tx1"/>
                          </a:solidFill>
                          <a:effectLst/>
                          <a:latin typeface="Tahoma" panose="020B0604030504040204" pitchFamily="34" charset="0"/>
                        </a:rPr>
                        <a:t>1</a:t>
                      </a:r>
                    </a:p>
                  </a:txBody>
                  <a:tcPr horzOverflow="overflow"/>
                </a:tc>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GB" altLang="en-US" sz="2400" b="0" i="0" u="none" strike="noStrike" cap="none" normalizeH="0" baseline="0" dirty="0">
                          <a:ln>
                            <a:noFill/>
                          </a:ln>
                          <a:solidFill>
                            <a:schemeClr val="tx1"/>
                          </a:solidFill>
                          <a:effectLst/>
                          <a:latin typeface="Tahoma" panose="020B0604030504040204" pitchFamily="34" charset="0"/>
                        </a:rPr>
                        <a:t>10,000</a:t>
                      </a:r>
                    </a:p>
                  </a:txBody>
                  <a:tcPr horzOverflow="overflow"/>
                </a:tc>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GB" altLang="en-US" sz="2400" b="0" i="0" u="none" strike="noStrike" cap="none" normalizeH="0" baseline="0" dirty="0">
                          <a:ln>
                            <a:noFill/>
                          </a:ln>
                          <a:solidFill>
                            <a:srgbClr val="0000CC"/>
                          </a:solidFill>
                          <a:effectLst/>
                          <a:latin typeface="Tahoma" panose="020B0604030504040204" pitchFamily="34" charset="0"/>
                        </a:rPr>
                        <a:t>-90,000</a:t>
                      </a:r>
                    </a:p>
                  </a:txBody>
                  <a:tcPr horzOverflow="overflow"/>
                </a:tc>
                <a:extLst>
                  <a:ext uri="{0D108BD9-81ED-4DB2-BD59-A6C34878D82A}">
                    <a16:rowId xmlns:a16="http://schemas.microsoft.com/office/drawing/2014/main" val="3098725958"/>
                  </a:ext>
                </a:extLst>
              </a:tr>
              <a:tr h="370840">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altLang="en-US" sz="2400" b="0" i="0" u="none" strike="noStrike" cap="none" normalizeH="0" baseline="0" dirty="0">
                          <a:ln>
                            <a:noFill/>
                          </a:ln>
                          <a:solidFill>
                            <a:schemeClr val="tx1"/>
                          </a:solidFill>
                          <a:effectLst/>
                          <a:latin typeface="Tahoma" panose="020B0604030504040204" pitchFamily="34" charset="0"/>
                        </a:rPr>
                        <a:t>2</a:t>
                      </a:r>
                    </a:p>
                  </a:txBody>
                  <a:tcPr horzOverflow="overflow"/>
                </a:tc>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GB" altLang="en-US" sz="2400" b="0" i="0" u="none" strike="noStrike" cap="none" normalizeH="0" baseline="0" dirty="0">
                          <a:ln>
                            <a:noFill/>
                          </a:ln>
                          <a:solidFill>
                            <a:schemeClr val="tx1"/>
                          </a:solidFill>
                          <a:effectLst/>
                          <a:latin typeface="Tahoma" panose="020B0604030504040204" pitchFamily="34" charset="0"/>
                        </a:rPr>
                        <a:t>10,000</a:t>
                      </a:r>
                    </a:p>
                  </a:txBody>
                  <a:tcPr horzOverflow="overflow"/>
                </a:tc>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GB" altLang="en-US" sz="2400" b="0" i="0" u="none" strike="noStrike" cap="none" normalizeH="0" baseline="0" dirty="0">
                          <a:ln>
                            <a:noFill/>
                          </a:ln>
                          <a:solidFill>
                            <a:srgbClr val="0000CC"/>
                          </a:solidFill>
                          <a:effectLst/>
                          <a:latin typeface="Tahoma" panose="020B0604030504040204" pitchFamily="34" charset="0"/>
                        </a:rPr>
                        <a:t>-80,000</a:t>
                      </a:r>
                    </a:p>
                  </a:txBody>
                  <a:tcPr horzOverflow="overflow"/>
                </a:tc>
                <a:extLst>
                  <a:ext uri="{0D108BD9-81ED-4DB2-BD59-A6C34878D82A}">
                    <a16:rowId xmlns:a16="http://schemas.microsoft.com/office/drawing/2014/main" val="929871789"/>
                  </a:ext>
                </a:extLst>
              </a:tr>
              <a:tr h="370840">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altLang="en-US" sz="2400" b="0" i="0" u="none" strike="noStrike" cap="none" normalizeH="0" baseline="0" dirty="0">
                          <a:ln>
                            <a:noFill/>
                          </a:ln>
                          <a:solidFill>
                            <a:schemeClr val="tx1"/>
                          </a:solidFill>
                          <a:effectLst/>
                          <a:latin typeface="Tahoma" panose="020B0604030504040204" pitchFamily="34" charset="0"/>
                        </a:rPr>
                        <a:t>3</a:t>
                      </a:r>
                    </a:p>
                  </a:txBody>
                  <a:tcPr horzOverflow="overflow"/>
                </a:tc>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GB" altLang="en-US" sz="2400" b="0" i="0" u="none" strike="noStrike" cap="none" normalizeH="0" baseline="0" dirty="0">
                          <a:ln>
                            <a:noFill/>
                          </a:ln>
                          <a:solidFill>
                            <a:schemeClr val="tx1"/>
                          </a:solidFill>
                          <a:effectLst/>
                          <a:latin typeface="Tahoma" panose="020B0604030504040204" pitchFamily="34" charset="0"/>
                        </a:rPr>
                        <a:t>10,000</a:t>
                      </a:r>
                    </a:p>
                  </a:txBody>
                  <a:tcPr horzOverflow="overflow"/>
                </a:tc>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r" defTabSz="914400" rtl="0" eaLnBrk="1" fontAlgn="base" latinLnBrk="0" hangingPunct="1">
                        <a:lnSpc>
                          <a:spcPct val="100000"/>
                        </a:lnSpc>
                        <a:spcBef>
                          <a:spcPct val="20000"/>
                        </a:spcBef>
                        <a:spcAft>
                          <a:spcPct val="0"/>
                        </a:spcAft>
                        <a:buClrTx/>
                        <a:buSzTx/>
                        <a:buFontTx/>
                        <a:buNone/>
                        <a:tabLst/>
                      </a:pPr>
                      <a:endParaRPr kumimoji="0" lang="en-GB" altLang="en-US" sz="2400" b="0" i="0" u="none" strike="noStrike" cap="none" normalizeH="0" baseline="0" dirty="0">
                        <a:ln>
                          <a:noFill/>
                        </a:ln>
                        <a:solidFill>
                          <a:srgbClr val="0000CC"/>
                        </a:solidFill>
                        <a:effectLst/>
                        <a:latin typeface="Tahoma" panose="020B0604030504040204" pitchFamily="34" charset="0"/>
                      </a:endParaRPr>
                    </a:p>
                  </a:txBody>
                  <a:tcPr horzOverflow="overflow"/>
                </a:tc>
                <a:extLst>
                  <a:ext uri="{0D108BD9-81ED-4DB2-BD59-A6C34878D82A}">
                    <a16:rowId xmlns:a16="http://schemas.microsoft.com/office/drawing/2014/main" val="292312927"/>
                  </a:ext>
                </a:extLst>
              </a:tr>
              <a:tr h="370840">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altLang="en-US" sz="2400" b="0" i="0" u="none" strike="noStrike" cap="none" normalizeH="0" baseline="0" dirty="0">
                          <a:ln>
                            <a:noFill/>
                          </a:ln>
                          <a:solidFill>
                            <a:schemeClr val="tx1"/>
                          </a:solidFill>
                          <a:effectLst/>
                          <a:latin typeface="Tahoma" panose="020B0604030504040204" pitchFamily="34" charset="0"/>
                        </a:rPr>
                        <a:t>4</a:t>
                      </a:r>
                    </a:p>
                  </a:txBody>
                  <a:tcPr horzOverflow="overflow"/>
                </a:tc>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GB" altLang="en-US" sz="2400" b="0" i="0" u="none" strike="noStrike" cap="none" normalizeH="0" baseline="0" dirty="0">
                          <a:ln>
                            <a:noFill/>
                          </a:ln>
                          <a:solidFill>
                            <a:schemeClr val="tx1"/>
                          </a:solidFill>
                          <a:effectLst/>
                          <a:latin typeface="Tahoma" panose="020B0604030504040204" pitchFamily="34" charset="0"/>
                        </a:rPr>
                        <a:t>20,000</a:t>
                      </a:r>
                    </a:p>
                  </a:txBody>
                  <a:tcPr horzOverflow="overflow"/>
                </a:tc>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r" defTabSz="914400" rtl="0" eaLnBrk="1" fontAlgn="base" latinLnBrk="0" hangingPunct="1">
                        <a:lnSpc>
                          <a:spcPct val="100000"/>
                        </a:lnSpc>
                        <a:spcBef>
                          <a:spcPct val="20000"/>
                        </a:spcBef>
                        <a:spcAft>
                          <a:spcPct val="0"/>
                        </a:spcAft>
                        <a:buClrTx/>
                        <a:buSzTx/>
                        <a:buFontTx/>
                        <a:buNone/>
                        <a:tabLst/>
                      </a:pPr>
                      <a:endParaRPr kumimoji="0" lang="en-GB" altLang="en-US" sz="2400" b="0" i="0" u="none" strike="noStrike" cap="none" normalizeH="0" baseline="0" dirty="0">
                        <a:ln>
                          <a:noFill/>
                        </a:ln>
                        <a:solidFill>
                          <a:srgbClr val="0000CC"/>
                        </a:solidFill>
                        <a:effectLst/>
                        <a:latin typeface="Tahoma" panose="020B0604030504040204" pitchFamily="34" charset="0"/>
                      </a:endParaRPr>
                    </a:p>
                  </a:txBody>
                  <a:tcPr horzOverflow="overflow"/>
                </a:tc>
                <a:extLst>
                  <a:ext uri="{0D108BD9-81ED-4DB2-BD59-A6C34878D82A}">
                    <a16:rowId xmlns:a16="http://schemas.microsoft.com/office/drawing/2014/main" val="2077385687"/>
                  </a:ext>
                </a:extLst>
              </a:tr>
              <a:tr h="370840">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altLang="en-US" sz="2400" b="0" i="0" u="none" strike="noStrike" cap="none" normalizeH="0" baseline="0" dirty="0">
                          <a:ln>
                            <a:noFill/>
                          </a:ln>
                          <a:solidFill>
                            <a:schemeClr val="tx1"/>
                          </a:solidFill>
                          <a:effectLst/>
                          <a:latin typeface="Tahoma" panose="020B0604030504040204" pitchFamily="34" charset="0"/>
                        </a:rPr>
                        <a:t>5</a:t>
                      </a:r>
                    </a:p>
                  </a:txBody>
                  <a:tcPr anchor="ctr" horzOverflow="overflow"/>
                </a:tc>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GB" altLang="en-US" sz="2400" b="0" i="0" u="none" strike="noStrike" cap="none" normalizeH="0" baseline="0" dirty="0">
                          <a:ln>
                            <a:noFill/>
                          </a:ln>
                          <a:solidFill>
                            <a:schemeClr val="tx1"/>
                          </a:solidFill>
                          <a:effectLst/>
                          <a:latin typeface="Tahoma" panose="020B0604030504040204" pitchFamily="34" charset="0"/>
                        </a:rPr>
                        <a:t>100,000</a:t>
                      </a:r>
                    </a:p>
                  </a:txBody>
                  <a:tcPr anchor="ctr" horzOverflow="overflow"/>
                </a:tc>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r" defTabSz="914400" rtl="0" eaLnBrk="1" fontAlgn="base" latinLnBrk="0" hangingPunct="1">
                        <a:lnSpc>
                          <a:spcPct val="100000"/>
                        </a:lnSpc>
                        <a:spcBef>
                          <a:spcPct val="20000"/>
                        </a:spcBef>
                        <a:spcAft>
                          <a:spcPct val="0"/>
                        </a:spcAft>
                        <a:buClrTx/>
                        <a:buSzTx/>
                        <a:buFontTx/>
                        <a:buNone/>
                        <a:tabLst/>
                      </a:pPr>
                      <a:endParaRPr kumimoji="0" lang="en-GB" altLang="en-US" sz="2400" b="0" i="0" u="none" strike="noStrike" cap="none" normalizeH="0" baseline="0" dirty="0">
                        <a:ln>
                          <a:noFill/>
                        </a:ln>
                        <a:solidFill>
                          <a:schemeClr val="tx1"/>
                        </a:solidFill>
                        <a:effectLst/>
                        <a:latin typeface="Tahoma" panose="020B0604030504040204" pitchFamily="34" charset="0"/>
                      </a:endParaRPr>
                    </a:p>
                  </a:txBody>
                  <a:tcPr anchor="ctr" horzOverflow="overflow"/>
                </a:tc>
                <a:extLst>
                  <a:ext uri="{0D108BD9-81ED-4DB2-BD59-A6C34878D82A}">
                    <a16:rowId xmlns:a16="http://schemas.microsoft.com/office/drawing/2014/main" val="3884061334"/>
                  </a:ext>
                </a:extLst>
              </a:tr>
            </a:tbl>
          </a:graphicData>
        </a:graphic>
      </p:graphicFrame>
      <p:sp>
        <p:nvSpPr>
          <p:cNvPr id="4" name="Date Placeholder 3"/>
          <p:cNvSpPr>
            <a:spLocks noGrp="1"/>
          </p:cNvSpPr>
          <p:nvPr>
            <p:ph type="dt" sz="half" idx="10"/>
          </p:nvPr>
        </p:nvSpPr>
        <p:spPr/>
        <p:txBody>
          <a:bodyPr/>
          <a:lstStyle/>
          <a:p>
            <a:fld id="{E9376695-FE31-4FE3-8789-583C0374522F}" type="datetime3">
              <a:rPr lang="en-US" smtClean="0"/>
              <a:t>28 November 2023</a:t>
            </a:fld>
            <a:endParaRPr lang="en-US" dirty="0"/>
          </a:p>
        </p:txBody>
      </p:sp>
      <p:sp>
        <p:nvSpPr>
          <p:cNvPr id="6" name="Footer Placeholder 5"/>
          <p:cNvSpPr>
            <a:spLocks noGrp="1"/>
          </p:cNvSpPr>
          <p:nvPr>
            <p:ph type="ftr" sz="quarter" idx="11"/>
          </p:nvPr>
        </p:nvSpPr>
        <p:spPr/>
        <p:txBody>
          <a:bodyPr/>
          <a:lstStyle/>
          <a:p>
            <a:r>
              <a:rPr lang="en-US"/>
              <a:t>Software Project Management       Dr. D Evangelin Geetha    Dept. of MCA     RIT</a:t>
            </a:r>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21</a:t>
            </a:fld>
            <a:endParaRPr lang="en-US" dirty="0"/>
          </a:p>
        </p:txBody>
      </p:sp>
    </p:spTree>
    <p:extLst>
      <p:ext uri="{BB962C8B-B14F-4D97-AF65-F5344CB8AC3E}">
        <p14:creationId xmlns:p14="http://schemas.microsoft.com/office/powerpoint/2010/main" val="37918127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Payback period</a:t>
            </a:r>
          </a:p>
        </p:txBody>
      </p:sp>
      <p:sp>
        <p:nvSpPr>
          <p:cNvPr id="3" name="Content Placeholder 2"/>
          <p:cNvSpPr>
            <a:spLocks noGrp="1"/>
          </p:cNvSpPr>
          <p:nvPr>
            <p:ph sz="half" idx="1"/>
          </p:nvPr>
        </p:nvSpPr>
        <p:spPr/>
        <p:txBody>
          <a:bodyPr>
            <a:normAutofit fontScale="92500"/>
          </a:bodyPr>
          <a:lstStyle/>
          <a:p>
            <a:r>
              <a:rPr lang="en-IN" dirty="0"/>
              <a:t>Time taken to break even or pay back the initial investment</a:t>
            </a:r>
          </a:p>
          <a:p>
            <a:r>
              <a:rPr lang="en-GB" altLang="en-US" dirty="0"/>
              <a:t>This is the time it takes to start generating a surplus of income over outgoings. What would it be below?</a:t>
            </a:r>
          </a:p>
        </p:txBody>
      </p:sp>
      <p:graphicFrame>
        <p:nvGraphicFramePr>
          <p:cNvPr id="5" name="Content Placeholder 4"/>
          <p:cNvGraphicFramePr>
            <a:graphicFrameLocks noGrp="1"/>
          </p:cNvGraphicFramePr>
          <p:nvPr>
            <p:ph sz="half" idx="2"/>
            <p:extLst>
              <p:ext uri="{D42A27DB-BD31-4B8C-83A1-F6EECF244321}">
                <p14:modId xmlns:p14="http://schemas.microsoft.com/office/powerpoint/2010/main" val="3180311521"/>
              </p:ext>
            </p:extLst>
          </p:nvPr>
        </p:nvGraphicFramePr>
        <p:xfrm>
          <a:off x="6456555" y="2017713"/>
          <a:ext cx="4601970" cy="3566160"/>
        </p:xfrm>
        <a:graphic>
          <a:graphicData uri="http://schemas.openxmlformats.org/drawingml/2006/table">
            <a:tbl>
              <a:tblPr firstRow="1" bandRow="1">
                <a:tableStyleId>{5C22544A-7EE6-4342-B048-85BDC9FD1C3A}</a:tableStyleId>
              </a:tblPr>
              <a:tblGrid>
                <a:gridCol w="1048216">
                  <a:extLst>
                    <a:ext uri="{9D8B030D-6E8A-4147-A177-3AD203B41FA5}">
                      <a16:colId xmlns:a16="http://schemas.microsoft.com/office/drawing/2014/main" val="2248303887"/>
                    </a:ext>
                  </a:extLst>
                </a:gridCol>
                <a:gridCol w="2019764">
                  <a:extLst>
                    <a:ext uri="{9D8B030D-6E8A-4147-A177-3AD203B41FA5}">
                      <a16:colId xmlns:a16="http://schemas.microsoft.com/office/drawing/2014/main" val="2023753746"/>
                    </a:ext>
                  </a:extLst>
                </a:gridCol>
                <a:gridCol w="1533990">
                  <a:extLst>
                    <a:ext uri="{9D8B030D-6E8A-4147-A177-3AD203B41FA5}">
                      <a16:colId xmlns:a16="http://schemas.microsoft.com/office/drawing/2014/main" val="4244003138"/>
                    </a:ext>
                  </a:extLst>
                </a:gridCol>
              </a:tblGrid>
              <a:tr h="370840">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GB" altLang="en-US" sz="2400" b="0" i="0" u="none" strike="noStrike" cap="none" normalizeH="0" baseline="0" dirty="0">
                          <a:ln>
                            <a:noFill/>
                          </a:ln>
                          <a:solidFill>
                            <a:schemeClr val="bg2"/>
                          </a:solidFill>
                          <a:effectLst/>
                          <a:latin typeface="Tahoma" panose="020B0604030504040204" pitchFamily="34" charset="0"/>
                        </a:rPr>
                        <a:t>Year</a:t>
                      </a:r>
                    </a:p>
                  </a:txBody>
                  <a:tcPr horzOverflow="overflow"/>
                </a:tc>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GB" altLang="en-US" sz="2400" b="0" i="0" u="none" strike="noStrike" cap="none" normalizeH="0" baseline="0" dirty="0">
                          <a:ln>
                            <a:noFill/>
                          </a:ln>
                          <a:solidFill>
                            <a:schemeClr val="bg2"/>
                          </a:solidFill>
                          <a:effectLst/>
                          <a:latin typeface="Tahoma" panose="020B0604030504040204" pitchFamily="34" charset="0"/>
                        </a:rPr>
                        <a:t>Cash-flow</a:t>
                      </a:r>
                    </a:p>
                  </a:txBody>
                  <a:tcPr horzOverflow="overflow"/>
                </a:tc>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GB" altLang="en-US" sz="2400" b="0" i="0" u="none" strike="noStrike" cap="none" normalizeH="0" baseline="0">
                          <a:ln>
                            <a:noFill/>
                          </a:ln>
                          <a:solidFill>
                            <a:schemeClr val="bg2"/>
                          </a:solidFill>
                          <a:effectLst/>
                          <a:latin typeface="Tahoma" panose="020B0604030504040204" pitchFamily="34" charset="0"/>
                        </a:rPr>
                        <a:t>Accumulated</a:t>
                      </a:r>
                    </a:p>
                  </a:txBody>
                  <a:tcPr horzOverflow="overflow"/>
                </a:tc>
                <a:extLst>
                  <a:ext uri="{0D108BD9-81ED-4DB2-BD59-A6C34878D82A}">
                    <a16:rowId xmlns:a16="http://schemas.microsoft.com/office/drawing/2014/main" val="2686042913"/>
                  </a:ext>
                </a:extLst>
              </a:tr>
              <a:tr h="370840">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altLang="en-US" sz="2400" b="0" i="0" u="none" strike="noStrike" cap="none" normalizeH="0" baseline="0" dirty="0">
                          <a:ln>
                            <a:noFill/>
                          </a:ln>
                          <a:solidFill>
                            <a:schemeClr val="tx1"/>
                          </a:solidFill>
                          <a:effectLst/>
                          <a:latin typeface="Tahoma" panose="020B0604030504040204" pitchFamily="34" charset="0"/>
                        </a:rPr>
                        <a:t>0</a:t>
                      </a:r>
                    </a:p>
                  </a:txBody>
                  <a:tcPr horzOverflow="overflow"/>
                </a:tc>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GB" altLang="en-US" sz="2400" b="0" i="0" u="none" strike="noStrike" cap="none" normalizeH="0" baseline="0" dirty="0">
                          <a:ln>
                            <a:noFill/>
                          </a:ln>
                          <a:solidFill>
                            <a:srgbClr val="0000CC"/>
                          </a:solidFill>
                          <a:effectLst/>
                          <a:latin typeface="Tahoma" panose="020B0604030504040204" pitchFamily="34" charset="0"/>
                        </a:rPr>
                        <a:t>-100,000</a:t>
                      </a:r>
                    </a:p>
                  </a:txBody>
                  <a:tcPr horzOverflow="overflow"/>
                </a:tc>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GB" altLang="en-US" sz="2400" b="0" i="0" u="none" strike="noStrike" cap="none" normalizeH="0" baseline="0" dirty="0">
                          <a:ln>
                            <a:noFill/>
                          </a:ln>
                          <a:solidFill>
                            <a:srgbClr val="0000CC"/>
                          </a:solidFill>
                          <a:effectLst/>
                          <a:latin typeface="Tahoma" panose="020B0604030504040204" pitchFamily="34" charset="0"/>
                        </a:rPr>
                        <a:t>-100,000</a:t>
                      </a:r>
                    </a:p>
                  </a:txBody>
                  <a:tcPr horzOverflow="overflow"/>
                </a:tc>
                <a:extLst>
                  <a:ext uri="{0D108BD9-81ED-4DB2-BD59-A6C34878D82A}">
                    <a16:rowId xmlns:a16="http://schemas.microsoft.com/office/drawing/2014/main" val="2715192214"/>
                  </a:ext>
                </a:extLst>
              </a:tr>
              <a:tr h="370840">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altLang="en-US" sz="2400" b="0" i="0" u="none" strike="noStrike" cap="none" normalizeH="0" baseline="0" dirty="0">
                          <a:ln>
                            <a:noFill/>
                          </a:ln>
                          <a:solidFill>
                            <a:schemeClr val="tx1"/>
                          </a:solidFill>
                          <a:effectLst/>
                          <a:latin typeface="Tahoma" panose="020B0604030504040204" pitchFamily="34" charset="0"/>
                        </a:rPr>
                        <a:t>1</a:t>
                      </a:r>
                    </a:p>
                  </a:txBody>
                  <a:tcPr horzOverflow="overflow"/>
                </a:tc>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GB" altLang="en-US" sz="2400" b="0" i="0" u="none" strike="noStrike" cap="none" normalizeH="0" baseline="0" dirty="0">
                          <a:ln>
                            <a:noFill/>
                          </a:ln>
                          <a:solidFill>
                            <a:schemeClr val="tx1"/>
                          </a:solidFill>
                          <a:effectLst/>
                          <a:latin typeface="Tahoma" panose="020B0604030504040204" pitchFamily="34" charset="0"/>
                        </a:rPr>
                        <a:t>10,000</a:t>
                      </a:r>
                    </a:p>
                  </a:txBody>
                  <a:tcPr horzOverflow="overflow"/>
                </a:tc>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GB" altLang="en-US" sz="2400" b="0" i="0" u="none" strike="noStrike" cap="none" normalizeH="0" baseline="0" dirty="0">
                          <a:ln>
                            <a:noFill/>
                          </a:ln>
                          <a:solidFill>
                            <a:srgbClr val="0000CC"/>
                          </a:solidFill>
                          <a:effectLst/>
                          <a:latin typeface="Tahoma" panose="020B0604030504040204" pitchFamily="34" charset="0"/>
                        </a:rPr>
                        <a:t>-90,000</a:t>
                      </a:r>
                    </a:p>
                  </a:txBody>
                  <a:tcPr horzOverflow="overflow"/>
                </a:tc>
                <a:extLst>
                  <a:ext uri="{0D108BD9-81ED-4DB2-BD59-A6C34878D82A}">
                    <a16:rowId xmlns:a16="http://schemas.microsoft.com/office/drawing/2014/main" val="3098725958"/>
                  </a:ext>
                </a:extLst>
              </a:tr>
              <a:tr h="370840">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altLang="en-US" sz="2400" b="0" i="0" u="none" strike="noStrike" cap="none" normalizeH="0" baseline="0" dirty="0">
                          <a:ln>
                            <a:noFill/>
                          </a:ln>
                          <a:solidFill>
                            <a:schemeClr val="tx1"/>
                          </a:solidFill>
                          <a:effectLst/>
                          <a:latin typeface="Tahoma" panose="020B0604030504040204" pitchFamily="34" charset="0"/>
                        </a:rPr>
                        <a:t>2</a:t>
                      </a:r>
                    </a:p>
                  </a:txBody>
                  <a:tcPr horzOverflow="overflow"/>
                </a:tc>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GB" altLang="en-US" sz="2400" b="0" i="0" u="none" strike="noStrike" cap="none" normalizeH="0" baseline="0" dirty="0">
                          <a:ln>
                            <a:noFill/>
                          </a:ln>
                          <a:solidFill>
                            <a:schemeClr val="tx1"/>
                          </a:solidFill>
                          <a:effectLst/>
                          <a:latin typeface="Tahoma" panose="020B0604030504040204" pitchFamily="34" charset="0"/>
                        </a:rPr>
                        <a:t>10,000</a:t>
                      </a:r>
                    </a:p>
                  </a:txBody>
                  <a:tcPr horzOverflow="overflow"/>
                </a:tc>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GB" altLang="en-US" sz="2400" b="0" i="0" u="none" strike="noStrike" cap="none" normalizeH="0" baseline="0" dirty="0">
                          <a:ln>
                            <a:noFill/>
                          </a:ln>
                          <a:solidFill>
                            <a:srgbClr val="0000CC"/>
                          </a:solidFill>
                          <a:effectLst/>
                          <a:latin typeface="Tahoma" panose="020B0604030504040204" pitchFamily="34" charset="0"/>
                        </a:rPr>
                        <a:t>-80,000</a:t>
                      </a:r>
                    </a:p>
                  </a:txBody>
                  <a:tcPr horzOverflow="overflow"/>
                </a:tc>
                <a:extLst>
                  <a:ext uri="{0D108BD9-81ED-4DB2-BD59-A6C34878D82A}">
                    <a16:rowId xmlns:a16="http://schemas.microsoft.com/office/drawing/2014/main" val="929871789"/>
                  </a:ext>
                </a:extLst>
              </a:tr>
              <a:tr h="370840">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altLang="en-US" sz="2400" b="0" i="0" u="none" strike="noStrike" cap="none" normalizeH="0" baseline="0" dirty="0">
                          <a:ln>
                            <a:noFill/>
                          </a:ln>
                          <a:solidFill>
                            <a:schemeClr val="tx1"/>
                          </a:solidFill>
                          <a:effectLst/>
                          <a:latin typeface="Tahoma" panose="020B0604030504040204" pitchFamily="34" charset="0"/>
                        </a:rPr>
                        <a:t>3</a:t>
                      </a:r>
                    </a:p>
                  </a:txBody>
                  <a:tcPr horzOverflow="overflow"/>
                </a:tc>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GB" altLang="en-US" sz="2400" b="0" i="0" u="none" strike="noStrike" cap="none" normalizeH="0" baseline="0" dirty="0">
                          <a:ln>
                            <a:noFill/>
                          </a:ln>
                          <a:solidFill>
                            <a:schemeClr val="tx1"/>
                          </a:solidFill>
                          <a:effectLst/>
                          <a:latin typeface="Tahoma" panose="020B0604030504040204" pitchFamily="34" charset="0"/>
                        </a:rPr>
                        <a:t>10,000</a:t>
                      </a:r>
                    </a:p>
                  </a:txBody>
                  <a:tcPr horzOverflow="overflow"/>
                </a:tc>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GB" altLang="en-US" sz="2400" b="0" i="0" u="none" strike="noStrike" cap="none" normalizeH="0" baseline="0" dirty="0">
                          <a:ln>
                            <a:noFill/>
                          </a:ln>
                          <a:solidFill>
                            <a:srgbClr val="0000CC"/>
                          </a:solidFill>
                          <a:effectLst/>
                          <a:latin typeface="Tahoma" panose="020B0604030504040204" pitchFamily="34" charset="0"/>
                        </a:rPr>
                        <a:t>-70,000</a:t>
                      </a:r>
                    </a:p>
                  </a:txBody>
                  <a:tcPr horzOverflow="overflow"/>
                </a:tc>
                <a:extLst>
                  <a:ext uri="{0D108BD9-81ED-4DB2-BD59-A6C34878D82A}">
                    <a16:rowId xmlns:a16="http://schemas.microsoft.com/office/drawing/2014/main" val="292312927"/>
                  </a:ext>
                </a:extLst>
              </a:tr>
              <a:tr h="370840">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altLang="en-US" sz="2400" b="0" i="0" u="none" strike="noStrike" cap="none" normalizeH="0" baseline="0" dirty="0">
                          <a:ln>
                            <a:noFill/>
                          </a:ln>
                          <a:solidFill>
                            <a:schemeClr val="tx1"/>
                          </a:solidFill>
                          <a:effectLst/>
                          <a:latin typeface="Tahoma" panose="020B0604030504040204" pitchFamily="34" charset="0"/>
                        </a:rPr>
                        <a:t>4</a:t>
                      </a:r>
                    </a:p>
                  </a:txBody>
                  <a:tcPr horzOverflow="overflow"/>
                </a:tc>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GB" altLang="en-US" sz="2400" b="0" i="0" u="none" strike="noStrike" cap="none" normalizeH="0" baseline="0" dirty="0">
                          <a:ln>
                            <a:noFill/>
                          </a:ln>
                          <a:solidFill>
                            <a:schemeClr val="tx1"/>
                          </a:solidFill>
                          <a:effectLst/>
                          <a:latin typeface="Tahoma" panose="020B0604030504040204" pitchFamily="34" charset="0"/>
                        </a:rPr>
                        <a:t>20,000</a:t>
                      </a:r>
                    </a:p>
                  </a:txBody>
                  <a:tcPr horzOverflow="overflow"/>
                </a:tc>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r" defTabSz="914400" rtl="0" eaLnBrk="1" fontAlgn="base" latinLnBrk="0" hangingPunct="1">
                        <a:lnSpc>
                          <a:spcPct val="100000"/>
                        </a:lnSpc>
                        <a:spcBef>
                          <a:spcPct val="20000"/>
                        </a:spcBef>
                        <a:spcAft>
                          <a:spcPct val="0"/>
                        </a:spcAft>
                        <a:buClrTx/>
                        <a:buSzTx/>
                        <a:buFontTx/>
                        <a:buNone/>
                        <a:tabLst/>
                      </a:pPr>
                      <a:endParaRPr kumimoji="0" lang="en-GB" altLang="en-US" sz="2400" b="0" i="0" u="none" strike="noStrike" cap="none" normalizeH="0" baseline="0" dirty="0">
                        <a:ln>
                          <a:noFill/>
                        </a:ln>
                        <a:solidFill>
                          <a:srgbClr val="0000CC"/>
                        </a:solidFill>
                        <a:effectLst/>
                        <a:latin typeface="Tahoma" panose="020B0604030504040204" pitchFamily="34" charset="0"/>
                      </a:endParaRPr>
                    </a:p>
                  </a:txBody>
                  <a:tcPr horzOverflow="overflow"/>
                </a:tc>
                <a:extLst>
                  <a:ext uri="{0D108BD9-81ED-4DB2-BD59-A6C34878D82A}">
                    <a16:rowId xmlns:a16="http://schemas.microsoft.com/office/drawing/2014/main" val="2077385687"/>
                  </a:ext>
                </a:extLst>
              </a:tr>
              <a:tr h="370840">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altLang="en-US" sz="2400" b="0" i="0" u="none" strike="noStrike" cap="none" normalizeH="0" baseline="0" dirty="0">
                          <a:ln>
                            <a:noFill/>
                          </a:ln>
                          <a:solidFill>
                            <a:schemeClr val="tx1"/>
                          </a:solidFill>
                          <a:effectLst/>
                          <a:latin typeface="Tahoma" panose="020B0604030504040204" pitchFamily="34" charset="0"/>
                        </a:rPr>
                        <a:t>5</a:t>
                      </a:r>
                    </a:p>
                  </a:txBody>
                  <a:tcPr anchor="ctr" horzOverflow="overflow"/>
                </a:tc>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GB" altLang="en-US" sz="2400" b="0" i="0" u="none" strike="noStrike" cap="none" normalizeH="0" baseline="0" dirty="0">
                          <a:ln>
                            <a:noFill/>
                          </a:ln>
                          <a:solidFill>
                            <a:schemeClr val="tx1"/>
                          </a:solidFill>
                          <a:effectLst/>
                          <a:latin typeface="Tahoma" panose="020B0604030504040204" pitchFamily="34" charset="0"/>
                        </a:rPr>
                        <a:t>100,000</a:t>
                      </a:r>
                    </a:p>
                  </a:txBody>
                  <a:tcPr anchor="ctr" horzOverflow="overflow"/>
                </a:tc>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r" defTabSz="914400" rtl="0" eaLnBrk="1" fontAlgn="base" latinLnBrk="0" hangingPunct="1">
                        <a:lnSpc>
                          <a:spcPct val="100000"/>
                        </a:lnSpc>
                        <a:spcBef>
                          <a:spcPct val="20000"/>
                        </a:spcBef>
                        <a:spcAft>
                          <a:spcPct val="0"/>
                        </a:spcAft>
                        <a:buClrTx/>
                        <a:buSzTx/>
                        <a:buFontTx/>
                        <a:buNone/>
                        <a:tabLst/>
                      </a:pPr>
                      <a:endParaRPr kumimoji="0" lang="en-GB" altLang="en-US" sz="2400" b="0" i="0" u="none" strike="noStrike" cap="none" normalizeH="0" baseline="0" dirty="0">
                        <a:ln>
                          <a:noFill/>
                        </a:ln>
                        <a:solidFill>
                          <a:schemeClr val="tx1"/>
                        </a:solidFill>
                        <a:effectLst/>
                        <a:latin typeface="Tahoma" panose="020B0604030504040204" pitchFamily="34" charset="0"/>
                      </a:endParaRPr>
                    </a:p>
                  </a:txBody>
                  <a:tcPr anchor="ctr" horzOverflow="overflow"/>
                </a:tc>
                <a:extLst>
                  <a:ext uri="{0D108BD9-81ED-4DB2-BD59-A6C34878D82A}">
                    <a16:rowId xmlns:a16="http://schemas.microsoft.com/office/drawing/2014/main" val="3884061334"/>
                  </a:ext>
                </a:extLst>
              </a:tr>
            </a:tbl>
          </a:graphicData>
        </a:graphic>
      </p:graphicFrame>
      <p:sp>
        <p:nvSpPr>
          <p:cNvPr id="4" name="Date Placeholder 3"/>
          <p:cNvSpPr>
            <a:spLocks noGrp="1"/>
          </p:cNvSpPr>
          <p:nvPr>
            <p:ph type="dt" sz="half" idx="10"/>
          </p:nvPr>
        </p:nvSpPr>
        <p:spPr/>
        <p:txBody>
          <a:bodyPr/>
          <a:lstStyle/>
          <a:p>
            <a:fld id="{E9376695-FE31-4FE3-8789-583C0374522F}" type="datetime3">
              <a:rPr lang="en-US" smtClean="0"/>
              <a:t>28 November 2023</a:t>
            </a:fld>
            <a:endParaRPr lang="en-US" dirty="0"/>
          </a:p>
        </p:txBody>
      </p:sp>
      <p:sp>
        <p:nvSpPr>
          <p:cNvPr id="6" name="Footer Placeholder 5"/>
          <p:cNvSpPr>
            <a:spLocks noGrp="1"/>
          </p:cNvSpPr>
          <p:nvPr>
            <p:ph type="ftr" sz="quarter" idx="11"/>
          </p:nvPr>
        </p:nvSpPr>
        <p:spPr/>
        <p:txBody>
          <a:bodyPr/>
          <a:lstStyle/>
          <a:p>
            <a:r>
              <a:rPr lang="en-US"/>
              <a:t>Software Project Management       Dr. D Evangelin Geetha    Dept. of MCA     RIT</a:t>
            </a:r>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22</a:t>
            </a:fld>
            <a:endParaRPr lang="en-US" dirty="0"/>
          </a:p>
        </p:txBody>
      </p:sp>
    </p:spTree>
    <p:extLst>
      <p:ext uri="{BB962C8B-B14F-4D97-AF65-F5344CB8AC3E}">
        <p14:creationId xmlns:p14="http://schemas.microsoft.com/office/powerpoint/2010/main" val="19966436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Payback period</a:t>
            </a:r>
          </a:p>
        </p:txBody>
      </p:sp>
      <p:sp>
        <p:nvSpPr>
          <p:cNvPr id="3" name="Content Placeholder 2"/>
          <p:cNvSpPr>
            <a:spLocks noGrp="1"/>
          </p:cNvSpPr>
          <p:nvPr>
            <p:ph sz="half" idx="1"/>
          </p:nvPr>
        </p:nvSpPr>
        <p:spPr/>
        <p:txBody>
          <a:bodyPr>
            <a:normAutofit fontScale="92500"/>
          </a:bodyPr>
          <a:lstStyle/>
          <a:p>
            <a:r>
              <a:rPr lang="en-IN" dirty="0"/>
              <a:t>Time taken to break even or pay back the initial investment</a:t>
            </a:r>
          </a:p>
          <a:p>
            <a:r>
              <a:rPr lang="en-GB" altLang="en-US" dirty="0"/>
              <a:t>This is the time it takes to start generating a surplus of income over outgoings. What would it be below?</a:t>
            </a:r>
          </a:p>
        </p:txBody>
      </p:sp>
      <p:graphicFrame>
        <p:nvGraphicFramePr>
          <p:cNvPr id="5" name="Content Placeholder 4"/>
          <p:cNvGraphicFramePr>
            <a:graphicFrameLocks noGrp="1"/>
          </p:cNvGraphicFramePr>
          <p:nvPr>
            <p:ph sz="half" idx="2"/>
            <p:extLst>
              <p:ext uri="{D42A27DB-BD31-4B8C-83A1-F6EECF244321}">
                <p14:modId xmlns:p14="http://schemas.microsoft.com/office/powerpoint/2010/main" val="457406655"/>
              </p:ext>
            </p:extLst>
          </p:nvPr>
        </p:nvGraphicFramePr>
        <p:xfrm>
          <a:off x="6456555" y="2017713"/>
          <a:ext cx="4601970" cy="3566160"/>
        </p:xfrm>
        <a:graphic>
          <a:graphicData uri="http://schemas.openxmlformats.org/drawingml/2006/table">
            <a:tbl>
              <a:tblPr firstRow="1" bandRow="1">
                <a:tableStyleId>{5C22544A-7EE6-4342-B048-85BDC9FD1C3A}</a:tableStyleId>
              </a:tblPr>
              <a:tblGrid>
                <a:gridCol w="1048216">
                  <a:extLst>
                    <a:ext uri="{9D8B030D-6E8A-4147-A177-3AD203B41FA5}">
                      <a16:colId xmlns:a16="http://schemas.microsoft.com/office/drawing/2014/main" val="2248303887"/>
                    </a:ext>
                  </a:extLst>
                </a:gridCol>
                <a:gridCol w="2019764">
                  <a:extLst>
                    <a:ext uri="{9D8B030D-6E8A-4147-A177-3AD203B41FA5}">
                      <a16:colId xmlns:a16="http://schemas.microsoft.com/office/drawing/2014/main" val="2023753746"/>
                    </a:ext>
                  </a:extLst>
                </a:gridCol>
                <a:gridCol w="1533990">
                  <a:extLst>
                    <a:ext uri="{9D8B030D-6E8A-4147-A177-3AD203B41FA5}">
                      <a16:colId xmlns:a16="http://schemas.microsoft.com/office/drawing/2014/main" val="4244003138"/>
                    </a:ext>
                  </a:extLst>
                </a:gridCol>
              </a:tblGrid>
              <a:tr h="370840">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GB" altLang="en-US" sz="2400" b="0" i="0" u="none" strike="noStrike" cap="none" normalizeH="0" baseline="0" dirty="0">
                          <a:ln>
                            <a:noFill/>
                          </a:ln>
                          <a:solidFill>
                            <a:schemeClr val="bg2"/>
                          </a:solidFill>
                          <a:effectLst/>
                          <a:latin typeface="Tahoma" panose="020B0604030504040204" pitchFamily="34" charset="0"/>
                        </a:rPr>
                        <a:t>Year</a:t>
                      </a:r>
                    </a:p>
                  </a:txBody>
                  <a:tcPr horzOverflow="overflow"/>
                </a:tc>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GB" altLang="en-US" sz="2400" b="0" i="0" u="none" strike="noStrike" cap="none" normalizeH="0" baseline="0" dirty="0">
                          <a:ln>
                            <a:noFill/>
                          </a:ln>
                          <a:solidFill>
                            <a:schemeClr val="bg2"/>
                          </a:solidFill>
                          <a:effectLst/>
                          <a:latin typeface="Tahoma" panose="020B0604030504040204" pitchFamily="34" charset="0"/>
                        </a:rPr>
                        <a:t>Cash-flow</a:t>
                      </a:r>
                    </a:p>
                  </a:txBody>
                  <a:tcPr horzOverflow="overflow"/>
                </a:tc>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GB" altLang="en-US" sz="2400" b="0" i="0" u="none" strike="noStrike" cap="none" normalizeH="0" baseline="0">
                          <a:ln>
                            <a:noFill/>
                          </a:ln>
                          <a:solidFill>
                            <a:schemeClr val="bg2"/>
                          </a:solidFill>
                          <a:effectLst/>
                          <a:latin typeface="Tahoma" panose="020B0604030504040204" pitchFamily="34" charset="0"/>
                        </a:rPr>
                        <a:t>Accumulated</a:t>
                      </a:r>
                    </a:p>
                  </a:txBody>
                  <a:tcPr horzOverflow="overflow"/>
                </a:tc>
                <a:extLst>
                  <a:ext uri="{0D108BD9-81ED-4DB2-BD59-A6C34878D82A}">
                    <a16:rowId xmlns:a16="http://schemas.microsoft.com/office/drawing/2014/main" val="2686042913"/>
                  </a:ext>
                </a:extLst>
              </a:tr>
              <a:tr h="370840">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altLang="en-US" sz="2400" b="0" i="0" u="none" strike="noStrike" cap="none" normalizeH="0" baseline="0" dirty="0">
                          <a:ln>
                            <a:noFill/>
                          </a:ln>
                          <a:solidFill>
                            <a:schemeClr val="tx1"/>
                          </a:solidFill>
                          <a:effectLst/>
                          <a:latin typeface="Tahoma" panose="020B0604030504040204" pitchFamily="34" charset="0"/>
                        </a:rPr>
                        <a:t>0</a:t>
                      </a:r>
                    </a:p>
                  </a:txBody>
                  <a:tcPr horzOverflow="overflow"/>
                </a:tc>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GB" altLang="en-US" sz="2400" b="0" i="0" u="none" strike="noStrike" cap="none" normalizeH="0" baseline="0" dirty="0">
                          <a:ln>
                            <a:noFill/>
                          </a:ln>
                          <a:solidFill>
                            <a:srgbClr val="0000CC"/>
                          </a:solidFill>
                          <a:effectLst/>
                          <a:latin typeface="Tahoma" panose="020B0604030504040204" pitchFamily="34" charset="0"/>
                        </a:rPr>
                        <a:t>-100,000</a:t>
                      </a:r>
                    </a:p>
                  </a:txBody>
                  <a:tcPr horzOverflow="overflow"/>
                </a:tc>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GB" altLang="en-US" sz="2400" b="0" i="0" u="none" strike="noStrike" cap="none" normalizeH="0" baseline="0" dirty="0">
                          <a:ln>
                            <a:noFill/>
                          </a:ln>
                          <a:solidFill>
                            <a:srgbClr val="0000CC"/>
                          </a:solidFill>
                          <a:effectLst/>
                          <a:latin typeface="Tahoma" panose="020B0604030504040204" pitchFamily="34" charset="0"/>
                        </a:rPr>
                        <a:t>-100,000</a:t>
                      </a:r>
                    </a:p>
                  </a:txBody>
                  <a:tcPr horzOverflow="overflow"/>
                </a:tc>
                <a:extLst>
                  <a:ext uri="{0D108BD9-81ED-4DB2-BD59-A6C34878D82A}">
                    <a16:rowId xmlns:a16="http://schemas.microsoft.com/office/drawing/2014/main" val="2715192214"/>
                  </a:ext>
                </a:extLst>
              </a:tr>
              <a:tr h="370840">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altLang="en-US" sz="2400" b="0" i="0" u="none" strike="noStrike" cap="none" normalizeH="0" baseline="0" dirty="0">
                          <a:ln>
                            <a:noFill/>
                          </a:ln>
                          <a:solidFill>
                            <a:schemeClr val="tx1"/>
                          </a:solidFill>
                          <a:effectLst/>
                          <a:latin typeface="Tahoma" panose="020B0604030504040204" pitchFamily="34" charset="0"/>
                        </a:rPr>
                        <a:t>1</a:t>
                      </a:r>
                    </a:p>
                  </a:txBody>
                  <a:tcPr horzOverflow="overflow"/>
                </a:tc>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GB" altLang="en-US" sz="2400" b="0" i="0" u="none" strike="noStrike" cap="none" normalizeH="0" baseline="0" dirty="0">
                          <a:ln>
                            <a:noFill/>
                          </a:ln>
                          <a:solidFill>
                            <a:schemeClr val="tx1"/>
                          </a:solidFill>
                          <a:effectLst/>
                          <a:latin typeface="Tahoma" panose="020B0604030504040204" pitchFamily="34" charset="0"/>
                        </a:rPr>
                        <a:t>10,000</a:t>
                      </a:r>
                    </a:p>
                  </a:txBody>
                  <a:tcPr horzOverflow="overflow"/>
                </a:tc>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GB" altLang="en-US" sz="2400" b="0" i="0" u="none" strike="noStrike" cap="none" normalizeH="0" baseline="0" dirty="0">
                          <a:ln>
                            <a:noFill/>
                          </a:ln>
                          <a:solidFill>
                            <a:srgbClr val="0000CC"/>
                          </a:solidFill>
                          <a:effectLst/>
                          <a:latin typeface="Tahoma" panose="020B0604030504040204" pitchFamily="34" charset="0"/>
                        </a:rPr>
                        <a:t>-90,000</a:t>
                      </a:r>
                    </a:p>
                  </a:txBody>
                  <a:tcPr horzOverflow="overflow"/>
                </a:tc>
                <a:extLst>
                  <a:ext uri="{0D108BD9-81ED-4DB2-BD59-A6C34878D82A}">
                    <a16:rowId xmlns:a16="http://schemas.microsoft.com/office/drawing/2014/main" val="3098725958"/>
                  </a:ext>
                </a:extLst>
              </a:tr>
              <a:tr h="370840">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altLang="en-US" sz="2400" b="0" i="0" u="none" strike="noStrike" cap="none" normalizeH="0" baseline="0" dirty="0">
                          <a:ln>
                            <a:noFill/>
                          </a:ln>
                          <a:solidFill>
                            <a:schemeClr val="tx1"/>
                          </a:solidFill>
                          <a:effectLst/>
                          <a:latin typeface="Tahoma" panose="020B0604030504040204" pitchFamily="34" charset="0"/>
                        </a:rPr>
                        <a:t>2</a:t>
                      </a:r>
                    </a:p>
                  </a:txBody>
                  <a:tcPr horzOverflow="overflow"/>
                </a:tc>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GB" altLang="en-US" sz="2400" b="0" i="0" u="none" strike="noStrike" cap="none" normalizeH="0" baseline="0" dirty="0">
                          <a:ln>
                            <a:noFill/>
                          </a:ln>
                          <a:solidFill>
                            <a:schemeClr val="tx1"/>
                          </a:solidFill>
                          <a:effectLst/>
                          <a:latin typeface="Tahoma" panose="020B0604030504040204" pitchFamily="34" charset="0"/>
                        </a:rPr>
                        <a:t>10,000</a:t>
                      </a:r>
                    </a:p>
                  </a:txBody>
                  <a:tcPr horzOverflow="overflow"/>
                </a:tc>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GB" altLang="en-US" sz="2400" b="0" i="0" u="none" strike="noStrike" cap="none" normalizeH="0" baseline="0" dirty="0">
                          <a:ln>
                            <a:noFill/>
                          </a:ln>
                          <a:solidFill>
                            <a:srgbClr val="0000CC"/>
                          </a:solidFill>
                          <a:effectLst/>
                          <a:latin typeface="Tahoma" panose="020B0604030504040204" pitchFamily="34" charset="0"/>
                        </a:rPr>
                        <a:t>-80,000</a:t>
                      </a:r>
                    </a:p>
                  </a:txBody>
                  <a:tcPr horzOverflow="overflow"/>
                </a:tc>
                <a:extLst>
                  <a:ext uri="{0D108BD9-81ED-4DB2-BD59-A6C34878D82A}">
                    <a16:rowId xmlns:a16="http://schemas.microsoft.com/office/drawing/2014/main" val="929871789"/>
                  </a:ext>
                </a:extLst>
              </a:tr>
              <a:tr h="370840">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altLang="en-US" sz="2400" b="0" i="0" u="none" strike="noStrike" cap="none" normalizeH="0" baseline="0" dirty="0">
                          <a:ln>
                            <a:noFill/>
                          </a:ln>
                          <a:solidFill>
                            <a:schemeClr val="tx1"/>
                          </a:solidFill>
                          <a:effectLst/>
                          <a:latin typeface="Tahoma" panose="020B0604030504040204" pitchFamily="34" charset="0"/>
                        </a:rPr>
                        <a:t>3</a:t>
                      </a:r>
                    </a:p>
                  </a:txBody>
                  <a:tcPr horzOverflow="overflow"/>
                </a:tc>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GB" altLang="en-US" sz="2400" b="0" i="0" u="none" strike="noStrike" cap="none" normalizeH="0" baseline="0" dirty="0">
                          <a:ln>
                            <a:noFill/>
                          </a:ln>
                          <a:solidFill>
                            <a:schemeClr val="tx1"/>
                          </a:solidFill>
                          <a:effectLst/>
                          <a:latin typeface="Tahoma" panose="020B0604030504040204" pitchFamily="34" charset="0"/>
                        </a:rPr>
                        <a:t>10,000</a:t>
                      </a:r>
                    </a:p>
                  </a:txBody>
                  <a:tcPr horzOverflow="overflow"/>
                </a:tc>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GB" altLang="en-US" sz="2400" b="0" i="0" u="none" strike="noStrike" cap="none" normalizeH="0" baseline="0" dirty="0">
                          <a:ln>
                            <a:noFill/>
                          </a:ln>
                          <a:solidFill>
                            <a:srgbClr val="0000CC"/>
                          </a:solidFill>
                          <a:effectLst/>
                          <a:latin typeface="Tahoma" panose="020B0604030504040204" pitchFamily="34" charset="0"/>
                        </a:rPr>
                        <a:t>-70,000</a:t>
                      </a:r>
                    </a:p>
                  </a:txBody>
                  <a:tcPr horzOverflow="overflow"/>
                </a:tc>
                <a:extLst>
                  <a:ext uri="{0D108BD9-81ED-4DB2-BD59-A6C34878D82A}">
                    <a16:rowId xmlns:a16="http://schemas.microsoft.com/office/drawing/2014/main" val="292312927"/>
                  </a:ext>
                </a:extLst>
              </a:tr>
              <a:tr h="370840">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altLang="en-US" sz="2400" b="0" i="0" u="none" strike="noStrike" cap="none" normalizeH="0" baseline="0" dirty="0">
                          <a:ln>
                            <a:noFill/>
                          </a:ln>
                          <a:solidFill>
                            <a:schemeClr val="tx1"/>
                          </a:solidFill>
                          <a:effectLst/>
                          <a:latin typeface="Tahoma" panose="020B0604030504040204" pitchFamily="34" charset="0"/>
                        </a:rPr>
                        <a:t>4</a:t>
                      </a:r>
                    </a:p>
                  </a:txBody>
                  <a:tcPr horzOverflow="overflow"/>
                </a:tc>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GB" altLang="en-US" sz="2400" b="0" i="0" u="none" strike="noStrike" cap="none" normalizeH="0" baseline="0" dirty="0">
                          <a:ln>
                            <a:noFill/>
                          </a:ln>
                          <a:solidFill>
                            <a:schemeClr val="tx1"/>
                          </a:solidFill>
                          <a:effectLst/>
                          <a:latin typeface="Tahoma" panose="020B0604030504040204" pitchFamily="34" charset="0"/>
                        </a:rPr>
                        <a:t>20,000</a:t>
                      </a:r>
                    </a:p>
                  </a:txBody>
                  <a:tcPr horzOverflow="overflow"/>
                </a:tc>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GB" altLang="en-US" sz="2400" b="0" i="0" u="none" strike="noStrike" cap="none" normalizeH="0" baseline="0" dirty="0">
                          <a:ln>
                            <a:noFill/>
                          </a:ln>
                          <a:solidFill>
                            <a:srgbClr val="0000CC"/>
                          </a:solidFill>
                          <a:effectLst/>
                          <a:latin typeface="Tahoma" panose="020B0604030504040204" pitchFamily="34" charset="0"/>
                        </a:rPr>
                        <a:t>-50,000</a:t>
                      </a:r>
                    </a:p>
                  </a:txBody>
                  <a:tcPr horzOverflow="overflow"/>
                </a:tc>
                <a:extLst>
                  <a:ext uri="{0D108BD9-81ED-4DB2-BD59-A6C34878D82A}">
                    <a16:rowId xmlns:a16="http://schemas.microsoft.com/office/drawing/2014/main" val="2077385687"/>
                  </a:ext>
                </a:extLst>
              </a:tr>
              <a:tr h="370840">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altLang="en-US" sz="2400" b="0" i="0" u="none" strike="noStrike" cap="none" normalizeH="0" baseline="0" dirty="0">
                          <a:ln>
                            <a:noFill/>
                          </a:ln>
                          <a:solidFill>
                            <a:schemeClr val="tx1"/>
                          </a:solidFill>
                          <a:effectLst/>
                          <a:latin typeface="Tahoma" panose="020B0604030504040204" pitchFamily="34" charset="0"/>
                        </a:rPr>
                        <a:t>5</a:t>
                      </a:r>
                    </a:p>
                  </a:txBody>
                  <a:tcPr anchor="ctr" horzOverflow="overflow"/>
                </a:tc>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GB" altLang="en-US" sz="2400" b="0" i="0" u="none" strike="noStrike" cap="none" normalizeH="0" baseline="0" dirty="0">
                          <a:ln>
                            <a:noFill/>
                          </a:ln>
                          <a:solidFill>
                            <a:schemeClr val="tx1"/>
                          </a:solidFill>
                          <a:effectLst/>
                          <a:latin typeface="Tahoma" panose="020B0604030504040204" pitchFamily="34" charset="0"/>
                        </a:rPr>
                        <a:t>100,000</a:t>
                      </a:r>
                    </a:p>
                  </a:txBody>
                  <a:tcPr anchor="ctr" horzOverflow="overflow"/>
                </a:tc>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r" defTabSz="914400" rtl="0" eaLnBrk="1" fontAlgn="base" latinLnBrk="0" hangingPunct="1">
                        <a:lnSpc>
                          <a:spcPct val="100000"/>
                        </a:lnSpc>
                        <a:spcBef>
                          <a:spcPct val="20000"/>
                        </a:spcBef>
                        <a:spcAft>
                          <a:spcPct val="0"/>
                        </a:spcAft>
                        <a:buClrTx/>
                        <a:buSzTx/>
                        <a:buFontTx/>
                        <a:buNone/>
                        <a:tabLst/>
                      </a:pPr>
                      <a:endParaRPr kumimoji="0" lang="en-GB" altLang="en-US" sz="2400" b="0" i="0" u="none" strike="noStrike" cap="none" normalizeH="0" baseline="0" dirty="0">
                        <a:ln>
                          <a:noFill/>
                        </a:ln>
                        <a:solidFill>
                          <a:schemeClr val="tx1"/>
                        </a:solidFill>
                        <a:effectLst/>
                        <a:latin typeface="Tahoma" panose="020B0604030504040204" pitchFamily="34" charset="0"/>
                      </a:endParaRPr>
                    </a:p>
                  </a:txBody>
                  <a:tcPr anchor="ctr" horzOverflow="overflow"/>
                </a:tc>
                <a:extLst>
                  <a:ext uri="{0D108BD9-81ED-4DB2-BD59-A6C34878D82A}">
                    <a16:rowId xmlns:a16="http://schemas.microsoft.com/office/drawing/2014/main" val="3884061334"/>
                  </a:ext>
                </a:extLst>
              </a:tr>
            </a:tbl>
          </a:graphicData>
        </a:graphic>
      </p:graphicFrame>
      <p:sp>
        <p:nvSpPr>
          <p:cNvPr id="4" name="Date Placeholder 3"/>
          <p:cNvSpPr>
            <a:spLocks noGrp="1"/>
          </p:cNvSpPr>
          <p:nvPr>
            <p:ph type="dt" sz="half" idx="10"/>
          </p:nvPr>
        </p:nvSpPr>
        <p:spPr/>
        <p:txBody>
          <a:bodyPr/>
          <a:lstStyle/>
          <a:p>
            <a:fld id="{E9376695-FE31-4FE3-8789-583C0374522F}" type="datetime3">
              <a:rPr lang="en-US" smtClean="0"/>
              <a:t>28 November 2023</a:t>
            </a:fld>
            <a:endParaRPr lang="en-US" dirty="0"/>
          </a:p>
        </p:txBody>
      </p:sp>
      <p:sp>
        <p:nvSpPr>
          <p:cNvPr id="6" name="Footer Placeholder 5"/>
          <p:cNvSpPr>
            <a:spLocks noGrp="1"/>
          </p:cNvSpPr>
          <p:nvPr>
            <p:ph type="ftr" sz="quarter" idx="11"/>
          </p:nvPr>
        </p:nvSpPr>
        <p:spPr/>
        <p:txBody>
          <a:bodyPr/>
          <a:lstStyle/>
          <a:p>
            <a:r>
              <a:rPr lang="en-US"/>
              <a:t>Software Project Management       Dr. D Evangelin Geetha    Dept. of MCA     RIT</a:t>
            </a:r>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23</a:t>
            </a:fld>
            <a:endParaRPr lang="en-US" dirty="0"/>
          </a:p>
        </p:txBody>
      </p:sp>
    </p:spTree>
    <p:extLst>
      <p:ext uri="{BB962C8B-B14F-4D97-AF65-F5344CB8AC3E}">
        <p14:creationId xmlns:p14="http://schemas.microsoft.com/office/powerpoint/2010/main" val="337737565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Payback period</a:t>
            </a:r>
          </a:p>
        </p:txBody>
      </p:sp>
      <p:sp>
        <p:nvSpPr>
          <p:cNvPr id="3" name="Content Placeholder 2"/>
          <p:cNvSpPr>
            <a:spLocks noGrp="1"/>
          </p:cNvSpPr>
          <p:nvPr>
            <p:ph sz="half" idx="1"/>
          </p:nvPr>
        </p:nvSpPr>
        <p:spPr/>
        <p:txBody>
          <a:bodyPr>
            <a:normAutofit fontScale="92500"/>
          </a:bodyPr>
          <a:lstStyle/>
          <a:p>
            <a:r>
              <a:rPr lang="en-IN" dirty="0"/>
              <a:t>Time taken to break even or pay back the initial investment</a:t>
            </a:r>
          </a:p>
          <a:p>
            <a:r>
              <a:rPr lang="en-GB" altLang="en-US" dirty="0"/>
              <a:t>This is the time it takes to start generating a surplus of income over outgoings. What would it be below?</a:t>
            </a:r>
          </a:p>
        </p:txBody>
      </p:sp>
      <p:graphicFrame>
        <p:nvGraphicFramePr>
          <p:cNvPr id="5" name="Content Placeholder 4"/>
          <p:cNvGraphicFramePr>
            <a:graphicFrameLocks noGrp="1"/>
          </p:cNvGraphicFramePr>
          <p:nvPr>
            <p:ph sz="half" idx="2"/>
            <p:extLst>
              <p:ext uri="{D42A27DB-BD31-4B8C-83A1-F6EECF244321}">
                <p14:modId xmlns:p14="http://schemas.microsoft.com/office/powerpoint/2010/main" val="2098010195"/>
              </p:ext>
            </p:extLst>
          </p:nvPr>
        </p:nvGraphicFramePr>
        <p:xfrm>
          <a:off x="6456555" y="2017713"/>
          <a:ext cx="4601970" cy="3566160"/>
        </p:xfrm>
        <a:graphic>
          <a:graphicData uri="http://schemas.openxmlformats.org/drawingml/2006/table">
            <a:tbl>
              <a:tblPr firstRow="1" bandRow="1">
                <a:tableStyleId>{5C22544A-7EE6-4342-B048-85BDC9FD1C3A}</a:tableStyleId>
              </a:tblPr>
              <a:tblGrid>
                <a:gridCol w="1048216">
                  <a:extLst>
                    <a:ext uri="{9D8B030D-6E8A-4147-A177-3AD203B41FA5}">
                      <a16:colId xmlns:a16="http://schemas.microsoft.com/office/drawing/2014/main" val="2248303887"/>
                    </a:ext>
                  </a:extLst>
                </a:gridCol>
                <a:gridCol w="2019764">
                  <a:extLst>
                    <a:ext uri="{9D8B030D-6E8A-4147-A177-3AD203B41FA5}">
                      <a16:colId xmlns:a16="http://schemas.microsoft.com/office/drawing/2014/main" val="2023753746"/>
                    </a:ext>
                  </a:extLst>
                </a:gridCol>
                <a:gridCol w="1533990">
                  <a:extLst>
                    <a:ext uri="{9D8B030D-6E8A-4147-A177-3AD203B41FA5}">
                      <a16:colId xmlns:a16="http://schemas.microsoft.com/office/drawing/2014/main" val="4244003138"/>
                    </a:ext>
                  </a:extLst>
                </a:gridCol>
              </a:tblGrid>
              <a:tr h="370840">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GB" altLang="en-US" sz="2400" b="0" i="0" u="none" strike="noStrike" cap="none" normalizeH="0" baseline="0" dirty="0">
                          <a:ln>
                            <a:noFill/>
                          </a:ln>
                          <a:solidFill>
                            <a:schemeClr val="bg2"/>
                          </a:solidFill>
                          <a:effectLst/>
                          <a:latin typeface="Tahoma" panose="020B0604030504040204" pitchFamily="34" charset="0"/>
                        </a:rPr>
                        <a:t>Year</a:t>
                      </a:r>
                    </a:p>
                  </a:txBody>
                  <a:tcPr horzOverflow="overflow"/>
                </a:tc>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GB" altLang="en-US" sz="2400" b="0" i="0" u="none" strike="noStrike" cap="none" normalizeH="0" baseline="0" dirty="0">
                          <a:ln>
                            <a:noFill/>
                          </a:ln>
                          <a:solidFill>
                            <a:schemeClr val="bg2"/>
                          </a:solidFill>
                          <a:effectLst/>
                          <a:latin typeface="Tahoma" panose="020B0604030504040204" pitchFamily="34" charset="0"/>
                        </a:rPr>
                        <a:t>Cash-flow</a:t>
                      </a:r>
                    </a:p>
                  </a:txBody>
                  <a:tcPr horzOverflow="overflow"/>
                </a:tc>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GB" altLang="en-US" sz="2400" b="0" i="0" u="none" strike="noStrike" cap="none" normalizeH="0" baseline="0">
                          <a:ln>
                            <a:noFill/>
                          </a:ln>
                          <a:solidFill>
                            <a:schemeClr val="bg2"/>
                          </a:solidFill>
                          <a:effectLst/>
                          <a:latin typeface="Tahoma" panose="020B0604030504040204" pitchFamily="34" charset="0"/>
                        </a:rPr>
                        <a:t>Accumulated</a:t>
                      </a:r>
                    </a:p>
                  </a:txBody>
                  <a:tcPr horzOverflow="overflow"/>
                </a:tc>
                <a:extLst>
                  <a:ext uri="{0D108BD9-81ED-4DB2-BD59-A6C34878D82A}">
                    <a16:rowId xmlns:a16="http://schemas.microsoft.com/office/drawing/2014/main" val="2686042913"/>
                  </a:ext>
                </a:extLst>
              </a:tr>
              <a:tr h="370840">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altLang="en-US" sz="2400" b="0" i="0" u="none" strike="noStrike" cap="none" normalizeH="0" baseline="0" dirty="0">
                          <a:ln>
                            <a:noFill/>
                          </a:ln>
                          <a:solidFill>
                            <a:schemeClr val="tx1"/>
                          </a:solidFill>
                          <a:effectLst/>
                          <a:latin typeface="Tahoma" panose="020B0604030504040204" pitchFamily="34" charset="0"/>
                        </a:rPr>
                        <a:t>0</a:t>
                      </a:r>
                    </a:p>
                  </a:txBody>
                  <a:tcPr horzOverflow="overflow"/>
                </a:tc>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GB" altLang="en-US" sz="2400" b="0" i="0" u="none" strike="noStrike" cap="none" normalizeH="0" baseline="0" dirty="0">
                          <a:ln>
                            <a:noFill/>
                          </a:ln>
                          <a:solidFill>
                            <a:srgbClr val="0000CC"/>
                          </a:solidFill>
                          <a:effectLst/>
                          <a:latin typeface="Tahoma" panose="020B0604030504040204" pitchFamily="34" charset="0"/>
                        </a:rPr>
                        <a:t>-100,000</a:t>
                      </a:r>
                    </a:p>
                  </a:txBody>
                  <a:tcPr horzOverflow="overflow"/>
                </a:tc>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GB" altLang="en-US" sz="2400" b="0" i="0" u="none" strike="noStrike" cap="none" normalizeH="0" baseline="0" dirty="0">
                          <a:ln>
                            <a:noFill/>
                          </a:ln>
                          <a:solidFill>
                            <a:srgbClr val="0000CC"/>
                          </a:solidFill>
                          <a:effectLst/>
                          <a:latin typeface="Tahoma" panose="020B0604030504040204" pitchFamily="34" charset="0"/>
                        </a:rPr>
                        <a:t>-100,000</a:t>
                      </a:r>
                    </a:p>
                  </a:txBody>
                  <a:tcPr horzOverflow="overflow"/>
                </a:tc>
                <a:extLst>
                  <a:ext uri="{0D108BD9-81ED-4DB2-BD59-A6C34878D82A}">
                    <a16:rowId xmlns:a16="http://schemas.microsoft.com/office/drawing/2014/main" val="2715192214"/>
                  </a:ext>
                </a:extLst>
              </a:tr>
              <a:tr h="370840">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altLang="en-US" sz="2400" b="0" i="0" u="none" strike="noStrike" cap="none" normalizeH="0" baseline="0" dirty="0">
                          <a:ln>
                            <a:noFill/>
                          </a:ln>
                          <a:solidFill>
                            <a:schemeClr val="tx1"/>
                          </a:solidFill>
                          <a:effectLst/>
                          <a:latin typeface="Tahoma" panose="020B0604030504040204" pitchFamily="34" charset="0"/>
                        </a:rPr>
                        <a:t>1</a:t>
                      </a:r>
                    </a:p>
                  </a:txBody>
                  <a:tcPr horzOverflow="overflow"/>
                </a:tc>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GB" altLang="en-US" sz="2400" b="0" i="0" u="none" strike="noStrike" cap="none" normalizeH="0" baseline="0" dirty="0">
                          <a:ln>
                            <a:noFill/>
                          </a:ln>
                          <a:solidFill>
                            <a:schemeClr val="tx1"/>
                          </a:solidFill>
                          <a:effectLst/>
                          <a:latin typeface="Tahoma" panose="020B0604030504040204" pitchFamily="34" charset="0"/>
                        </a:rPr>
                        <a:t>10,000</a:t>
                      </a:r>
                    </a:p>
                  </a:txBody>
                  <a:tcPr horzOverflow="overflow"/>
                </a:tc>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GB" altLang="en-US" sz="2400" b="0" i="0" u="none" strike="noStrike" cap="none" normalizeH="0" baseline="0" dirty="0">
                          <a:ln>
                            <a:noFill/>
                          </a:ln>
                          <a:solidFill>
                            <a:srgbClr val="0000CC"/>
                          </a:solidFill>
                          <a:effectLst/>
                          <a:latin typeface="Tahoma" panose="020B0604030504040204" pitchFamily="34" charset="0"/>
                        </a:rPr>
                        <a:t>-90,000</a:t>
                      </a:r>
                    </a:p>
                  </a:txBody>
                  <a:tcPr horzOverflow="overflow"/>
                </a:tc>
                <a:extLst>
                  <a:ext uri="{0D108BD9-81ED-4DB2-BD59-A6C34878D82A}">
                    <a16:rowId xmlns:a16="http://schemas.microsoft.com/office/drawing/2014/main" val="3098725958"/>
                  </a:ext>
                </a:extLst>
              </a:tr>
              <a:tr h="370840">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altLang="en-US" sz="2400" b="0" i="0" u="none" strike="noStrike" cap="none" normalizeH="0" baseline="0" dirty="0">
                          <a:ln>
                            <a:noFill/>
                          </a:ln>
                          <a:solidFill>
                            <a:schemeClr val="tx1"/>
                          </a:solidFill>
                          <a:effectLst/>
                          <a:latin typeface="Tahoma" panose="020B0604030504040204" pitchFamily="34" charset="0"/>
                        </a:rPr>
                        <a:t>2</a:t>
                      </a:r>
                    </a:p>
                  </a:txBody>
                  <a:tcPr horzOverflow="overflow"/>
                </a:tc>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GB" altLang="en-US" sz="2400" b="0" i="0" u="none" strike="noStrike" cap="none" normalizeH="0" baseline="0" dirty="0">
                          <a:ln>
                            <a:noFill/>
                          </a:ln>
                          <a:solidFill>
                            <a:schemeClr val="tx1"/>
                          </a:solidFill>
                          <a:effectLst/>
                          <a:latin typeface="Tahoma" panose="020B0604030504040204" pitchFamily="34" charset="0"/>
                        </a:rPr>
                        <a:t>10,000</a:t>
                      </a:r>
                    </a:p>
                  </a:txBody>
                  <a:tcPr horzOverflow="overflow"/>
                </a:tc>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GB" altLang="en-US" sz="2400" b="0" i="0" u="none" strike="noStrike" cap="none" normalizeH="0" baseline="0" dirty="0">
                          <a:ln>
                            <a:noFill/>
                          </a:ln>
                          <a:solidFill>
                            <a:srgbClr val="0000CC"/>
                          </a:solidFill>
                          <a:effectLst/>
                          <a:latin typeface="Tahoma" panose="020B0604030504040204" pitchFamily="34" charset="0"/>
                        </a:rPr>
                        <a:t>-80,000</a:t>
                      </a:r>
                    </a:p>
                  </a:txBody>
                  <a:tcPr horzOverflow="overflow"/>
                </a:tc>
                <a:extLst>
                  <a:ext uri="{0D108BD9-81ED-4DB2-BD59-A6C34878D82A}">
                    <a16:rowId xmlns:a16="http://schemas.microsoft.com/office/drawing/2014/main" val="929871789"/>
                  </a:ext>
                </a:extLst>
              </a:tr>
              <a:tr h="370840">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altLang="en-US" sz="2400" b="0" i="0" u="none" strike="noStrike" cap="none" normalizeH="0" baseline="0" dirty="0">
                          <a:ln>
                            <a:noFill/>
                          </a:ln>
                          <a:solidFill>
                            <a:schemeClr val="tx1"/>
                          </a:solidFill>
                          <a:effectLst/>
                          <a:latin typeface="Tahoma" panose="020B0604030504040204" pitchFamily="34" charset="0"/>
                        </a:rPr>
                        <a:t>3</a:t>
                      </a:r>
                    </a:p>
                  </a:txBody>
                  <a:tcPr horzOverflow="overflow"/>
                </a:tc>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GB" altLang="en-US" sz="2400" b="0" i="0" u="none" strike="noStrike" cap="none" normalizeH="0" baseline="0" dirty="0">
                          <a:ln>
                            <a:noFill/>
                          </a:ln>
                          <a:solidFill>
                            <a:schemeClr val="tx1"/>
                          </a:solidFill>
                          <a:effectLst/>
                          <a:latin typeface="Tahoma" panose="020B0604030504040204" pitchFamily="34" charset="0"/>
                        </a:rPr>
                        <a:t>10,000</a:t>
                      </a:r>
                    </a:p>
                  </a:txBody>
                  <a:tcPr horzOverflow="overflow"/>
                </a:tc>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GB" altLang="en-US" sz="2400" b="0" i="0" u="none" strike="noStrike" cap="none" normalizeH="0" baseline="0" dirty="0">
                          <a:ln>
                            <a:noFill/>
                          </a:ln>
                          <a:solidFill>
                            <a:srgbClr val="0000CC"/>
                          </a:solidFill>
                          <a:effectLst/>
                          <a:latin typeface="Tahoma" panose="020B0604030504040204" pitchFamily="34" charset="0"/>
                        </a:rPr>
                        <a:t>-70,000</a:t>
                      </a:r>
                    </a:p>
                  </a:txBody>
                  <a:tcPr horzOverflow="overflow"/>
                </a:tc>
                <a:extLst>
                  <a:ext uri="{0D108BD9-81ED-4DB2-BD59-A6C34878D82A}">
                    <a16:rowId xmlns:a16="http://schemas.microsoft.com/office/drawing/2014/main" val="292312927"/>
                  </a:ext>
                </a:extLst>
              </a:tr>
              <a:tr h="370840">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altLang="en-US" sz="2400" b="0" i="0" u="none" strike="noStrike" cap="none" normalizeH="0" baseline="0" dirty="0">
                          <a:ln>
                            <a:noFill/>
                          </a:ln>
                          <a:solidFill>
                            <a:schemeClr val="tx1"/>
                          </a:solidFill>
                          <a:effectLst/>
                          <a:latin typeface="Tahoma" panose="020B0604030504040204" pitchFamily="34" charset="0"/>
                        </a:rPr>
                        <a:t>4</a:t>
                      </a:r>
                    </a:p>
                  </a:txBody>
                  <a:tcPr horzOverflow="overflow"/>
                </a:tc>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GB" altLang="en-US" sz="2400" b="0" i="0" u="none" strike="noStrike" cap="none" normalizeH="0" baseline="0" dirty="0">
                          <a:ln>
                            <a:noFill/>
                          </a:ln>
                          <a:solidFill>
                            <a:schemeClr val="tx1"/>
                          </a:solidFill>
                          <a:effectLst/>
                          <a:latin typeface="Tahoma" panose="020B0604030504040204" pitchFamily="34" charset="0"/>
                        </a:rPr>
                        <a:t>20,000</a:t>
                      </a:r>
                    </a:p>
                  </a:txBody>
                  <a:tcPr horzOverflow="overflow"/>
                </a:tc>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GB" altLang="en-US" sz="2400" b="0" i="0" u="none" strike="noStrike" cap="none" normalizeH="0" baseline="0" dirty="0">
                          <a:ln>
                            <a:noFill/>
                          </a:ln>
                          <a:solidFill>
                            <a:srgbClr val="0000CC"/>
                          </a:solidFill>
                          <a:effectLst/>
                          <a:latin typeface="Tahoma" panose="020B0604030504040204" pitchFamily="34" charset="0"/>
                        </a:rPr>
                        <a:t>-50,000</a:t>
                      </a:r>
                    </a:p>
                  </a:txBody>
                  <a:tcPr horzOverflow="overflow"/>
                </a:tc>
                <a:extLst>
                  <a:ext uri="{0D108BD9-81ED-4DB2-BD59-A6C34878D82A}">
                    <a16:rowId xmlns:a16="http://schemas.microsoft.com/office/drawing/2014/main" val="2077385687"/>
                  </a:ext>
                </a:extLst>
              </a:tr>
              <a:tr h="370840">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altLang="en-US" sz="2400" b="0" i="0" u="none" strike="noStrike" cap="none" normalizeH="0" baseline="0" dirty="0">
                          <a:ln>
                            <a:noFill/>
                          </a:ln>
                          <a:solidFill>
                            <a:schemeClr val="tx1"/>
                          </a:solidFill>
                          <a:effectLst/>
                          <a:latin typeface="Tahoma" panose="020B0604030504040204" pitchFamily="34" charset="0"/>
                        </a:rPr>
                        <a:t>5</a:t>
                      </a:r>
                    </a:p>
                  </a:txBody>
                  <a:tcPr anchor="ctr" horzOverflow="overflow"/>
                </a:tc>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GB" altLang="en-US" sz="2400" b="0" i="0" u="none" strike="noStrike" cap="none" normalizeH="0" baseline="0" dirty="0">
                          <a:ln>
                            <a:noFill/>
                          </a:ln>
                          <a:solidFill>
                            <a:schemeClr val="tx1"/>
                          </a:solidFill>
                          <a:effectLst/>
                          <a:latin typeface="Tahoma" panose="020B0604030504040204" pitchFamily="34" charset="0"/>
                        </a:rPr>
                        <a:t>100,000</a:t>
                      </a:r>
                    </a:p>
                  </a:txBody>
                  <a:tcPr anchor="ctr" horzOverflow="overflow"/>
                </a:tc>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GB" altLang="en-US" sz="2400" b="0" i="0" u="none" strike="noStrike" cap="none" normalizeH="0" baseline="0" dirty="0">
                          <a:ln>
                            <a:noFill/>
                          </a:ln>
                          <a:solidFill>
                            <a:srgbClr val="FF0000"/>
                          </a:solidFill>
                          <a:effectLst/>
                          <a:latin typeface="Tahoma" panose="020B0604030504040204" pitchFamily="34" charset="0"/>
                        </a:rPr>
                        <a:t>50,000</a:t>
                      </a:r>
                    </a:p>
                  </a:txBody>
                  <a:tcPr anchor="ctr" horzOverflow="overflow"/>
                </a:tc>
                <a:extLst>
                  <a:ext uri="{0D108BD9-81ED-4DB2-BD59-A6C34878D82A}">
                    <a16:rowId xmlns:a16="http://schemas.microsoft.com/office/drawing/2014/main" val="3884061334"/>
                  </a:ext>
                </a:extLst>
              </a:tr>
            </a:tbl>
          </a:graphicData>
        </a:graphic>
      </p:graphicFrame>
      <p:sp>
        <p:nvSpPr>
          <p:cNvPr id="4" name="Date Placeholder 3"/>
          <p:cNvSpPr>
            <a:spLocks noGrp="1"/>
          </p:cNvSpPr>
          <p:nvPr>
            <p:ph type="dt" sz="half" idx="10"/>
          </p:nvPr>
        </p:nvSpPr>
        <p:spPr/>
        <p:txBody>
          <a:bodyPr/>
          <a:lstStyle/>
          <a:p>
            <a:fld id="{E9376695-FE31-4FE3-8789-583C0374522F}" type="datetime3">
              <a:rPr lang="en-US" smtClean="0"/>
              <a:t>28 November 2023</a:t>
            </a:fld>
            <a:endParaRPr lang="en-US" dirty="0"/>
          </a:p>
        </p:txBody>
      </p:sp>
      <p:sp>
        <p:nvSpPr>
          <p:cNvPr id="6" name="Footer Placeholder 5"/>
          <p:cNvSpPr>
            <a:spLocks noGrp="1"/>
          </p:cNvSpPr>
          <p:nvPr>
            <p:ph type="ftr" sz="quarter" idx="11"/>
          </p:nvPr>
        </p:nvSpPr>
        <p:spPr/>
        <p:txBody>
          <a:bodyPr/>
          <a:lstStyle/>
          <a:p>
            <a:r>
              <a:rPr lang="en-US"/>
              <a:t>Software Project Management       Dr. D Evangelin Geetha    Dept. of MCA     RIT</a:t>
            </a:r>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24</a:t>
            </a:fld>
            <a:endParaRPr lang="en-US" dirty="0"/>
          </a:p>
        </p:txBody>
      </p:sp>
    </p:spTree>
    <p:extLst>
      <p:ext uri="{BB962C8B-B14F-4D97-AF65-F5344CB8AC3E}">
        <p14:creationId xmlns:p14="http://schemas.microsoft.com/office/powerpoint/2010/main" val="266265558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Cost-benefit evaluation techniques</a:t>
            </a:r>
          </a:p>
        </p:txBody>
      </p:sp>
      <p:graphicFrame>
        <p:nvGraphicFramePr>
          <p:cNvPr id="4" name="Content Placeholder 3"/>
          <p:cNvGraphicFramePr>
            <a:graphicFrameLocks noGrp="1"/>
          </p:cNvGraphicFramePr>
          <p:nvPr>
            <p:ph idx="1"/>
          </p:nvPr>
        </p:nvGraphicFramePr>
        <p:xfrm>
          <a:off x="1450975" y="2016125"/>
          <a:ext cx="9604375" cy="3161039"/>
        </p:xfrm>
        <a:graphic>
          <a:graphicData uri="http://schemas.openxmlformats.org/drawingml/2006/table">
            <a:tbl>
              <a:tblPr firstRow="1" bandRow="1">
                <a:tableStyleId>{5C22544A-7EE6-4342-B048-85BDC9FD1C3A}</a:tableStyleId>
              </a:tblPr>
              <a:tblGrid>
                <a:gridCol w="1920875">
                  <a:extLst>
                    <a:ext uri="{9D8B030D-6E8A-4147-A177-3AD203B41FA5}">
                      <a16:colId xmlns:a16="http://schemas.microsoft.com/office/drawing/2014/main" val="20000"/>
                    </a:ext>
                  </a:extLst>
                </a:gridCol>
                <a:gridCol w="1920875">
                  <a:extLst>
                    <a:ext uri="{9D8B030D-6E8A-4147-A177-3AD203B41FA5}">
                      <a16:colId xmlns:a16="http://schemas.microsoft.com/office/drawing/2014/main" val="20001"/>
                    </a:ext>
                  </a:extLst>
                </a:gridCol>
                <a:gridCol w="1920875">
                  <a:extLst>
                    <a:ext uri="{9D8B030D-6E8A-4147-A177-3AD203B41FA5}">
                      <a16:colId xmlns:a16="http://schemas.microsoft.com/office/drawing/2014/main" val="20002"/>
                    </a:ext>
                  </a:extLst>
                </a:gridCol>
                <a:gridCol w="1920875">
                  <a:extLst>
                    <a:ext uri="{9D8B030D-6E8A-4147-A177-3AD203B41FA5}">
                      <a16:colId xmlns:a16="http://schemas.microsoft.com/office/drawing/2014/main" val="20003"/>
                    </a:ext>
                  </a:extLst>
                </a:gridCol>
                <a:gridCol w="1920875">
                  <a:extLst>
                    <a:ext uri="{9D8B030D-6E8A-4147-A177-3AD203B41FA5}">
                      <a16:colId xmlns:a16="http://schemas.microsoft.com/office/drawing/2014/main" val="20004"/>
                    </a:ext>
                  </a:extLst>
                </a:gridCol>
              </a:tblGrid>
              <a:tr h="370840">
                <a:tc>
                  <a:txBody>
                    <a:bodyPr/>
                    <a:lstStyle/>
                    <a:p>
                      <a:r>
                        <a:rPr lang="en-US" dirty="0"/>
                        <a:t>Year</a:t>
                      </a:r>
                    </a:p>
                  </a:txBody>
                  <a:tcPr/>
                </a:tc>
                <a:tc>
                  <a:txBody>
                    <a:bodyPr/>
                    <a:lstStyle/>
                    <a:p>
                      <a:r>
                        <a:rPr lang="en-US" dirty="0"/>
                        <a:t>Project 1</a:t>
                      </a:r>
                    </a:p>
                  </a:txBody>
                  <a:tcPr/>
                </a:tc>
                <a:tc>
                  <a:txBody>
                    <a:bodyPr/>
                    <a:lstStyle/>
                    <a:p>
                      <a:r>
                        <a:rPr lang="en-US" dirty="0"/>
                        <a:t>Project 2</a:t>
                      </a:r>
                    </a:p>
                  </a:txBody>
                  <a:tcPr/>
                </a:tc>
                <a:tc>
                  <a:txBody>
                    <a:bodyPr/>
                    <a:lstStyle/>
                    <a:p>
                      <a:r>
                        <a:rPr lang="en-US" dirty="0"/>
                        <a:t>Project 3</a:t>
                      </a:r>
                    </a:p>
                  </a:txBody>
                  <a:tcPr/>
                </a:tc>
                <a:tc>
                  <a:txBody>
                    <a:bodyPr/>
                    <a:lstStyle/>
                    <a:p>
                      <a:r>
                        <a:rPr lang="en-US" dirty="0"/>
                        <a:t>Project 4</a:t>
                      </a:r>
                    </a:p>
                  </a:txBody>
                  <a:tcPr/>
                </a:tc>
                <a:extLst>
                  <a:ext uri="{0D108BD9-81ED-4DB2-BD59-A6C34878D82A}">
                    <a16:rowId xmlns:a16="http://schemas.microsoft.com/office/drawing/2014/main" val="10000"/>
                  </a:ext>
                </a:extLst>
              </a:tr>
              <a:tr h="370840">
                <a:tc>
                  <a:txBody>
                    <a:bodyPr/>
                    <a:lstStyle/>
                    <a:p>
                      <a:r>
                        <a:rPr lang="en-US" dirty="0"/>
                        <a:t>0</a:t>
                      </a:r>
                    </a:p>
                  </a:txBody>
                  <a:tcPr/>
                </a:tc>
                <a:tc>
                  <a:txBody>
                    <a:bodyPr/>
                    <a:lstStyle/>
                    <a:p>
                      <a:pPr algn="r"/>
                      <a:r>
                        <a:rPr lang="en-US" dirty="0"/>
                        <a:t>-1,00,000</a:t>
                      </a:r>
                    </a:p>
                  </a:txBody>
                  <a:tcPr/>
                </a:tc>
                <a:tc>
                  <a:txBody>
                    <a:bodyPr/>
                    <a:lstStyle/>
                    <a:p>
                      <a:pPr algn="r"/>
                      <a:r>
                        <a:rPr lang="en-US" dirty="0"/>
                        <a:t>-10,00,000</a:t>
                      </a:r>
                    </a:p>
                  </a:txBody>
                  <a:tcPr/>
                </a:tc>
                <a:tc>
                  <a:txBody>
                    <a:bodyPr/>
                    <a:lstStyle/>
                    <a:p>
                      <a:pPr algn="r"/>
                      <a:r>
                        <a:rPr lang="en-US" dirty="0"/>
                        <a:t>-1,00,000</a:t>
                      </a:r>
                    </a:p>
                  </a:txBody>
                  <a:tcPr/>
                </a:tc>
                <a:tc>
                  <a:txBody>
                    <a:bodyPr/>
                    <a:lstStyle/>
                    <a:p>
                      <a:pPr algn="r"/>
                      <a:r>
                        <a:rPr lang="en-US" dirty="0"/>
                        <a:t>-1,20,000</a:t>
                      </a:r>
                    </a:p>
                  </a:txBody>
                  <a:tcPr/>
                </a:tc>
                <a:extLst>
                  <a:ext uri="{0D108BD9-81ED-4DB2-BD59-A6C34878D82A}">
                    <a16:rowId xmlns:a16="http://schemas.microsoft.com/office/drawing/2014/main" val="10001"/>
                  </a:ext>
                </a:extLst>
              </a:tr>
              <a:tr h="370840">
                <a:tc>
                  <a:txBody>
                    <a:bodyPr/>
                    <a:lstStyle/>
                    <a:p>
                      <a:r>
                        <a:rPr lang="en-US" dirty="0"/>
                        <a:t>1</a:t>
                      </a:r>
                    </a:p>
                  </a:txBody>
                  <a:tcPr/>
                </a:tc>
                <a:tc>
                  <a:txBody>
                    <a:bodyPr/>
                    <a:lstStyle/>
                    <a:p>
                      <a:pPr algn="r"/>
                      <a:r>
                        <a:rPr lang="en-US" dirty="0"/>
                        <a:t>10,000</a:t>
                      </a:r>
                    </a:p>
                  </a:txBody>
                  <a:tcPr/>
                </a:tc>
                <a:tc>
                  <a:txBody>
                    <a:bodyPr/>
                    <a:lstStyle/>
                    <a:p>
                      <a:pPr algn="r"/>
                      <a:r>
                        <a:rPr lang="en-US" dirty="0"/>
                        <a:t>2,00,000</a:t>
                      </a:r>
                    </a:p>
                  </a:txBody>
                  <a:tcPr/>
                </a:tc>
                <a:tc>
                  <a:txBody>
                    <a:bodyPr/>
                    <a:lstStyle/>
                    <a:p>
                      <a:pPr algn="r"/>
                      <a:r>
                        <a:rPr lang="en-US" dirty="0"/>
                        <a:t>30,000</a:t>
                      </a:r>
                    </a:p>
                  </a:txBody>
                  <a:tcPr/>
                </a:tc>
                <a:tc>
                  <a:txBody>
                    <a:bodyPr/>
                    <a:lstStyle/>
                    <a:p>
                      <a:pPr algn="r"/>
                      <a:r>
                        <a:rPr lang="en-US" dirty="0"/>
                        <a:t>30,0000</a:t>
                      </a:r>
                    </a:p>
                  </a:txBody>
                  <a:tcPr/>
                </a:tc>
                <a:extLst>
                  <a:ext uri="{0D108BD9-81ED-4DB2-BD59-A6C34878D82A}">
                    <a16:rowId xmlns:a16="http://schemas.microsoft.com/office/drawing/2014/main" val="10002"/>
                  </a:ext>
                </a:extLst>
              </a:tr>
              <a:tr h="370840">
                <a:tc>
                  <a:txBody>
                    <a:bodyPr/>
                    <a:lstStyle/>
                    <a:p>
                      <a:r>
                        <a:rPr lang="en-US" dirty="0"/>
                        <a:t>2</a:t>
                      </a:r>
                    </a:p>
                  </a:txBody>
                  <a:tcPr/>
                </a:tc>
                <a:tc>
                  <a:txBody>
                    <a:bodyPr/>
                    <a:lstStyle/>
                    <a:p>
                      <a:pPr algn="r"/>
                      <a:r>
                        <a:rPr lang="en-US" dirty="0"/>
                        <a:t>10,000</a:t>
                      </a:r>
                    </a:p>
                  </a:txBody>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dirty="0"/>
                        <a:t>2,00,000</a:t>
                      </a:r>
                    </a:p>
                  </a:txBody>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dirty="0"/>
                        <a:t>30,000</a:t>
                      </a:r>
                    </a:p>
                  </a:txBody>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dirty="0"/>
                        <a:t>30,0000</a:t>
                      </a:r>
                    </a:p>
                  </a:txBody>
                  <a:tcPr/>
                </a:tc>
                <a:extLst>
                  <a:ext uri="{0D108BD9-81ED-4DB2-BD59-A6C34878D82A}">
                    <a16:rowId xmlns:a16="http://schemas.microsoft.com/office/drawing/2014/main" val="10003"/>
                  </a:ext>
                </a:extLst>
              </a:tr>
              <a:tr h="570239">
                <a:tc>
                  <a:txBody>
                    <a:bodyPr/>
                    <a:lstStyle/>
                    <a:p>
                      <a:r>
                        <a:rPr lang="en-US" dirty="0"/>
                        <a:t>3</a:t>
                      </a:r>
                    </a:p>
                  </a:txBody>
                  <a:tcPr/>
                </a:tc>
                <a:tc>
                  <a:txBody>
                    <a:bodyPr/>
                    <a:lstStyle/>
                    <a:p>
                      <a:pPr algn="r"/>
                      <a:r>
                        <a:rPr lang="en-US" dirty="0"/>
                        <a:t>10,000</a:t>
                      </a:r>
                    </a:p>
                  </a:txBody>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dirty="0"/>
                        <a:t>2,00,000</a:t>
                      </a:r>
                    </a:p>
                  </a:txBody>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dirty="0"/>
                        <a:t>30,000</a:t>
                      </a:r>
                    </a:p>
                  </a:txBody>
                  <a:tcPr/>
                </a:tc>
                <a:tc>
                  <a:txBody>
                    <a:bodyPr/>
                    <a:lstStyle/>
                    <a:p>
                      <a:pPr algn="r"/>
                      <a:r>
                        <a:rPr lang="en-US" dirty="0"/>
                        <a:t>30,0000</a:t>
                      </a:r>
                    </a:p>
                  </a:txBody>
                  <a:tcPr/>
                </a:tc>
                <a:extLst>
                  <a:ext uri="{0D108BD9-81ED-4DB2-BD59-A6C34878D82A}">
                    <a16:rowId xmlns:a16="http://schemas.microsoft.com/office/drawing/2014/main" val="10004"/>
                  </a:ext>
                </a:extLst>
              </a:tr>
              <a:tr h="0">
                <a:tc>
                  <a:txBody>
                    <a:bodyPr/>
                    <a:lstStyle/>
                    <a:p>
                      <a:r>
                        <a:rPr lang="en-US" dirty="0"/>
                        <a:t>4</a:t>
                      </a:r>
                    </a:p>
                  </a:txBody>
                  <a:tcPr/>
                </a:tc>
                <a:tc>
                  <a:txBody>
                    <a:bodyPr/>
                    <a:lstStyle/>
                    <a:p>
                      <a:pPr algn="r"/>
                      <a:r>
                        <a:rPr lang="en-US" dirty="0"/>
                        <a:t>20,000</a:t>
                      </a:r>
                    </a:p>
                  </a:txBody>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dirty="0"/>
                        <a:t>2,00,000</a:t>
                      </a:r>
                    </a:p>
                  </a:txBody>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dirty="0"/>
                        <a:t>30,000</a:t>
                      </a:r>
                    </a:p>
                  </a:txBody>
                  <a:tcPr/>
                </a:tc>
                <a:tc>
                  <a:txBody>
                    <a:bodyPr/>
                    <a:lstStyle/>
                    <a:p>
                      <a:pPr algn="r"/>
                      <a:r>
                        <a:rPr lang="en-US" dirty="0"/>
                        <a:t>30,0000</a:t>
                      </a:r>
                    </a:p>
                  </a:txBody>
                  <a:tcPr/>
                </a:tc>
                <a:extLst>
                  <a:ext uri="{0D108BD9-81ED-4DB2-BD59-A6C34878D82A}">
                    <a16:rowId xmlns:a16="http://schemas.microsoft.com/office/drawing/2014/main" val="10005"/>
                  </a:ext>
                </a:extLst>
              </a:tr>
              <a:tr h="370840">
                <a:tc>
                  <a:txBody>
                    <a:bodyPr/>
                    <a:lstStyle/>
                    <a:p>
                      <a:r>
                        <a:rPr lang="en-US" dirty="0"/>
                        <a:t>5</a:t>
                      </a:r>
                    </a:p>
                  </a:txBody>
                  <a:tcPr/>
                </a:tc>
                <a:tc>
                  <a:txBody>
                    <a:bodyPr/>
                    <a:lstStyle/>
                    <a:p>
                      <a:pPr algn="r"/>
                      <a:r>
                        <a:rPr lang="en-US" dirty="0"/>
                        <a:t>1,00,000</a:t>
                      </a:r>
                    </a:p>
                  </a:txBody>
                  <a:tcPr/>
                </a:tc>
                <a:tc>
                  <a:txBody>
                    <a:bodyPr/>
                    <a:lstStyle/>
                    <a:p>
                      <a:pPr algn="r"/>
                      <a:r>
                        <a:rPr lang="en-US" dirty="0"/>
                        <a:t>3,00,000</a:t>
                      </a:r>
                    </a:p>
                  </a:txBody>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dirty="0"/>
                        <a:t>30,000</a:t>
                      </a:r>
                    </a:p>
                  </a:txBody>
                  <a:tcPr/>
                </a:tc>
                <a:tc>
                  <a:txBody>
                    <a:bodyPr/>
                    <a:lstStyle/>
                    <a:p>
                      <a:pPr algn="r"/>
                      <a:r>
                        <a:rPr lang="en-US" dirty="0"/>
                        <a:t>75,000</a:t>
                      </a:r>
                    </a:p>
                  </a:txBody>
                  <a:tcPr/>
                </a:tc>
                <a:extLst>
                  <a:ext uri="{0D108BD9-81ED-4DB2-BD59-A6C34878D82A}">
                    <a16:rowId xmlns:a16="http://schemas.microsoft.com/office/drawing/2014/main" val="10006"/>
                  </a:ext>
                </a:extLst>
              </a:tr>
              <a:tr h="370840">
                <a:tc>
                  <a:txBody>
                    <a:bodyPr/>
                    <a:lstStyle/>
                    <a:p>
                      <a:r>
                        <a:rPr lang="en-US" dirty="0"/>
                        <a:t>Net profit</a:t>
                      </a:r>
                    </a:p>
                  </a:txBody>
                  <a:tcPr/>
                </a:tc>
                <a:tc>
                  <a:txBody>
                    <a:bodyPr/>
                    <a:lstStyle/>
                    <a:p>
                      <a:pPr algn="r"/>
                      <a:r>
                        <a:rPr lang="en-US" dirty="0"/>
                        <a:t>50,000</a:t>
                      </a:r>
                    </a:p>
                  </a:txBody>
                  <a:tcPr/>
                </a:tc>
                <a:tc>
                  <a:txBody>
                    <a:bodyPr/>
                    <a:lstStyle/>
                    <a:p>
                      <a:pPr algn="r"/>
                      <a:r>
                        <a:rPr lang="en-US" dirty="0"/>
                        <a:t>1,00,000</a:t>
                      </a:r>
                    </a:p>
                  </a:txBody>
                  <a:tcPr/>
                </a:tc>
                <a:tc>
                  <a:txBody>
                    <a:bodyPr/>
                    <a:lstStyle/>
                    <a:p>
                      <a:pPr algn="r"/>
                      <a:r>
                        <a:rPr lang="en-US" dirty="0"/>
                        <a:t>50,000</a:t>
                      </a:r>
                    </a:p>
                  </a:txBody>
                  <a:tcPr/>
                </a:tc>
                <a:tc>
                  <a:txBody>
                    <a:bodyPr/>
                    <a:lstStyle/>
                    <a:p>
                      <a:pPr algn="r"/>
                      <a:r>
                        <a:rPr lang="en-US" dirty="0"/>
                        <a:t>75,000</a:t>
                      </a:r>
                    </a:p>
                  </a:txBody>
                  <a:tcPr/>
                </a:tc>
                <a:extLst>
                  <a:ext uri="{0D108BD9-81ED-4DB2-BD59-A6C34878D82A}">
                    <a16:rowId xmlns:a16="http://schemas.microsoft.com/office/drawing/2014/main" val="10007"/>
                  </a:ext>
                </a:extLst>
              </a:tr>
            </a:tbl>
          </a:graphicData>
        </a:graphic>
      </p:graphicFrame>
      <p:sp>
        <p:nvSpPr>
          <p:cNvPr id="3" name="Date Placeholder 2"/>
          <p:cNvSpPr>
            <a:spLocks noGrp="1"/>
          </p:cNvSpPr>
          <p:nvPr>
            <p:ph type="dt" sz="half" idx="10"/>
          </p:nvPr>
        </p:nvSpPr>
        <p:spPr/>
        <p:txBody>
          <a:bodyPr/>
          <a:lstStyle/>
          <a:p>
            <a:fld id="{C710F945-E2DD-47DA-B95F-7866C95D454F}" type="datetime3">
              <a:rPr lang="en-US" smtClean="0"/>
              <a:t>28 November 2023</a:t>
            </a:fld>
            <a:endParaRPr lang="en-US" dirty="0"/>
          </a:p>
        </p:txBody>
      </p:sp>
      <p:sp>
        <p:nvSpPr>
          <p:cNvPr id="5" name="Footer Placeholder 4"/>
          <p:cNvSpPr>
            <a:spLocks noGrp="1"/>
          </p:cNvSpPr>
          <p:nvPr>
            <p:ph type="ftr" sz="quarter" idx="11"/>
          </p:nvPr>
        </p:nvSpPr>
        <p:spPr/>
        <p:txBody>
          <a:bodyPr/>
          <a:lstStyle/>
          <a:p>
            <a:r>
              <a:rPr lang="en-US"/>
              <a:t>Software Project Management       Dr. D Evangelin Geetha    Dept. of MCA     RIT</a:t>
            </a:r>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25</a:t>
            </a:fld>
            <a:endParaRPr lang="en-US" dirty="0"/>
          </a:p>
        </p:txBody>
      </p:sp>
    </p:spTree>
    <p:extLst>
      <p:ext uri="{BB962C8B-B14F-4D97-AF65-F5344CB8AC3E}">
        <p14:creationId xmlns:p14="http://schemas.microsoft.com/office/powerpoint/2010/main" val="105857465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Payback period</a:t>
            </a:r>
          </a:p>
        </p:txBody>
      </p:sp>
      <p:sp>
        <p:nvSpPr>
          <p:cNvPr id="3" name="Content Placeholder 2"/>
          <p:cNvSpPr>
            <a:spLocks noGrp="1"/>
          </p:cNvSpPr>
          <p:nvPr>
            <p:ph sz="half" idx="1"/>
          </p:nvPr>
        </p:nvSpPr>
        <p:spPr>
          <a:xfrm>
            <a:off x="1450848" y="1197638"/>
            <a:ext cx="4645152" cy="499566"/>
          </a:xfrm>
        </p:spPr>
        <p:txBody>
          <a:bodyPr>
            <a:normAutofit fontScale="92500" lnSpcReduction="20000"/>
          </a:bodyPr>
          <a:lstStyle/>
          <a:p>
            <a:r>
              <a:rPr lang="en-GB" altLang="en-US" dirty="0"/>
              <a:t>Project 2, 3, 4</a:t>
            </a:r>
          </a:p>
        </p:txBody>
      </p:sp>
      <p:graphicFrame>
        <p:nvGraphicFramePr>
          <p:cNvPr id="5" name="Content Placeholder 4"/>
          <p:cNvGraphicFramePr>
            <a:graphicFrameLocks noGrp="1"/>
          </p:cNvGraphicFramePr>
          <p:nvPr>
            <p:ph sz="half" idx="2"/>
            <p:extLst>
              <p:ext uri="{D42A27DB-BD31-4B8C-83A1-F6EECF244321}">
                <p14:modId xmlns:p14="http://schemas.microsoft.com/office/powerpoint/2010/main" val="2593865691"/>
              </p:ext>
            </p:extLst>
          </p:nvPr>
        </p:nvGraphicFramePr>
        <p:xfrm>
          <a:off x="180447" y="2182128"/>
          <a:ext cx="3801350" cy="2773680"/>
        </p:xfrm>
        <a:graphic>
          <a:graphicData uri="http://schemas.openxmlformats.org/drawingml/2006/table">
            <a:tbl>
              <a:tblPr firstRow="1" bandRow="1">
                <a:tableStyleId>{5C22544A-7EE6-4342-B048-85BDC9FD1C3A}</a:tableStyleId>
              </a:tblPr>
              <a:tblGrid>
                <a:gridCol w="728744">
                  <a:extLst>
                    <a:ext uri="{9D8B030D-6E8A-4147-A177-3AD203B41FA5}">
                      <a16:colId xmlns:a16="http://schemas.microsoft.com/office/drawing/2014/main" val="2248303887"/>
                    </a:ext>
                  </a:extLst>
                </a:gridCol>
                <a:gridCol w="1426685">
                  <a:extLst>
                    <a:ext uri="{9D8B030D-6E8A-4147-A177-3AD203B41FA5}">
                      <a16:colId xmlns:a16="http://schemas.microsoft.com/office/drawing/2014/main" val="2023753746"/>
                    </a:ext>
                  </a:extLst>
                </a:gridCol>
                <a:gridCol w="1645921">
                  <a:extLst>
                    <a:ext uri="{9D8B030D-6E8A-4147-A177-3AD203B41FA5}">
                      <a16:colId xmlns:a16="http://schemas.microsoft.com/office/drawing/2014/main" val="4244003138"/>
                    </a:ext>
                  </a:extLst>
                </a:gridCol>
              </a:tblGrid>
              <a:tr h="370840">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GB" altLang="en-US" sz="2000" b="0" i="0" u="none" strike="noStrike" cap="none" normalizeH="0" baseline="0" dirty="0">
                          <a:ln>
                            <a:noFill/>
                          </a:ln>
                          <a:solidFill>
                            <a:schemeClr val="bg2"/>
                          </a:solidFill>
                          <a:effectLst/>
                          <a:latin typeface="Tahoma" panose="020B0604030504040204" pitchFamily="34" charset="0"/>
                          <a:ea typeface="Tahoma" panose="020B0604030504040204" pitchFamily="34" charset="0"/>
                          <a:cs typeface="Tahoma" panose="020B0604030504040204" pitchFamily="34" charset="0"/>
                        </a:rPr>
                        <a:t>Year</a:t>
                      </a:r>
                    </a:p>
                  </a:txBody>
                  <a:tcPr horzOverflow="overflow"/>
                </a:tc>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GB" altLang="en-US" sz="2000" b="0" i="0" u="none" strike="noStrike" cap="none" normalizeH="0" baseline="0" dirty="0">
                          <a:ln>
                            <a:noFill/>
                          </a:ln>
                          <a:solidFill>
                            <a:schemeClr val="bg2"/>
                          </a:solidFill>
                          <a:effectLst/>
                          <a:latin typeface="Tahoma" panose="020B0604030504040204" pitchFamily="34" charset="0"/>
                          <a:ea typeface="Tahoma" panose="020B0604030504040204" pitchFamily="34" charset="0"/>
                          <a:cs typeface="Tahoma" panose="020B0604030504040204" pitchFamily="34" charset="0"/>
                        </a:rPr>
                        <a:t>Cash-flow</a:t>
                      </a:r>
                    </a:p>
                  </a:txBody>
                  <a:tcPr horzOverflow="overflow"/>
                </a:tc>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GB" altLang="en-US" sz="2000" b="0" i="0" u="none" strike="noStrike" cap="none" normalizeH="0" baseline="0" dirty="0">
                          <a:ln>
                            <a:noFill/>
                          </a:ln>
                          <a:solidFill>
                            <a:schemeClr val="bg2"/>
                          </a:solidFill>
                          <a:effectLst/>
                          <a:latin typeface="Tahoma" panose="020B0604030504040204" pitchFamily="34" charset="0"/>
                          <a:ea typeface="Tahoma" panose="020B0604030504040204" pitchFamily="34" charset="0"/>
                          <a:cs typeface="Tahoma" panose="020B0604030504040204" pitchFamily="34" charset="0"/>
                        </a:rPr>
                        <a:t>Accumulated</a:t>
                      </a:r>
                    </a:p>
                  </a:txBody>
                  <a:tcPr horzOverflow="overflow"/>
                </a:tc>
                <a:extLst>
                  <a:ext uri="{0D108BD9-81ED-4DB2-BD59-A6C34878D82A}">
                    <a16:rowId xmlns:a16="http://schemas.microsoft.com/office/drawing/2014/main" val="2686042913"/>
                  </a:ext>
                </a:extLst>
              </a:tr>
              <a:tr h="370840">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altLang="en-US" sz="200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0</a:t>
                      </a:r>
                    </a:p>
                  </a:txBody>
                  <a:tcPr horzOverflow="overflow"/>
                </a:tc>
                <a:tc>
                  <a:txBody>
                    <a:bodyPr/>
                    <a:lstStyle/>
                    <a:p>
                      <a:pPr algn="r"/>
                      <a:r>
                        <a:rPr lang="en-US" sz="2000" dirty="0">
                          <a:latin typeface="Tahoma" panose="020B0604030504040204" pitchFamily="34" charset="0"/>
                          <a:ea typeface="Tahoma" panose="020B0604030504040204" pitchFamily="34" charset="0"/>
                          <a:cs typeface="Tahoma" panose="020B0604030504040204" pitchFamily="34" charset="0"/>
                        </a:rPr>
                        <a:t>-10,00,000</a:t>
                      </a:r>
                    </a:p>
                  </a:txBody>
                  <a:tcPr/>
                </a:tc>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GB" altLang="en-US" sz="2000" b="0" i="0" u="none" strike="noStrike" cap="none" normalizeH="0" baseline="0" dirty="0">
                          <a:ln>
                            <a:noFill/>
                          </a:ln>
                          <a:solidFill>
                            <a:srgbClr val="0000CC"/>
                          </a:solidFill>
                          <a:effectLst/>
                          <a:latin typeface="Tahoma" panose="020B0604030504040204" pitchFamily="34" charset="0"/>
                          <a:ea typeface="Tahoma" panose="020B0604030504040204" pitchFamily="34" charset="0"/>
                          <a:cs typeface="Tahoma" panose="020B0604030504040204" pitchFamily="34" charset="0"/>
                        </a:rPr>
                        <a:t>-10,00,000</a:t>
                      </a:r>
                    </a:p>
                  </a:txBody>
                  <a:tcPr horzOverflow="overflow"/>
                </a:tc>
                <a:extLst>
                  <a:ext uri="{0D108BD9-81ED-4DB2-BD59-A6C34878D82A}">
                    <a16:rowId xmlns:a16="http://schemas.microsoft.com/office/drawing/2014/main" val="2715192214"/>
                  </a:ext>
                </a:extLst>
              </a:tr>
              <a:tr h="370840">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altLang="en-US" sz="200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1</a:t>
                      </a:r>
                    </a:p>
                  </a:txBody>
                  <a:tcPr horzOverflow="overflow"/>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2000" dirty="0">
                          <a:latin typeface="Tahoma" panose="020B0604030504040204" pitchFamily="34" charset="0"/>
                          <a:ea typeface="Tahoma" panose="020B0604030504040204" pitchFamily="34" charset="0"/>
                          <a:cs typeface="Tahoma" panose="020B0604030504040204" pitchFamily="34" charset="0"/>
                        </a:rPr>
                        <a:t>2,00,000</a:t>
                      </a:r>
                    </a:p>
                  </a:txBody>
                  <a:tcPr/>
                </a:tc>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GB" altLang="en-US" sz="2000" b="0" i="0" u="none" strike="noStrike" cap="none" normalizeH="0" baseline="0" dirty="0">
                          <a:ln>
                            <a:noFill/>
                          </a:ln>
                          <a:solidFill>
                            <a:srgbClr val="0000CC"/>
                          </a:solidFill>
                          <a:effectLst/>
                          <a:latin typeface="Tahoma" panose="020B0604030504040204" pitchFamily="34" charset="0"/>
                          <a:ea typeface="Tahoma" panose="020B0604030504040204" pitchFamily="34" charset="0"/>
                          <a:cs typeface="Tahoma" panose="020B0604030504040204" pitchFamily="34" charset="0"/>
                        </a:rPr>
                        <a:t>-8,00,000</a:t>
                      </a:r>
                    </a:p>
                  </a:txBody>
                  <a:tcPr horzOverflow="overflow"/>
                </a:tc>
                <a:extLst>
                  <a:ext uri="{0D108BD9-81ED-4DB2-BD59-A6C34878D82A}">
                    <a16:rowId xmlns:a16="http://schemas.microsoft.com/office/drawing/2014/main" val="604836554"/>
                  </a:ext>
                </a:extLst>
              </a:tr>
              <a:tr h="370840">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altLang="en-US" sz="200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2</a:t>
                      </a:r>
                    </a:p>
                  </a:txBody>
                  <a:tcPr horzOverflow="overflow"/>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2000">
                          <a:latin typeface="Tahoma" panose="020B0604030504040204" pitchFamily="34" charset="0"/>
                          <a:ea typeface="Tahoma" panose="020B0604030504040204" pitchFamily="34" charset="0"/>
                          <a:cs typeface="Tahoma" panose="020B0604030504040204" pitchFamily="34" charset="0"/>
                        </a:rPr>
                        <a:t>2,00,000</a:t>
                      </a:r>
                      <a:endParaRPr lang="en-US" sz="2000" dirty="0">
                        <a:latin typeface="Tahoma" panose="020B0604030504040204" pitchFamily="34" charset="0"/>
                        <a:ea typeface="Tahoma" panose="020B0604030504040204" pitchFamily="34" charset="0"/>
                        <a:cs typeface="Tahoma" panose="020B0604030504040204" pitchFamily="34" charset="0"/>
                      </a:endParaRPr>
                    </a:p>
                  </a:txBody>
                  <a:tcPr/>
                </a:tc>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GB" altLang="en-US" sz="2000" b="0" i="0" u="none" strike="noStrike" cap="none" normalizeH="0" baseline="0" dirty="0">
                          <a:ln>
                            <a:noFill/>
                          </a:ln>
                          <a:solidFill>
                            <a:srgbClr val="0000CC"/>
                          </a:solidFill>
                          <a:effectLst/>
                          <a:latin typeface="Tahoma" panose="020B0604030504040204" pitchFamily="34" charset="0"/>
                          <a:ea typeface="Tahoma" panose="020B0604030504040204" pitchFamily="34" charset="0"/>
                          <a:cs typeface="Tahoma" panose="020B0604030504040204" pitchFamily="34" charset="0"/>
                        </a:rPr>
                        <a:t>-6,00,000</a:t>
                      </a:r>
                    </a:p>
                  </a:txBody>
                  <a:tcPr horzOverflow="overflow"/>
                </a:tc>
                <a:extLst>
                  <a:ext uri="{0D108BD9-81ED-4DB2-BD59-A6C34878D82A}">
                    <a16:rowId xmlns:a16="http://schemas.microsoft.com/office/drawing/2014/main" val="3098725958"/>
                  </a:ext>
                </a:extLst>
              </a:tr>
              <a:tr h="370840">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altLang="en-US" sz="200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3</a:t>
                      </a:r>
                    </a:p>
                  </a:txBody>
                  <a:tcPr horzOverflow="overflow"/>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2000" dirty="0">
                          <a:latin typeface="Tahoma" panose="020B0604030504040204" pitchFamily="34" charset="0"/>
                          <a:ea typeface="Tahoma" panose="020B0604030504040204" pitchFamily="34" charset="0"/>
                          <a:cs typeface="Tahoma" panose="020B0604030504040204" pitchFamily="34" charset="0"/>
                        </a:rPr>
                        <a:t>2,00,000</a:t>
                      </a:r>
                    </a:p>
                  </a:txBody>
                  <a:tcPr/>
                </a:tc>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GB" altLang="en-US" sz="2000" b="0" i="0" u="none" strike="noStrike" cap="none" normalizeH="0" baseline="0" dirty="0">
                          <a:ln>
                            <a:noFill/>
                          </a:ln>
                          <a:solidFill>
                            <a:srgbClr val="0000CC"/>
                          </a:solidFill>
                          <a:effectLst/>
                          <a:latin typeface="Tahoma" panose="020B0604030504040204" pitchFamily="34" charset="0"/>
                          <a:ea typeface="Tahoma" panose="020B0604030504040204" pitchFamily="34" charset="0"/>
                          <a:cs typeface="Tahoma" panose="020B0604030504040204" pitchFamily="34" charset="0"/>
                        </a:rPr>
                        <a:t>-4,00,000</a:t>
                      </a:r>
                    </a:p>
                  </a:txBody>
                  <a:tcPr horzOverflow="overflow"/>
                </a:tc>
                <a:extLst>
                  <a:ext uri="{0D108BD9-81ED-4DB2-BD59-A6C34878D82A}">
                    <a16:rowId xmlns:a16="http://schemas.microsoft.com/office/drawing/2014/main" val="929871789"/>
                  </a:ext>
                </a:extLst>
              </a:tr>
              <a:tr h="370840">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altLang="en-US" sz="200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4</a:t>
                      </a:r>
                    </a:p>
                  </a:txBody>
                  <a:tcPr horzOverflow="overflow"/>
                </a:tc>
                <a:tc>
                  <a:txBody>
                    <a:bodyPr/>
                    <a:lstStyle/>
                    <a:p>
                      <a:pPr algn="r"/>
                      <a:r>
                        <a:rPr lang="en-US" sz="2000" dirty="0">
                          <a:latin typeface="Tahoma" panose="020B0604030504040204" pitchFamily="34" charset="0"/>
                          <a:ea typeface="Tahoma" panose="020B0604030504040204" pitchFamily="34" charset="0"/>
                          <a:cs typeface="Tahoma" panose="020B0604030504040204" pitchFamily="34" charset="0"/>
                        </a:rPr>
                        <a:t>2,00,000</a:t>
                      </a:r>
                    </a:p>
                  </a:txBody>
                  <a:tcPr/>
                </a:tc>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GB" altLang="en-US" sz="2000" b="0" i="0" u="none" strike="noStrike" cap="none" normalizeH="0" baseline="0" dirty="0">
                          <a:ln>
                            <a:noFill/>
                          </a:ln>
                          <a:solidFill>
                            <a:srgbClr val="0000CC"/>
                          </a:solidFill>
                          <a:effectLst/>
                          <a:latin typeface="Tahoma" panose="020B0604030504040204" pitchFamily="34" charset="0"/>
                          <a:ea typeface="Tahoma" panose="020B0604030504040204" pitchFamily="34" charset="0"/>
                          <a:cs typeface="Tahoma" panose="020B0604030504040204" pitchFamily="34" charset="0"/>
                        </a:rPr>
                        <a:t>-2,00,000</a:t>
                      </a:r>
                    </a:p>
                  </a:txBody>
                  <a:tcPr horzOverflow="overflow"/>
                </a:tc>
                <a:extLst>
                  <a:ext uri="{0D108BD9-81ED-4DB2-BD59-A6C34878D82A}">
                    <a16:rowId xmlns:a16="http://schemas.microsoft.com/office/drawing/2014/main" val="292312927"/>
                  </a:ext>
                </a:extLst>
              </a:tr>
              <a:tr h="370840">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altLang="en-US" sz="200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5</a:t>
                      </a:r>
                    </a:p>
                  </a:txBody>
                  <a:tcPr anchor="ctr" horzOverflow="overflow"/>
                </a:tc>
                <a:tc>
                  <a:txBody>
                    <a:bodyPr/>
                    <a:lstStyle/>
                    <a:p>
                      <a:pPr algn="r"/>
                      <a:r>
                        <a:rPr lang="en-US" sz="2000" dirty="0">
                          <a:latin typeface="Tahoma" panose="020B0604030504040204" pitchFamily="34" charset="0"/>
                          <a:ea typeface="Tahoma" panose="020B0604030504040204" pitchFamily="34" charset="0"/>
                          <a:cs typeface="Tahoma" panose="020B0604030504040204" pitchFamily="34" charset="0"/>
                        </a:rPr>
                        <a:t>3,00,000</a:t>
                      </a:r>
                    </a:p>
                  </a:txBody>
                  <a:tcPr/>
                </a:tc>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GB" altLang="en-US" sz="2000" b="0" i="0" u="none" strike="noStrike" cap="none" normalizeH="0" baseline="0" dirty="0">
                          <a:ln>
                            <a:noFill/>
                          </a:ln>
                          <a:solidFill>
                            <a:srgbClr val="FF0000"/>
                          </a:solidFill>
                          <a:effectLst/>
                          <a:latin typeface="Tahoma" panose="020B0604030504040204" pitchFamily="34" charset="0"/>
                          <a:ea typeface="Tahoma" panose="020B0604030504040204" pitchFamily="34" charset="0"/>
                          <a:cs typeface="Tahoma" panose="020B0604030504040204" pitchFamily="34" charset="0"/>
                        </a:rPr>
                        <a:t>1,00,000</a:t>
                      </a:r>
                    </a:p>
                  </a:txBody>
                  <a:tcPr horzOverflow="overflow"/>
                </a:tc>
                <a:extLst>
                  <a:ext uri="{0D108BD9-81ED-4DB2-BD59-A6C34878D82A}">
                    <a16:rowId xmlns:a16="http://schemas.microsoft.com/office/drawing/2014/main" val="2077385687"/>
                  </a:ext>
                </a:extLst>
              </a:tr>
            </a:tbl>
          </a:graphicData>
        </a:graphic>
      </p:graphicFrame>
      <p:sp>
        <p:nvSpPr>
          <p:cNvPr id="4" name="Date Placeholder 3"/>
          <p:cNvSpPr>
            <a:spLocks noGrp="1"/>
          </p:cNvSpPr>
          <p:nvPr>
            <p:ph type="dt" sz="half" idx="10"/>
          </p:nvPr>
        </p:nvSpPr>
        <p:spPr/>
        <p:txBody>
          <a:bodyPr/>
          <a:lstStyle/>
          <a:p>
            <a:fld id="{E9376695-FE31-4FE3-8789-583C0374522F}" type="datetime3">
              <a:rPr lang="en-US" smtClean="0"/>
              <a:t>28 November 2023</a:t>
            </a:fld>
            <a:endParaRPr lang="en-US" dirty="0"/>
          </a:p>
        </p:txBody>
      </p:sp>
      <p:sp>
        <p:nvSpPr>
          <p:cNvPr id="6" name="Footer Placeholder 5"/>
          <p:cNvSpPr>
            <a:spLocks noGrp="1"/>
          </p:cNvSpPr>
          <p:nvPr>
            <p:ph type="ftr" sz="quarter" idx="11"/>
          </p:nvPr>
        </p:nvSpPr>
        <p:spPr/>
        <p:txBody>
          <a:bodyPr/>
          <a:lstStyle/>
          <a:p>
            <a:r>
              <a:rPr lang="en-US"/>
              <a:t>Software Project Management       Dr. D Evangelin Geetha    Dept. of MCA     RIT</a:t>
            </a:r>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26</a:t>
            </a:fld>
            <a:endParaRPr lang="en-US" dirty="0"/>
          </a:p>
        </p:txBody>
      </p:sp>
      <p:graphicFrame>
        <p:nvGraphicFramePr>
          <p:cNvPr id="9" name="Content Placeholder 4">
            <a:extLst>
              <a:ext uri="{FF2B5EF4-FFF2-40B4-BE49-F238E27FC236}">
                <a16:creationId xmlns:a16="http://schemas.microsoft.com/office/drawing/2014/main" id="{E3171E5B-C8A5-4B39-ABB5-E47B2E17B86D}"/>
              </a:ext>
            </a:extLst>
          </p:cNvPr>
          <p:cNvGraphicFramePr>
            <a:graphicFrameLocks/>
          </p:cNvGraphicFramePr>
          <p:nvPr>
            <p:extLst>
              <p:ext uri="{D42A27DB-BD31-4B8C-83A1-F6EECF244321}">
                <p14:modId xmlns:p14="http://schemas.microsoft.com/office/powerpoint/2010/main" val="1869755120"/>
              </p:ext>
            </p:extLst>
          </p:nvPr>
        </p:nvGraphicFramePr>
        <p:xfrm>
          <a:off x="4099201" y="2186321"/>
          <a:ext cx="4023023" cy="2773680"/>
        </p:xfrm>
        <a:graphic>
          <a:graphicData uri="http://schemas.openxmlformats.org/drawingml/2006/table">
            <a:tbl>
              <a:tblPr firstRow="1" bandRow="1">
                <a:tableStyleId>{5C22544A-7EE6-4342-B048-85BDC9FD1C3A}</a:tableStyleId>
              </a:tblPr>
              <a:tblGrid>
                <a:gridCol w="771240">
                  <a:extLst>
                    <a:ext uri="{9D8B030D-6E8A-4147-A177-3AD203B41FA5}">
                      <a16:colId xmlns:a16="http://schemas.microsoft.com/office/drawing/2014/main" val="2248303887"/>
                    </a:ext>
                  </a:extLst>
                </a:gridCol>
                <a:gridCol w="1409640">
                  <a:extLst>
                    <a:ext uri="{9D8B030D-6E8A-4147-A177-3AD203B41FA5}">
                      <a16:colId xmlns:a16="http://schemas.microsoft.com/office/drawing/2014/main" val="2023753746"/>
                    </a:ext>
                  </a:extLst>
                </a:gridCol>
                <a:gridCol w="1842143">
                  <a:extLst>
                    <a:ext uri="{9D8B030D-6E8A-4147-A177-3AD203B41FA5}">
                      <a16:colId xmlns:a16="http://schemas.microsoft.com/office/drawing/2014/main" val="4244003138"/>
                    </a:ext>
                  </a:extLst>
                </a:gridCol>
              </a:tblGrid>
              <a:tr h="370840">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GB" altLang="en-US" sz="2000" b="0" i="0" u="none" strike="noStrike" cap="none" normalizeH="0" baseline="0" dirty="0">
                          <a:ln>
                            <a:noFill/>
                          </a:ln>
                          <a:solidFill>
                            <a:schemeClr val="bg2"/>
                          </a:solidFill>
                          <a:effectLst/>
                          <a:latin typeface="Tahoma" panose="020B0604030504040204" pitchFamily="34" charset="0"/>
                        </a:rPr>
                        <a:t>Year</a:t>
                      </a:r>
                    </a:p>
                  </a:txBody>
                  <a:tcPr horzOverflow="overflow"/>
                </a:tc>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GB" altLang="en-US" sz="2000" b="0" i="0" u="none" strike="noStrike" cap="none" normalizeH="0" baseline="0" dirty="0">
                          <a:ln>
                            <a:noFill/>
                          </a:ln>
                          <a:solidFill>
                            <a:schemeClr val="bg2"/>
                          </a:solidFill>
                          <a:effectLst/>
                          <a:latin typeface="Tahoma" panose="020B0604030504040204" pitchFamily="34" charset="0"/>
                        </a:rPr>
                        <a:t>Cash-flow</a:t>
                      </a:r>
                    </a:p>
                  </a:txBody>
                  <a:tcPr horzOverflow="overflow"/>
                </a:tc>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GB" altLang="en-US" sz="2000" b="0" i="0" u="none" strike="noStrike" cap="none" normalizeH="0" baseline="0" dirty="0">
                          <a:ln>
                            <a:noFill/>
                          </a:ln>
                          <a:solidFill>
                            <a:schemeClr val="bg2"/>
                          </a:solidFill>
                          <a:effectLst/>
                          <a:latin typeface="Tahoma" panose="020B0604030504040204" pitchFamily="34" charset="0"/>
                        </a:rPr>
                        <a:t>Accumulated</a:t>
                      </a:r>
                    </a:p>
                  </a:txBody>
                  <a:tcPr horzOverflow="overflow"/>
                </a:tc>
                <a:extLst>
                  <a:ext uri="{0D108BD9-81ED-4DB2-BD59-A6C34878D82A}">
                    <a16:rowId xmlns:a16="http://schemas.microsoft.com/office/drawing/2014/main" val="2686042913"/>
                  </a:ext>
                </a:extLst>
              </a:tr>
              <a:tr h="370840">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altLang="en-US" sz="2000" b="0" i="0" u="none" strike="noStrike" cap="none" normalizeH="0" baseline="0" dirty="0">
                          <a:ln>
                            <a:noFill/>
                          </a:ln>
                          <a:solidFill>
                            <a:schemeClr val="tx1"/>
                          </a:solidFill>
                          <a:effectLst/>
                          <a:latin typeface="Tahoma" panose="020B0604030504040204" pitchFamily="34" charset="0"/>
                        </a:rPr>
                        <a:t>0</a:t>
                      </a:r>
                    </a:p>
                  </a:txBody>
                  <a:tcPr horzOverflow="overflow"/>
                </a:tc>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sz="2000" b="0" i="0" u="none" strike="noStrike" kern="1200" cap="none" normalizeH="0" baseline="0" dirty="0">
                          <a:ln>
                            <a:noFill/>
                          </a:ln>
                          <a:solidFill>
                            <a:schemeClr val="tx1"/>
                          </a:solidFill>
                          <a:effectLst/>
                          <a:latin typeface="Tahoma" panose="020B0604030504040204" pitchFamily="34" charset="0"/>
                          <a:ea typeface="+mn-ea"/>
                          <a:cs typeface="+mn-cs"/>
                        </a:rPr>
                        <a:t>-1,00,000</a:t>
                      </a:r>
                    </a:p>
                  </a:txBody>
                  <a:tcPr/>
                </a:tc>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GB" altLang="en-US" sz="2000" b="0" i="0" u="none" strike="noStrike" cap="none" normalizeH="0" baseline="0" dirty="0">
                          <a:ln>
                            <a:noFill/>
                          </a:ln>
                          <a:solidFill>
                            <a:srgbClr val="0000CC"/>
                          </a:solidFill>
                          <a:effectLst/>
                          <a:latin typeface="Tahoma" panose="020B0604030504040204" pitchFamily="34" charset="0"/>
                        </a:rPr>
                        <a:t>-1,00,000</a:t>
                      </a:r>
                    </a:p>
                  </a:txBody>
                  <a:tcPr horzOverflow="overflow"/>
                </a:tc>
                <a:extLst>
                  <a:ext uri="{0D108BD9-81ED-4DB2-BD59-A6C34878D82A}">
                    <a16:rowId xmlns:a16="http://schemas.microsoft.com/office/drawing/2014/main" val="2715192214"/>
                  </a:ext>
                </a:extLst>
              </a:tr>
              <a:tr h="370840">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altLang="en-US" sz="2000" b="0" i="0" u="none" strike="noStrike" cap="none" normalizeH="0" baseline="0" dirty="0">
                          <a:ln>
                            <a:noFill/>
                          </a:ln>
                          <a:solidFill>
                            <a:schemeClr val="tx1"/>
                          </a:solidFill>
                          <a:effectLst/>
                          <a:latin typeface="Tahoma" panose="020B0604030504040204" pitchFamily="34" charset="0"/>
                        </a:rPr>
                        <a:t>1</a:t>
                      </a:r>
                    </a:p>
                  </a:txBody>
                  <a:tcPr horzOverflow="overflow"/>
                </a:tc>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sz="2000" b="0" i="0" u="none" strike="noStrike" kern="1200" cap="none" normalizeH="0" baseline="0" dirty="0">
                          <a:ln>
                            <a:noFill/>
                          </a:ln>
                          <a:solidFill>
                            <a:schemeClr val="tx1"/>
                          </a:solidFill>
                          <a:effectLst/>
                          <a:latin typeface="Tahoma" panose="020B0604030504040204" pitchFamily="34" charset="0"/>
                          <a:ea typeface="+mn-ea"/>
                          <a:cs typeface="+mn-cs"/>
                        </a:rPr>
                        <a:t>30,000</a:t>
                      </a:r>
                    </a:p>
                  </a:txBody>
                  <a:tcPr/>
                </a:tc>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GB" altLang="en-US" sz="2000" b="0" i="0" u="none" strike="noStrike" cap="none" normalizeH="0" baseline="0" dirty="0">
                          <a:ln>
                            <a:noFill/>
                          </a:ln>
                          <a:solidFill>
                            <a:srgbClr val="0000CC"/>
                          </a:solidFill>
                          <a:effectLst/>
                          <a:latin typeface="Tahoma" panose="020B0604030504040204" pitchFamily="34" charset="0"/>
                        </a:rPr>
                        <a:t>-70,000</a:t>
                      </a:r>
                    </a:p>
                  </a:txBody>
                  <a:tcPr horzOverflow="overflow"/>
                </a:tc>
                <a:extLst>
                  <a:ext uri="{0D108BD9-81ED-4DB2-BD59-A6C34878D82A}">
                    <a16:rowId xmlns:a16="http://schemas.microsoft.com/office/drawing/2014/main" val="3098725958"/>
                  </a:ext>
                </a:extLst>
              </a:tr>
              <a:tr h="370840">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altLang="en-US" sz="2000" b="0" i="0" u="none" strike="noStrike" cap="none" normalizeH="0" baseline="0" dirty="0">
                          <a:ln>
                            <a:noFill/>
                          </a:ln>
                          <a:solidFill>
                            <a:schemeClr val="tx1"/>
                          </a:solidFill>
                          <a:effectLst/>
                          <a:latin typeface="Tahoma" panose="020B0604030504040204" pitchFamily="34" charset="0"/>
                        </a:rPr>
                        <a:t>2</a:t>
                      </a:r>
                    </a:p>
                  </a:txBody>
                  <a:tcPr horzOverflow="overflow"/>
                </a:tc>
                <a:tc>
                  <a:txBody>
                    <a:bodyPr/>
                    <a:lstStyle/>
                    <a:p>
                      <a:pPr marL="0" marR="0" lvl="0" indent="0" algn="r" defTabSz="914400" rtl="0" eaLnBrk="1" fontAlgn="base" latinLnBrk="0" hangingPunct="1">
                        <a:lnSpc>
                          <a:spcPct val="100000"/>
                        </a:lnSpc>
                        <a:spcBef>
                          <a:spcPct val="20000"/>
                        </a:spcBef>
                        <a:spcAft>
                          <a:spcPct val="0"/>
                        </a:spcAft>
                        <a:buClrTx/>
                        <a:buSzTx/>
                        <a:buFontTx/>
                        <a:buNone/>
                        <a:tabLst/>
                        <a:defRPr/>
                      </a:pPr>
                      <a:r>
                        <a:rPr kumimoji="0" lang="en-US" sz="2000" b="0" i="0" u="none" strike="noStrike" kern="1200" cap="none" normalizeH="0" baseline="0" dirty="0">
                          <a:ln>
                            <a:noFill/>
                          </a:ln>
                          <a:solidFill>
                            <a:schemeClr val="tx1"/>
                          </a:solidFill>
                          <a:effectLst/>
                          <a:latin typeface="Tahoma" panose="020B0604030504040204" pitchFamily="34" charset="0"/>
                          <a:ea typeface="+mn-ea"/>
                          <a:cs typeface="+mn-cs"/>
                        </a:rPr>
                        <a:t>30,000</a:t>
                      </a:r>
                    </a:p>
                  </a:txBody>
                  <a:tcPr/>
                </a:tc>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GB" altLang="en-US" sz="2000" b="0" i="0" u="none" strike="noStrike" cap="none" normalizeH="0" baseline="0" dirty="0">
                          <a:ln>
                            <a:noFill/>
                          </a:ln>
                          <a:solidFill>
                            <a:srgbClr val="0000CC"/>
                          </a:solidFill>
                          <a:effectLst/>
                          <a:latin typeface="Tahoma" panose="020B0604030504040204" pitchFamily="34" charset="0"/>
                        </a:rPr>
                        <a:t>-40,000</a:t>
                      </a:r>
                    </a:p>
                  </a:txBody>
                  <a:tcPr horzOverflow="overflow"/>
                </a:tc>
                <a:extLst>
                  <a:ext uri="{0D108BD9-81ED-4DB2-BD59-A6C34878D82A}">
                    <a16:rowId xmlns:a16="http://schemas.microsoft.com/office/drawing/2014/main" val="929871789"/>
                  </a:ext>
                </a:extLst>
              </a:tr>
              <a:tr h="370840">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altLang="en-US" sz="2000" b="0" i="0" u="none" strike="noStrike" cap="none" normalizeH="0" baseline="0" dirty="0">
                          <a:ln>
                            <a:noFill/>
                          </a:ln>
                          <a:solidFill>
                            <a:schemeClr val="tx1"/>
                          </a:solidFill>
                          <a:effectLst/>
                          <a:latin typeface="Tahoma" panose="020B0604030504040204" pitchFamily="34" charset="0"/>
                        </a:rPr>
                        <a:t>3</a:t>
                      </a:r>
                    </a:p>
                  </a:txBody>
                  <a:tcPr horzOverflow="overflow"/>
                </a:tc>
                <a:tc>
                  <a:txBody>
                    <a:bodyPr/>
                    <a:lstStyle/>
                    <a:p>
                      <a:pPr marL="0" marR="0" lvl="0" indent="0" algn="r" defTabSz="914400" rtl="0" eaLnBrk="1" fontAlgn="base" latinLnBrk="0" hangingPunct="1">
                        <a:lnSpc>
                          <a:spcPct val="100000"/>
                        </a:lnSpc>
                        <a:spcBef>
                          <a:spcPct val="20000"/>
                        </a:spcBef>
                        <a:spcAft>
                          <a:spcPct val="0"/>
                        </a:spcAft>
                        <a:buClrTx/>
                        <a:buSzTx/>
                        <a:buFontTx/>
                        <a:buNone/>
                        <a:tabLst/>
                        <a:defRPr/>
                      </a:pPr>
                      <a:r>
                        <a:rPr kumimoji="0" lang="en-US" sz="2000" b="0" i="0" u="none" strike="noStrike" kern="1200" cap="none" normalizeH="0" baseline="0" dirty="0">
                          <a:ln>
                            <a:noFill/>
                          </a:ln>
                          <a:solidFill>
                            <a:schemeClr val="tx1"/>
                          </a:solidFill>
                          <a:effectLst/>
                          <a:latin typeface="Tahoma" panose="020B0604030504040204" pitchFamily="34" charset="0"/>
                          <a:ea typeface="+mn-ea"/>
                          <a:cs typeface="+mn-cs"/>
                        </a:rPr>
                        <a:t>30,000</a:t>
                      </a:r>
                    </a:p>
                  </a:txBody>
                  <a:tcPr/>
                </a:tc>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GB" altLang="en-US" sz="2000" b="0" i="0" u="none" strike="noStrike" cap="none" normalizeH="0" baseline="0" dirty="0">
                          <a:ln>
                            <a:noFill/>
                          </a:ln>
                          <a:solidFill>
                            <a:srgbClr val="0000CC"/>
                          </a:solidFill>
                          <a:effectLst/>
                          <a:latin typeface="Tahoma" panose="020B0604030504040204" pitchFamily="34" charset="0"/>
                        </a:rPr>
                        <a:t>-10,000</a:t>
                      </a:r>
                    </a:p>
                  </a:txBody>
                  <a:tcPr horzOverflow="overflow"/>
                </a:tc>
                <a:extLst>
                  <a:ext uri="{0D108BD9-81ED-4DB2-BD59-A6C34878D82A}">
                    <a16:rowId xmlns:a16="http://schemas.microsoft.com/office/drawing/2014/main" val="292312927"/>
                  </a:ext>
                </a:extLst>
              </a:tr>
              <a:tr h="370840">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altLang="en-US" sz="2000" b="0" i="0" u="none" strike="noStrike" cap="none" normalizeH="0" baseline="0" dirty="0">
                          <a:ln>
                            <a:noFill/>
                          </a:ln>
                          <a:solidFill>
                            <a:schemeClr val="tx1"/>
                          </a:solidFill>
                          <a:effectLst/>
                          <a:latin typeface="Tahoma" panose="020B0604030504040204" pitchFamily="34" charset="0"/>
                        </a:rPr>
                        <a:t>4</a:t>
                      </a:r>
                    </a:p>
                  </a:txBody>
                  <a:tcPr horzOverflow="overflow"/>
                </a:tc>
                <a:tc>
                  <a:txBody>
                    <a:bodyPr/>
                    <a:lstStyle/>
                    <a:p>
                      <a:pPr marL="0" marR="0" lvl="0" indent="0" algn="r" defTabSz="914400" rtl="0" eaLnBrk="1" fontAlgn="base" latinLnBrk="0" hangingPunct="1">
                        <a:lnSpc>
                          <a:spcPct val="100000"/>
                        </a:lnSpc>
                        <a:spcBef>
                          <a:spcPct val="20000"/>
                        </a:spcBef>
                        <a:spcAft>
                          <a:spcPct val="0"/>
                        </a:spcAft>
                        <a:buClrTx/>
                        <a:buSzTx/>
                        <a:buFontTx/>
                        <a:buNone/>
                        <a:tabLst/>
                        <a:defRPr/>
                      </a:pPr>
                      <a:r>
                        <a:rPr kumimoji="0" lang="en-US" sz="2000" b="0" i="0" u="none" strike="noStrike" kern="1200" cap="none" normalizeH="0" baseline="0" dirty="0">
                          <a:ln>
                            <a:noFill/>
                          </a:ln>
                          <a:solidFill>
                            <a:schemeClr val="tx1"/>
                          </a:solidFill>
                          <a:effectLst/>
                          <a:latin typeface="Tahoma" panose="020B0604030504040204" pitchFamily="34" charset="0"/>
                          <a:ea typeface="+mn-ea"/>
                          <a:cs typeface="+mn-cs"/>
                        </a:rPr>
                        <a:t>30,000</a:t>
                      </a:r>
                    </a:p>
                  </a:txBody>
                  <a:tcPr/>
                </a:tc>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GB" altLang="en-US" sz="2000" b="0" i="0" u="none" strike="noStrike" cap="none" normalizeH="0" baseline="0" dirty="0">
                          <a:ln>
                            <a:noFill/>
                          </a:ln>
                          <a:solidFill>
                            <a:srgbClr val="C00000"/>
                          </a:solidFill>
                          <a:effectLst/>
                          <a:latin typeface="Tahoma" panose="020B0604030504040204" pitchFamily="34" charset="0"/>
                        </a:rPr>
                        <a:t>20,000</a:t>
                      </a:r>
                    </a:p>
                  </a:txBody>
                  <a:tcPr horzOverflow="overflow"/>
                </a:tc>
                <a:extLst>
                  <a:ext uri="{0D108BD9-81ED-4DB2-BD59-A6C34878D82A}">
                    <a16:rowId xmlns:a16="http://schemas.microsoft.com/office/drawing/2014/main" val="2077385687"/>
                  </a:ext>
                </a:extLst>
              </a:tr>
              <a:tr h="370840">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altLang="en-US" sz="2000" b="0" i="0" u="none" strike="noStrike" cap="none" normalizeH="0" baseline="0" dirty="0">
                          <a:ln>
                            <a:noFill/>
                          </a:ln>
                          <a:solidFill>
                            <a:schemeClr val="tx1"/>
                          </a:solidFill>
                          <a:effectLst/>
                          <a:latin typeface="Tahoma" panose="020B0604030504040204" pitchFamily="34" charset="0"/>
                        </a:rPr>
                        <a:t>5</a:t>
                      </a:r>
                    </a:p>
                  </a:txBody>
                  <a:tcPr anchor="ctr" horzOverflow="overflow"/>
                </a:tc>
                <a:tc>
                  <a:txBody>
                    <a:bodyPr/>
                    <a:lstStyle/>
                    <a:p>
                      <a:pPr marL="0" marR="0" lvl="0" indent="0" algn="r" defTabSz="914400" rtl="0" eaLnBrk="1" fontAlgn="base" latinLnBrk="0" hangingPunct="1">
                        <a:lnSpc>
                          <a:spcPct val="100000"/>
                        </a:lnSpc>
                        <a:spcBef>
                          <a:spcPct val="20000"/>
                        </a:spcBef>
                        <a:spcAft>
                          <a:spcPct val="0"/>
                        </a:spcAft>
                        <a:buClrTx/>
                        <a:buSzTx/>
                        <a:buFontTx/>
                        <a:buNone/>
                        <a:tabLst/>
                        <a:defRPr/>
                      </a:pPr>
                      <a:r>
                        <a:rPr kumimoji="0" lang="en-US" sz="2000" b="0" i="0" u="none" strike="noStrike" kern="1200" cap="none" normalizeH="0" baseline="0" dirty="0">
                          <a:ln>
                            <a:noFill/>
                          </a:ln>
                          <a:solidFill>
                            <a:schemeClr val="tx1"/>
                          </a:solidFill>
                          <a:effectLst/>
                          <a:latin typeface="Tahoma" panose="020B0604030504040204" pitchFamily="34" charset="0"/>
                          <a:ea typeface="+mn-ea"/>
                          <a:cs typeface="+mn-cs"/>
                        </a:rPr>
                        <a:t>30,000</a:t>
                      </a:r>
                    </a:p>
                  </a:txBody>
                  <a:tcPr/>
                </a:tc>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GB" altLang="en-US" sz="2000" b="0" i="0" u="none" strike="noStrike" cap="none" normalizeH="0" baseline="0" dirty="0">
                          <a:ln>
                            <a:noFill/>
                          </a:ln>
                          <a:solidFill>
                            <a:srgbClr val="0000CC"/>
                          </a:solidFill>
                          <a:effectLst/>
                          <a:latin typeface="Tahoma" panose="020B0604030504040204" pitchFamily="34" charset="0"/>
                        </a:rPr>
                        <a:t>50,000</a:t>
                      </a:r>
                    </a:p>
                  </a:txBody>
                  <a:tcPr anchor="ctr" horzOverflow="overflow"/>
                </a:tc>
                <a:extLst>
                  <a:ext uri="{0D108BD9-81ED-4DB2-BD59-A6C34878D82A}">
                    <a16:rowId xmlns:a16="http://schemas.microsoft.com/office/drawing/2014/main" val="3884061334"/>
                  </a:ext>
                </a:extLst>
              </a:tr>
            </a:tbl>
          </a:graphicData>
        </a:graphic>
      </p:graphicFrame>
      <p:graphicFrame>
        <p:nvGraphicFramePr>
          <p:cNvPr id="10" name="Content Placeholder 4">
            <a:extLst>
              <a:ext uri="{FF2B5EF4-FFF2-40B4-BE49-F238E27FC236}">
                <a16:creationId xmlns:a16="http://schemas.microsoft.com/office/drawing/2014/main" id="{59F3BD39-D04C-439B-96FC-31276E57FA20}"/>
              </a:ext>
            </a:extLst>
          </p:cNvPr>
          <p:cNvGraphicFramePr>
            <a:graphicFrameLocks/>
          </p:cNvGraphicFramePr>
          <p:nvPr>
            <p:extLst>
              <p:ext uri="{D42A27DB-BD31-4B8C-83A1-F6EECF244321}">
                <p14:modId xmlns:p14="http://schemas.microsoft.com/office/powerpoint/2010/main" val="845123145"/>
              </p:ext>
            </p:extLst>
          </p:nvPr>
        </p:nvGraphicFramePr>
        <p:xfrm>
          <a:off x="8239628" y="2190440"/>
          <a:ext cx="3880329" cy="2773680"/>
        </p:xfrm>
        <a:graphic>
          <a:graphicData uri="http://schemas.openxmlformats.org/drawingml/2006/table">
            <a:tbl>
              <a:tblPr firstRow="1" bandRow="1">
                <a:tableStyleId>{5C22544A-7EE6-4342-B048-85BDC9FD1C3A}</a:tableStyleId>
              </a:tblPr>
              <a:tblGrid>
                <a:gridCol w="743885">
                  <a:extLst>
                    <a:ext uri="{9D8B030D-6E8A-4147-A177-3AD203B41FA5}">
                      <a16:colId xmlns:a16="http://schemas.microsoft.com/office/drawing/2014/main" val="2248303887"/>
                    </a:ext>
                  </a:extLst>
                </a:gridCol>
                <a:gridCol w="1359641">
                  <a:extLst>
                    <a:ext uri="{9D8B030D-6E8A-4147-A177-3AD203B41FA5}">
                      <a16:colId xmlns:a16="http://schemas.microsoft.com/office/drawing/2014/main" val="2023753746"/>
                    </a:ext>
                  </a:extLst>
                </a:gridCol>
                <a:gridCol w="1776803">
                  <a:extLst>
                    <a:ext uri="{9D8B030D-6E8A-4147-A177-3AD203B41FA5}">
                      <a16:colId xmlns:a16="http://schemas.microsoft.com/office/drawing/2014/main" val="4244003138"/>
                    </a:ext>
                  </a:extLst>
                </a:gridCol>
              </a:tblGrid>
              <a:tr h="370840">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GB" altLang="en-US" sz="2000" b="0" i="0" u="none" strike="noStrike" cap="none" normalizeH="0" baseline="0" dirty="0">
                          <a:ln>
                            <a:noFill/>
                          </a:ln>
                          <a:solidFill>
                            <a:schemeClr val="bg2"/>
                          </a:solidFill>
                          <a:effectLst/>
                          <a:latin typeface="Tahoma" panose="020B0604030504040204" pitchFamily="34" charset="0"/>
                        </a:rPr>
                        <a:t>Year</a:t>
                      </a:r>
                    </a:p>
                  </a:txBody>
                  <a:tcPr horzOverflow="overflow"/>
                </a:tc>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GB" altLang="en-US" sz="2000" b="0" i="0" u="none" strike="noStrike" cap="none" normalizeH="0" baseline="0" dirty="0">
                          <a:ln>
                            <a:noFill/>
                          </a:ln>
                          <a:solidFill>
                            <a:schemeClr val="bg2"/>
                          </a:solidFill>
                          <a:effectLst/>
                          <a:latin typeface="Tahoma" panose="020B0604030504040204" pitchFamily="34" charset="0"/>
                        </a:rPr>
                        <a:t>Cash-flow</a:t>
                      </a:r>
                    </a:p>
                  </a:txBody>
                  <a:tcPr horzOverflow="overflow"/>
                </a:tc>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GB" altLang="en-US" sz="2000" b="0" i="0" u="none" strike="noStrike" cap="none" normalizeH="0" baseline="0" dirty="0">
                          <a:ln>
                            <a:noFill/>
                          </a:ln>
                          <a:solidFill>
                            <a:schemeClr val="bg2"/>
                          </a:solidFill>
                          <a:effectLst/>
                          <a:latin typeface="Tahoma" panose="020B0604030504040204" pitchFamily="34" charset="0"/>
                        </a:rPr>
                        <a:t>Accumulated</a:t>
                      </a:r>
                    </a:p>
                  </a:txBody>
                  <a:tcPr horzOverflow="overflow"/>
                </a:tc>
                <a:extLst>
                  <a:ext uri="{0D108BD9-81ED-4DB2-BD59-A6C34878D82A}">
                    <a16:rowId xmlns:a16="http://schemas.microsoft.com/office/drawing/2014/main" val="2686042913"/>
                  </a:ext>
                </a:extLst>
              </a:tr>
              <a:tr h="370840">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altLang="en-US" sz="2000" b="0" i="0" u="none" strike="noStrike" cap="none" normalizeH="0" baseline="0" dirty="0">
                          <a:ln>
                            <a:noFill/>
                          </a:ln>
                          <a:solidFill>
                            <a:schemeClr val="tx1"/>
                          </a:solidFill>
                          <a:effectLst/>
                          <a:latin typeface="Tahoma" panose="020B0604030504040204" pitchFamily="34" charset="0"/>
                        </a:rPr>
                        <a:t>0</a:t>
                      </a:r>
                    </a:p>
                  </a:txBody>
                  <a:tcPr horzOverflow="overflow"/>
                </a:tc>
                <a:tc>
                  <a:txBody>
                    <a:bodyPr/>
                    <a:lstStyle/>
                    <a:p>
                      <a:pPr algn="r"/>
                      <a:r>
                        <a:rPr lang="en-US" sz="2000" dirty="0">
                          <a:latin typeface="Tahoma" panose="020B0604030504040204" pitchFamily="34" charset="0"/>
                          <a:ea typeface="Tahoma" panose="020B0604030504040204" pitchFamily="34" charset="0"/>
                          <a:cs typeface="Tahoma" panose="020B0604030504040204" pitchFamily="34" charset="0"/>
                        </a:rPr>
                        <a:t>-1,20,000</a:t>
                      </a:r>
                    </a:p>
                  </a:txBody>
                  <a:tcPr/>
                </a:tc>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GB" altLang="en-US" sz="2000" b="0" i="0" u="none" strike="noStrike" cap="none" normalizeH="0" baseline="0" dirty="0">
                          <a:ln>
                            <a:noFill/>
                          </a:ln>
                          <a:solidFill>
                            <a:srgbClr val="0000CC"/>
                          </a:solidFill>
                          <a:effectLst/>
                          <a:latin typeface="Tahoma" panose="020B0604030504040204" pitchFamily="34" charset="0"/>
                        </a:rPr>
                        <a:t>-1,20,000</a:t>
                      </a:r>
                    </a:p>
                  </a:txBody>
                  <a:tcPr horzOverflow="overflow"/>
                </a:tc>
                <a:extLst>
                  <a:ext uri="{0D108BD9-81ED-4DB2-BD59-A6C34878D82A}">
                    <a16:rowId xmlns:a16="http://schemas.microsoft.com/office/drawing/2014/main" val="2715192214"/>
                  </a:ext>
                </a:extLst>
              </a:tr>
              <a:tr h="370840">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altLang="en-US" sz="2000" b="0" i="0" u="none" strike="noStrike" cap="none" normalizeH="0" baseline="0" dirty="0">
                          <a:ln>
                            <a:noFill/>
                          </a:ln>
                          <a:solidFill>
                            <a:schemeClr val="tx1"/>
                          </a:solidFill>
                          <a:effectLst/>
                          <a:latin typeface="Tahoma" panose="020B0604030504040204" pitchFamily="34" charset="0"/>
                        </a:rPr>
                        <a:t>1</a:t>
                      </a:r>
                    </a:p>
                  </a:txBody>
                  <a:tcPr horzOverflow="overflow"/>
                </a:tc>
                <a:tc>
                  <a:txBody>
                    <a:bodyPr/>
                    <a:lstStyle/>
                    <a:p>
                      <a:pPr algn="r"/>
                      <a:r>
                        <a:rPr lang="en-US" sz="2000" dirty="0">
                          <a:latin typeface="Tahoma" panose="020B0604030504040204" pitchFamily="34" charset="0"/>
                          <a:ea typeface="Tahoma" panose="020B0604030504040204" pitchFamily="34" charset="0"/>
                          <a:cs typeface="Tahoma" panose="020B0604030504040204" pitchFamily="34" charset="0"/>
                        </a:rPr>
                        <a:t>30,0000</a:t>
                      </a:r>
                    </a:p>
                  </a:txBody>
                  <a:tcPr/>
                </a:tc>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GB" altLang="en-US" sz="2000" b="0" i="0" u="none" strike="noStrike" cap="none" normalizeH="0" baseline="0" dirty="0">
                          <a:ln>
                            <a:noFill/>
                          </a:ln>
                          <a:solidFill>
                            <a:srgbClr val="0000CC"/>
                          </a:solidFill>
                          <a:effectLst/>
                          <a:latin typeface="Tahoma" panose="020B0604030504040204" pitchFamily="34" charset="0"/>
                        </a:rPr>
                        <a:t>-90,000</a:t>
                      </a:r>
                    </a:p>
                  </a:txBody>
                  <a:tcPr horzOverflow="overflow"/>
                </a:tc>
                <a:extLst>
                  <a:ext uri="{0D108BD9-81ED-4DB2-BD59-A6C34878D82A}">
                    <a16:rowId xmlns:a16="http://schemas.microsoft.com/office/drawing/2014/main" val="3098725958"/>
                  </a:ext>
                </a:extLst>
              </a:tr>
              <a:tr h="370840">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altLang="en-US" sz="2000" b="0" i="0" u="none" strike="noStrike" cap="none" normalizeH="0" baseline="0" dirty="0">
                          <a:ln>
                            <a:noFill/>
                          </a:ln>
                          <a:solidFill>
                            <a:schemeClr val="tx1"/>
                          </a:solidFill>
                          <a:effectLst/>
                          <a:latin typeface="Tahoma" panose="020B0604030504040204" pitchFamily="34" charset="0"/>
                        </a:rPr>
                        <a:t>2</a:t>
                      </a:r>
                    </a:p>
                  </a:txBody>
                  <a:tcPr horzOverflow="overflow"/>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2000" dirty="0">
                          <a:latin typeface="Tahoma" panose="020B0604030504040204" pitchFamily="34" charset="0"/>
                          <a:ea typeface="Tahoma" panose="020B0604030504040204" pitchFamily="34" charset="0"/>
                          <a:cs typeface="Tahoma" panose="020B0604030504040204" pitchFamily="34" charset="0"/>
                        </a:rPr>
                        <a:t>30,0000</a:t>
                      </a:r>
                    </a:p>
                  </a:txBody>
                  <a:tcPr/>
                </a:tc>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GB" altLang="en-US" sz="2000" b="0" i="0" u="none" strike="noStrike" cap="none" normalizeH="0" baseline="0" dirty="0">
                          <a:ln>
                            <a:noFill/>
                          </a:ln>
                          <a:solidFill>
                            <a:srgbClr val="0000CC"/>
                          </a:solidFill>
                          <a:effectLst/>
                          <a:latin typeface="Tahoma" panose="020B0604030504040204" pitchFamily="34" charset="0"/>
                        </a:rPr>
                        <a:t>-60,000</a:t>
                      </a:r>
                    </a:p>
                  </a:txBody>
                  <a:tcPr horzOverflow="overflow"/>
                </a:tc>
                <a:extLst>
                  <a:ext uri="{0D108BD9-81ED-4DB2-BD59-A6C34878D82A}">
                    <a16:rowId xmlns:a16="http://schemas.microsoft.com/office/drawing/2014/main" val="929871789"/>
                  </a:ext>
                </a:extLst>
              </a:tr>
              <a:tr h="370840">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altLang="en-US" sz="2000" b="0" i="0" u="none" strike="noStrike" cap="none" normalizeH="0" baseline="0" dirty="0">
                          <a:ln>
                            <a:noFill/>
                          </a:ln>
                          <a:solidFill>
                            <a:schemeClr val="tx1"/>
                          </a:solidFill>
                          <a:effectLst/>
                          <a:latin typeface="Tahoma" panose="020B0604030504040204" pitchFamily="34" charset="0"/>
                        </a:rPr>
                        <a:t>3</a:t>
                      </a:r>
                    </a:p>
                  </a:txBody>
                  <a:tcPr horzOverflow="overflow"/>
                </a:tc>
                <a:tc>
                  <a:txBody>
                    <a:bodyPr/>
                    <a:lstStyle/>
                    <a:p>
                      <a:pPr algn="r"/>
                      <a:r>
                        <a:rPr lang="en-US" sz="2000" dirty="0">
                          <a:latin typeface="Tahoma" panose="020B0604030504040204" pitchFamily="34" charset="0"/>
                          <a:ea typeface="Tahoma" panose="020B0604030504040204" pitchFamily="34" charset="0"/>
                          <a:cs typeface="Tahoma" panose="020B0604030504040204" pitchFamily="34" charset="0"/>
                        </a:rPr>
                        <a:t>30,0000</a:t>
                      </a:r>
                    </a:p>
                  </a:txBody>
                  <a:tcPr/>
                </a:tc>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GB" altLang="en-US" sz="2000" b="0" i="0" u="none" strike="noStrike" cap="none" normalizeH="0" baseline="0" dirty="0">
                          <a:ln>
                            <a:noFill/>
                          </a:ln>
                          <a:solidFill>
                            <a:srgbClr val="0000CC"/>
                          </a:solidFill>
                          <a:effectLst/>
                          <a:latin typeface="Tahoma" panose="020B0604030504040204" pitchFamily="34" charset="0"/>
                        </a:rPr>
                        <a:t>-30,000</a:t>
                      </a:r>
                    </a:p>
                  </a:txBody>
                  <a:tcPr horzOverflow="overflow"/>
                </a:tc>
                <a:extLst>
                  <a:ext uri="{0D108BD9-81ED-4DB2-BD59-A6C34878D82A}">
                    <a16:rowId xmlns:a16="http://schemas.microsoft.com/office/drawing/2014/main" val="292312927"/>
                  </a:ext>
                </a:extLst>
              </a:tr>
              <a:tr h="370840">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altLang="en-US" sz="2000" b="0" i="0" u="none" strike="noStrike" cap="none" normalizeH="0" baseline="0" dirty="0">
                          <a:ln>
                            <a:noFill/>
                          </a:ln>
                          <a:solidFill>
                            <a:schemeClr val="tx1"/>
                          </a:solidFill>
                          <a:effectLst/>
                          <a:latin typeface="Tahoma" panose="020B0604030504040204" pitchFamily="34" charset="0"/>
                        </a:rPr>
                        <a:t>4</a:t>
                      </a:r>
                    </a:p>
                  </a:txBody>
                  <a:tcPr horzOverflow="overflow"/>
                </a:tc>
                <a:tc>
                  <a:txBody>
                    <a:bodyPr/>
                    <a:lstStyle/>
                    <a:p>
                      <a:pPr algn="r"/>
                      <a:r>
                        <a:rPr lang="en-US" sz="2000" dirty="0">
                          <a:latin typeface="Tahoma" panose="020B0604030504040204" pitchFamily="34" charset="0"/>
                          <a:ea typeface="Tahoma" panose="020B0604030504040204" pitchFamily="34" charset="0"/>
                          <a:cs typeface="Tahoma" panose="020B0604030504040204" pitchFamily="34" charset="0"/>
                        </a:rPr>
                        <a:t>30,0000</a:t>
                      </a:r>
                    </a:p>
                  </a:txBody>
                  <a:tcPr/>
                </a:tc>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GB" altLang="en-US" sz="2000" b="0" i="0" u="none" strike="noStrike" cap="none" normalizeH="0" baseline="0" dirty="0">
                          <a:ln>
                            <a:noFill/>
                          </a:ln>
                          <a:solidFill>
                            <a:srgbClr val="C00000"/>
                          </a:solidFill>
                          <a:effectLst/>
                          <a:latin typeface="Tahoma" panose="020B0604030504040204" pitchFamily="34" charset="0"/>
                        </a:rPr>
                        <a:t>0</a:t>
                      </a:r>
                    </a:p>
                  </a:txBody>
                  <a:tcPr horzOverflow="overflow"/>
                </a:tc>
                <a:extLst>
                  <a:ext uri="{0D108BD9-81ED-4DB2-BD59-A6C34878D82A}">
                    <a16:rowId xmlns:a16="http://schemas.microsoft.com/office/drawing/2014/main" val="2077385687"/>
                  </a:ext>
                </a:extLst>
              </a:tr>
              <a:tr h="370840">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altLang="en-US" sz="2000" b="0" i="0" u="none" strike="noStrike" cap="none" normalizeH="0" baseline="0" dirty="0">
                          <a:ln>
                            <a:noFill/>
                          </a:ln>
                          <a:solidFill>
                            <a:schemeClr val="tx1"/>
                          </a:solidFill>
                          <a:effectLst/>
                          <a:latin typeface="Tahoma" panose="020B0604030504040204" pitchFamily="34" charset="0"/>
                        </a:rPr>
                        <a:t>5</a:t>
                      </a:r>
                    </a:p>
                  </a:txBody>
                  <a:tcPr anchor="ctr" horzOverflow="overflow"/>
                </a:tc>
                <a:tc>
                  <a:txBody>
                    <a:bodyPr/>
                    <a:lstStyle/>
                    <a:p>
                      <a:pPr algn="r"/>
                      <a:r>
                        <a:rPr lang="en-US" sz="2000" dirty="0">
                          <a:latin typeface="Tahoma" panose="020B0604030504040204" pitchFamily="34" charset="0"/>
                          <a:ea typeface="Tahoma" panose="020B0604030504040204" pitchFamily="34" charset="0"/>
                          <a:cs typeface="Tahoma" panose="020B0604030504040204" pitchFamily="34" charset="0"/>
                        </a:rPr>
                        <a:t>75,000</a:t>
                      </a:r>
                    </a:p>
                  </a:txBody>
                  <a:tcPr/>
                </a:tc>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GB" altLang="en-US" sz="2000" b="0" i="0" u="none" strike="noStrike" cap="none" normalizeH="0" baseline="0" dirty="0">
                          <a:ln>
                            <a:noFill/>
                          </a:ln>
                          <a:solidFill>
                            <a:srgbClr val="0000CC"/>
                          </a:solidFill>
                          <a:effectLst/>
                          <a:latin typeface="Tahoma" panose="020B0604030504040204" pitchFamily="34" charset="0"/>
                        </a:rPr>
                        <a:t>75,000</a:t>
                      </a:r>
                    </a:p>
                  </a:txBody>
                  <a:tcPr anchor="ctr" horzOverflow="overflow"/>
                </a:tc>
                <a:extLst>
                  <a:ext uri="{0D108BD9-81ED-4DB2-BD59-A6C34878D82A}">
                    <a16:rowId xmlns:a16="http://schemas.microsoft.com/office/drawing/2014/main" val="3884061334"/>
                  </a:ext>
                </a:extLst>
              </a:tr>
            </a:tbl>
          </a:graphicData>
        </a:graphic>
      </p:graphicFrame>
    </p:spTree>
    <p:extLst>
      <p:ext uri="{BB962C8B-B14F-4D97-AF65-F5344CB8AC3E}">
        <p14:creationId xmlns:p14="http://schemas.microsoft.com/office/powerpoint/2010/main" val="17453408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Payback period</a:t>
            </a:r>
          </a:p>
        </p:txBody>
      </p:sp>
      <p:sp>
        <p:nvSpPr>
          <p:cNvPr id="3" name="Content Placeholder 2"/>
          <p:cNvSpPr>
            <a:spLocks noGrp="1"/>
          </p:cNvSpPr>
          <p:nvPr>
            <p:ph idx="1"/>
          </p:nvPr>
        </p:nvSpPr>
        <p:spPr/>
        <p:txBody>
          <a:bodyPr>
            <a:normAutofit/>
          </a:bodyPr>
          <a:lstStyle/>
          <a:p>
            <a:r>
              <a:rPr lang="en-IN" dirty="0"/>
              <a:t>Advantage:</a:t>
            </a:r>
          </a:p>
          <a:p>
            <a:pPr lvl="1"/>
            <a:r>
              <a:rPr lang="en-IN" dirty="0"/>
              <a:t>Simple to calculate</a:t>
            </a:r>
          </a:p>
          <a:p>
            <a:pPr lvl="1"/>
            <a:r>
              <a:rPr lang="en-IN" dirty="0"/>
              <a:t>Not particularly sensitive to small forecasting errors</a:t>
            </a:r>
          </a:p>
          <a:p>
            <a:r>
              <a:rPr lang="en-IN" dirty="0"/>
              <a:t>Disadvantage</a:t>
            </a:r>
          </a:p>
          <a:p>
            <a:pPr lvl="1"/>
            <a:r>
              <a:rPr lang="en-IN" dirty="0"/>
              <a:t>It ignores overall profitability, totally ignores any income (expenditure)</a:t>
            </a:r>
          </a:p>
        </p:txBody>
      </p:sp>
      <p:sp>
        <p:nvSpPr>
          <p:cNvPr id="4" name="Date Placeholder 3"/>
          <p:cNvSpPr>
            <a:spLocks noGrp="1"/>
          </p:cNvSpPr>
          <p:nvPr>
            <p:ph type="dt" sz="half" idx="10"/>
          </p:nvPr>
        </p:nvSpPr>
        <p:spPr/>
        <p:txBody>
          <a:bodyPr/>
          <a:lstStyle/>
          <a:p>
            <a:fld id="{13DCB0DB-8DD8-49BE-8892-3C862A321C96}" type="datetime3">
              <a:rPr lang="en-US" smtClean="0"/>
              <a:t>28 November 2023</a:t>
            </a:fld>
            <a:endParaRPr lang="en-US" dirty="0"/>
          </a:p>
        </p:txBody>
      </p:sp>
      <p:sp>
        <p:nvSpPr>
          <p:cNvPr id="5" name="Footer Placeholder 4"/>
          <p:cNvSpPr>
            <a:spLocks noGrp="1"/>
          </p:cNvSpPr>
          <p:nvPr>
            <p:ph type="ftr" sz="quarter" idx="11"/>
          </p:nvPr>
        </p:nvSpPr>
        <p:spPr/>
        <p:txBody>
          <a:bodyPr/>
          <a:lstStyle/>
          <a:p>
            <a:r>
              <a:rPr lang="en-US"/>
              <a:t>Software Project Management       Dr. D Evangelin Geetha    Dept. of MCA     RIT</a:t>
            </a:r>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27</a:t>
            </a:fld>
            <a:endParaRPr lang="en-US" dirty="0"/>
          </a:p>
        </p:txBody>
      </p:sp>
    </p:spTree>
    <p:extLst>
      <p:ext uri="{BB962C8B-B14F-4D97-AF65-F5344CB8AC3E}">
        <p14:creationId xmlns:p14="http://schemas.microsoft.com/office/powerpoint/2010/main" val="363640978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p:txBody>
          <a:bodyPr/>
          <a:lstStyle/>
          <a:p>
            <a:r>
              <a:rPr lang="en-GB" altLang="en-US"/>
              <a:t>Return on investment (ROI)</a:t>
            </a:r>
          </a:p>
        </p:txBody>
      </p:sp>
      <p:sp>
        <p:nvSpPr>
          <p:cNvPr id="37891" name="Rectangle 3"/>
          <p:cNvSpPr>
            <a:spLocks noGrp="1" noChangeArrowheads="1"/>
          </p:cNvSpPr>
          <p:nvPr>
            <p:ph idx="1"/>
          </p:nvPr>
        </p:nvSpPr>
        <p:spPr/>
        <p:txBody>
          <a:bodyPr/>
          <a:lstStyle/>
          <a:p>
            <a:pPr>
              <a:buFontTx/>
              <a:buNone/>
            </a:pPr>
            <a:r>
              <a:rPr lang="en-GB" altLang="en-US" dirty="0"/>
              <a:t>ROI = </a:t>
            </a:r>
          </a:p>
        </p:txBody>
      </p:sp>
      <p:sp>
        <p:nvSpPr>
          <p:cNvPr id="8" name="Slide Number Placeholder 4"/>
          <p:cNvSpPr>
            <a:spLocks noGrp="1"/>
          </p:cNvSpPr>
          <p:nvPr>
            <p:ph type="sldNum" sz="quarter" idx="12"/>
          </p:nvPr>
        </p:nvSpPr>
        <p:spPr/>
        <p:txBody>
          <a:bodyPr/>
          <a:lstStyle/>
          <a:p>
            <a:fld id="{A332C382-FACD-460C-BCB4-F0E209B2EB72}" type="slidenum">
              <a:rPr lang="en-US" altLang="en-US"/>
              <a:pPr/>
              <a:t>28</a:t>
            </a:fld>
            <a:endParaRPr lang="en-US" altLang="en-US"/>
          </a:p>
        </p:txBody>
      </p:sp>
      <p:sp>
        <p:nvSpPr>
          <p:cNvPr id="37895" name="Text Box 7"/>
          <p:cNvSpPr txBox="1">
            <a:spLocks noChangeArrowheads="1"/>
          </p:cNvSpPr>
          <p:nvPr/>
        </p:nvSpPr>
        <p:spPr bwMode="auto">
          <a:xfrm>
            <a:off x="3048410" y="2015732"/>
            <a:ext cx="2833917"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GB" altLang="en-US" sz="2400" u="sng" dirty="0"/>
              <a:t>Average annual profit</a:t>
            </a:r>
          </a:p>
          <a:p>
            <a:r>
              <a:rPr lang="en-GB" altLang="en-US" sz="2400" dirty="0"/>
              <a:t>Total investment</a:t>
            </a:r>
          </a:p>
        </p:txBody>
      </p:sp>
      <p:sp>
        <p:nvSpPr>
          <p:cNvPr id="37896" name="Text Box 8"/>
          <p:cNvSpPr txBox="1">
            <a:spLocks noChangeArrowheads="1"/>
          </p:cNvSpPr>
          <p:nvPr/>
        </p:nvSpPr>
        <p:spPr bwMode="auto">
          <a:xfrm>
            <a:off x="7535863" y="1484313"/>
            <a:ext cx="1841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US" altLang="en-US" sz="2400"/>
          </a:p>
        </p:txBody>
      </p:sp>
      <p:sp>
        <p:nvSpPr>
          <p:cNvPr id="37897" name="Text Box 9"/>
          <p:cNvSpPr txBox="1">
            <a:spLocks noChangeArrowheads="1"/>
          </p:cNvSpPr>
          <p:nvPr/>
        </p:nvSpPr>
        <p:spPr bwMode="auto">
          <a:xfrm>
            <a:off x="5882327" y="2223833"/>
            <a:ext cx="9810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GB" altLang="en-US" sz="2400" dirty="0"/>
              <a:t>X 100</a:t>
            </a:r>
          </a:p>
        </p:txBody>
      </p:sp>
      <p:sp>
        <p:nvSpPr>
          <p:cNvPr id="37898" name="Text Box 10"/>
          <p:cNvSpPr txBox="1">
            <a:spLocks noChangeArrowheads="1"/>
          </p:cNvSpPr>
          <p:nvPr/>
        </p:nvSpPr>
        <p:spPr bwMode="auto">
          <a:xfrm>
            <a:off x="889462" y="3068639"/>
            <a:ext cx="7780713" cy="2970044"/>
          </a:xfrm>
          <a:prstGeom prst="rect">
            <a:avLst/>
          </a:prstGeom>
          <a:noFill/>
          <a:ln w="9525">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GB" altLang="en-US" sz="2800" dirty="0"/>
              <a:t>In the previous example (Project 1 and 3) </a:t>
            </a:r>
          </a:p>
          <a:p>
            <a:r>
              <a:rPr lang="en-GB" altLang="en-US" sz="2800" dirty="0"/>
              <a:t>Investment – 1,00,000, Net Profit – 50,000 </a:t>
            </a:r>
          </a:p>
          <a:p>
            <a:endParaRPr lang="en-GB" altLang="en-US" sz="900" dirty="0"/>
          </a:p>
          <a:p>
            <a:pPr>
              <a:buFontTx/>
              <a:buChar char="•"/>
            </a:pPr>
            <a:r>
              <a:rPr lang="en-GB" altLang="en-US" sz="2800" dirty="0"/>
              <a:t>  average annual profit </a:t>
            </a:r>
            <a:br>
              <a:rPr lang="en-GB" altLang="en-US" sz="2800" dirty="0"/>
            </a:br>
            <a:r>
              <a:rPr lang="en-GB" altLang="en-US" sz="2800" dirty="0"/>
              <a:t>	= 50,000/5  </a:t>
            </a:r>
            <a:br>
              <a:rPr lang="en-GB" altLang="en-US" sz="2800" dirty="0"/>
            </a:br>
            <a:r>
              <a:rPr lang="en-GB" altLang="en-US" sz="2800" dirty="0"/>
              <a:t>	=10,000</a:t>
            </a:r>
          </a:p>
          <a:p>
            <a:endParaRPr lang="en-GB" altLang="en-US" sz="1000" dirty="0"/>
          </a:p>
          <a:p>
            <a:pPr>
              <a:buFontTx/>
              <a:buChar char="•"/>
            </a:pPr>
            <a:r>
              <a:rPr lang="en-GB" altLang="en-US" sz="2800" dirty="0"/>
              <a:t> ROI 	= 10,000/ 1,00,000X 100	=  10% </a:t>
            </a:r>
          </a:p>
        </p:txBody>
      </p:sp>
    </p:spTree>
    <p:extLst>
      <p:ext uri="{BB962C8B-B14F-4D97-AF65-F5344CB8AC3E}">
        <p14:creationId xmlns:p14="http://schemas.microsoft.com/office/powerpoint/2010/main" val="177650619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p:txBody>
          <a:bodyPr/>
          <a:lstStyle/>
          <a:p>
            <a:r>
              <a:rPr lang="en-GB" altLang="en-US"/>
              <a:t>Return on investment (ROI)</a:t>
            </a:r>
          </a:p>
        </p:txBody>
      </p:sp>
      <p:sp>
        <p:nvSpPr>
          <p:cNvPr id="37891" name="Rectangle 3"/>
          <p:cNvSpPr>
            <a:spLocks noGrp="1" noChangeArrowheads="1"/>
          </p:cNvSpPr>
          <p:nvPr>
            <p:ph idx="1"/>
          </p:nvPr>
        </p:nvSpPr>
        <p:spPr/>
        <p:txBody>
          <a:bodyPr/>
          <a:lstStyle/>
          <a:p>
            <a:pPr>
              <a:buFontTx/>
              <a:buNone/>
            </a:pPr>
            <a:r>
              <a:rPr lang="en-GB" altLang="en-US" dirty="0"/>
              <a:t>ROI = </a:t>
            </a:r>
          </a:p>
        </p:txBody>
      </p:sp>
      <p:sp>
        <p:nvSpPr>
          <p:cNvPr id="8" name="Slide Number Placeholder 4"/>
          <p:cNvSpPr>
            <a:spLocks noGrp="1"/>
          </p:cNvSpPr>
          <p:nvPr>
            <p:ph type="sldNum" sz="quarter" idx="12"/>
          </p:nvPr>
        </p:nvSpPr>
        <p:spPr/>
        <p:txBody>
          <a:bodyPr/>
          <a:lstStyle/>
          <a:p>
            <a:fld id="{A332C382-FACD-460C-BCB4-F0E209B2EB72}" type="slidenum">
              <a:rPr lang="en-US" altLang="en-US"/>
              <a:pPr/>
              <a:t>29</a:t>
            </a:fld>
            <a:endParaRPr lang="en-US" altLang="en-US"/>
          </a:p>
        </p:txBody>
      </p:sp>
      <p:sp>
        <p:nvSpPr>
          <p:cNvPr id="37895" name="Text Box 7"/>
          <p:cNvSpPr txBox="1">
            <a:spLocks noChangeArrowheads="1"/>
          </p:cNvSpPr>
          <p:nvPr/>
        </p:nvSpPr>
        <p:spPr bwMode="auto">
          <a:xfrm>
            <a:off x="3048410" y="2015732"/>
            <a:ext cx="2833917"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GB" altLang="en-US" sz="2400" u="sng" dirty="0"/>
              <a:t>Average annual profit</a:t>
            </a:r>
          </a:p>
          <a:p>
            <a:r>
              <a:rPr lang="en-GB" altLang="en-US" sz="2400" dirty="0"/>
              <a:t>Total investment</a:t>
            </a:r>
          </a:p>
        </p:txBody>
      </p:sp>
      <p:sp>
        <p:nvSpPr>
          <p:cNvPr id="37896" name="Text Box 8"/>
          <p:cNvSpPr txBox="1">
            <a:spLocks noChangeArrowheads="1"/>
          </p:cNvSpPr>
          <p:nvPr/>
        </p:nvSpPr>
        <p:spPr bwMode="auto">
          <a:xfrm>
            <a:off x="7535863" y="1484313"/>
            <a:ext cx="1841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US" altLang="en-US" sz="2400"/>
          </a:p>
        </p:txBody>
      </p:sp>
      <p:sp>
        <p:nvSpPr>
          <p:cNvPr id="37897" name="Text Box 9"/>
          <p:cNvSpPr txBox="1">
            <a:spLocks noChangeArrowheads="1"/>
          </p:cNvSpPr>
          <p:nvPr/>
        </p:nvSpPr>
        <p:spPr bwMode="auto">
          <a:xfrm>
            <a:off x="5882327" y="2223833"/>
            <a:ext cx="9810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GB" altLang="en-US" sz="2400" dirty="0"/>
              <a:t>X 100</a:t>
            </a:r>
          </a:p>
        </p:txBody>
      </p:sp>
      <p:sp>
        <p:nvSpPr>
          <p:cNvPr id="37898" name="Text Box 10"/>
          <p:cNvSpPr txBox="1">
            <a:spLocks noChangeArrowheads="1"/>
          </p:cNvSpPr>
          <p:nvPr/>
        </p:nvSpPr>
        <p:spPr bwMode="auto">
          <a:xfrm>
            <a:off x="889462" y="3068639"/>
            <a:ext cx="7780713" cy="2970044"/>
          </a:xfrm>
          <a:prstGeom prst="rect">
            <a:avLst/>
          </a:prstGeom>
          <a:noFill/>
          <a:ln w="9525">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GB" altLang="en-US" sz="2800" dirty="0"/>
              <a:t>In the previous example (Project 2) </a:t>
            </a:r>
          </a:p>
          <a:p>
            <a:r>
              <a:rPr lang="en-GB" altLang="en-US" sz="2800" dirty="0"/>
              <a:t>Investment – 10,00,000, Net Profit – 1,00,000 </a:t>
            </a:r>
          </a:p>
          <a:p>
            <a:endParaRPr lang="en-GB" altLang="en-US" sz="900" dirty="0"/>
          </a:p>
          <a:p>
            <a:pPr>
              <a:buFontTx/>
              <a:buChar char="•"/>
            </a:pPr>
            <a:r>
              <a:rPr lang="en-GB" altLang="en-US" sz="2800" dirty="0"/>
              <a:t>  average annual profit </a:t>
            </a:r>
            <a:br>
              <a:rPr lang="en-GB" altLang="en-US" sz="2800" dirty="0"/>
            </a:br>
            <a:r>
              <a:rPr lang="en-GB" altLang="en-US" sz="2800" dirty="0"/>
              <a:t>	= 1,00,000/5  </a:t>
            </a:r>
            <a:br>
              <a:rPr lang="en-GB" altLang="en-US" sz="2800" dirty="0"/>
            </a:br>
            <a:r>
              <a:rPr lang="en-GB" altLang="en-US" sz="2800" dirty="0"/>
              <a:t>	= 20,000</a:t>
            </a:r>
          </a:p>
          <a:p>
            <a:endParaRPr lang="en-GB" altLang="en-US" sz="1000" dirty="0"/>
          </a:p>
          <a:p>
            <a:pPr>
              <a:buFontTx/>
              <a:buChar char="•"/>
            </a:pPr>
            <a:r>
              <a:rPr lang="en-GB" altLang="en-US" sz="2800" dirty="0"/>
              <a:t> ROI 	= 20,000/10,00,000 X 100	=  2% </a:t>
            </a:r>
          </a:p>
        </p:txBody>
      </p:sp>
    </p:spTree>
    <p:extLst>
      <p:ext uri="{BB962C8B-B14F-4D97-AF65-F5344CB8AC3E}">
        <p14:creationId xmlns:p14="http://schemas.microsoft.com/office/powerpoint/2010/main" val="2111245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p:txBody>
          <a:bodyPr/>
          <a:lstStyle/>
          <a:p>
            <a:r>
              <a:rPr lang="en-GB" altLang="en-US"/>
              <a:t>Return on investment (ROI)</a:t>
            </a:r>
          </a:p>
        </p:txBody>
      </p:sp>
      <p:sp>
        <p:nvSpPr>
          <p:cNvPr id="37891" name="Rectangle 3"/>
          <p:cNvSpPr>
            <a:spLocks noGrp="1" noChangeArrowheads="1"/>
          </p:cNvSpPr>
          <p:nvPr>
            <p:ph idx="1"/>
          </p:nvPr>
        </p:nvSpPr>
        <p:spPr/>
        <p:txBody>
          <a:bodyPr/>
          <a:lstStyle/>
          <a:p>
            <a:pPr>
              <a:buFontTx/>
              <a:buNone/>
            </a:pPr>
            <a:r>
              <a:rPr lang="en-GB" altLang="en-US" dirty="0"/>
              <a:t>ROI = </a:t>
            </a:r>
          </a:p>
        </p:txBody>
      </p:sp>
      <p:sp>
        <p:nvSpPr>
          <p:cNvPr id="8" name="Slide Number Placeholder 4"/>
          <p:cNvSpPr>
            <a:spLocks noGrp="1"/>
          </p:cNvSpPr>
          <p:nvPr>
            <p:ph type="sldNum" sz="quarter" idx="12"/>
          </p:nvPr>
        </p:nvSpPr>
        <p:spPr/>
        <p:txBody>
          <a:bodyPr/>
          <a:lstStyle/>
          <a:p>
            <a:fld id="{A332C382-FACD-460C-BCB4-F0E209B2EB72}" type="slidenum">
              <a:rPr lang="en-US" altLang="en-US"/>
              <a:pPr/>
              <a:t>30</a:t>
            </a:fld>
            <a:endParaRPr lang="en-US" altLang="en-US"/>
          </a:p>
        </p:txBody>
      </p:sp>
      <p:sp>
        <p:nvSpPr>
          <p:cNvPr id="37895" name="Text Box 7"/>
          <p:cNvSpPr txBox="1">
            <a:spLocks noChangeArrowheads="1"/>
          </p:cNvSpPr>
          <p:nvPr/>
        </p:nvSpPr>
        <p:spPr bwMode="auto">
          <a:xfrm>
            <a:off x="3048410" y="2015732"/>
            <a:ext cx="2833917"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GB" altLang="en-US" sz="2400" u="sng" dirty="0"/>
              <a:t>Average annual profit</a:t>
            </a:r>
          </a:p>
          <a:p>
            <a:r>
              <a:rPr lang="en-GB" altLang="en-US" sz="2400" dirty="0"/>
              <a:t>Total investment</a:t>
            </a:r>
          </a:p>
        </p:txBody>
      </p:sp>
      <p:sp>
        <p:nvSpPr>
          <p:cNvPr id="37896" name="Text Box 8"/>
          <p:cNvSpPr txBox="1">
            <a:spLocks noChangeArrowheads="1"/>
          </p:cNvSpPr>
          <p:nvPr/>
        </p:nvSpPr>
        <p:spPr bwMode="auto">
          <a:xfrm>
            <a:off x="7535863" y="1484313"/>
            <a:ext cx="1841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US" altLang="en-US" sz="2400"/>
          </a:p>
        </p:txBody>
      </p:sp>
      <p:sp>
        <p:nvSpPr>
          <p:cNvPr id="37897" name="Text Box 9"/>
          <p:cNvSpPr txBox="1">
            <a:spLocks noChangeArrowheads="1"/>
          </p:cNvSpPr>
          <p:nvPr/>
        </p:nvSpPr>
        <p:spPr bwMode="auto">
          <a:xfrm>
            <a:off x="5882327" y="2223833"/>
            <a:ext cx="9810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GB" altLang="en-US" sz="2400" dirty="0"/>
              <a:t>X 100</a:t>
            </a:r>
          </a:p>
        </p:txBody>
      </p:sp>
      <p:sp>
        <p:nvSpPr>
          <p:cNvPr id="37898" name="Text Box 10"/>
          <p:cNvSpPr txBox="1">
            <a:spLocks noChangeArrowheads="1"/>
          </p:cNvSpPr>
          <p:nvPr/>
        </p:nvSpPr>
        <p:spPr bwMode="auto">
          <a:xfrm>
            <a:off x="889462" y="3068639"/>
            <a:ext cx="7780713" cy="2970044"/>
          </a:xfrm>
          <a:prstGeom prst="rect">
            <a:avLst/>
          </a:prstGeom>
          <a:noFill/>
          <a:ln w="9525">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GB" altLang="en-US" sz="2800" dirty="0"/>
              <a:t>In the previous example (Project 4) </a:t>
            </a:r>
          </a:p>
          <a:p>
            <a:r>
              <a:rPr lang="en-GB" altLang="en-US" sz="2800" dirty="0"/>
              <a:t>Investment – 1,20,000, Net Profit – 75,000 </a:t>
            </a:r>
          </a:p>
          <a:p>
            <a:endParaRPr lang="en-GB" altLang="en-US" sz="900" dirty="0"/>
          </a:p>
          <a:p>
            <a:pPr>
              <a:buFontTx/>
              <a:buChar char="•"/>
            </a:pPr>
            <a:r>
              <a:rPr lang="en-GB" altLang="en-US" sz="2800" dirty="0"/>
              <a:t>  average annual profit </a:t>
            </a:r>
            <a:br>
              <a:rPr lang="en-GB" altLang="en-US" sz="2800" dirty="0"/>
            </a:br>
            <a:r>
              <a:rPr lang="en-GB" altLang="en-US" sz="2800" dirty="0"/>
              <a:t>	= 75,000/5  </a:t>
            </a:r>
            <a:br>
              <a:rPr lang="en-GB" altLang="en-US" sz="2800" dirty="0"/>
            </a:br>
            <a:r>
              <a:rPr lang="en-GB" altLang="en-US" sz="2800" dirty="0"/>
              <a:t>	= 15,000</a:t>
            </a:r>
          </a:p>
          <a:p>
            <a:endParaRPr lang="en-GB" altLang="en-US" sz="1000" dirty="0"/>
          </a:p>
          <a:p>
            <a:pPr>
              <a:buFontTx/>
              <a:buChar char="•"/>
            </a:pPr>
            <a:r>
              <a:rPr lang="en-GB" altLang="en-US" sz="2800" dirty="0"/>
              <a:t> ROI 	= 15,000/1,20,000 X 100	= 12.5 % </a:t>
            </a:r>
          </a:p>
        </p:txBody>
      </p:sp>
    </p:spTree>
    <p:extLst>
      <p:ext uri="{BB962C8B-B14F-4D97-AF65-F5344CB8AC3E}">
        <p14:creationId xmlns:p14="http://schemas.microsoft.com/office/powerpoint/2010/main" val="8976591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fld id="{48641013-E156-458A-8195-74C021AB5A2D}" type="slidenum">
              <a:rPr lang="en-US" altLang="en-US"/>
              <a:pPr/>
              <a:t>31</a:t>
            </a:fld>
            <a:endParaRPr lang="en-US" altLang="en-US"/>
          </a:p>
        </p:txBody>
      </p:sp>
      <p:sp>
        <p:nvSpPr>
          <p:cNvPr id="40962" name="Rectangle 2"/>
          <p:cNvSpPr>
            <a:spLocks noGrp="1" noChangeArrowheads="1"/>
          </p:cNvSpPr>
          <p:nvPr>
            <p:ph type="title"/>
          </p:nvPr>
        </p:nvSpPr>
        <p:spPr>
          <a:xfrm>
            <a:off x="2279650" y="260350"/>
            <a:ext cx="7772400" cy="1143000"/>
          </a:xfrm>
        </p:spPr>
        <p:txBody>
          <a:bodyPr/>
          <a:lstStyle/>
          <a:p>
            <a:r>
              <a:rPr lang="en-GB" altLang="en-US" b="1"/>
              <a:t>Net present value</a:t>
            </a:r>
          </a:p>
        </p:txBody>
      </p:sp>
      <p:sp>
        <p:nvSpPr>
          <p:cNvPr id="40963" name="Rectangle 3"/>
          <p:cNvSpPr>
            <a:spLocks noGrp="1" noChangeArrowheads="1"/>
          </p:cNvSpPr>
          <p:nvPr>
            <p:ph type="body" idx="1"/>
          </p:nvPr>
        </p:nvSpPr>
        <p:spPr>
          <a:xfrm>
            <a:off x="2279650" y="1929161"/>
            <a:ext cx="7772400" cy="3885852"/>
          </a:xfrm>
        </p:spPr>
        <p:txBody>
          <a:bodyPr>
            <a:normAutofit fontScale="92500" lnSpcReduction="10000"/>
          </a:bodyPr>
          <a:lstStyle/>
          <a:p>
            <a:pPr>
              <a:lnSpc>
                <a:spcPct val="90000"/>
              </a:lnSpc>
              <a:buFontTx/>
              <a:buNone/>
            </a:pPr>
            <a:r>
              <a:rPr lang="en-GB" altLang="en-US" dirty="0"/>
              <a:t>	Would you rather I gave you $100 today or in 12 months time?</a:t>
            </a:r>
          </a:p>
          <a:p>
            <a:pPr>
              <a:lnSpc>
                <a:spcPct val="90000"/>
              </a:lnSpc>
              <a:buFontTx/>
              <a:buNone/>
            </a:pPr>
            <a:endParaRPr lang="en-GB" altLang="en-US" sz="900" dirty="0"/>
          </a:p>
          <a:p>
            <a:pPr>
              <a:lnSpc>
                <a:spcPct val="90000"/>
              </a:lnSpc>
              <a:buFontTx/>
              <a:buNone/>
            </a:pPr>
            <a:r>
              <a:rPr lang="en-GB" altLang="en-US" dirty="0"/>
              <a:t>	If I gave you $100 now you </a:t>
            </a:r>
            <a:r>
              <a:rPr lang="en-GB" altLang="en-US" i="1" dirty="0"/>
              <a:t>could</a:t>
            </a:r>
            <a:r>
              <a:rPr lang="en-GB" altLang="en-US" dirty="0"/>
              <a:t> put it in savings account and get interest on it.</a:t>
            </a:r>
          </a:p>
          <a:p>
            <a:pPr>
              <a:lnSpc>
                <a:spcPct val="90000"/>
              </a:lnSpc>
              <a:buFontTx/>
              <a:buNone/>
            </a:pPr>
            <a:endParaRPr lang="en-GB" altLang="en-US" sz="900" dirty="0"/>
          </a:p>
          <a:p>
            <a:pPr>
              <a:lnSpc>
                <a:spcPct val="90000"/>
              </a:lnSpc>
              <a:buFontTx/>
              <a:buNone/>
            </a:pPr>
            <a:r>
              <a:rPr lang="en-GB" altLang="en-US" dirty="0"/>
              <a:t>	If the interest rate was 10% how much would I have to invest now to get $100 in a year’s time?</a:t>
            </a:r>
          </a:p>
          <a:p>
            <a:pPr>
              <a:lnSpc>
                <a:spcPct val="90000"/>
              </a:lnSpc>
              <a:buFontTx/>
              <a:buNone/>
            </a:pPr>
            <a:endParaRPr lang="en-GB" altLang="en-US" sz="900" dirty="0"/>
          </a:p>
          <a:p>
            <a:pPr>
              <a:lnSpc>
                <a:spcPct val="90000"/>
              </a:lnSpc>
              <a:buFontTx/>
              <a:buNone/>
            </a:pPr>
            <a:r>
              <a:rPr lang="en-GB" altLang="en-US" dirty="0"/>
              <a:t>	This figure is the </a:t>
            </a:r>
            <a:r>
              <a:rPr lang="en-GB" altLang="en-US" i="1" dirty="0"/>
              <a:t>net present value</a:t>
            </a:r>
            <a:r>
              <a:rPr lang="en-GB" altLang="en-US" dirty="0"/>
              <a:t> of $100 in one year’s time</a:t>
            </a:r>
          </a:p>
        </p:txBody>
      </p:sp>
      <p:sp>
        <p:nvSpPr>
          <p:cNvPr id="2" name="Date Placeholder 1"/>
          <p:cNvSpPr>
            <a:spLocks noGrp="1"/>
          </p:cNvSpPr>
          <p:nvPr>
            <p:ph type="dt" sz="half" idx="10"/>
          </p:nvPr>
        </p:nvSpPr>
        <p:spPr/>
        <p:txBody>
          <a:bodyPr/>
          <a:lstStyle/>
          <a:p>
            <a:fld id="{5DFDFE88-AA7F-4865-A3E8-90CC43384E9C}" type="datetime3">
              <a:rPr lang="en-US" smtClean="0"/>
              <a:t>28 November 2023</a:t>
            </a:fld>
            <a:endParaRPr lang="en-US" dirty="0"/>
          </a:p>
        </p:txBody>
      </p:sp>
      <p:sp>
        <p:nvSpPr>
          <p:cNvPr id="3" name="Footer Placeholder 2"/>
          <p:cNvSpPr>
            <a:spLocks noGrp="1"/>
          </p:cNvSpPr>
          <p:nvPr>
            <p:ph type="ftr" sz="quarter" idx="11"/>
          </p:nvPr>
        </p:nvSpPr>
        <p:spPr/>
        <p:txBody>
          <a:bodyPr/>
          <a:lstStyle/>
          <a:p>
            <a:r>
              <a:rPr lang="en-US"/>
              <a:t>Software Project Management       Dr. D Evangelin Geetha    Dept. of MCA     RIT</a:t>
            </a:r>
            <a:endParaRPr lang="en-US" dirty="0"/>
          </a:p>
        </p:txBody>
      </p:sp>
    </p:spTree>
    <p:extLst>
      <p:ext uri="{BB962C8B-B14F-4D97-AF65-F5344CB8AC3E}">
        <p14:creationId xmlns:p14="http://schemas.microsoft.com/office/powerpoint/2010/main" val="42953206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fld id="{50213E5C-A9DC-4959-9C95-068BD8FD78E1}" type="slidenum">
              <a:rPr lang="en-US" altLang="en-US"/>
              <a:pPr/>
              <a:t>32</a:t>
            </a:fld>
            <a:endParaRPr lang="en-US" altLang="en-US"/>
          </a:p>
        </p:txBody>
      </p:sp>
      <p:sp>
        <p:nvSpPr>
          <p:cNvPr id="43010" name="Rectangle 2"/>
          <p:cNvSpPr>
            <a:spLocks noGrp="1" noChangeArrowheads="1"/>
          </p:cNvSpPr>
          <p:nvPr>
            <p:ph type="title"/>
          </p:nvPr>
        </p:nvSpPr>
        <p:spPr>
          <a:xfrm>
            <a:off x="2208213" y="188913"/>
            <a:ext cx="7772400" cy="1143000"/>
          </a:xfrm>
        </p:spPr>
        <p:txBody>
          <a:bodyPr/>
          <a:lstStyle/>
          <a:p>
            <a:r>
              <a:rPr lang="en-GB" altLang="en-US" b="1"/>
              <a:t>Discount factor</a:t>
            </a:r>
          </a:p>
        </p:txBody>
      </p:sp>
      <mc:AlternateContent xmlns:mc="http://schemas.openxmlformats.org/markup-compatibility/2006" xmlns:a14="http://schemas.microsoft.com/office/drawing/2010/main">
        <mc:Choice Requires="a14">
          <p:sp>
            <p:nvSpPr>
              <p:cNvPr id="43011" name="Rectangle 3"/>
              <p:cNvSpPr>
                <a:spLocks noGrp="1" noChangeArrowheads="1"/>
              </p:cNvSpPr>
              <p:nvPr>
                <p:ph type="body" idx="1"/>
              </p:nvPr>
            </p:nvSpPr>
            <p:spPr>
              <a:xfrm>
                <a:off x="2208213" y="1412875"/>
                <a:ext cx="7626350" cy="4254500"/>
              </a:xfrm>
            </p:spPr>
            <p:txBody>
              <a:bodyPr>
                <a:normAutofit fontScale="85000" lnSpcReduction="20000"/>
              </a:bodyPr>
              <a:lstStyle/>
              <a:p>
                <a:pPr>
                  <a:buFontTx/>
                  <a:buNone/>
                </a:pPr>
                <a14:m>
                  <m:oMathPara xmlns:m="http://schemas.openxmlformats.org/officeDocument/2006/math">
                    <m:oMathParaPr>
                      <m:jc m:val="centerGroup"/>
                    </m:oMathParaPr>
                    <m:oMath xmlns:m="http://schemas.openxmlformats.org/officeDocument/2006/math">
                      <m:r>
                        <a:rPr lang="en-US" altLang="en-US" b="0" i="1" smtClean="0">
                          <a:latin typeface="Cambria Math" panose="02040503050406030204" pitchFamily="18" charset="0"/>
                        </a:rPr>
                        <m:t>𝑃𝑟𝑒𝑠𝑒𝑛𝑡</m:t>
                      </m:r>
                      <m:r>
                        <a:rPr lang="en-US" altLang="en-US" b="0" i="1" smtClean="0">
                          <a:latin typeface="Cambria Math" panose="02040503050406030204" pitchFamily="18" charset="0"/>
                        </a:rPr>
                        <m:t> </m:t>
                      </m:r>
                      <m:r>
                        <a:rPr lang="en-US" altLang="en-US" b="0" i="1" smtClean="0">
                          <a:latin typeface="Cambria Math" panose="02040503050406030204" pitchFamily="18" charset="0"/>
                        </a:rPr>
                        <m:t>𝑉𝑎𝑙𝑢𝑒</m:t>
                      </m:r>
                      <m:r>
                        <a:rPr lang="en-US" altLang="en-US" b="0" i="1" smtClean="0">
                          <a:latin typeface="Cambria Math" panose="02040503050406030204" pitchFamily="18" charset="0"/>
                        </a:rPr>
                        <m:t>= </m:t>
                      </m:r>
                      <m:f>
                        <m:fPr>
                          <m:ctrlPr>
                            <a:rPr lang="en-US" altLang="en-US" b="0" i="1" smtClean="0">
                              <a:latin typeface="Cambria Math" panose="02040503050406030204" pitchFamily="18" charset="0"/>
                            </a:rPr>
                          </m:ctrlPr>
                        </m:fPr>
                        <m:num>
                          <m:r>
                            <a:rPr lang="en-US" altLang="en-US" b="0" i="1" smtClean="0">
                              <a:latin typeface="Cambria Math" panose="02040503050406030204" pitchFamily="18" charset="0"/>
                            </a:rPr>
                            <m:t>𝑣𝑎𝑙𝑢𝑒</m:t>
                          </m:r>
                          <m:r>
                            <a:rPr lang="en-US" altLang="en-US" b="0" i="1" smtClean="0">
                              <a:latin typeface="Cambria Math" panose="02040503050406030204" pitchFamily="18" charset="0"/>
                            </a:rPr>
                            <m:t> </m:t>
                          </m:r>
                          <m:r>
                            <a:rPr lang="en-US" altLang="en-US" b="0" i="1" smtClean="0">
                              <a:latin typeface="Cambria Math" panose="02040503050406030204" pitchFamily="18" charset="0"/>
                            </a:rPr>
                            <m:t>𝑖𝑛</m:t>
                          </m:r>
                          <m:r>
                            <a:rPr lang="en-US" altLang="en-US" b="0" i="1" smtClean="0">
                              <a:latin typeface="Cambria Math" panose="02040503050406030204" pitchFamily="18" charset="0"/>
                            </a:rPr>
                            <m:t> </m:t>
                          </m:r>
                          <m:r>
                            <a:rPr lang="en-US" altLang="en-US" b="0" i="1" smtClean="0">
                              <a:latin typeface="Cambria Math" panose="02040503050406030204" pitchFamily="18" charset="0"/>
                            </a:rPr>
                            <m:t>𝑦𝑒𝑎𝑟</m:t>
                          </m:r>
                          <m:r>
                            <a:rPr lang="en-US" altLang="en-US" b="0" i="1" smtClean="0">
                              <a:latin typeface="Cambria Math" panose="02040503050406030204" pitchFamily="18" charset="0"/>
                            </a:rPr>
                            <m:t> </m:t>
                          </m:r>
                          <m:r>
                            <a:rPr lang="en-US" altLang="en-US" b="0" i="1" smtClean="0">
                              <a:latin typeface="Cambria Math" panose="02040503050406030204" pitchFamily="18" charset="0"/>
                            </a:rPr>
                            <m:t>𝑡</m:t>
                          </m:r>
                        </m:num>
                        <m:den>
                          <m:sSup>
                            <m:sSupPr>
                              <m:ctrlPr>
                                <a:rPr lang="en-US" altLang="en-US" b="0" i="1" smtClean="0">
                                  <a:latin typeface="Cambria Math" panose="02040503050406030204" pitchFamily="18" charset="0"/>
                                </a:rPr>
                              </m:ctrlPr>
                            </m:sSupPr>
                            <m:e>
                              <m:d>
                                <m:dPr>
                                  <m:ctrlPr>
                                    <a:rPr lang="en-US" altLang="en-US" b="0" i="1" smtClean="0">
                                      <a:latin typeface="Cambria Math" panose="02040503050406030204" pitchFamily="18" charset="0"/>
                                    </a:rPr>
                                  </m:ctrlPr>
                                </m:dPr>
                                <m:e>
                                  <m:r>
                                    <a:rPr lang="en-US" altLang="en-US" b="0" i="1" smtClean="0">
                                      <a:latin typeface="Cambria Math" panose="02040503050406030204" pitchFamily="18" charset="0"/>
                                    </a:rPr>
                                    <m:t>1+</m:t>
                                  </m:r>
                                  <m:r>
                                    <a:rPr lang="en-US" altLang="en-US" b="0" i="1" smtClean="0">
                                      <a:latin typeface="Cambria Math" panose="02040503050406030204" pitchFamily="18" charset="0"/>
                                    </a:rPr>
                                    <m:t>𝑟</m:t>
                                  </m:r>
                                </m:e>
                              </m:d>
                            </m:e>
                            <m:sup>
                              <m:r>
                                <a:rPr lang="en-US" altLang="en-US" b="0" i="1" smtClean="0">
                                  <a:latin typeface="Cambria Math" panose="02040503050406030204" pitchFamily="18" charset="0"/>
                                </a:rPr>
                                <m:t>𝑡</m:t>
                              </m:r>
                            </m:sup>
                          </m:sSup>
                        </m:den>
                      </m:f>
                    </m:oMath>
                  </m:oMathPara>
                </a14:m>
                <a:endParaRPr lang="en-GB" altLang="en-US" dirty="0"/>
              </a:p>
              <a:p>
                <a:pPr>
                  <a:buFontTx/>
                  <a:buNone/>
                </a:pPr>
                <a:r>
                  <a:rPr lang="en-GB" altLang="en-US" dirty="0"/>
                  <a:t>Discount factor =  1/(1+r)</a:t>
                </a:r>
                <a:r>
                  <a:rPr lang="en-GB" altLang="en-US" baseline="30000" dirty="0"/>
                  <a:t>t</a:t>
                </a:r>
              </a:p>
              <a:p>
                <a:pPr lvl="1">
                  <a:buFontTx/>
                  <a:buNone/>
                </a:pPr>
                <a:r>
                  <a:rPr lang="en-GB" altLang="en-US" i="1" dirty="0"/>
                  <a:t>r</a:t>
                </a:r>
                <a:r>
                  <a:rPr lang="en-GB" altLang="en-US" dirty="0"/>
                  <a:t> is the interest rate (e.g. 10% is 0.10)</a:t>
                </a:r>
              </a:p>
              <a:p>
                <a:pPr lvl="1">
                  <a:buFontTx/>
                  <a:buNone/>
                </a:pPr>
                <a:r>
                  <a:rPr lang="en-GB" altLang="en-US" i="1" dirty="0"/>
                  <a:t>t</a:t>
                </a:r>
                <a:r>
                  <a:rPr lang="en-GB" altLang="en-US" dirty="0"/>
                  <a:t> is the number of years</a:t>
                </a:r>
              </a:p>
              <a:p>
                <a:pPr>
                  <a:buFontTx/>
                  <a:buNone/>
                </a:pPr>
                <a:r>
                  <a:rPr lang="en-GB" altLang="en-US" dirty="0"/>
                  <a:t>In the case of 10% rate and one year</a:t>
                </a:r>
              </a:p>
              <a:p>
                <a:pPr>
                  <a:buFontTx/>
                  <a:buNone/>
                </a:pPr>
                <a:r>
                  <a:rPr lang="en-GB" altLang="en-US" dirty="0"/>
                  <a:t>Discount factor = 1/(1+0.10) = 0.9091</a:t>
                </a:r>
              </a:p>
              <a:p>
                <a:pPr>
                  <a:buFontTx/>
                  <a:buNone/>
                </a:pPr>
                <a:r>
                  <a:rPr lang="en-GB" altLang="en-US" dirty="0"/>
                  <a:t>In the case of 10% rate and two years</a:t>
                </a:r>
              </a:p>
              <a:p>
                <a:pPr>
                  <a:buFontTx/>
                  <a:buNone/>
                </a:pPr>
                <a:r>
                  <a:rPr lang="en-GB" altLang="en-US" dirty="0"/>
                  <a:t>Discount factor = 1/(1.10 x 1.10) =0.8264</a:t>
                </a:r>
              </a:p>
            </p:txBody>
          </p:sp>
        </mc:Choice>
        <mc:Fallback xmlns="">
          <p:sp>
            <p:nvSpPr>
              <p:cNvPr id="43011" name="Rectangle 3"/>
              <p:cNvSpPr>
                <a:spLocks noGrp="1" noRot="1" noChangeAspect="1" noMove="1" noResize="1" noEditPoints="1" noAdjustHandles="1" noChangeArrowheads="1" noChangeShapeType="1" noTextEdit="1"/>
              </p:cNvSpPr>
              <p:nvPr>
                <p:ph type="body" idx="1"/>
              </p:nvPr>
            </p:nvSpPr>
            <p:spPr>
              <a:xfrm>
                <a:off x="2208213" y="1412875"/>
                <a:ext cx="7626350" cy="4254500"/>
              </a:xfrm>
              <a:blipFill>
                <a:blip r:embed="rId2"/>
                <a:stretch>
                  <a:fillRect l="-1199" b="-1719"/>
                </a:stretch>
              </a:blipFill>
            </p:spPr>
            <p:txBody>
              <a:bodyPr/>
              <a:lstStyle/>
              <a:p>
                <a:r>
                  <a:rPr lang="en-IN">
                    <a:noFill/>
                  </a:rPr>
                  <a:t> </a:t>
                </a:r>
              </a:p>
            </p:txBody>
          </p:sp>
        </mc:Fallback>
      </mc:AlternateContent>
      <p:sp>
        <p:nvSpPr>
          <p:cNvPr id="2" name="Date Placeholder 1"/>
          <p:cNvSpPr>
            <a:spLocks noGrp="1"/>
          </p:cNvSpPr>
          <p:nvPr>
            <p:ph type="dt" sz="half" idx="10"/>
          </p:nvPr>
        </p:nvSpPr>
        <p:spPr/>
        <p:txBody>
          <a:bodyPr/>
          <a:lstStyle/>
          <a:p>
            <a:fld id="{4888AEAE-B5DF-4E6F-B922-723C13279B25}" type="datetime3">
              <a:rPr lang="en-US" smtClean="0"/>
              <a:t>28 November 2023</a:t>
            </a:fld>
            <a:endParaRPr lang="en-US" dirty="0"/>
          </a:p>
        </p:txBody>
      </p:sp>
      <p:sp>
        <p:nvSpPr>
          <p:cNvPr id="3" name="Footer Placeholder 2"/>
          <p:cNvSpPr>
            <a:spLocks noGrp="1"/>
          </p:cNvSpPr>
          <p:nvPr>
            <p:ph type="ftr" sz="quarter" idx="11"/>
          </p:nvPr>
        </p:nvSpPr>
        <p:spPr/>
        <p:txBody>
          <a:bodyPr/>
          <a:lstStyle/>
          <a:p>
            <a:r>
              <a:rPr lang="en-US"/>
              <a:t>Software Project Management       Dr. D Evangelin Geetha    Dept. of MCA     RIT</a:t>
            </a:r>
            <a:endParaRPr lang="en-US" dirty="0"/>
          </a:p>
        </p:txBody>
      </p:sp>
    </p:spTree>
    <p:extLst>
      <p:ext uri="{BB962C8B-B14F-4D97-AF65-F5344CB8AC3E}">
        <p14:creationId xmlns:p14="http://schemas.microsoft.com/office/powerpoint/2010/main" val="329531765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fld id="{50213E5C-A9DC-4959-9C95-068BD8FD78E1}" type="slidenum">
              <a:rPr lang="en-US" altLang="en-US"/>
              <a:pPr/>
              <a:t>33</a:t>
            </a:fld>
            <a:endParaRPr lang="en-US" altLang="en-US"/>
          </a:p>
        </p:txBody>
      </p:sp>
      <p:sp>
        <p:nvSpPr>
          <p:cNvPr id="43010" name="Rectangle 2"/>
          <p:cNvSpPr>
            <a:spLocks noGrp="1" noChangeArrowheads="1"/>
          </p:cNvSpPr>
          <p:nvPr>
            <p:ph type="title"/>
          </p:nvPr>
        </p:nvSpPr>
        <p:spPr>
          <a:xfrm>
            <a:off x="2208213" y="188913"/>
            <a:ext cx="7772400" cy="1143000"/>
          </a:xfrm>
        </p:spPr>
        <p:txBody>
          <a:bodyPr/>
          <a:lstStyle/>
          <a:p>
            <a:r>
              <a:rPr lang="en-GB" altLang="en-US" b="1"/>
              <a:t>Discount factor</a:t>
            </a:r>
          </a:p>
        </p:txBody>
      </p:sp>
      <p:sp>
        <p:nvSpPr>
          <p:cNvPr id="43011" name="Rectangle 3"/>
          <p:cNvSpPr>
            <a:spLocks noGrp="1" noChangeArrowheads="1"/>
          </p:cNvSpPr>
          <p:nvPr>
            <p:ph type="body" idx="1"/>
          </p:nvPr>
        </p:nvSpPr>
        <p:spPr>
          <a:xfrm>
            <a:off x="2208213" y="970156"/>
            <a:ext cx="7626350" cy="4895385"/>
          </a:xfrm>
        </p:spPr>
        <p:txBody>
          <a:bodyPr>
            <a:normAutofit fontScale="85000" lnSpcReduction="20000"/>
          </a:bodyPr>
          <a:lstStyle/>
          <a:p>
            <a:pPr>
              <a:buFontTx/>
              <a:buNone/>
            </a:pPr>
            <a:r>
              <a:rPr lang="en-GB" altLang="en-US" dirty="0"/>
              <a:t>Applying the discount factor to Project 1</a:t>
            </a:r>
          </a:p>
          <a:p>
            <a:r>
              <a:rPr lang="en-GB" altLang="en-US" dirty="0"/>
              <a:t>10% rate and 1 year</a:t>
            </a:r>
          </a:p>
          <a:p>
            <a:pPr>
              <a:buFontTx/>
              <a:buNone/>
            </a:pPr>
            <a:r>
              <a:rPr lang="en-GB" altLang="en-US" dirty="0"/>
              <a:t>Discount factor = 1/(1+0.10) = 0.9091</a:t>
            </a:r>
          </a:p>
          <a:p>
            <a:pPr>
              <a:buFontTx/>
              <a:buNone/>
            </a:pPr>
            <a:r>
              <a:rPr lang="en-GB" altLang="en-US" dirty="0"/>
              <a:t>Discounted cash flow = 0.9091 x 10,000 </a:t>
            </a:r>
          </a:p>
          <a:p>
            <a:pPr>
              <a:buFontTx/>
              <a:buNone/>
            </a:pPr>
            <a:r>
              <a:rPr lang="en-GB" altLang="en-US" dirty="0"/>
              <a:t>				     = $9091</a:t>
            </a:r>
          </a:p>
          <a:p>
            <a:r>
              <a:rPr lang="en-GB" altLang="en-US" dirty="0"/>
              <a:t>2</a:t>
            </a:r>
            <a:r>
              <a:rPr lang="en-GB" altLang="en-US" baseline="30000" dirty="0"/>
              <a:t>nd</a:t>
            </a:r>
            <a:r>
              <a:rPr lang="en-GB" altLang="en-US" dirty="0"/>
              <a:t> Year</a:t>
            </a:r>
          </a:p>
          <a:p>
            <a:pPr>
              <a:buFontTx/>
              <a:buNone/>
            </a:pPr>
            <a:r>
              <a:rPr lang="en-GB" altLang="en-US" dirty="0"/>
              <a:t>Discount factor = 1/(1.10 x 1.10) = 1/1.21</a:t>
            </a:r>
          </a:p>
          <a:p>
            <a:pPr>
              <a:buFontTx/>
              <a:buNone/>
            </a:pPr>
            <a:r>
              <a:rPr lang="en-GB" altLang="en-US" dirty="0"/>
              <a:t>				= 0.8264</a:t>
            </a:r>
          </a:p>
          <a:p>
            <a:pPr>
              <a:buFontTx/>
              <a:buNone/>
            </a:pPr>
            <a:r>
              <a:rPr lang="en-GB" altLang="en-US" dirty="0"/>
              <a:t>Discounted cash flow = 0.8264 x 10000</a:t>
            </a:r>
          </a:p>
          <a:p>
            <a:pPr>
              <a:buFontTx/>
              <a:buNone/>
            </a:pPr>
            <a:r>
              <a:rPr lang="en-GB" altLang="en-US" dirty="0"/>
              <a:t>				= $8264</a:t>
            </a:r>
          </a:p>
        </p:txBody>
      </p:sp>
      <p:sp>
        <p:nvSpPr>
          <p:cNvPr id="2" name="Date Placeholder 1"/>
          <p:cNvSpPr>
            <a:spLocks noGrp="1"/>
          </p:cNvSpPr>
          <p:nvPr>
            <p:ph type="dt" sz="half" idx="10"/>
          </p:nvPr>
        </p:nvSpPr>
        <p:spPr/>
        <p:txBody>
          <a:bodyPr/>
          <a:lstStyle/>
          <a:p>
            <a:fld id="{61C42E57-E719-4222-BCE9-D3738353A711}" type="datetime3">
              <a:rPr lang="en-US" smtClean="0"/>
              <a:t>28 November 2023</a:t>
            </a:fld>
            <a:endParaRPr lang="en-US" dirty="0"/>
          </a:p>
        </p:txBody>
      </p:sp>
      <p:sp>
        <p:nvSpPr>
          <p:cNvPr id="3" name="Footer Placeholder 2"/>
          <p:cNvSpPr>
            <a:spLocks noGrp="1"/>
          </p:cNvSpPr>
          <p:nvPr>
            <p:ph type="ftr" sz="quarter" idx="11"/>
          </p:nvPr>
        </p:nvSpPr>
        <p:spPr/>
        <p:txBody>
          <a:bodyPr/>
          <a:lstStyle/>
          <a:p>
            <a:r>
              <a:rPr lang="en-US"/>
              <a:t>Software Project Management       Dr. D Evangelin Geetha    Dept. of MCA     RIT</a:t>
            </a:r>
            <a:endParaRPr lang="en-US" dirty="0"/>
          </a:p>
        </p:txBody>
      </p:sp>
    </p:spTree>
    <p:extLst>
      <p:ext uri="{BB962C8B-B14F-4D97-AF65-F5344CB8AC3E}">
        <p14:creationId xmlns:p14="http://schemas.microsoft.com/office/powerpoint/2010/main" val="416773113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fld id="{50213E5C-A9DC-4959-9C95-068BD8FD78E1}" type="slidenum">
              <a:rPr lang="en-US" altLang="en-US"/>
              <a:pPr/>
              <a:t>34</a:t>
            </a:fld>
            <a:endParaRPr lang="en-US" altLang="en-US"/>
          </a:p>
        </p:txBody>
      </p:sp>
      <p:sp>
        <p:nvSpPr>
          <p:cNvPr id="43010" name="Rectangle 2"/>
          <p:cNvSpPr>
            <a:spLocks noGrp="1" noChangeArrowheads="1"/>
          </p:cNvSpPr>
          <p:nvPr>
            <p:ph type="title"/>
          </p:nvPr>
        </p:nvSpPr>
        <p:spPr>
          <a:xfrm>
            <a:off x="2208213" y="188913"/>
            <a:ext cx="7772400" cy="1143000"/>
          </a:xfrm>
        </p:spPr>
        <p:txBody>
          <a:bodyPr/>
          <a:lstStyle/>
          <a:p>
            <a:r>
              <a:rPr lang="en-GB" altLang="en-US" b="1"/>
              <a:t>Discount factor</a:t>
            </a:r>
          </a:p>
        </p:txBody>
      </p:sp>
      <p:sp>
        <p:nvSpPr>
          <p:cNvPr id="43011" name="Rectangle 3"/>
          <p:cNvSpPr>
            <a:spLocks noGrp="1" noChangeArrowheads="1"/>
          </p:cNvSpPr>
          <p:nvPr>
            <p:ph type="body" idx="1"/>
          </p:nvPr>
        </p:nvSpPr>
        <p:spPr>
          <a:xfrm>
            <a:off x="2208213" y="970156"/>
            <a:ext cx="7626350" cy="4895385"/>
          </a:xfrm>
        </p:spPr>
        <p:txBody>
          <a:bodyPr>
            <a:normAutofit fontScale="70000" lnSpcReduction="20000"/>
          </a:bodyPr>
          <a:lstStyle/>
          <a:p>
            <a:pPr>
              <a:buFontTx/>
              <a:buNone/>
            </a:pPr>
            <a:r>
              <a:rPr lang="en-GB" altLang="en-US" dirty="0"/>
              <a:t>Applying the discount factor to Project 1</a:t>
            </a:r>
          </a:p>
          <a:p>
            <a:r>
              <a:rPr lang="en-GB" altLang="en-US" dirty="0"/>
              <a:t>3</a:t>
            </a:r>
            <a:r>
              <a:rPr lang="en-GB" altLang="en-US" baseline="30000" dirty="0"/>
              <a:t>rd</a:t>
            </a:r>
            <a:r>
              <a:rPr lang="en-GB" altLang="en-US" dirty="0"/>
              <a:t> Year</a:t>
            </a:r>
          </a:p>
          <a:p>
            <a:pPr>
              <a:buFontTx/>
              <a:buNone/>
            </a:pPr>
            <a:r>
              <a:rPr lang="en-GB" altLang="en-US" dirty="0"/>
              <a:t>Discount factor = 1/(1+0.10)</a:t>
            </a:r>
            <a:r>
              <a:rPr lang="en-GB" altLang="en-US" baseline="30000" dirty="0"/>
              <a:t>3</a:t>
            </a:r>
            <a:r>
              <a:rPr lang="en-GB" altLang="en-US" dirty="0"/>
              <a:t>= 1/(1.10)</a:t>
            </a:r>
            <a:r>
              <a:rPr lang="en-GB" altLang="en-US" baseline="30000" dirty="0"/>
              <a:t>3</a:t>
            </a:r>
          </a:p>
          <a:p>
            <a:pPr>
              <a:buFontTx/>
              <a:buNone/>
            </a:pPr>
            <a:r>
              <a:rPr lang="en-GB" altLang="en-US" baseline="30000" dirty="0"/>
              <a:t>		</a:t>
            </a:r>
            <a:r>
              <a:rPr lang="en-GB" altLang="en-US" dirty="0"/>
              <a:t>	= 1/1.331 = 0.7513</a:t>
            </a:r>
          </a:p>
          <a:p>
            <a:pPr>
              <a:buNone/>
            </a:pPr>
            <a:r>
              <a:rPr lang="en-GB" altLang="en-US" dirty="0"/>
              <a:t>Discounted cash flow = 0.7513 x 10,000 </a:t>
            </a:r>
          </a:p>
          <a:p>
            <a:pPr>
              <a:buFontTx/>
              <a:buNone/>
            </a:pPr>
            <a:r>
              <a:rPr lang="en-GB" altLang="en-US" dirty="0"/>
              <a:t>				     = $7513</a:t>
            </a:r>
          </a:p>
          <a:p>
            <a:r>
              <a:rPr lang="en-GB" altLang="en-US" dirty="0"/>
              <a:t>4</a:t>
            </a:r>
            <a:r>
              <a:rPr lang="en-GB" altLang="en-US" baseline="30000" dirty="0"/>
              <a:t>th</a:t>
            </a:r>
            <a:r>
              <a:rPr lang="en-GB" altLang="en-US" dirty="0"/>
              <a:t> Year</a:t>
            </a:r>
          </a:p>
          <a:p>
            <a:pPr>
              <a:buFontTx/>
              <a:buNone/>
            </a:pPr>
            <a:r>
              <a:rPr lang="en-GB" altLang="en-US" dirty="0"/>
              <a:t>Discount factor = 1/(1.10)</a:t>
            </a:r>
            <a:r>
              <a:rPr lang="en-GB" altLang="en-US" baseline="30000" dirty="0"/>
              <a:t>4</a:t>
            </a:r>
            <a:r>
              <a:rPr lang="en-GB" altLang="en-US" dirty="0"/>
              <a:t> = 1/1.4641</a:t>
            </a:r>
          </a:p>
          <a:p>
            <a:pPr>
              <a:buFontTx/>
              <a:buNone/>
            </a:pPr>
            <a:r>
              <a:rPr lang="en-GB" altLang="en-US" dirty="0"/>
              <a:t>				= 0.6830</a:t>
            </a:r>
          </a:p>
          <a:p>
            <a:pPr>
              <a:buNone/>
            </a:pPr>
            <a:r>
              <a:rPr lang="en-GB" altLang="en-US" dirty="0"/>
              <a:t>Discounted cash flow = 0.6830 x 20000</a:t>
            </a:r>
          </a:p>
          <a:p>
            <a:pPr>
              <a:buFontTx/>
              <a:buNone/>
            </a:pPr>
            <a:r>
              <a:rPr lang="en-GB" altLang="en-US" dirty="0"/>
              <a:t>				= $13660</a:t>
            </a:r>
          </a:p>
        </p:txBody>
      </p:sp>
      <p:sp>
        <p:nvSpPr>
          <p:cNvPr id="2" name="Date Placeholder 1"/>
          <p:cNvSpPr>
            <a:spLocks noGrp="1"/>
          </p:cNvSpPr>
          <p:nvPr>
            <p:ph type="dt" sz="half" idx="10"/>
          </p:nvPr>
        </p:nvSpPr>
        <p:spPr/>
        <p:txBody>
          <a:bodyPr/>
          <a:lstStyle/>
          <a:p>
            <a:fld id="{76EAFC5B-1FFF-47FB-BD02-D6040A9E1A7F}" type="datetime3">
              <a:rPr lang="en-US" smtClean="0"/>
              <a:t>28 November 2023</a:t>
            </a:fld>
            <a:endParaRPr lang="en-US" dirty="0"/>
          </a:p>
        </p:txBody>
      </p:sp>
      <p:sp>
        <p:nvSpPr>
          <p:cNvPr id="3" name="Footer Placeholder 2"/>
          <p:cNvSpPr>
            <a:spLocks noGrp="1"/>
          </p:cNvSpPr>
          <p:nvPr>
            <p:ph type="ftr" sz="quarter" idx="11"/>
          </p:nvPr>
        </p:nvSpPr>
        <p:spPr/>
        <p:txBody>
          <a:bodyPr/>
          <a:lstStyle/>
          <a:p>
            <a:r>
              <a:rPr lang="en-US"/>
              <a:t>Software Project Management       Dr. D Evangelin Geetha    Dept. of MCA     RIT</a:t>
            </a:r>
            <a:endParaRPr lang="en-US" dirty="0"/>
          </a:p>
        </p:txBody>
      </p:sp>
    </p:spTree>
    <p:extLst>
      <p:ext uri="{BB962C8B-B14F-4D97-AF65-F5344CB8AC3E}">
        <p14:creationId xmlns:p14="http://schemas.microsoft.com/office/powerpoint/2010/main" val="95101293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fld id="{50213E5C-A9DC-4959-9C95-068BD8FD78E1}" type="slidenum">
              <a:rPr lang="en-US" altLang="en-US"/>
              <a:pPr/>
              <a:t>35</a:t>
            </a:fld>
            <a:endParaRPr lang="en-US" altLang="en-US"/>
          </a:p>
        </p:txBody>
      </p:sp>
      <p:sp>
        <p:nvSpPr>
          <p:cNvPr id="43010" name="Rectangle 2"/>
          <p:cNvSpPr>
            <a:spLocks noGrp="1" noChangeArrowheads="1"/>
          </p:cNvSpPr>
          <p:nvPr>
            <p:ph type="title"/>
          </p:nvPr>
        </p:nvSpPr>
        <p:spPr>
          <a:xfrm>
            <a:off x="2208213" y="188913"/>
            <a:ext cx="7772400" cy="1143000"/>
          </a:xfrm>
        </p:spPr>
        <p:txBody>
          <a:bodyPr/>
          <a:lstStyle/>
          <a:p>
            <a:r>
              <a:rPr lang="en-GB" altLang="en-US" b="1"/>
              <a:t>Discount factor</a:t>
            </a:r>
          </a:p>
        </p:txBody>
      </p:sp>
      <p:sp>
        <p:nvSpPr>
          <p:cNvPr id="43011" name="Rectangle 3"/>
          <p:cNvSpPr>
            <a:spLocks noGrp="1" noChangeArrowheads="1"/>
          </p:cNvSpPr>
          <p:nvPr>
            <p:ph type="body" idx="1"/>
          </p:nvPr>
        </p:nvSpPr>
        <p:spPr>
          <a:xfrm>
            <a:off x="2208213" y="1331913"/>
            <a:ext cx="7626350" cy="4533628"/>
          </a:xfrm>
        </p:spPr>
        <p:txBody>
          <a:bodyPr>
            <a:normAutofit/>
          </a:bodyPr>
          <a:lstStyle/>
          <a:p>
            <a:pPr>
              <a:buFontTx/>
              <a:buNone/>
            </a:pPr>
            <a:r>
              <a:rPr lang="en-GB" altLang="en-US" dirty="0"/>
              <a:t>Applying the discount factor to Project 1</a:t>
            </a:r>
          </a:p>
          <a:p>
            <a:r>
              <a:rPr lang="en-GB" altLang="en-US" dirty="0"/>
              <a:t>5</a:t>
            </a:r>
            <a:r>
              <a:rPr lang="en-GB" altLang="en-US" baseline="30000" dirty="0"/>
              <a:t>th</a:t>
            </a:r>
            <a:r>
              <a:rPr lang="en-GB" altLang="en-US" dirty="0"/>
              <a:t> Year</a:t>
            </a:r>
          </a:p>
          <a:p>
            <a:pPr>
              <a:buFontTx/>
              <a:buNone/>
            </a:pPr>
            <a:r>
              <a:rPr lang="en-GB" altLang="en-US" dirty="0"/>
              <a:t>Discount factor = 1/(1+0.10)5= 1/(1.10)</a:t>
            </a:r>
            <a:r>
              <a:rPr lang="en-GB" altLang="en-US" baseline="30000" dirty="0"/>
              <a:t>5</a:t>
            </a:r>
          </a:p>
          <a:p>
            <a:pPr>
              <a:buFontTx/>
              <a:buNone/>
            </a:pPr>
            <a:r>
              <a:rPr lang="en-GB" altLang="en-US" baseline="30000" dirty="0"/>
              <a:t>		</a:t>
            </a:r>
            <a:r>
              <a:rPr lang="en-GB" altLang="en-US" dirty="0"/>
              <a:t>	= 1/1.6105 = 0.6209</a:t>
            </a:r>
          </a:p>
          <a:p>
            <a:pPr>
              <a:buNone/>
            </a:pPr>
            <a:r>
              <a:rPr lang="en-GB" altLang="en-US" dirty="0"/>
              <a:t>Discounted cash flow = 0.6209 x 1,00,000 </a:t>
            </a:r>
          </a:p>
          <a:p>
            <a:pPr>
              <a:buFontTx/>
              <a:buNone/>
            </a:pPr>
            <a:r>
              <a:rPr lang="en-GB" altLang="en-US" dirty="0"/>
              <a:t>				     = $62090</a:t>
            </a:r>
          </a:p>
        </p:txBody>
      </p:sp>
      <p:sp>
        <p:nvSpPr>
          <p:cNvPr id="2" name="Date Placeholder 1"/>
          <p:cNvSpPr>
            <a:spLocks noGrp="1"/>
          </p:cNvSpPr>
          <p:nvPr>
            <p:ph type="dt" sz="half" idx="10"/>
          </p:nvPr>
        </p:nvSpPr>
        <p:spPr/>
        <p:txBody>
          <a:bodyPr/>
          <a:lstStyle/>
          <a:p>
            <a:fld id="{1FEC8350-7999-4D80-9B7F-3B5CCB0FFD01}" type="datetime3">
              <a:rPr lang="en-US" smtClean="0"/>
              <a:t>28 November 2023</a:t>
            </a:fld>
            <a:endParaRPr lang="en-US" dirty="0"/>
          </a:p>
        </p:txBody>
      </p:sp>
      <p:sp>
        <p:nvSpPr>
          <p:cNvPr id="3" name="Footer Placeholder 2"/>
          <p:cNvSpPr>
            <a:spLocks noGrp="1"/>
          </p:cNvSpPr>
          <p:nvPr>
            <p:ph type="ftr" sz="quarter" idx="11"/>
          </p:nvPr>
        </p:nvSpPr>
        <p:spPr/>
        <p:txBody>
          <a:bodyPr/>
          <a:lstStyle/>
          <a:p>
            <a:r>
              <a:rPr lang="en-US"/>
              <a:t>Software Project Management       Dr. D Evangelin Geetha    Dept. of MCA     RIT</a:t>
            </a:r>
            <a:endParaRPr lang="en-US" dirty="0"/>
          </a:p>
        </p:txBody>
      </p:sp>
    </p:spTree>
    <p:extLst>
      <p:ext uri="{BB962C8B-B14F-4D97-AF65-F5344CB8AC3E}">
        <p14:creationId xmlns:p14="http://schemas.microsoft.com/office/powerpoint/2010/main" val="369424699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p:txBody>
          <a:bodyPr/>
          <a:lstStyle/>
          <a:p>
            <a:r>
              <a:rPr lang="en-GB" altLang="en-US" b="1"/>
              <a:t>Applying discount factors</a:t>
            </a:r>
          </a:p>
        </p:txBody>
      </p:sp>
      <p:graphicFrame>
        <p:nvGraphicFramePr>
          <p:cNvPr id="44189" name="Group 157"/>
          <p:cNvGraphicFramePr>
            <a:graphicFrameLocks noGrp="1"/>
          </p:cNvGraphicFramePr>
          <p:nvPr>
            <p:ph idx="1"/>
            <p:extLst>
              <p:ext uri="{D42A27DB-BD31-4B8C-83A1-F6EECF244321}">
                <p14:modId xmlns:p14="http://schemas.microsoft.com/office/powerpoint/2010/main" val="1184590566"/>
              </p:ext>
            </p:extLst>
          </p:nvPr>
        </p:nvGraphicFramePr>
        <p:xfrm>
          <a:off x="1450975" y="2016125"/>
          <a:ext cx="9604375" cy="4000501"/>
        </p:xfrm>
        <a:graphic>
          <a:graphicData uri="http://schemas.openxmlformats.org/drawingml/2006/table">
            <a:tbl>
              <a:tblPr/>
              <a:tblGrid>
                <a:gridCol w="1578302">
                  <a:extLst>
                    <a:ext uri="{9D8B030D-6E8A-4147-A177-3AD203B41FA5}">
                      <a16:colId xmlns:a16="http://schemas.microsoft.com/office/drawing/2014/main" val="2511039406"/>
                    </a:ext>
                  </a:extLst>
                </a:gridCol>
                <a:gridCol w="2606792">
                  <a:extLst>
                    <a:ext uri="{9D8B030D-6E8A-4147-A177-3AD203B41FA5}">
                      <a16:colId xmlns:a16="http://schemas.microsoft.com/office/drawing/2014/main" val="194044081"/>
                    </a:ext>
                  </a:extLst>
                </a:gridCol>
                <a:gridCol w="2710602">
                  <a:extLst>
                    <a:ext uri="{9D8B030D-6E8A-4147-A177-3AD203B41FA5}">
                      <a16:colId xmlns:a16="http://schemas.microsoft.com/office/drawing/2014/main" val="1793404719"/>
                    </a:ext>
                  </a:extLst>
                </a:gridCol>
                <a:gridCol w="2708679">
                  <a:extLst>
                    <a:ext uri="{9D8B030D-6E8A-4147-A177-3AD203B41FA5}">
                      <a16:colId xmlns:a16="http://schemas.microsoft.com/office/drawing/2014/main" val="1783837900"/>
                    </a:ext>
                  </a:extLst>
                </a:gridCol>
              </a:tblGrid>
              <a:tr h="588963">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GB" altLang="en-US" sz="2000" b="0" i="0" u="none" strike="noStrike" cap="none" normalizeH="0" baseline="0" dirty="0">
                          <a:ln>
                            <a:noFill/>
                          </a:ln>
                          <a:solidFill>
                            <a:schemeClr val="tx1"/>
                          </a:solidFill>
                          <a:effectLst/>
                          <a:latin typeface="Tahoma" panose="020B0604030504040204" pitchFamily="34" charset="0"/>
                        </a:rPr>
                        <a:t>Year</a:t>
                      </a:r>
                    </a:p>
                  </a:txBody>
                  <a:tcPr marL="110731" marR="11073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GB" altLang="en-US" sz="2000" b="0" i="0" u="none" strike="noStrike" cap="none" normalizeH="0" baseline="0">
                          <a:ln>
                            <a:noFill/>
                          </a:ln>
                          <a:solidFill>
                            <a:schemeClr val="tx1"/>
                          </a:solidFill>
                          <a:effectLst/>
                          <a:latin typeface="Tahoma" panose="020B0604030504040204" pitchFamily="34" charset="0"/>
                        </a:rPr>
                        <a:t>Cash-flow</a:t>
                      </a:r>
                    </a:p>
                  </a:txBody>
                  <a:tcPr marL="110731" marR="110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GB" altLang="en-US" sz="2000" b="0" i="0" u="none" strike="noStrike" cap="none" normalizeH="0" baseline="0">
                          <a:ln>
                            <a:noFill/>
                          </a:ln>
                          <a:solidFill>
                            <a:schemeClr val="tx1"/>
                          </a:solidFill>
                          <a:effectLst/>
                          <a:latin typeface="Tahoma" panose="020B0604030504040204" pitchFamily="34" charset="0"/>
                        </a:rPr>
                        <a:t>Discount factor</a:t>
                      </a:r>
                    </a:p>
                  </a:txBody>
                  <a:tcPr marL="110731" marR="110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GB" altLang="en-US" sz="2000" b="0" i="0" u="none" strike="noStrike" cap="none" normalizeH="0" baseline="0" dirty="0">
                          <a:ln>
                            <a:noFill/>
                          </a:ln>
                          <a:solidFill>
                            <a:schemeClr val="tx1"/>
                          </a:solidFill>
                          <a:effectLst/>
                          <a:latin typeface="Tahoma" panose="020B0604030504040204" pitchFamily="34" charset="0"/>
                        </a:rPr>
                        <a:t>Discounted cash flow</a:t>
                      </a:r>
                    </a:p>
                  </a:txBody>
                  <a:tcPr marL="110731" marR="11073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756592706"/>
                  </a:ext>
                </a:extLst>
              </a:tr>
              <a:tr h="452438">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altLang="en-US" sz="2400" b="0" i="0" u="none" strike="noStrike" cap="none" normalizeH="0" baseline="0" dirty="0">
                          <a:ln>
                            <a:noFill/>
                          </a:ln>
                          <a:solidFill>
                            <a:schemeClr val="tx1"/>
                          </a:solidFill>
                          <a:effectLst/>
                          <a:latin typeface="Tahoma" panose="020B0604030504040204" pitchFamily="34" charset="0"/>
                        </a:rPr>
                        <a:t>0</a:t>
                      </a:r>
                    </a:p>
                  </a:txBody>
                  <a:tcPr marL="110731" marR="11073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GB" altLang="en-US" sz="2400" b="0" i="0" u="none" strike="noStrike" cap="none" normalizeH="0" baseline="0" dirty="0">
                          <a:ln>
                            <a:noFill/>
                          </a:ln>
                          <a:solidFill>
                            <a:schemeClr val="tx1"/>
                          </a:solidFill>
                          <a:effectLst/>
                          <a:latin typeface="Tahoma" panose="020B0604030504040204" pitchFamily="34" charset="0"/>
                        </a:rPr>
                        <a:t>-100,000</a:t>
                      </a:r>
                    </a:p>
                  </a:txBody>
                  <a:tcPr marL="110731" marR="110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GB" altLang="en-US" sz="2400" b="0" i="0" u="none" strike="noStrike" cap="none" normalizeH="0" baseline="0" dirty="0">
                          <a:ln>
                            <a:noFill/>
                          </a:ln>
                          <a:solidFill>
                            <a:schemeClr val="tx1"/>
                          </a:solidFill>
                          <a:effectLst/>
                          <a:latin typeface="Tahoma" panose="020B0604030504040204" pitchFamily="34" charset="0"/>
                        </a:rPr>
                        <a:t>1.0000</a:t>
                      </a:r>
                    </a:p>
                  </a:txBody>
                  <a:tcPr marL="110731" marR="110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GB" altLang="en-US" sz="2400" b="0" i="0" u="none" strike="noStrike" cap="none" normalizeH="0" baseline="0" dirty="0">
                          <a:ln>
                            <a:noFill/>
                          </a:ln>
                          <a:solidFill>
                            <a:schemeClr val="tx1"/>
                          </a:solidFill>
                          <a:effectLst/>
                          <a:latin typeface="Tahoma" panose="020B0604030504040204" pitchFamily="34" charset="0"/>
                        </a:rPr>
                        <a:t>-100,000</a:t>
                      </a:r>
                    </a:p>
                  </a:txBody>
                  <a:tcPr marL="110731" marR="11073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336024895"/>
                  </a:ext>
                </a:extLst>
              </a:tr>
              <a:tr h="431800">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altLang="en-US" sz="2400" b="0" i="0" u="none" strike="noStrike" cap="none" normalizeH="0" baseline="0" dirty="0">
                          <a:ln>
                            <a:noFill/>
                          </a:ln>
                          <a:solidFill>
                            <a:schemeClr val="tx1"/>
                          </a:solidFill>
                          <a:effectLst/>
                          <a:latin typeface="Tahoma" panose="020B0604030504040204" pitchFamily="34" charset="0"/>
                        </a:rPr>
                        <a:t>1</a:t>
                      </a:r>
                    </a:p>
                  </a:txBody>
                  <a:tcPr marL="110731" marR="11073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GB" altLang="en-US" sz="2400" b="0" i="0" u="none" strike="noStrike" cap="none" normalizeH="0" baseline="0" dirty="0">
                          <a:ln>
                            <a:noFill/>
                          </a:ln>
                          <a:solidFill>
                            <a:schemeClr val="tx1"/>
                          </a:solidFill>
                          <a:effectLst/>
                          <a:latin typeface="Tahoma" panose="020B0604030504040204" pitchFamily="34" charset="0"/>
                        </a:rPr>
                        <a:t>10,000</a:t>
                      </a:r>
                    </a:p>
                  </a:txBody>
                  <a:tcPr marL="110731" marR="110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GB" altLang="en-US" sz="2400" b="0" i="0" u="none" strike="noStrike" cap="none" normalizeH="0" baseline="0" dirty="0">
                          <a:ln>
                            <a:noFill/>
                          </a:ln>
                          <a:solidFill>
                            <a:schemeClr val="tx1"/>
                          </a:solidFill>
                          <a:effectLst/>
                          <a:latin typeface="Tahoma" panose="020B0604030504040204" pitchFamily="34" charset="0"/>
                        </a:rPr>
                        <a:t>0.9091</a:t>
                      </a:r>
                    </a:p>
                  </a:txBody>
                  <a:tcPr marL="110731" marR="110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GB" altLang="en-US" sz="2400" b="0" i="0" u="none" strike="noStrike" cap="none" normalizeH="0" baseline="0" dirty="0">
                          <a:ln>
                            <a:noFill/>
                          </a:ln>
                          <a:solidFill>
                            <a:schemeClr val="tx1"/>
                          </a:solidFill>
                          <a:effectLst/>
                          <a:latin typeface="Tahoma" panose="020B0604030504040204" pitchFamily="34" charset="0"/>
                        </a:rPr>
                        <a:t>9,091</a:t>
                      </a:r>
                    </a:p>
                  </a:txBody>
                  <a:tcPr marL="110731" marR="11073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176800896"/>
                  </a:ext>
                </a:extLst>
              </a:tr>
              <a:tr h="431800">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altLang="en-US" sz="2400" b="0" i="0" u="none" strike="noStrike" cap="none" normalizeH="0" baseline="0" dirty="0">
                          <a:ln>
                            <a:noFill/>
                          </a:ln>
                          <a:solidFill>
                            <a:schemeClr val="tx1"/>
                          </a:solidFill>
                          <a:effectLst/>
                          <a:latin typeface="Tahoma" panose="020B0604030504040204" pitchFamily="34" charset="0"/>
                        </a:rPr>
                        <a:t>2</a:t>
                      </a:r>
                    </a:p>
                  </a:txBody>
                  <a:tcPr marL="110731" marR="11073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GB" altLang="en-US" sz="2400" b="0" i="0" u="none" strike="noStrike" cap="none" normalizeH="0" baseline="0">
                          <a:ln>
                            <a:noFill/>
                          </a:ln>
                          <a:solidFill>
                            <a:schemeClr val="tx1"/>
                          </a:solidFill>
                          <a:effectLst/>
                          <a:latin typeface="Tahoma" panose="020B0604030504040204" pitchFamily="34" charset="0"/>
                        </a:rPr>
                        <a:t>10,000</a:t>
                      </a:r>
                    </a:p>
                  </a:txBody>
                  <a:tcPr marL="110731" marR="110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GB" altLang="en-US" sz="2400" b="0" i="0" u="none" strike="noStrike" cap="none" normalizeH="0" baseline="0" dirty="0">
                          <a:ln>
                            <a:noFill/>
                          </a:ln>
                          <a:solidFill>
                            <a:schemeClr val="tx1"/>
                          </a:solidFill>
                          <a:effectLst/>
                          <a:latin typeface="Tahoma" panose="020B0604030504040204" pitchFamily="34" charset="0"/>
                        </a:rPr>
                        <a:t>0.8264</a:t>
                      </a:r>
                    </a:p>
                  </a:txBody>
                  <a:tcPr marL="110731" marR="110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GB" altLang="en-US" sz="2400" b="0" i="0" u="none" strike="noStrike" cap="none" normalizeH="0" baseline="0" dirty="0">
                          <a:ln>
                            <a:noFill/>
                          </a:ln>
                          <a:solidFill>
                            <a:schemeClr val="tx1"/>
                          </a:solidFill>
                          <a:effectLst/>
                          <a:latin typeface="Tahoma" panose="020B0604030504040204" pitchFamily="34" charset="0"/>
                        </a:rPr>
                        <a:t>8,264</a:t>
                      </a:r>
                    </a:p>
                  </a:txBody>
                  <a:tcPr marL="110731" marR="11073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4248361617"/>
                  </a:ext>
                </a:extLst>
              </a:tr>
              <a:tr h="431800">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altLang="en-US" sz="2400" b="0" i="0" u="none" strike="noStrike" cap="none" normalizeH="0" baseline="0" dirty="0">
                          <a:ln>
                            <a:noFill/>
                          </a:ln>
                          <a:solidFill>
                            <a:schemeClr val="tx1"/>
                          </a:solidFill>
                          <a:effectLst/>
                          <a:latin typeface="Tahoma" panose="020B0604030504040204" pitchFamily="34" charset="0"/>
                        </a:rPr>
                        <a:t>3</a:t>
                      </a:r>
                    </a:p>
                  </a:txBody>
                  <a:tcPr marL="110731" marR="11073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GB" altLang="en-US" sz="2400" b="0" i="0" u="none" strike="noStrike" cap="none" normalizeH="0" baseline="0">
                          <a:ln>
                            <a:noFill/>
                          </a:ln>
                          <a:solidFill>
                            <a:schemeClr val="tx1"/>
                          </a:solidFill>
                          <a:effectLst/>
                          <a:latin typeface="Tahoma" panose="020B0604030504040204" pitchFamily="34" charset="0"/>
                        </a:rPr>
                        <a:t>10,000</a:t>
                      </a:r>
                    </a:p>
                  </a:txBody>
                  <a:tcPr marL="110731" marR="110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GB" altLang="en-US" sz="2400" b="0" i="0" u="none" strike="noStrike" cap="none" normalizeH="0" baseline="0" dirty="0">
                          <a:ln>
                            <a:noFill/>
                          </a:ln>
                          <a:solidFill>
                            <a:schemeClr val="tx1"/>
                          </a:solidFill>
                          <a:effectLst/>
                          <a:latin typeface="Tahoma" panose="020B0604030504040204" pitchFamily="34" charset="0"/>
                        </a:rPr>
                        <a:t>0.7513</a:t>
                      </a:r>
                    </a:p>
                  </a:txBody>
                  <a:tcPr marL="110731" marR="110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GB" altLang="en-US" sz="2400" b="0" i="0" u="none" strike="noStrike" cap="none" normalizeH="0" baseline="0" dirty="0">
                          <a:ln>
                            <a:noFill/>
                          </a:ln>
                          <a:solidFill>
                            <a:schemeClr val="tx1"/>
                          </a:solidFill>
                          <a:effectLst/>
                          <a:latin typeface="Tahoma" panose="020B0604030504040204" pitchFamily="34" charset="0"/>
                        </a:rPr>
                        <a:t>7,513</a:t>
                      </a:r>
                    </a:p>
                  </a:txBody>
                  <a:tcPr marL="110731" marR="11073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205319087"/>
                  </a:ext>
                </a:extLst>
              </a:tr>
              <a:tr h="433388">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altLang="en-US" sz="2400" b="0" i="0" u="none" strike="noStrike" cap="none" normalizeH="0" baseline="0" dirty="0">
                          <a:ln>
                            <a:noFill/>
                          </a:ln>
                          <a:solidFill>
                            <a:schemeClr val="tx1"/>
                          </a:solidFill>
                          <a:effectLst/>
                          <a:latin typeface="Tahoma" panose="020B0604030504040204" pitchFamily="34" charset="0"/>
                        </a:rPr>
                        <a:t>4</a:t>
                      </a:r>
                    </a:p>
                  </a:txBody>
                  <a:tcPr marL="110731" marR="11073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GB" altLang="en-US" sz="2400" b="0" i="0" u="none" strike="noStrike" cap="none" normalizeH="0" baseline="0">
                          <a:ln>
                            <a:noFill/>
                          </a:ln>
                          <a:solidFill>
                            <a:schemeClr val="tx1"/>
                          </a:solidFill>
                          <a:effectLst/>
                          <a:latin typeface="Tahoma" panose="020B0604030504040204" pitchFamily="34" charset="0"/>
                        </a:rPr>
                        <a:t>20,000</a:t>
                      </a:r>
                    </a:p>
                  </a:txBody>
                  <a:tcPr marL="110731" marR="110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GB" altLang="en-US" sz="2400" b="0" i="0" u="none" strike="noStrike" cap="none" normalizeH="0" baseline="0" dirty="0">
                          <a:ln>
                            <a:noFill/>
                          </a:ln>
                          <a:solidFill>
                            <a:schemeClr val="tx1"/>
                          </a:solidFill>
                          <a:effectLst/>
                          <a:latin typeface="Tahoma" panose="020B0604030504040204" pitchFamily="34" charset="0"/>
                        </a:rPr>
                        <a:t>0.6830</a:t>
                      </a:r>
                    </a:p>
                  </a:txBody>
                  <a:tcPr marL="110731" marR="110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GB" altLang="en-US" sz="2400" b="0" i="0" u="none" strike="noStrike" cap="none" normalizeH="0" baseline="0" dirty="0">
                          <a:ln>
                            <a:noFill/>
                          </a:ln>
                          <a:solidFill>
                            <a:schemeClr val="tx1"/>
                          </a:solidFill>
                          <a:effectLst/>
                          <a:latin typeface="Tahoma" panose="020B0604030504040204" pitchFamily="34" charset="0"/>
                        </a:rPr>
                        <a:t>13,660</a:t>
                      </a:r>
                    </a:p>
                  </a:txBody>
                  <a:tcPr marL="110731" marR="11073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004657775"/>
                  </a:ext>
                </a:extLst>
              </a:tr>
              <a:tr h="503238">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altLang="en-US" sz="2400" b="0" i="0" u="none" strike="noStrike" cap="none" normalizeH="0" baseline="0" dirty="0">
                          <a:ln>
                            <a:noFill/>
                          </a:ln>
                          <a:solidFill>
                            <a:schemeClr val="tx1"/>
                          </a:solidFill>
                          <a:effectLst/>
                          <a:latin typeface="Tahoma" panose="020B0604030504040204" pitchFamily="34" charset="0"/>
                        </a:rPr>
                        <a:t>5</a:t>
                      </a:r>
                    </a:p>
                  </a:txBody>
                  <a:tcPr marL="110731" marR="110731"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GB" altLang="en-US" sz="2400" b="0" i="0" u="none" strike="noStrike" cap="none" normalizeH="0" baseline="0">
                          <a:ln>
                            <a:noFill/>
                          </a:ln>
                          <a:solidFill>
                            <a:schemeClr val="tx1"/>
                          </a:solidFill>
                          <a:effectLst/>
                          <a:latin typeface="Tahoma" panose="020B0604030504040204" pitchFamily="34" charset="0"/>
                        </a:rPr>
                        <a:t>100,000</a:t>
                      </a:r>
                    </a:p>
                  </a:txBody>
                  <a:tcPr marL="110731" marR="11073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GB" altLang="en-US" sz="2400" b="0" i="0" u="none" strike="noStrike" cap="none" normalizeH="0" baseline="0" dirty="0">
                          <a:ln>
                            <a:noFill/>
                          </a:ln>
                          <a:solidFill>
                            <a:schemeClr val="tx1"/>
                          </a:solidFill>
                          <a:effectLst/>
                          <a:latin typeface="Tahoma" panose="020B0604030504040204" pitchFamily="34" charset="0"/>
                        </a:rPr>
                        <a:t>0.6209</a:t>
                      </a:r>
                    </a:p>
                  </a:txBody>
                  <a:tcPr marL="110731" marR="11073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GB" altLang="en-US" sz="2400" b="0" i="0" u="none" strike="noStrike" cap="none" normalizeH="0" baseline="0" dirty="0">
                          <a:ln>
                            <a:noFill/>
                          </a:ln>
                          <a:solidFill>
                            <a:schemeClr val="tx1"/>
                          </a:solidFill>
                          <a:effectLst/>
                          <a:latin typeface="Tahoma" panose="020B0604030504040204" pitchFamily="34" charset="0"/>
                        </a:rPr>
                        <a:t>62,090</a:t>
                      </a:r>
                    </a:p>
                  </a:txBody>
                  <a:tcPr marL="110731" marR="110731"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4071585679"/>
                  </a:ext>
                </a:extLst>
              </a:tr>
              <a:tr h="622300">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altLang="en-US" sz="2000" b="0" i="0" u="none" strike="noStrike" cap="none" normalizeH="0" baseline="0">
                        <a:ln>
                          <a:noFill/>
                        </a:ln>
                        <a:solidFill>
                          <a:schemeClr val="tx1"/>
                        </a:solidFill>
                        <a:effectLst/>
                        <a:latin typeface="Tahoma" panose="020B0604030504040204" pitchFamily="34" charset="0"/>
                      </a:endParaRPr>
                    </a:p>
                  </a:txBody>
                  <a:tcPr marL="110731" marR="110731"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altLang="en-US" sz="2000" b="0" i="0" u="none" strike="noStrike" cap="none" normalizeH="0" baseline="0">
                        <a:ln>
                          <a:noFill/>
                        </a:ln>
                        <a:solidFill>
                          <a:schemeClr val="tx1"/>
                        </a:solidFill>
                        <a:effectLst/>
                        <a:latin typeface="Tahoma" panose="020B0604030504040204" pitchFamily="34" charset="0"/>
                      </a:endParaRPr>
                    </a:p>
                  </a:txBody>
                  <a:tcPr marL="110731" marR="11073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GB" altLang="en-US" sz="2000" b="0" i="0" u="none" strike="noStrike" cap="none" normalizeH="0" baseline="0" dirty="0">
                          <a:ln>
                            <a:noFill/>
                          </a:ln>
                          <a:solidFill>
                            <a:schemeClr val="tx1"/>
                          </a:solidFill>
                          <a:effectLst/>
                          <a:latin typeface="Tahoma" panose="020B0604030504040204" pitchFamily="34" charset="0"/>
                        </a:rPr>
                        <a:t>NPV</a:t>
                      </a:r>
                    </a:p>
                  </a:txBody>
                  <a:tcPr marL="110731" marR="11073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GB" altLang="en-US" sz="2400" b="0" i="0" u="none" strike="noStrike" cap="none" normalizeH="0" baseline="0" dirty="0">
                          <a:ln>
                            <a:noFill/>
                          </a:ln>
                          <a:solidFill>
                            <a:schemeClr val="tx1"/>
                          </a:solidFill>
                          <a:effectLst/>
                          <a:latin typeface="Tahoma" panose="020B0604030504040204" pitchFamily="34" charset="0"/>
                        </a:rPr>
                        <a:t>618</a:t>
                      </a:r>
                    </a:p>
                  </a:txBody>
                  <a:tcPr marL="110731" marR="110731"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132012003"/>
                  </a:ext>
                </a:extLst>
              </a:tr>
            </a:tbl>
          </a:graphicData>
        </a:graphic>
      </p:graphicFrame>
      <p:sp>
        <p:nvSpPr>
          <p:cNvPr id="50" name="Slide Number Placeholder 3"/>
          <p:cNvSpPr>
            <a:spLocks noGrp="1"/>
          </p:cNvSpPr>
          <p:nvPr>
            <p:ph type="sldNum" sz="quarter" idx="12"/>
          </p:nvPr>
        </p:nvSpPr>
        <p:spPr/>
        <p:txBody>
          <a:bodyPr/>
          <a:lstStyle/>
          <a:p>
            <a:fld id="{59CB0D65-E5A3-46DD-B3AC-E3F3D1EBAA5D}" type="slidenum">
              <a:rPr lang="en-US" altLang="en-US"/>
              <a:pPr/>
              <a:t>36</a:t>
            </a:fld>
            <a:endParaRPr lang="en-US" altLang="en-US"/>
          </a:p>
        </p:txBody>
      </p:sp>
    </p:spTree>
    <p:extLst>
      <p:ext uri="{BB962C8B-B14F-4D97-AF65-F5344CB8AC3E}">
        <p14:creationId xmlns:p14="http://schemas.microsoft.com/office/powerpoint/2010/main" val="9789350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Net present value</a:t>
            </a:r>
            <a:endParaRPr lang="en-IN" dirty="0"/>
          </a:p>
        </p:txBody>
      </p:sp>
      <p:sp>
        <p:nvSpPr>
          <p:cNvPr id="3" name="Content Placeholder 2"/>
          <p:cNvSpPr>
            <a:spLocks noGrp="1"/>
          </p:cNvSpPr>
          <p:nvPr>
            <p:ph sz="half" idx="1"/>
          </p:nvPr>
        </p:nvSpPr>
        <p:spPr>
          <a:xfrm>
            <a:off x="2727712" y="1260620"/>
            <a:ext cx="1440633" cy="499566"/>
          </a:xfrm>
        </p:spPr>
        <p:txBody>
          <a:bodyPr>
            <a:normAutofit fontScale="92500" lnSpcReduction="20000"/>
          </a:bodyPr>
          <a:lstStyle/>
          <a:p>
            <a:pPr marL="0" indent="0">
              <a:buNone/>
            </a:pPr>
            <a:r>
              <a:rPr lang="en-GB" altLang="en-US" dirty="0"/>
              <a:t>Project 2</a:t>
            </a:r>
          </a:p>
        </p:txBody>
      </p:sp>
      <p:graphicFrame>
        <p:nvGraphicFramePr>
          <p:cNvPr id="5" name="Content Placeholder 4"/>
          <p:cNvGraphicFramePr>
            <a:graphicFrameLocks noGrp="1"/>
          </p:cNvGraphicFramePr>
          <p:nvPr>
            <p:ph sz="half" idx="2"/>
            <p:extLst>
              <p:ext uri="{D42A27DB-BD31-4B8C-83A1-F6EECF244321}">
                <p14:modId xmlns:p14="http://schemas.microsoft.com/office/powerpoint/2010/main" val="2027995325"/>
              </p:ext>
            </p:extLst>
          </p:nvPr>
        </p:nvGraphicFramePr>
        <p:xfrm>
          <a:off x="1140075" y="2050322"/>
          <a:ext cx="7377849" cy="3444240"/>
        </p:xfrm>
        <a:graphic>
          <a:graphicData uri="http://schemas.openxmlformats.org/drawingml/2006/table">
            <a:tbl>
              <a:tblPr firstRow="1" bandRow="1">
                <a:tableStyleId>{5C22544A-7EE6-4342-B048-85BDC9FD1C3A}</a:tableStyleId>
              </a:tblPr>
              <a:tblGrid>
                <a:gridCol w="1026694">
                  <a:extLst>
                    <a:ext uri="{9D8B030D-6E8A-4147-A177-3AD203B41FA5}">
                      <a16:colId xmlns:a16="http://schemas.microsoft.com/office/drawing/2014/main" val="2248303887"/>
                    </a:ext>
                  </a:extLst>
                </a:gridCol>
                <a:gridCol w="2009992">
                  <a:extLst>
                    <a:ext uri="{9D8B030D-6E8A-4147-A177-3AD203B41FA5}">
                      <a16:colId xmlns:a16="http://schemas.microsoft.com/office/drawing/2014/main" val="2023753746"/>
                    </a:ext>
                  </a:extLst>
                </a:gridCol>
                <a:gridCol w="2318863">
                  <a:extLst>
                    <a:ext uri="{9D8B030D-6E8A-4147-A177-3AD203B41FA5}">
                      <a16:colId xmlns:a16="http://schemas.microsoft.com/office/drawing/2014/main" val="4244003138"/>
                    </a:ext>
                  </a:extLst>
                </a:gridCol>
                <a:gridCol w="2022300">
                  <a:extLst>
                    <a:ext uri="{9D8B030D-6E8A-4147-A177-3AD203B41FA5}">
                      <a16:colId xmlns:a16="http://schemas.microsoft.com/office/drawing/2014/main" val="387657477"/>
                    </a:ext>
                  </a:extLst>
                </a:gridCol>
              </a:tblGrid>
              <a:tr h="370840">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GB" altLang="en-US" sz="2000" b="0" i="0" u="none" strike="noStrike" cap="none" normalizeH="0" baseline="0" dirty="0">
                          <a:ln>
                            <a:noFill/>
                          </a:ln>
                          <a:solidFill>
                            <a:schemeClr val="bg2"/>
                          </a:solidFill>
                          <a:effectLst/>
                          <a:latin typeface="Tahoma" panose="020B0604030504040204" pitchFamily="34" charset="0"/>
                          <a:ea typeface="Tahoma" panose="020B0604030504040204" pitchFamily="34" charset="0"/>
                          <a:cs typeface="Tahoma" panose="020B0604030504040204" pitchFamily="34" charset="0"/>
                        </a:rPr>
                        <a:t>Year</a:t>
                      </a:r>
                    </a:p>
                  </a:txBody>
                  <a:tcPr horzOverflow="overflow"/>
                </a:tc>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GB" altLang="en-US" sz="2000" b="0" i="0" u="none" strike="noStrike" cap="none" normalizeH="0" baseline="0" dirty="0">
                          <a:ln>
                            <a:noFill/>
                          </a:ln>
                          <a:solidFill>
                            <a:schemeClr val="bg2"/>
                          </a:solidFill>
                          <a:effectLst/>
                          <a:latin typeface="Tahoma" panose="020B0604030504040204" pitchFamily="34" charset="0"/>
                          <a:ea typeface="Tahoma" panose="020B0604030504040204" pitchFamily="34" charset="0"/>
                          <a:cs typeface="Tahoma" panose="020B0604030504040204" pitchFamily="34" charset="0"/>
                        </a:rPr>
                        <a:t>Cash-flow</a:t>
                      </a:r>
                    </a:p>
                  </a:txBody>
                  <a:tcPr horzOverflow="overflow"/>
                </a:tc>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GB" altLang="en-US" sz="2000" b="0" i="0" u="none" strike="noStrike" cap="none" normalizeH="0" baseline="0" dirty="0">
                          <a:ln>
                            <a:noFill/>
                          </a:ln>
                          <a:solidFill>
                            <a:schemeClr val="bg2"/>
                          </a:solidFill>
                          <a:effectLst/>
                          <a:latin typeface="Tahoma" panose="020B0604030504040204" pitchFamily="34" charset="0"/>
                          <a:ea typeface="Tahoma" panose="020B0604030504040204" pitchFamily="34" charset="0"/>
                          <a:cs typeface="Tahoma" panose="020B0604030504040204" pitchFamily="34" charset="0"/>
                        </a:rPr>
                        <a:t>Discount Factor</a:t>
                      </a:r>
                    </a:p>
                  </a:txBody>
                  <a:tcPr horzOverflow="overflow"/>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defRPr/>
                      </a:pPr>
                      <a:r>
                        <a:rPr kumimoji="0" lang="en-GB" altLang="en-US" sz="2000" b="0" i="0" u="none" strike="noStrike" cap="none" normalizeH="0" baseline="0" dirty="0">
                          <a:ln>
                            <a:noFill/>
                          </a:ln>
                          <a:solidFill>
                            <a:schemeClr val="tx1"/>
                          </a:solidFill>
                          <a:effectLst/>
                          <a:latin typeface="Tahoma" panose="020B0604030504040204" pitchFamily="34" charset="0"/>
                        </a:rPr>
                        <a:t>Discounted cash flow</a:t>
                      </a:r>
                    </a:p>
                  </a:txBody>
                  <a:tcPr horzOverflow="overflow"/>
                </a:tc>
                <a:extLst>
                  <a:ext uri="{0D108BD9-81ED-4DB2-BD59-A6C34878D82A}">
                    <a16:rowId xmlns:a16="http://schemas.microsoft.com/office/drawing/2014/main" val="2686042913"/>
                  </a:ext>
                </a:extLst>
              </a:tr>
              <a:tr h="370840">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altLang="en-US" sz="200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0</a:t>
                      </a:r>
                    </a:p>
                  </a:txBody>
                  <a:tcPr horzOverflow="overflow"/>
                </a:tc>
                <a:tc>
                  <a:txBody>
                    <a:bodyPr/>
                    <a:lstStyle/>
                    <a:p>
                      <a:pPr algn="r"/>
                      <a:r>
                        <a:rPr lang="en-US" sz="2000" dirty="0">
                          <a:latin typeface="Tahoma" panose="020B0604030504040204" pitchFamily="34" charset="0"/>
                          <a:ea typeface="Tahoma" panose="020B0604030504040204" pitchFamily="34" charset="0"/>
                          <a:cs typeface="Tahoma" panose="020B0604030504040204" pitchFamily="34" charset="0"/>
                        </a:rPr>
                        <a:t>-10,00,000</a:t>
                      </a:r>
                    </a:p>
                  </a:txBody>
                  <a:tcPr/>
                </a:tc>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GB" altLang="en-US" sz="2400" b="0" i="0" u="none" strike="noStrike" cap="none" normalizeH="0" baseline="0" dirty="0">
                          <a:ln>
                            <a:noFill/>
                          </a:ln>
                          <a:solidFill>
                            <a:schemeClr val="tx1"/>
                          </a:solidFill>
                          <a:effectLst/>
                          <a:latin typeface="Tahoma" panose="020B0604030504040204" pitchFamily="34" charset="0"/>
                        </a:rPr>
                        <a:t>1.0000</a:t>
                      </a:r>
                    </a:p>
                  </a:txBody>
                  <a:tcPr marL="110731" marR="110731" horzOverflow="overflow"/>
                </a:tc>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endParaRPr kumimoji="0" lang="en-GB" altLang="en-US" sz="2000" b="0" i="0" u="none" strike="noStrike" cap="none" normalizeH="0" baseline="0" dirty="0">
                        <a:ln>
                          <a:noFill/>
                        </a:ln>
                        <a:solidFill>
                          <a:srgbClr val="0000CC"/>
                        </a:solidFill>
                        <a:effectLst/>
                        <a:latin typeface="Tahoma" panose="020B0604030504040204" pitchFamily="34" charset="0"/>
                        <a:ea typeface="Tahoma" panose="020B0604030504040204" pitchFamily="34" charset="0"/>
                        <a:cs typeface="Tahoma" panose="020B0604030504040204" pitchFamily="34" charset="0"/>
                      </a:endParaRPr>
                    </a:p>
                  </a:txBody>
                  <a:tcPr horzOverflow="overflow"/>
                </a:tc>
                <a:extLst>
                  <a:ext uri="{0D108BD9-81ED-4DB2-BD59-A6C34878D82A}">
                    <a16:rowId xmlns:a16="http://schemas.microsoft.com/office/drawing/2014/main" val="2715192214"/>
                  </a:ext>
                </a:extLst>
              </a:tr>
              <a:tr h="370840">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altLang="en-US" sz="200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1</a:t>
                      </a:r>
                    </a:p>
                  </a:txBody>
                  <a:tcPr horzOverflow="overflow"/>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2000" dirty="0">
                          <a:latin typeface="Tahoma" panose="020B0604030504040204" pitchFamily="34" charset="0"/>
                          <a:ea typeface="Tahoma" panose="020B0604030504040204" pitchFamily="34" charset="0"/>
                          <a:cs typeface="Tahoma" panose="020B0604030504040204" pitchFamily="34" charset="0"/>
                        </a:rPr>
                        <a:t>2,00,000</a:t>
                      </a:r>
                    </a:p>
                  </a:txBody>
                  <a:tcPr/>
                </a:tc>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GB" altLang="en-US" sz="2400" b="0" i="0" u="none" strike="noStrike" cap="none" normalizeH="0" baseline="0" dirty="0">
                          <a:ln>
                            <a:noFill/>
                          </a:ln>
                          <a:solidFill>
                            <a:schemeClr val="tx1"/>
                          </a:solidFill>
                          <a:effectLst/>
                          <a:latin typeface="Tahoma" panose="020B0604030504040204" pitchFamily="34" charset="0"/>
                        </a:rPr>
                        <a:t>0.9091</a:t>
                      </a:r>
                    </a:p>
                  </a:txBody>
                  <a:tcPr marL="110731" marR="110731" horzOverflow="overflow"/>
                </a:tc>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endParaRPr kumimoji="0" lang="en-GB" altLang="en-US" sz="2000" b="0" i="0" u="none" strike="noStrike" cap="none" normalizeH="0" baseline="0" dirty="0">
                        <a:ln>
                          <a:noFill/>
                        </a:ln>
                        <a:solidFill>
                          <a:srgbClr val="0000CC"/>
                        </a:solidFill>
                        <a:effectLst/>
                        <a:latin typeface="Tahoma" panose="020B0604030504040204" pitchFamily="34" charset="0"/>
                        <a:ea typeface="Tahoma" panose="020B0604030504040204" pitchFamily="34" charset="0"/>
                        <a:cs typeface="Tahoma" panose="020B0604030504040204" pitchFamily="34" charset="0"/>
                      </a:endParaRPr>
                    </a:p>
                  </a:txBody>
                  <a:tcPr horzOverflow="overflow"/>
                </a:tc>
                <a:extLst>
                  <a:ext uri="{0D108BD9-81ED-4DB2-BD59-A6C34878D82A}">
                    <a16:rowId xmlns:a16="http://schemas.microsoft.com/office/drawing/2014/main" val="604836554"/>
                  </a:ext>
                </a:extLst>
              </a:tr>
              <a:tr h="370840">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altLang="en-US" sz="200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2</a:t>
                      </a:r>
                    </a:p>
                  </a:txBody>
                  <a:tcPr horzOverflow="overflow"/>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2000">
                          <a:latin typeface="Tahoma" panose="020B0604030504040204" pitchFamily="34" charset="0"/>
                          <a:ea typeface="Tahoma" panose="020B0604030504040204" pitchFamily="34" charset="0"/>
                          <a:cs typeface="Tahoma" panose="020B0604030504040204" pitchFamily="34" charset="0"/>
                        </a:rPr>
                        <a:t>2,00,000</a:t>
                      </a:r>
                      <a:endParaRPr lang="en-US" sz="2000" dirty="0">
                        <a:latin typeface="Tahoma" panose="020B0604030504040204" pitchFamily="34" charset="0"/>
                        <a:ea typeface="Tahoma" panose="020B0604030504040204" pitchFamily="34" charset="0"/>
                        <a:cs typeface="Tahoma" panose="020B0604030504040204" pitchFamily="34" charset="0"/>
                      </a:endParaRPr>
                    </a:p>
                  </a:txBody>
                  <a:tcPr/>
                </a:tc>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GB" altLang="en-US" sz="2400" b="0" i="0" u="none" strike="noStrike" cap="none" normalizeH="0" baseline="0" dirty="0">
                          <a:ln>
                            <a:noFill/>
                          </a:ln>
                          <a:solidFill>
                            <a:schemeClr val="tx1"/>
                          </a:solidFill>
                          <a:effectLst/>
                          <a:latin typeface="Tahoma" panose="020B0604030504040204" pitchFamily="34" charset="0"/>
                        </a:rPr>
                        <a:t>0.8264</a:t>
                      </a:r>
                    </a:p>
                  </a:txBody>
                  <a:tcPr marL="110731" marR="110731" horzOverflow="overflow"/>
                </a:tc>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endParaRPr kumimoji="0" lang="en-GB" altLang="en-US" sz="2000" b="0" i="0" u="none" strike="noStrike" cap="none" normalizeH="0" baseline="0" dirty="0">
                        <a:ln>
                          <a:noFill/>
                        </a:ln>
                        <a:solidFill>
                          <a:srgbClr val="0000CC"/>
                        </a:solidFill>
                        <a:effectLst/>
                        <a:latin typeface="Tahoma" panose="020B0604030504040204" pitchFamily="34" charset="0"/>
                        <a:ea typeface="Tahoma" panose="020B0604030504040204" pitchFamily="34" charset="0"/>
                        <a:cs typeface="Tahoma" panose="020B0604030504040204" pitchFamily="34" charset="0"/>
                      </a:endParaRPr>
                    </a:p>
                  </a:txBody>
                  <a:tcPr horzOverflow="overflow"/>
                </a:tc>
                <a:extLst>
                  <a:ext uri="{0D108BD9-81ED-4DB2-BD59-A6C34878D82A}">
                    <a16:rowId xmlns:a16="http://schemas.microsoft.com/office/drawing/2014/main" val="3098725958"/>
                  </a:ext>
                </a:extLst>
              </a:tr>
              <a:tr h="370840">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altLang="en-US" sz="200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3</a:t>
                      </a:r>
                    </a:p>
                  </a:txBody>
                  <a:tcPr horzOverflow="overflow"/>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2000" dirty="0">
                          <a:latin typeface="Tahoma" panose="020B0604030504040204" pitchFamily="34" charset="0"/>
                          <a:ea typeface="Tahoma" panose="020B0604030504040204" pitchFamily="34" charset="0"/>
                          <a:cs typeface="Tahoma" panose="020B0604030504040204" pitchFamily="34" charset="0"/>
                        </a:rPr>
                        <a:t>2,00,000</a:t>
                      </a:r>
                    </a:p>
                  </a:txBody>
                  <a:tcPr/>
                </a:tc>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GB" altLang="en-US" sz="2400" b="0" i="0" u="none" strike="noStrike" cap="none" normalizeH="0" baseline="0" dirty="0">
                          <a:ln>
                            <a:noFill/>
                          </a:ln>
                          <a:solidFill>
                            <a:schemeClr val="tx1"/>
                          </a:solidFill>
                          <a:effectLst/>
                          <a:latin typeface="Tahoma" panose="020B0604030504040204" pitchFamily="34" charset="0"/>
                        </a:rPr>
                        <a:t>0.7513</a:t>
                      </a:r>
                    </a:p>
                  </a:txBody>
                  <a:tcPr marL="110731" marR="110731" horzOverflow="overflow"/>
                </a:tc>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endParaRPr kumimoji="0" lang="en-GB" altLang="en-US" sz="2000" b="0" i="0" u="none" strike="noStrike" cap="none" normalizeH="0" baseline="0" dirty="0">
                        <a:ln>
                          <a:noFill/>
                        </a:ln>
                        <a:solidFill>
                          <a:srgbClr val="0000CC"/>
                        </a:solidFill>
                        <a:effectLst/>
                        <a:latin typeface="Tahoma" panose="020B0604030504040204" pitchFamily="34" charset="0"/>
                        <a:ea typeface="Tahoma" panose="020B0604030504040204" pitchFamily="34" charset="0"/>
                        <a:cs typeface="Tahoma" panose="020B0604030504040204" pitchFamily="34" charset="0"/>
                      </a:endParaRPr>
                    </a:p>
                  </a:txBody>
                  <a:tcPr horzOverflow="overflow"/>
                </a:tc>
                <a:extLst>
                  <a:ext uri="{0D108BD9-81ED-4DB2-BD59-A6C34878D82A}">
                    <a16:rowId xmlns:a16="http://schemas.microsoft.com/office/drawing/2014/main" val="929871789"/>
                  </a:ext>
                </a:extLst>
              </a:tr>
              <a:tr h="370840">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altLang="en-US" sz="200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4</a:t>
                      </a:r>
                    </a:p>
                  </a:txBody>
                  <a:tcPr horzOverflow="overflow"/>
                </a:tc>
                <a:tc>
                  <a:txBody>
                    <a:bodyPr/>
                    <a:lstStyle/>
                    <a:p>
                      <a:pPr algn="r"/>
                      <a:r>
                        <a:rPr lang="en-US" sz="2000" dirty="0">
                          <a:latin typeface="Tahoma" panose="020B0604030504040204" pitchFamily="34" charset="0"/>
                          <a:ea typeface="Tahoma" panose="020B0604030504040204" pitchFamily="34" charset="0"/>
                          <a:cs typeface="Tahoma" panose="020B0604030504040204" pitchFamily="34" charset="0"/>
                        </a:rPr>
                        <a:t>2,00,000</a:t>
                      </a:r>
                    </a:p>
                  </a:txBody>
                  <a:tcPr/>
                </a:tc>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GB" altLang="en-US" sz="2400" b="0" i="0" u="none" strike="noStrike" cap="none" normalizeH="0" baseline="0" dirty="0">
                          <a:ln>
                            <a:noFill/>
                          </a:ln>
                          <a:solidFill>
                            <a:schemeClr val="tx1"/>
                          </a:solidFill>
                          <a:effectLst/>
                          <a:latin typeface="Tahoma" panose="020B0604030504040204" pitchFamily="34" charset="0"/>
                        </a:rPr>
                        <a:t>0.6830</a:t>
                      </a:r>
                    </a:p>
                  </a:txBody>
                  <a:tcPr marL="110731" marR="110731" horzOverflow="overflow"/>
                </a:tc>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endParaRPr kumimoji="0" lang="en-GB" altLang="en-US" sz="2000" b="0" i="0" u="none" strike="noStrike" cap="none" normalizeH="0" baseline="0" dirty="0">
                        <a:ln>
                          <a:noFill/>
                        </a:ln>
                        <a:solidFill>
                          <a:srgbClr val="0000CC"/>
                        </a:solidFill>
                        <a:effectLst/>
                        <a:latin typeface="Tahoma" panose="020B0604030504040204" pitchFamily="34" charset="0"/>
                        <a:ea typeface="Tahoma" panose="020B0604030504040204" pitchFamily="34" charset="0"/>
                        <a:cs typeface="Tahoma" panose="020B0604030504040204" pitchFamily="34" charset="0"/>
                      </a:endParaRPr>
                    </a:p>
                  </a:txBody>
                  <a:tcPr horzOverflow="overflow"/>
                </a:tc>
                <a:extLst>
                  <a:ext uri="{0D108BD9-81ED-4DB2-BD59-A6C34878D82A}">
                    <a16:rowId xmlns:a16="http://schemas.microsoft.com/office/drawing/2014/main" val="292312927"/>
                  </a:ext>
                </a:extLst>
              </a:tr>
              <a:tr h="370840">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altLang="en-US" sz="200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5</a:t>
                      </a:r>
                    </a:p>
                  </a:txBody>
                  <a:tcPr anchor="ctr" horzOverflow="overflow"/>
                </a:tc>
                <a:tc>
                  <a:txBody>
                    <a:bodyPr/>
                    <a:lstStyle/>
                    <a:p>
                      <a:pPr algn="r"/>
                      <a:r>
                        <a:rPr lang="en-US" sz="2000" dirty="0">
                          <a:latin typeface="Tahoma" panose="020B0604030504040204" pitchFamily="34" charset="0"/>
                          <a:ea typeface="Tahoma" panose="020B0604030504040204" pitchFamily="34" charset="0"/>
                          <a:cs typeface="Tahoma" panose="020B0604030504040204" pitchFamily="34" charset="0"/>
                        </a:rPr>
                        <a:t>3,00,000</a:t>
                      </a:r>
                    </a:p>
                  </a:txBody>
                  <a:tcPr/>
                </a:tc>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GB" altLang="en-US" sz="2400" b="0" i="0" u="none" strike="noStrike" cap="none" normalizeH="0" baseline="0" dirty="0">
                          <a:ln>
                            <a:noFill/>
                          </a:ln>
                          <a:solidFill>
                            <a:schemeClr val="tx1"/>
                          </a:solidFill>
                          <a:effectLst/>
                          <a:latin typeface="Tahoma" panose="020B0604030504040204" pitchFamily="34" charset="0"/>
                        </a:rPr>
                        <a:t>0.6209</a:t>
                      </a:r>
                    </a:p>
                  </a:txBody>
                  <a:tcPr marL="110731" marR="110731" anchor="ctr" horzOverflow="overflow"/>
                </a:tc>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endParaRPr kumimoji="0" lang="en-GB" altLang="en-US" sz="2000" b="0" i="0" u="none" strike="noStrike" cap="none" normalizeH="0" baseline="0" dirty="0">
                        <a:ln>
                          <a:noFill/>
                        </a:ln>
                        <a:solidFill>
                          <a:srgbClr val="FF0000"/>
                        </a:solidFill>
                        <a:effectLst/>
                        <a:latin typeface="Tahoma" panose="020B0604030504040204" pitchFamily="34" charset="0"/>
                        <a:ea typeface="Tahoma" panose="020B0604030504040204" pitchFamily="34" charset="0"/>
                        <a:cs typeface="Tahoma" panose="020B0604030504040204" pitchFamily="34" charset="0"/>
                      </a:endParaRPr>
                    </a:p>
                  </a:txBody>
                  <a:tcPr horzOverflow="overflow"/>
                </a:tc>
                <a:extLst>
                  <a:ext uri="{0D108BD9-81ED-4DB2-BD59-A6C34878D82A}">
                    <a16:rowId xmlns:a16="http://schemas.microsoft.com/office/drawing/2014/main" val="2077385687"/>
                  </a:ext>
                </a:extLst>
              </a:tr>
            </a:tbl>
          </a:graphicData>
        </a:graphic>
      </p:graphicFrame>
      <p:sp>
        <p:nvSpPr>
          <p:cNvPr id="4" name="Date Placeholder 3"/>
          <p:cNvSpPr>
            <a:spLocks noGrp="1"/>
          </p:cNvSpPr>
          <p:nvPr>
            <p:ph type="dt" sz="half" idx="10"/>
          </p:nvPr>
        </p:nvSpPr>
        <p:spPr>
          <a:xfrm>
            <a:off x="271849" y="5627533"/>
            <a:ext cx="947026" cy="309201"/>
          </a:xfrm>
        </p:spPr>
        <p:txBody>
          <a:bodyPr/>
          <a:lstStyle/>
          <a:p>
            <a:fld id="{E9376695-FE31-4FE3-8789-583C0374522F}" type="datetime3">
              <a:rPr lang="en-US" smtClean="0"/>
              <a:t>28 November 2023</a:t>
            </a:fld>
            <a:endParaRPr lang="en-US" dirty="0"/>
          </a:p>
        </p:txBody>
      </p:sp>
      <p:sp>
        <p:nvSpPr>
          <p:cNvPr id="6" name="Footer Placeholder 5"/>
          <p:cNvSpPr>
            <a:spLocks noGrp="1"/>
          </p:cNvSpPr>
          <p:nvPr>
            <p:ph type="ftr" sz="quarter" idx="11"/>
          </p:nvPr>
        </p:nvSpPr>
        <p:spPr>
          <a:xfrm>
            <a:off x="4466628" y="5600989"/>
            <a:ext cx="4545567" cy="309201"/>
          </a:xfrm>
        </p:spPr>
        <p:txBody>
          <a:bodyPr/>
          <a:lstStyle/>
          <a:p>
            <a:r>
              <a:rPr lang="en-US" dirty="0"/>
              <a:t>Software Project Management       Dr. D </a:t>
            </a:r>
            <a:r>
              <a:rPr lang="en-US" dirty="0" err="1"/>
              <a:t>Evangelin</a:t>
            </a:r>
            <a:r>
              <a:rPr lang="en-US" dirty="0"/>
              <a:t> Geetha    Dept. of MCA     RIT</a:t>
            </a:r>
          </a:p>
        </p:txBody>
      </p:sp>
      <p:sp>
        <p:nvSpPr>
          <p:cNvPr id="7" name="Slide Number Placeholder 6"/>
          <p:cNvSpPr>
            <a:spLocks noGrp="1"/>
          </p:cNvSpPr>
          <p:nvPr>
            <p:ph type="sldNum" sz="quarter" idx="12"/>
          </p:nvPr>
        </p:nvSpPr>
        <p:spPr/>
        <p:txBody>
          <a:bodyPr/>
          <a:lstStyle/>
          <a:p>
            <a:fld id="{6D22F896-40B5-4ADD-8801-0D06FADFA095}" type="slidenum">
              <a:rPr lang="en-US" smtClean="0"/>
              <a:t>37</a:t>
            </a:fld>
            <a:endParaRPr lang="en-US" dirty="0"/>
          </a:p>
        </p:txBody>
      </p:sp>
    </p:spTree>
    <p:extLst>
      <p:ext uri="{BB962C8B-B14F-4D97-AF65-F5344CB8AC3E}">
        <p14:creationId xmlns:p14="http://schemas.microsoft.com/office/powerpoint/2010/main" val="172303258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Net present value</a:t>
            </a:r>
            <a:endParaRPr lang="en-IN" dirty="0"/>
          </a:p>
        </p:txBody>
      </p:sp>
      <p:sp>
        <p:nvSpPr>
          <p:cNvPr id="3" name="Content Placeholder 2"/>
          <p:cNvSpPr>
            <a:spLocks noGrp="1"/>
          </p:cNvSpPr>
          <p:nvPr>
            <p:ph sz="half" idx="1"/>
          </p:nvPr>
        </p:nvSpPr>
        <p:spPr>
          <a:xfrm>
            <a:off x="2727712" y="1260620"/>
            <a:ext cx="1440633" cy="499566"/>
          </a:xfrm>
        </p:spPr>
        <p:txBody>
          <a:bodyPr>
            <a:normAutofit fontScale="92500" lnSpcReduction="20000"/>
          </a:bodyPr>
          <a:lstStyle/>
          <a:p>
            <a:pPr marL="0" indent="0">
              <a:buNone/>
            </a:pPr>
            <a:r>
              <a:rPr lang="en-GB" altLang="en-US" dirty="0"/>
              <a:t>Project 2</a:t>
            </a:r>
          </a:p>
        </p:txBody>
      </p:sp>
      <p:graphicFrame>
        <p:nvGraphicFramePr>
          <p:cNvPr id="5" name="Content Placeholder 4"/>
          <p:cNvGraphicFramePr>
            <a:graphicFrameLocks noGrp="1"/>
          </p:cNvGraphicFramePr>
          <p:nvPr>
            <p:ph sz="half" idx="2"/>
            <p:extLst>
              <p:ext uri="{D42A27DB-BD31-4B8C-83A1-F6EECF244321}">
                <p14:modId xmlns:p14="http://schemas.microsoft.com/office/powerpoint/2010/main" val="2742017735"/>
              </p:ext>
            </p:extLst>
          </p:nvPr>
        </p:nvGraphicFramePr>
        <p:xfrm>
          <a:off x="1137148" y="1969904"/>
          <a:ext cx="7377849" cy="3901440"/>
        </p:xfrm>
        <a:graphic>
          <a:graphicData uri="http://schemas.openxmlformats.org/drawingml/2006/table">
            <a:tbl>
              <a:tblPr firstRow="1" bandRow="1">
                <a:tableStyleId>{5C22544A-7EE6-4342-B048-85BDC9FD1C3A}</a:tableStyleId>
              </a:tblPr>
              <a:tblGrid>
                <a:gridCol w="1026694">
                  <a:extLst>
                    <a:ext uri="{9D8B030D-6E8A-4147-A177-3AD203B41FA5}">
                      <a16:colId xmlns:a16="http://schemas.microsoft.com/office/drawing/2014/main" val="2248303887"/>
                    </a:ext>
                  </a:extLst>
                </a:gridCol>
                <a:gridCol w="2009992">
                  <a:extLst>
                    <a:ext uri="{9D8B030D-6E8A-4147-A177-3AD203B41FA5}">
                      <a16:colId xmlns:a16="http://schemas.microsoft.com/office/drawing/2014/main" val="2023753746"/>
                    </a:ext>
                  </a:extLst>
                </a:gridCol>
                <a:gridCol w="2318863">
                  <a:extLst>
                    <a:ext uri="{9D8B030D-6E8A-4147-A177-3AD203B41FA5}">
                      <a16:colId xmlns:a16="http://schemas.microsoft.com/office/drawing/2014/main" val="4244003138"/>
                    </a:ext>
                  </a:extLst>
                </a:gridCol>
                <a:gridCol w="2022300">
                  <a:extLst>
                    <a:ext uri="{9D8B030D-6E8A-4147-A177-3AD203B41FA5}">
                      <a16:colId xmlns:a16="http://schemas.microsoft.com/office/drawing/2014/main" val="387657477"/>
                    </a:ext>
                  </a:extLst>
                </a:gridCol>
              </a:tblGrid>
              <a:tr h="370840">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GB" altLang="en-US" sz="2000" b="0" i="0" u="none" strike="noStrike" cap="none" normalizeH="0" baseline="0" dirty="0">
                          <a:ln>
                            <a:noFill/>
                          </a:ln>
                          <a:solidFill>
                            <a:schemeClr val="bg2"/>
                          </a:solidFill>
                          <a:effectLst/>
                          <a:latin typeface="Tahoma" panose="020B0604030504040204" pitchFamily="34" charset="0"/>
                          <a:ea typeface="Tahoma" panose="020B0604030504040204" pitchFamily="34" charset="0"/>
                          <a:cs typeface="Tahoma" panose="020B0604030504040204" pitchFamily="34" charset="0"/>
                        </a:rPr>
                        <a:t>Year</a:t>
                      </a:r>
                    </a:p>
                  </a:txBody>
                  <a:tcPr horzOverflow="overflow"/>
                </a:tc>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GB" altLang="en-US" sz="2000" b="0" i="0" u="none" strike="noStrike" cap="none" normalizeH="0" baseline="0" dirty="0">
                          <a:ln>
                            <a:noFill/>
                          </a:ln>
                          <a:solidFill>
                            <a:schemeClr val="bg2"/>
                          </a:solidFill>
                          <a:effectLst/>
                          <a:latin typeface="Tahoma" panose="020B0604030504040204" pitchFamily="34" charset="0"/>
                          <a:ea typeface="Tahoma" panose="020B0604030504040204" pitchFamily="34" charset="0"/>
                          <a:cs typeface="Tahoma" panose="020B0604030504040204" pitchFamily="34" charset="0"/>
                        </a:rPr>
                        <a:t>Cash-flow</a:t>
                      </a:r>
                    </a:p>
                  </a:txBody>
                  <a:tcPr horzOverflow="overflow"/>
                </a:tc>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GB" altLang="en-US" sz="2000" b="0" i="0" u="none" strike="noStrike" cap="none" normalizeH="0" baseline="0" dirty="0">
                          <a:ln>
                            <a:noFill/>
                          </a:ln>
                          <a:solidFill>
                            <a:schemeClr val="bg2"/>
                          </a:solidFill>
                          <a:effectLst/>
                          <a:latin typeface="Tahoma" panose="020B0604030504040204" pitchFamily="34" charset="0"/>
                          <a:ea typeface="Tahoma" panose="020B0604030504040204" pitchFamily="34" charset="0"/>
                          <a:cs typeface="Tahoma" panose="020B0604030504040204" pitchFamily="34" charset="0"/>
                        </a:rPr>
                        <a:t>Discount Factor</a:t>
                      </a:r>
                    </a:p>
                  </a:txBody>
                  <a:tcPr horzOverflow="overflow"/>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defRPr/>
                      </a:pPr>
                      <a:r>
                        <a:rPr kumimoji="0" lang="en-GB" altLang="en-US" sz="2000" b="0" i="0" u="none" strike="noStrike" cap="none" normalizeH="0" baseline="0" dirty="0">
                          <a:ln>
                            <a:noFill/>
                          </a:ln>
                          <a:solidFill>
                            <a:schemeClr val="tx1"/>
                          </a:solidFill>
                          <a:effectLst/>
                          <a:latin typeface="Tahoma" panose="020B0604030504040204" pitchFamily="34" charset="0"/>
                        </a:rPr>
                        <a:t>Discounted cash flow</a:t>
                      </a:r>
                    </a:p>
                  </a:txBody>
                  <a:tcPr horzOverflow="overflow"/>
                </a:tc>
                <a:extLst>
                  <a:ext uri="{0D108BD9-81ED-4DB2-BD59-A6C34878D82A}">
                    <a16:rowId xmlns:a16="http://schemas.microsoft.com/office/drawing/2014/main" val="2686042913"/>
                  </a:ext>
                </a:extLst>
              </a:tr>
              <a:tr h="370840">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altLang="en-US" sz="200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0</a:t>
                      </a:r>
                    </a:p>
                  </a:txBody>
                  <a:tcPr horzOverflow="overflow"/>
                </a:tc>
                <a:tc>
                  <a:txBody>
                    <a:bodyPr/>
                    <a:lstStyle/>
                    <a:p>
                      <a:pPr algn="r"/>
                      <a:r>
                        <a:rPr lang="en-US" sz="2000" dirty="0">
                          <a:latin typeface="Tahoma" panose="020B0604030504040204" pitchFamily="34" charset="0"/>
                          <a:ea typeface="Tahoma" panose="020B0604030504040204" pitchFamily="34" charset="0"/>
                          <a:cs typeface="Tahoma" panose="020B0604030504040204" pitchFamily="34" charset="0"/>
                        </a:rPr>
                        <a:t>-10,00,000</a:t>
                      </a:r>
                    </a:p>
                  </a:txBody>
                  <a:tcPr/>
                </a:tc>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GB" altLang="en-US" sz="2400" b="0" i="0" u="none" strike="noStrike" cap="none" normalizeH="0" baseline="0" dirty="0">
                          <a:ln>
                            <a:noFill/>
                          </a:ln>
                          <a:solidFill>
                            <a:schemeClr val="tx1"/>
                          </a:solidFill>
                          <a:effectLst/>
                          <a:latin typeface="Tahoma" panose="020B0604030504040204" pitchFamily="34" charset="0"/>
                        </a:rPr>
                        <a:t>1.0000</a:t>
                      </a:r>
                    </a:p>
                  </a:txBody>
                  <a:tcPr marL="110731" marR="110731" horzOverflow="overflow"/>
                </a:tc>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GB" altLang="en-US" sz="2000" b="0" i="0" u="none" strike="noStrike" cap="none" normalizeH="0" baseline="0" dirty="0">
                          <a:ln>
                            <a:noFill/>
                          </a:ln>
                          <a:solidFill>
                            <a:srgbClr val="0000CC"/>
                          </a:solidFill>
                          <a:effectLst/>
                          <a:latin typeface="Tahoma" panose="020B0604030504040204" pitchFamily="34" charset="0"/>
                          <a:ea typeface="Tahoma" panose="020B0604030504040204" pitchFamily="34" charset="0"/>
                          <a:cs typeface="Tahoma" panose="020B0604030504040204" pitchFamily="34" charset="0"/>
                        </a:rPr>
                        <a:t>-10,00,000</a:t>
                      </a:r>
                    </a:p>
                  </a:txBody>
                  <a:tcPr horzOverflow="overflow"/>
                </a:tc>
                <a:extLst>
                  <a:ext uri="{0D108BD9-81ED-4DB2-BD59-A6C34878D82A}">
                    <a16:rowId xmlns:a16="http://schemas.microsoft.com/office/drawing/2014/main" val="2715192214"/>
                  </a:ext>
                </a:extLst>
              </a:tr>
              <a:tr h="420343">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altLang="en-US" sz="200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1</a:t>
                      </a:r>
                    </a:p>
                  </a:txBody>
                  <a:tcPr horzOverflow="overflow"/>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2000" dirty="0">
                          <a:latin typeface="Tahoma" panose="020B0604030504040204" pitchFamily="34" charset="0"/>
                          <a:ea typeface="Tahoma" panose="020B0604030504040204" pitchFamily="34" charset="0"/>
                          <a:cs typeface="Tahoma" panose="020B0604030504040204" pitchFamily="34" charset="0"/>
                        </a:rPr>
                        <a:t>2,00,000</a:t>
                      </a:r>
                    </a:p>
                  </a:txBody>
                  <a:tcPr/>
                </a:tc>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GB" altLang="en-US" sz="2400" b="0" i="0" u="none" strike="noStrike" cap="none" normalizeH="0" baseline="0" dirty="0">
                          <a:ln>
                            <a:noFill/>
                          </a:ln>
                          <a:solidFill>
                            <a:schemeClr val="tx1"/>
                          </a:solidFill>
                          <a:effectLst/>
                          <a:latin typeface="Tahoma" panose="020B0604030504040204" pitchFamily="34" charset="0"/>
                        </a:rPr>
                        <a:t>0.9091</a:t>
                      </a:r>
                    </a:p>
                  </a:txBody>
                  <a:tcPr marL="110731" marR="110731" horzOverflow="overflow"/>
                </a:tc>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GB" altLang="en-US" sz="2000" b="0" i="0" u="none" strike="noStrike" cap="none" normalizeH="0" baseline="0" dirty="0">
                          <a:ln>
                            <a:noFill/>
                          </a:ln>
                          <a:solidFill>
                            <a:srgbClr val="0000CC"/>
                          </a:solidFill>
                          <a:effectLst/>
                          <a:latin typeface="Tahoma" panose="020B0604030504040204" pitchFamily="34" charset="0"/>
                          <a:ea typeface="Tahoma" panose="020B0604030504040204" pitchFamily="34" charset="0"/>
                          <a:cs typeface="Tahoma" panose="020B0604030504040204" pitchFamily="34" charset="0"/>
                        </a:rPr>
                        <a:t>1,81,820</a:t>
                      </a:r>
                    </a:p>
                  </a:txBody>
                  <a:tcPr horzOverflow="overflow"/>
                </a:tc>
                <a:extLst>
                  <a:ext uri="{0D108BD9-81ED-4DB2-BD59-A6C34878D82A}">
                    <a16:rowId xmlns:a16="http://schemas.microsoft.com/office/drawing/2014/main" val="604836554"/>
                  </a:ext>
                </a:extLst>
              </a:tr>
              <a:tr h="370840">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altLang="en-US" sz="200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2</a:t>
                      </a:r>
                    </a:p>
                  </a:txBody>
                  <a:tcPr horzOverflow="overflow"/>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2000">
                          <a:latin typeface="Tahoma" panose="020B0604030504040204" pitchFamily="34" charset="0"/>
                          <a:ea typeface="Tahoma" panose="020B0604030504040204" pitchFamily="34" charset="0"/>
                          <a:cs typeface="Tahoma" panose="020B0604030504040204" pitchFamily="34" charset="0"/>
                        </a:rPr>
                        <a:t>2,00,000</a:t>
                      </a:r>
                      <a:endParaRPr lang="en-US" sz="2000" dirty="0">
                        <a:latin typeface="Tahoma" panose="020B0604030504040204" pitchFamily="34" charset="0"/>
                        <a:ea typeface="Tahoma" panose="020B0604030504040204" pitchFamily="34" charset="0"/>
                        <a:cs typeface="Tahoma" panose="020B0604030504040204" pitchFamily="34" charset="0"/>
                      </a:endParaRPr>
                    </a:p>
                  </a:txBody>
                  <a:tcPr/>
                </a:tc>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GB" altLang="en-US" sz="2400" b="0" i="0" u="none" strike="noStrike" cap="none" normalizeH="0" baseline="0" dirty="0">
                          <a:ln>
                            <a:noFill/>
                          </a:ln>
                          <a:solidFill>
                            <a:schemeClr val="tx1"/>
                          </a:solidFill>
                          <a:effectLst/>
                          <a:latin typeface="Tahoma" panose="020B0604030504040204" pitchFamily="34" charset="0"/>
                        </a:rPr>
                        <a:t>0.8264</a:t>
                      </a:r>
                    </a:p>
                  </a:txBody>
                  <a:tcPr marL="110731" marR="110731" horzOverflow="overflow"/>
                </a:tc>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IN" sz="2000" b="0" i="0" u="none" strike="noStrike" kern="1200" cap="none" normalizeH="0" baseline="0" dirty="0">
                          <a:ln>
                            <a:noFill/>
                          </a:ln>
                          <a:solidFill>
                            <a:srgbClr val="0000CC"/>
                          </a:solidFill>
                          <a:effectLst/>
                          <a:latin typeface="Tahoma" panose="020B0604030504040204" pitchFamily="34" charset="0"/>
                          <a:ea typeface="Tahoma" panose="020B0604030504040204" pitchFamily="34" charset="0"/>
                          <a:cs typeface="Tahoma" panose="020B0604030504040204" pitchFamily="34" charset="0"/>
                        </a:rPr>
                        <a:t>1,65,280</a:t>
                      </a:r>
                    </a:p>
                  </a:txBody>
                  <a:tcPr marL="7620" marR="7620" marT="7620" marB="0" anchor="b"/>
                </a:tc>
                <a:extLst>
                  <a:ext uri="{0D108BD9-81ED-4DB2-BD59-A6C34878D82A}">
                    <a16:rowId xmlns:a16="http://schemas.microsoft.com/office/drawing/2014/main" val="3098725958"/>
                  </a:ext>
                </a:extLst>
              </a:tr>
              <a:tr h="370840">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altLang="en-US" sz="200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3</a:t>
                      </a:r>
                    </a:p>
                  </a:txBody>
                  <a:tcPr horzOverflow="overflow"/>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2000" dirty="0">
                          <a:latin typeface="Tahoma" panose="020B0604030504040204" pitchFamily="34" charset="0"/>
                          <a:ea typeface="Tahoma" panose="020B0604030504040204" pitchFamily="34" charset="0"/>
                          <a:cs typeface="Tahoma" panose="020B0604030504040204" pitchFamily="34" charset="0"/>
                        </a:rPr>
                        <a:t>2,00,000</a:t>
                      </a:r>
                    </a:p>
                  </a:txBody>
                  <a:tcPr/>
                </a:tc>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GB" altLang="en-US" sz="2400" b="0" i="0" u="none" strike="noStrike" cap="none" normalizeH="0" baseline="0" dirty="0">
                          <a:ln>
                            <a:noFill/>
                          </a:ln>
                          <a:solidFill>
                            <a:schemeClr val="tx1"/>
                          </a:solidFill>
                          <a:effectLst/>
                          <a:latin typeface="Tahoma" panose="020B0604030504040204" pitchFamily="34" charset="0"/>
                        </a:rPr>
                        <a:t>0.7513</a:t>
                      </a:r>
                    </a:p>
                  </a:txBody>
                  <a:tcPr marL="110731" marR="110731" horzOverflow="overflow"/>
                </a:tc>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IN" sz="2000" b="0" i="0" u="none" strike="noStrike" kern="1200" cap="none" normalizeH="0" baseline="0" dirty="0">
                          <a:ln>
                            <a:noFill/>
                          </a:ln>
                          <a:solidFill>
                            <a:srgbClr val="0000CC"/>
                          </a:solidFill>
                          <a:effectLst/>
                          <a:latin typeface="Tahoma" panose="020B0604030504040204" pitchFamily="34" charset="0"/>
                          <a:ea typeface="Tahoma" panose="020B0604030504040204" pitchFamily="34" charset="0"/>
                          <a:cs typeface="Tahoma" panose="020B0604030504040204" pitchFamily="34" charset="0"/>
                        </a:rPr>
                        <a:t>1,50,260</a:t>
                      </a:r>
                    </a:p>
                  </a:txBody>
                  <a:tcPr marL="7620" marR="7620" marT="7620" marB="0" anchor="b"/>
                </a:tc>
                <a:extLst>
                  <a:ext uri="{0D108BD9-81ED-4DB2-BD59-A6C34878D82A}">
                    <a16:rowId xmlns:a16="http://schemas.microsoft.com/office/drawing/2014/main" val="929871789"/>
                  </a:ext>
                </a:extLst>
              </a:tr>
              <a:tr h="370840">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altLang="en-US" sz="200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4</a:t>
                      </a:r>
                    </a:p>
                  </a:txBody>
                  <a:tcPr horzOverflow="overflow"/>
                </a:tc>
                <a:tc>
                  <a:txBody>
                    <a:bodyPr/>
                    <a:lstStyle/>
                    <a:p>
                      <a:pPr algn="r"/>
                      <a:r>
                        <a:rPr lang="en-US" sz="2000" dirty="0">
                          <a:latin typeface="Tahoma" panose="020B0604030504040204" pitchFamily="34" charset="0"/>
                          <a:ea typeface="Tahoma" panose="020B0604030504040204" pitchFamily="34" charset="0"/>
                          <a:cs typeface="Tahoma" panose="020B0604030504040204" pitchFamily="34" charset="0"/>
                        </a:rPr>
                        <a:t>2,00,000</a:t>
                      </a:r>
                    </a:p>
                  </a:txBody>
                  <a:tcPr/>
                </a:tc>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GB" altLang="en-US" sz="2400" b="0" i="0" u="none" strike="noStrike" cap="none" normalizeH="0" baseline="0" dirty="0">
                          <a:ln>
                            <a:noFill/>
                          </a:ln>
                          <a:solidFill>
                            <a:schemeClr val="tx1"/>
                          </a:solidFill>
                          <a:effectLst/>
                          <a:latin typeface="Tahoma" panose="020B0604030504040204" pitchFamily="34" charset="0"/>
                        </a:rPr>
                        <a:t>0.6830</a:t>
                      </a:r>
                    </a:p>
                  </a:txBody>
                  <a:tcPr marL="110731" marR="110731" horzOverflow="overflow"/>
                </a:tc>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IN" sz="2000" b="0" i="0" u="none" strike="noStrike" kern="1200" cap="none" normalizeH="0" baseline="0" dirty="0">
                          <a:ln>
                            <a:noFill/>
                          </a:ln>
                          <a:solidFill>
                            <a:srgbClr val="0000CC"/>
                          </a:solidFill>
                          <a:effectLst/>
                          <a:latin typeface="Tahoma" panose="020B0604030504040204" pitchFamily="34" charset="0"/>
                          <a:ea typeface="Tahoma" panose="020B0604030504040204" pitchFamily="34" charset="0"/>
                          <a:cs typeface="Tahoma" panose="020B0604030504040204" pitchFamily="34" charset="0"/>
                        </a:rPr>
                        <a:t>1,36,600</a:t>
                      </a:r>
                    </a:p>
                  </a:txBody>
                  <a:tcPr marL="7620" marR="7620" marT="7620" marB="0" anchor="b"/>
                </a:tc>
                <a:extLst>
                  <a:ext uri="{0D108BD9-81ED-4DB2-BD59-A6C34878D82A}">
                    <a16:rowId xmlns:a16="http://schemas.microsoft.com/office/drawing/2014/main" val="292312927"/>
                  </a:ext>
                </a:extLst>
              </a:tr>
              <a:tr h="370840">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altLang="en-US" sz="200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5</a:t>
                      </a:r>
                    </a:p>
                  </a:txBody>
                  <a:tcPr anchor="ctr" horzOverflow="overflow"/>
                </a:tc>
                <a:tc>
                  <a:txBody>
                    <a:bodyPr/>
                    <a:lstStyle/>
                    <a:p>
                      <a:pPr algn="r"/>
                      <a:r>
                        <a:rPr lang="en-US" sz="2000" dirty="0">
                          <a:latin typeface="Tahoma" panose="020B0604030504040204" pitchFamily="34" charset="0"/>
                          <a:ea typeface="Tahoma" panose="020B0604030504040204" pitchFamily="34" charset="0"/>
                          <a:cs typeface="Tahoma" panose="020B0604030504040204" pitchFamily="34" charset="0"/>
                        </a:rPr>
                        <a:t>3,00,000</a:t>
                      </a:r>
                    </a:p>
                  </a:txBody>
                  <a:tcPr/>
                </a:tc>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GB" altLang="en-US" sz="2400" b="0" i="0" u="none" strike="noStrike" cap="none" normalizeH="0" baseline="0" dirty="0">
                          <a:ln>
                            <a:noFill/>
                          </a:ln>
                          <a:solidFill>
                            <a:schemeClr val="tx1"/>
                          </a:solidFill>
                          <a:effectLst/>
                          <a:latin typeface="Tahoma" panose="020B0604030504040204" pitchFamily="34" charset="0"/>
                        </a:rPr>
                        <a:t>0.6209</a:t>
                      </a:r>
                    </a:p>
                  </a:txBody>
                  <a:tcPr marL="110731" marR="110731" anchor="ctr" horzOverflow="overflow"/>
                </a:tc>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IN" sz="2000" b="0" i="0" u="none" strike="noStrike" kern="1200" cap="none" normalizeH="0" baseline="0" dirty="0">
                          <a:ln>
                            <a:noFill/>
                          </a:ln>
                          <a:solidFill>
                            <a:srgbClr val="0000CC"/>
                          </a:solidFill>
                          <a:effectLst/>
                          <a:latin typeface="Tahoma" panose="020B0604030504040204" pitchFamily="34" charset="0"/>
                          <a:ea typeface="Tahoma" panose="020B0604030504040204" pitchFamily="34" charset="0"/>
                          <a:cs typeface="Tahoma" panose="020B0604030504040204" pitchFamily="34" charset="0"/>
                        </a:rPr>
                        <a:t>1,86,270</a:t>
                      </a:r>
                    </a:p>
                  </a:txBody>
                  <a:tcPr marL="7620" marR="7620" marT="7620" marB="0" anchor="b"/>
                </a:tc>
                <a:extLst>
                  <a:ext uri="{0D108BD9-81ED-4DB2-BD59-A6C34878D82A}">
                    <a16:rowId xmlns:a16="http://schemas.microsoft.com/office/drawing/2014/main" val="2077385687"/>
                  </a:ext>
                </a:extLst>
              </a:tr>
              <a:tr h="37084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GB" altLang="en-US" sz="200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endParaRPr>
                    </a:p>
                  </a:txBody>
                  <a:tcPr anchor="ctr" horzOverflow="overflow"/>
                </a:tc>
                <a:tc>
                  <a:txBody>
                    <a:bodyPr/>
                    <a:lstStyle/>
                    <a:p>
                      <a:pPr algn="r"/>
                      <a:endParaRPr lang="en-US" sz="2000" dirty="0">
                        <a:latin typeface="Tahoma" panose="020B0604030504040204" pitchFamily="34" charset="0"/>
                        <a:ea typeface="Tahoma" panose="020B0604030504040204" pitchFamily="34" charset="0"/>
                        <a:cs typeface="Tahoma" panose="020B0604030504040204" pitchFamily="34" charset="0"/>
                      </a:endParaRPr>
                    </a:p>
                  </a:txBody>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GB" altLang="en-US" sz="2400" b="0" i="0" u="none" strike="noStrike" cap="none" normalizeH="0" baseline="0" dirty="0">
                          <a:ln>
                            <a:noFill/>
                          </a:ln>
                          <a:solidFill>
                            <a:schemeClr val="tx1"/>
                          </a:solidFill>
                          <a:effectLst/>
                          <a:latin typeface="Tahoma" panose="020B0604030504040204" pitchFamily="34" charset="0"/>
                        </a:rPr>
                        <a:t>NPV</a:t>
                      </a:r>
                    </a:p>
                  </a:txBody>
                  <a:tcPr marL="110731" marR="110731" anchor="ctr" horzOverflow="overflow"/>
                </a:tc>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sz="2000" b="0" i="0" u="none" strike="noStrike" kern="1200" cap="none" normalizeH="0" baseline="0" dirty="0">
                          <a:ln>
                            <a:noFill/>
                          </a:ln>
                          <a:solidFill>
                            <a:srgbClr val="0000CC"/>
                          </a:solidFill>
                          <a:effectLst/>
                          <a:latin typeface="Tahoma" panose="020B0604030504040204" pitchFamily="34" charset="0"/>
                          <a:ea typeface="Tahoma" panose="020B0604030504040204" pitchFamily="34" charset="0"/>
                          <a:cs typeface="Tahoma" panose="020B0604030504040204" pitchFamily="34" charset="0"/>
                        </a:rPr>
                        <a:t>-1,79,770</a:t>
                      </a:r>
                      <a:endParaRPr kumimoji="0" lang="en-IN" sz="2000" b="0" i="0" u="none" strike="noStrike" kern="1200" cap="none" normalizeH="0" baseline="0" dirty="0">
                        <a:ln>
                          <a:noFill/>
                        </a:ln>
                        <a:solidFill>
                          <a:srgbClr val="0000CC"/>
                        </a:solidFill>
                        <a:effectLst/>
                        <a:latin typeface="Tahoma" panose="020B0604030504040204" pitchFamily="34" charset="0"/>
                        <a:ea typeface="Tahoma" panose="020B0604030504040204" pitchFamily="34" charset="0"/>
                        <a:cs typeface="Tahoma" panose="020B0604030504040204" pitchFamily="34" charset="0"/>
                      </a:endParaRPr>
                    </a:p>
                  </a:txBody>
                  <a:tcPr marL="7620" marR="7620" marT="7620" marB="0" anchor="b"/>
                </a:tc>
                <a:extLst>
                  <a:ext uri="{0D108BD9-81ED-4DB2-BD59-A6C34878D82A}">
                    <a16:rowId xmlns:a16="http://schemas.microsoft.com/office/drawing/2014/main" val="460354135"/>
                  </a:ext>
                </a:extLst>
              </a:tr>
            </a:tbl>
          </a:graphicData>
        </a:graphic>
      </p:graphicFrame>
      <p:sp>
        <p:nvSpPr>
          <p:cNvPr id="4" name="Date Placeholder 3"/>
          <p:cNvSpPr>
            <a:spLocks noGrp="1"/>
          </p:cNvSpPr>
          <p:nvPr>
            <p:ph type="dt" sz="half" idx="10"/>
          </p:nvPr>
        </p:nvSpPr>
        <p:spPr>
          <a:xfrm>
            <a:off x="271849" y="5627533"/>
            <a:ext cx="947026" cy="309201"/>
          </a:xfrm>
        </p:spPr>
        <p:txBody>
          <a:bodyPr/>
          <a:lstStyle/>
          <a:p>
            <a:fld id="{E9376695-FE31-4FE3-8789-583C0374522F}" type="datetime3">
              <a:rPr lang="en-US" smtClean="0"/>
              <a:t>28 November 2023</a:t>
            </a:fld>
            <a:endParaRPr lang="en-US" dirty="0"/>
          </a:p>
        </p:txBody>
      </p:sp>
      <p:sp>
        <p:nvSpPr>
          <p:cNvPr id="6" name="Footer Placeholder 5"/>
          <p:cNvSpPr>
            <a:spLocks noGrp="1"/>
          </p:cNvSpPr>
          <p:nvPr>
            <p:ph type="ftr" sz="quarter" idx="11"/>
          </p:nvPr>
        </p:nvSpPr>
        <p:spPr>
          <a:xfrm>
            <a:off x="7234542" y="5898510"/>
            <a:ext cx="4545567" cy="309201"/>
          </a:xfrm>
        </p:spPr>
        <p:txBody>
          <a:bodyPr/>
          <a:lstStyle/>
          <a:p>
            <a:r>
              <a:rPr lang="en-US" dirty="0"/>
              <a:t>Software Project Management       Dr. D </a:t>
            </a:r>
            <a:r>
              <a:rPr lang="en-US" dirty="0" err="1"/>
              <a:t>Evangelin</a:t>
            </a:r>
            <a:r>
              <a:rPr lang="en-US" dirty="0"/>
              <a:t> Geetha    Dept. of MCA     RIT</a:t>
            </a:r>
          </a:p>
        </p:txBody>
      </p:sp>
      <p:sp>
        <p:nvSpPr>
          <p:cNvPr id="7" name="Slide Number Placeholder 6"/>
          <p:cNvSpPr>
            <a:spLocks noGrp="1"/>
          </p:cNvSpPr>
          <p:nvPr>
            <p:ph type="sldNum" sz="quarter" idx="12"/>
          </p:nvPr>
        </p:nvSpPr>
        <p:spPr/>
        <p:txBody>
          <a:bodyPr/>
          <a:lstStyle/>
          <a:p>
            <a:fld id="{6D22F896-40B5-4ADD-8801-0D06FADFA095}" type="slidenum">
              <a:rPr lang="en-US" smtClean="0"/>
              <a:t>38</a:t>
            </a:fld>
            <a:endParaRPr lang="en-US" dirty="0"/>
          </a:p>
        </p:txBody>
      </p:sp>
    </p:spTree>
    <p:extLst>
      <p:ext uri="{BB962C8B-B14F-4D97-AF65-F5344CB8AC3E}">
        <p14:creationId xmlns:p14="http://schemas.microsoft.com/office/powerpoint/2010/main" val="151023482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Net present value</a:t>
            </a:r>
            <a:endParaRPr lang="en-IN" dirty="0"/>
          </a:p>
        </p:txBody>
      </p:sp>
      <p:sp>
        <p:nvSpPr>
          <p:cNvPr id="3" name="Content Placeholder 2"/>
          <p:cNvSpPr>
            <a:spLocks noGrp="1"/>
          </p:cNvSpPr>
          <p:nvPr>
            <p:ph sz="half" idx="1"/>
          </p:nvPr>
        </p:nvSpPr>
        <p:spPr>
          <a:xfrm>
            <a:off x="2727712" y="1260620"/>
            <a:ext cx="1440633" cy="499566"/>
          </a:xfrm>
        </p:spPr>
        <p:txBody>
          <a:bodyPr>
            <a:normAutofit fontScale="92500" lnSpcReduction="20000"/>
          </a:bodyPr>
          <a:lstStyle/>
          <a:p>
            <a:pPr marL="0" indent="0">
              <a:buNone/>
            </a:pPr>
            <a:r>
              <a:rPr lang="en-GB" altLang="en-US" dirty="0"/>
              <a:t>Project 3</a:t>
            </a:r>
          </a:p>
        </p:txBody>
      </p:sp>
      <p:graphicFrame>
        <p:nvGraphicFramePr>
          <p:cNvPr id="5" name="Content Placeholder 4"/>
          <p:cNvGraphicFramePr>
            <a:graphicFrameLocks noGrp="1"/>
          </p:cNvGraphicFramePr>
          <p:nvPr>
            <p:ph sz="half" idx="2"/>
          </p:nvPr>
        </p:nvGraphicFramePr>
        <p:xfrm>
          <a:off x="1137148" y="1969904"/>
          <a:ext cx="7377849" cy="3901440"/>
        </p:xfrm>
        <a:graphic>
          <a:graphicData uri="http://schemas.openxmlformats.org/drawingml/2006/table">
            <a:tbl>
              <a:tblPr firstRow="1" bandRow="1">
                <a:tableStyleId>{5C22544A-7EE6-4342-B048-85BDC9FD1C3A}</a:tableStyleId>
              </a:tblPr>
              <a:tblGrid>
                <a:gridCol w="1026694">
                  <a:extLst>
                    <a:ext uri="{9D8B030D-6E8A-4147-A177-3AD203B41FA5}">
                      <a16:colId xmlns:a16="http://schemas.microsoft.com/office/drawing/2014/main" val="2248303887"/>
                    </a:ext>
                  </a:extLst>
                </a:gridCol>
                <a:gridCol w="2009992">
                  <a:extLst>
                    <a:ext uri="{9D8B030D-6E8A-4147-A177-3AD203B41FA5}">
                      <a16:colId xmlns:a16="http://schemas.microsoft.com/office/drawing/2014/main" val="2023753746"/>
                    </a:ext>
                  </a:extLst>
                </a:gridCol>
                <a:gridCol w="2318863">
                  <a:extLst>
                    <a:ext uri="{9D8B030D-6E8A-4147-A177-3AD203B41FA5}">
                      <a16:colId xmlns:a16="http://schemas.microsoft.com/office/drawing/2014/main" val="4244003138"/>
                    </a:ext>
                  </a:extLst>
                </a:gridCol>
                <a:gridCol w="2022300">
                  <a:extLst>
                    <a:ext uri="{9D8B030D-6E8A-4147-A177-3AD203B41FA5}">
                      <a16:colId xmlns:a16="http://schemas.microsoft.com/office/drawing/2014/main" val="387657477"/>
                    </a:ext>
                  </a:extLst>
                </a:gridCol>
              </a:tblGrid>
              <a:tr h="370840">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GB" altLang="en-US" sz="2000" b="0" i="0" u="none" strike="noStrike" cap="none" normalizeH="0" baseline="0" dirty="0">
                          <a:ln>
                            <a:noFill/>
                          </a:ln>
                          <a:solidFill>
                            <a:schemeClr val="bg2"/>
                          </a:solidFill>
                          <a:effectLst/>
                          <a:latin typeface="Tahoma" panose="020B0604030504040204" pitchFamily="34" charset="0"/>
                          <a:ea typeface="Tahoma" panose="020B0604030504040204" pitchFamily="34" charset="0"/>
                          <a:cs typeface="Tahoma" panose="020B0604030504040204" pitchFamily="34" charset="0"/>
                        </a:rPr>
                        <a:t>Year</a:t>
                      </a:r>
                    </a:p>
                  </a:txBody>
                  <a:tcPr horzOverflow="overflow"/>
                </a:tc>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GB" altLang="en-US" sz="2000" b="0" i="0" u="none" strike="noStrike" cap="none" normalizeH="0" baseline="0" dirty="0">
                          <a:ln>
                            <a:noFill/>
                          </a:ln>
                          <a:solidFill>
                            <a:schemeClr val="bg2"/>
                          </a:solidFill>
                          <a:effectLst/>
                          <a:latin typeface="Tahoma" panose="020B0604030504040204" pitchFamily="34" charset="0"/>
                          <a:ea typeface="Tahoma" panose="020B0604030504040204" pitchFamily="34" charset="0"/>
                          <a:cs typeface="Tahoma" panose="020B0604030504040204" pitchFamily="34" charset="0"/>
                        </a:rPr>
                        <a:t>Cash-flow</a:t>
                      </a:r>
                    </a:p>
                  </a:txBody>
                  <a:tcPr horzOverflow="overflow"/>
                </a:tc>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GB" altLang="en-US" sz="2000" b="0" i="0" u="none" strike="noStrike" cap="none" normalizeH="0" baseline="0" dirty="0">
                          <a:ln>
                            <a:noFill/>
                          </a:ln>
                          <a:solidFill>
                            <a:schemeClr val="bg2"/>
                          </a:solidFill>
                          <a:effectLst/>
                          <a:latin typeface="Tahoma" panose="020B0604030504040204" pitchFamily="34" charset="0"/>
                          <a:ea typeface="Tahoma" panose="020B0604030504040204" pitchFamily="34" charset="0"/>
                          <a:cs typeface="Tahoma" panose="020B0604030504040204" pitchFamily="34" charset="0"/>
                        </a:rPr>
                        <a:t>Discount Factor</a:t>
                      </a:r>
                    </a:p>
                  </a:txBody>
                  <a:tcPr horzOverflow="overflow"/>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defRPr/>
                      </a:pPr>
                      <a:r>
                        <a:rPr kumimoji="0" lang="en-GB" altLang="en-US" sz="2000" b="0" i="0" u="none" strike="noStrike" cap="none" normalizeH="0" baseline="0" dirty="0">
                          <a:ln>
                            <a:noFill/>
                          </a:ln>
                          <a:solidFill>
                            <a:schemeClr val="bg1"/>
                          </a:solidFill>
                          <a:effectLst/>
                          <a:latin typeface="Tahoma" panose="020B0604030504040204" pitchFamily="34" charset="0"/>
                        </a:rPr>
                        <a:t>Discounted cash flow</a:t>
                      </a:r>
                    </a:p>
                  </a:txBody>
                  <a:tcPr horzOverflow="overflow"/>
                </a:tc>
                <a:extLst>
                  <a:ext uri="{0D108BD9-81ED-4DB2-BD59-A6C34878D82A}">
                    <a16:rowId xmlns:a16="http://schemas.microsoft.com/office/drawing/2014/main" val="2686042913"/>
                  </a:ext>
                </a:extLst>
              </a:tr>
              <a:tr h="370840">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altLang="en-US" sz="200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0</a:t>
                      </a:r>
                    </a:p>
                  </a:txBody>
                  <a:tcPr horzOverflow="overflow"/>
                </a:tc>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sz="2000" b="0" i="0" u="none" strike="noStrike" kern="1200" cap="none" normalizeH="0" baseline="0" dirty="0">
                          <a:ln>
                            <a:noFill/>
                          </a:ln>
                          <a:solidFill>
                            <a:schemeClr val="tx1"/>
                          </a:solidFill>
                          <a:effectLst/>
                          <a:latin typeface="Tahoma" panose="020B0604030504040204" pitchFamily="34" charset="0"/>
                          <a:ea typeface="+mn-ea"/>
                          <a:cs typeface="+mn-cs"/>
                        </a:rPr>
                        <a:t>-1,00,000</a:t>
                      </a:r>
                    </a:p>
                  </a:txBody>
                  <a:tcPr/>
                </a:tc>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GB" altLang="en-US" sz="2400" b="0" i="0" u="none" strike="noStrike" cap="none" normalizeH="0" baseline="0" dirty="0">
                          <a:ln>
                            <a:noFill/>
                          </a:ln>
                          <a:solidFill>
                            <a:schemeClr val="tx1"/>
                          </a:solidFill>
                          <a:effectLst/>
                          <a:latin typeface="Tahoma" panose="020B0604030504040204" pitchFamily="34" charset="0"/>
                        </a:rPr>
                        <a:t>1.0000</a:t>
                      </a:r>
                    </a:p>
                  </a:txBody>
                  <a:tcPr marL="110731" marR="110731" horzOverflow="overflow"/>
                </a:tc>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endParaRPr kumimoji="0" lang="en-GB" altLang="en-US" sz="2000" b="0" i="0" u="none" strike="noStrike" cap="none" normalizeH="0" baseline="0" dirty="0">
                        <a:ln>
                          <a:noFill/>
                        </a:ln>
                        <a:solidFill>
                          <a:srgbClr val="0000CC"/>
                        </a:solidFill>
                        <a:effectLst/>
                        <a:latin typeface="Tahoma" panose="020B0604030504040204" pitchFamily="34" charset="0"/>
                        <a:ea typeface="Tahoma" panose="020B0604030504040204" pitchFamily="34" charset="0"/>
                        <a:cs typeface="Tahoma" panose="020B0604030504040204" pitchFamily="34" charset="0"/>
                      </a:endParaRPr>
                    </a:p>
                  </a:txBody>
                  <a:tcPr horzOverflow="overflow"/>
                </a:tc>
                <a:extLst>
                  <a:ext uri="{0D108BD9-81ED-4DB2-BD59-A6C34878D82A}">
                    <a16:rowId xmlns:a16="http://schemas.microsoft.com/office/drawing/2014/main" val="2715192214"/>
                  </a:ext>
                </a:extLst>
              </a:tr>
              <a:tr h="420343">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altLang="en-US" sz="200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1</a:t>
                      </a:r>
                    </a:p>
                  </a:txBody>
                  <a:tcPr horzOverflow="overflow"/>
                </a:tc>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sz="2000" b="0" i="0" u="none" strike="noStrike" kern="1200" cap="none" normalizeH="0" baseline="0" dirty="0">
                          <a:ln>
                            <a:noFill/>
                          </a:ln>
                          <a:solidFill>
                            <a:schemeClr val="tx1"/>
                          </a:solidFill>
                          <a:effectLst/>
                          <a:latin typeface="Tahoma" panose="020B0604030504040204" pitchFamily="34" charset="0"/>
                          <a:ea typeface="+mn-ea"/>
                          <a:cs typeface="+mn-cs"/>
                        </a:rPr>
                        <a:t>30,000</a:t>
                      </a:r>
                    </a:p>
                  </a:txBody>
                  <a:tcPr/>
                </a:tc>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GB" altLang="en-US" sz="2400" b="0" i="0" u="none" strike="noStrike" cap="none" normalizeH="0" baseline="0" dirty="0">
                          <a:ln>
                            <a:noFill/>
                          </a:ln>
                          <a:solidFill>
                            <a:schemeClr val="tx1"/>
                          </a:solidFill>
                          <a:effectLst/>
                          <a:latin typeface="Tahoma" panose="020B0604030504040204" pitchFamily="34" charset="0"/>
                        </a:rPr>
                        <a:t>0.9091</a:t>
                      </a:r>
                    </a:p>
                  </a:txBody>
                  <a:tcPr marL="110731" marR="110731" horzOverflow="overflow"/>
                </a:tc>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endParaRPr kumimoji="0" lang="en-GB" altLang="en-US" sz="2000" b="0" i="0" u="none" strike="noStrike" cap="none" normalizeH="0" baseline="0" dirty="0">
                        <a:ln>
                          <a:noFill/>
                        </a:ln>
                        <a:solidFill>
                          <a:srgbClr val="0000CC"/>
                        </a:solidFill>
                        <a:effectLst/>
                        <a:latin typeface="Tahoma" panose="020B0604030504040204" pitchFamily="34" charset="0"/>
                        <a:ea typeface="Tahoma" panose="020B0604030504040204" pitchFamily="34" charset="0"/>
                        <a:cs typeface="Tahoma" panose="020B0604030504040204" pitchFamily="34" charset="0"/>
                      </a:endParaRPr>
                    </a:p>
                  </a:txBody>
                  <a:tcPr horzOverflow="overflow"/>
                </a:tc>
                <a:extLst>
                  <a:ext uri="{0D108BD9-81ED-4DB2-BD59-A6C34878D82A}">
                    <a16:rowId xmlns:a16="http://schemas.microsoft.com/office/drawing/2014/main" val="604836554"/>
                  </a:ext>
                </a:extLst>
              </a:tr>
              <a:tr h="370840">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altLang="en-US" sz="200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2</a:t>
                      </a:r>
                    </a:p>
                  </a:txBody>
                  <a:tcPr horzOverflow="overflow"/>
                </a:tc>
                <a:tc>
                  <a:txBody>
                    <a:bodyPr/>
                    <a:lstStyle/>
                    <a:p>
                      <a:pPr marL="0" marR="0" lvl="0" indent="0" algn="r" defTabSz="914400" rtl="0" eaLnBrk="1" fontAlgn="base" latinLnBrk="0" hangingPunct="1">
                        <a:lnSpc>
                          <a:spcPct val="100000"/>
                        </a:lnSpc>
                        <a:spcBef>
                          <a:spcPct val="20000"/>
                        </a:spcBef>
                        <a:spcAft>
                          <a:spcPct val="0"/>
                        </a:spcAft>
                        <a:buClrTx/>
                        <a:buSzTx/>
                        <a:buFontTx/>
                        <a:buNone/>
                        <a:tabLst/>
                        <a:defRPr/>
                      </a:pPr>
                      <a:r>
                        <a:rPr kumimoji="0" lang="en-US" sz="2000" b="0" i="0" u="none" strike="noStrike" kern="1200" cap="none" normalizeH="0" baseline="0" dirty="0">
                          <a:ln>
                            <a:noFill/>
                          </a:ln>
                          <a:solidFill>
                            <a:schemeClr val="tx1"/>
                          </a:solidFill>
                          <a:effectLst/>
                          <a:latin typeface="Tahoma" panose="020B0604030504040204" pitchFamily="34" charset="0"/>
                          <a:ea typeface="+mn-ea"/>
                          <a:cs typeface="+mn-cs"/>
                        </a:rPr>
                        <a:t>30,000</a:t>
                      </a:r>
                    </a:p>
                  </a:txBody>
                  <a:tcPr/>
                </a:tc>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GB" altLang="en-US" sz="2400" b="0" i="0" u="none" strike="noStrike" cap="none" normalizeH="0" baseline="0" dirty="0">
                          <a:ln>
                            <a:noFill/>
                          </a:ln>
                          <a:solidFill>
                            <a:schemeClr val="tx1"/>
                          </a:solidFill>
                          <a:effectLst/>
                          <a:latin typeface="Tahoma" panose="020B0604030504040204" pitchFamily="34" charset="0"/>
                        </a:rPr>
                        <a:t>0.8264</a:t>
                      </a:r>
                    </a:p>
                  </a:txBody>
                  <a:tcPr marL="110731" marR="110731" horzOverflow="overflow"/>
                </a:tc>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endParaRPr kumimoji="0" lang="en-IN" sz="2000" b="0" i="0" u="none" strike="noStrike" kern="1200" cap="none" normalizeH="0" baseline="0" dirty="0">
                        <a:ln>
                          <a:noFill/>
                        </a:ln>
                        <a:solidFill>
                          <a:srgbClr val="0000CC"/>
                        </a:solidFill>
                        <a:effectLst/>
                        <a:latin typeface="Tahoma" panose="020B0604030504040204" pitchFamily="34" charset="0"/>
                        <a:ea typeface="Tahoma" panose="020B0604030504040204" pitchFamily="34" charset="0"/>
                        <a:cs typeface="Tahoma" panose="020B0604030504040204" pitchFamily="34" charset="0"/>
                      </a:endParaRPr>
                    </a:p>
                  </a:txBody>
                  <a:tcPr marL="7620" marR="7620" marT="7620" marB="0" anchor="b"/>
                </a:tc>
                <a:extLst>
                  <a:ext uri="{0D108BD9-81ED-4DB2-BD59-A6C34878D82A}">
                    <a16:rowId xmlns:a16="http://schemas.microsoft.com/office/drawing/2014/main" val="3098725958"/>
                  </a:ext>
                </a:extLst>
              </a:tr>
              <a:tr h="370840">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altLang="en-US" sz="200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3</a:t>
                      </a:r>
                    </a:p>
                  </a:txBody>
                  <a:tcPr horzOverflow="overflow"/>
                </a:tc>
                <a:tc>
                  <a:txBody>
                    <a:bodyPr/>
                    <a:lstStyle/>
                    <a:p>
                      <a:pPr marL="0" marR="0" lvl="0" indent="0" algn="r" defTabSz="914400" rtl="0" eaLnBrk="1" fontAlgn="base" latinLnBrk="0" hangingPunct="1">
                        <a:lnSpc>
                          <a:spcPct val="100000"/>
                        </a:lnSpc>
                        <a:spcBef>
                          <a:spcPct val="20000"/>
                        </a:spcBef>
                        <a:spcAft>
                          <a:spcPct val="0"/>
                        </a:spcAft>
                        <a:buClrTx/>
                        <a:buSzTx/>
                        <a:buFontTx/>
                        <a:buNone/>
                        <a:tabLst/>
                        <a:defRPr/>
                      </a:pPr>
                      <a:r>
                        <a:rPr kumimoji="0" lang="en-US" sz="2000" b="0" i="0" u="none" strike="noStrike" kern="1200" cap="none" normalizeH="0" baseline="0" dirty="0">
                          <a:ln>
                            <a:noFill/>
                          </a:ln>
                          <a:solidFill>
                            <a:schemeClr val="tx1"/>
                          </a:solidFill>
                          <a:effectLst/>
                          <a:latin typeface="Tahoma" panose="020B0604030504040204" pitchFamily="34" charset="0"/>
                          <a:ea typeface="+mn-ea"/>
                          <a:cs typeface="+mn-cs"/>
                        </a:rPr>
                        <a:t>30,000</a:t>
                      </a:r>
                    </a:p>
                  </a:txBody>
                  <a:tcPr/>
                </a:tc>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GB" altLang="en-US" sz="2400" b="0" i="0" u="none" strike="noStrike" cap="none" normalizeH="0" baseline="0" dirty="0">
                          <a:ln>
                            <a:noFill/>
                          </a:ln>
                          <a:solidFill>
                            <a:schemeClr val="tx1"/>
                          </a:solidFill>
                          <a:effectLst/>
                          <a:latin typeface="Tahoma" panose="020B0604030504040204" pitchFamily="34" charset="0"/>
                        </a:rPr>
                        <a:t>0.7513</a:t>
                      </a:r>
                    </a:p>
                  </a:txBody>
                  <a:tcPr marL="110731" marR="110731" horzOverflow="overflow"/>
                </a:tc>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endParaRPr kumimoji="0" lang="en-IN" sz="2000" b="0" i="0" u="none" strike="noStrike" kern="1200" cap="none" normalizeH="0" baseline="0" dirty="0">
                        <a:ln>
                          <a:noFill/>
                        </a:ln>
                        <a:solidFill>
                          <a:srgbClr val="0000CC"/>
                        </a:solidFill>
                        <a:effectLst/>
                        <a:latin typeface="Tahoma" panose="020B0604030504040204" pitchFamily="34" charset="0"/>
                        <a:ea typeface="Tahoma" panose="020B0604030504040204" pitchFamily="34" charset="0"/>
                        <a:cs typeface="Tahoma" panose="020B0604030504040204" pitchFamily="34" charset="0"/>
                      </a:endParaRPr>
                    </a:p>
                  </a:txBody>
                  <a:tcPr marL="7620" marR="7620" marT="7620" marB="0" anchor="b"/>
                </a:tc>
                <a:extLst>
                  <a:ext uri="{0D108BD9-81ED-4DB2-BD59-A6C34878D82A}">
                    <a16:rowId xmlns:a16="http://schemas.microsoft.com/office/drawing/2014/main" val="929871789"/>
                  </a:ext>
                </a:extLst>
              </a:tr>
              <a:tr h="370840">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altLang="en-US" sz="200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4</a:t>
                      </a:r>
                    </a:p>
                  </a:txBody>
                  <a:tcPr horzOverflow="overflow"/>
                </a:tc>
                <a:tc>
                  <a:txBody>
                    <a:bodyPr/>
                    <a:lstStyle/>
                    <a:p>
                      <a:pPr marL="0" marR="0" lvl="0" indent="0" algn="r" defTabSz="914400" rtl="0" eaLnBrk="1" fontAlgn="base" latinLnBrk="0" hangingPunct="1">
                        <a:lnSpc>
                          <a:spcPct val="100000"/>
                        </a:lnSpc>
                        <a:spcBef>
                          <a:spcPct val="20000"/>
                        </a:spcBef>
                        <a:spcAft>
                          <a:spcPct val="0"/>
                        </a:spcAft>
                        <a:buClrTx/>
                        <a:buSzTx/>
                        <a:buFontTx/>
                        <a:buNone/>
                        <a:tabLst/>
                        <a:defRPr/>
                      </a:pPr>
                      <a:r>
                        <a:rPr kumimoji="0" lang="en-US" sz="2000" b="0" i="0" u="none" strike="noStrike" kern="1200" cap="none" normalizeH="0" baseline="0" dirty="0">
                          <a:ln>
                            <a:noFill/>
                          </a:ln>
                          <a:solidFill>
                            <a:schemeClr val="tx1"/>
                          </a:solidFill>
                          <a:effectLst/>
                          <a:latin typeface="Tahoma" panose="020B0604030504040204" pitchFamily="34" charset="0"/>
                          <a:ea typeface="+mn-ea"/>
                          <a:cs typeface="+mn-cs"/>
                        </a:rPr>
                        <a:t>30,000</a:t>
                      </a:r>
                    </a:p>
                  </a:txBody>
                  <a:tcPr/>
                </a:tc>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GB" altLang="en-US" sz="2400" b="0" i="0" u="none" strike="noStrike" cap="none" normalizeH="0" baseline="0" dirty="0">
                          <a:ln>
                            <a:noFill/>
                          </a:ln>
                          <a:solidFill>
                            <a:schemeClr val="tx1"/>
                          </a:solidFill>
                          <a:effectLst/>
                          <a:latin typeface="Tahoma" panose="020B0604030504040204" pitchFamily="34" charset="0"/>
                        </a:rPr>
                        <a:t>0.6830</a:t>
                      </a:r>
                    </a:p>
                  </a:txBody>
                  <a:tcPr marL="110731" marR="110731" horzOverflow="overflow"/>
                </a:tc>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endParaRPr kumimoji="0" lang="en-IN" sz="2000" b="0" i="0" u="none" strike="noStrike" kern="1200" cap="none" normalizeH="0" baseline="0" dirty="0">
                        <a:ln>
                          <a:noFill/>
                        </a:ln>
                        <a:solidFill>
                          <a:srgbClr val="0000CC"/>
                        </a:solidFill>
                        <a:effectLst/>
                        <a:latin typeface="Tahoma" panose="020B0604030504040204" pitchFamily="34" charset="0"/>
                        <a:ea typeface="Tahoma" panose="020B0604030504040204" pitchFamily="34" charset="0"/>
                        <a:cs typeface="Tahoma" panose="020B0604030504040204" pitchFamily="34" charset="0"/>
                      </a:endParaRPr>
                    </a:p>
                  </a:txBody>
                  <a:tcPr marL="7620" marR="7620" marT="7620" marB="0" anchor="b"/>
                </a:tc>
                <a:extLst>
                  <a:ext uri="{0D108BD9-81ED-4DB2-BD59-A6C34878D82A}">
                    <a16:rowId xmlns:a16="http://schemas.microsoft.com/office/drawing/2014/main" val="292312927"/>
                  </a:ext>
                </a:extLst>
              </a:tr>
              <a:tr h="370840">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altLang="en-US" sz="200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5</a:t>
                      </a:r>
                    </a:p>
                  </a:txBody>
                  <a:tcPr anchor="ctr" horzOverflow="overflow"/>
                </a:tc>
                <a:tc>
                  <a:txBody>
                    <a:bodyPr/>
                    <a:lstStyle/>
                    <a:p>
                      <a:pPr marL="0" marR="0" lvl="0" indent="0" algn="r" defTabSz="914400" rtl="0" eaLnBrk="1" fontAlgn="base" latinLnBrk="0" hangingPunct="1">
                        <a:lnSpc>
                          <a:spcPct val="100000"/>
                        </a:lnSpc>
                        <a:spcBef>
                          <a:spcPct val="20000"/>
                        </a:spcBef>
                        <a:spcAft>
                          <a:spcPct val="0"/>
                        </a:spcAft>
                        <a:buClrTx/>
                        <a:buSzTx/>
                        <a:buFontTx/>
                        <a:buNone/>
                        <a:tabLst/>
                        <a:defRPr/>
                      </a:pPr>
                      <a:r>
                        <a:rPr kumimoji="0" lang="en-US" sz="2000" b="0" i="0" u="none" strike="noStrike" kern="1200" cap="none" normalizeH="0" baseline="0" dirty="0">
                          <a:ln>
                            <a:noFill/>
                          </a:ln>
                          <a:solidFill>
                            <a:schemeClr val="tx1"/>
                          </a:solidFill>
                          <a:effectLst/>
                          <a:latin typeface="Tahoma" panose="020B0604030504040204" pitchFamily="34" charset="0"/>
                          <a:ea typeface="+mn-ea"/>
                          <a:cs typeface="+mn-cs"/>
                        </a:rPr>
                        <a:t>30,000</a:t>
                      </a:r>
                    </a:p>
                  </a:txBody>
                  <a:tcPr/>
                </a:tc>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GB" altLang="en-US" sz="2400" b="0" i="0" u="none" strike="noStrike" cap="none" normalizeH="0" baseline="0" dirty="0">
                          <a:ln>
                            <a:noFill/>
                          </a:ln>
                          <a:solidFill>
                            <a:schemeClr val="tx1"/>
                          </a:solidFill>
                          <a:effectLst/>
                          <a:latin typeface="Tahoma" panose="020B0604030504040204" pitchFamily="34" charset="0"/>
                        </a:rPr>
                        <a:t>0.6209</a:t>
                      </a:r>
                    </a:p>
                  </a:txBody>
                  <a:tcPr marL="110731" marR="110731" anchor="ctr" horzOverflow="overflow"/>
                </a:tc>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endParaRPr kumimoji="0" lang="en-IN" sz="2000" b="0" i="0" u="none" strike="noStrike" kern="1200" cap="none" normalizeH="0" baseline="0" dirty="0">
                        <a:ln>
                          <a:noFill/>
                        </a:ln>
                        <a:solidFill>
                          <a:srgbClr val="0000CC"/>
                        </a:solidFill>
                        <a:effectLst/>
                        <a:latin typeface="Tahoma" panose="020B0604030504040204" pitchFamily="34" charset="0"/>
                        <a:ea typeface="Tahoma" panose="020B0604030504040204" pitchFamily="34" charset="0"/>
                        <a:cs typeface="Tahoma" panose="020B0604030504040204" pitchFamily="34" charset="0"/>
                      </a:endParaRPr>
                    </a:p>
                  </a:txBody>
                  <a:tcPr marL="7620" marR="7620" marT="7620" marB="0" anchor="b"/>
                </a:tc>
                <a:extLst>
                  <a:ext uri="{0D108BD9-81ED-4DB2-BD59-A6C34878D82A}">
                    <a16:rowId xmlns:a16="http://schemas.microsoft.com/office/drawing/2014/main" val="2077385687"/>
                  </a:ext>
                </a:extLst>
              </a:tr>
              <a:tr h="37084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GB" altLang="en-US" sz="200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endParaRPr>
                    </a:p>
                  </a:txBody>
                  <a:tcPr anchor="ctr" horzOverflow="overflow"/>
                </a:tc>
                <a:tc>
                  <a:txBody>
                    <a:bodyPr/>
                    <a:lstStyle/>
                    <a:p>
                      <a:pPr algn="r"/>
                      <a:endParaRPr lang="en-US" sz="2000" dirty="0">
                        <a:latin typeface="Tahoma" panose="020B0604030504040204" pitchFamily="34" charset="0"/>
                        <a:ea typeface="Tahoma" panose="020B0604030504040204" pitchFamily="34" charset="0"/>
                        <a:cs typeface="Tahoma" panose="020B0604030504040204" pitchFamily="34" charset="0"/>
                      </a:endParaRPr>
                    </a:p>
                  </a:txBody>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GB" altLang="en-US" sz="2400" b="0" i="0" u="none" strike="noStrike" cap="none" normalizeH="0" baseline="0" dirty="0">
                          <a:ln>
                            <a:noFill/>
                          </a:ln>
                          <a:solidFill>
                            <a:schemeClr val="tx1"/>
                          </a:solidFill>
                          <a:effectLst/>
                          <a:latin typeface="Tahoma" panose="020B0604030504040204" pitchFamily="34" charset="0"/>
                        </a:rPr>
                        <a:t>NPV</a:t>
                      </a:r>
                    </a:p>
                  </a:txBody>
                  <a:tcPr marL="110731" marR="110731" anchor="ctr" horzOverflow="overflow"/>
                </a:tc>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endParaRPr kumimoji="0" lang="en-IN" sz="2000" b="0" i="0" u="none" strike="noStrike" kern="1200" cap="none" normalizeH="0" baseline="0" dirty="0">
                        <a:ln>
                          <a:noFill/>
                        </a:ln>
                        <a:solidFill>
                          <a:srgbClr val="0000CC"/>
                        </a:solidFill>
                        <a:effectLst/>
                        <a:latin typeface="Tahoma" panose="020B0604030504040204" pitchFamily="34" charset="0"/>
                        <a:ea typeface="Tahoma" panose="020B0604030504040204" pitchFamily="34" charset="0"/>
                        <a:cs typeface="Tahoma" panose="020B0604030504040204" pitchFamily="34" charset="0"/>
                      </a:endParaRPr>
                    </a:p>
                  </a:txBody>
                  <a:tcPr marL="7620" marR="7620" marT="7620" marB="0" anchor="b"/>
                </a:tc>
                <a:extLst>
                  <a:ext uri="{0D108BD9-81ED-4DB2-BD59-A6C34878D82A}">
                    <a16:rowId xmlns:a16="http://schemas.microsoft.com/office/drawing/2014/main" val="460354135"/>
                  </a:ext>
                </a:extLst>
              </a:tr>
            </a:tbl>
          </a:graphicData>
        </a:graphic>
      </p:graphicFrame>
      <p:sp>
        <p:nvSpPr>
          <p:cNvPr id="4" name="Date Placeholder 3"/>
          <p:cNvSpPr>
            <a:spLocks noGrp="1"/>
          </p:cNvSpPr>
          <p:nvPr>
            <p:ph type="dt" sz="half" idx="10"/>
          </p:nvPr>
        </p:nvSpPr>
        <p:spPr>
          <a:xfrm>
            <a:off x="271849" y="5627533"/>
            <a:ext cx="947026" cy="309201"/>
          </a:xfrm>
        </p:spPr>
        <p:txBody>
          <a:bodyPr/>
          <a:lstStyle/>
          <a:p>
            <a:fld id="{E9376695-FE31-4FE3-8789-583C0374522F}" type="datetime3">
              <a:rPr lang="en-US" smtClean="0"/>
              <a:t>28 November 2023</a:t>
            </a:fld>
            <a:endParaRPr lang="en-US" dirty="0"/>
          </a:p>
        </p:txBody>
      </p:sp>
      <p:sp>
        <p:nvSpPr>
          <p:cNvPr id="6" name="Footer Placeholder 5"/>
          <p:cNvSpPr>
            <a:spLocks noGrp="1"/>
          </p:cNvSpPr>
          <p:nvPr>
            <p:ph type="ftr" sz="quarter" idx="11"/>
          </p:nvPr>
        </p:nvSpPr>
        <p:spPr>
          <a:xfrm>
            <a:off x="7234542" y="5898510"/>
            <a:ext cx="4545567" cy="309201"/>
          </a:xfrm>
        </p:spPr>
        <p:txBody>
          <a:bodyPr/>
          <a:lstStyle/>
          <a:p>
            <a:r>
              <a:rPr lang="en-US" dirty="0"/>
              <a:t>Software Project Management       Dr. D </a:t>
            </a:r>
            <a:r>
              <a:rPr lang="en-US" dirty="0" err="1"/>
              <a:t>Evangelin</a:t>
            </a:r>
            <a:r>
              <a:rPr lang="en-US" dirty="0"/>
              <a:t> Geetha    Dept. of MCA     RIT</a:t>
            </a:r>
          </a:p>
        </p:txBody>
      </p:sp>
      <p:sp>
        <p:nvSpPr>
          <p:cNvPr id="7" name="Slide Number Placeholder 6"/>
          <p:cNvSpPr>
            <a:spLocks noGrp="1"/>
          </p:cNvSpPr>
          <p:nvPr>
            <p:ph type="sldNum" sz="quarter" idx="12"/>
          </p:nvPr>
        </p:nvSpPr>
        <p:spPr/>
        <p:txBody>
          <a:bodyPr/>
          <a:lstStyle/>
          <a:p>
            <a:fld id="{6D22F896-40B5-4ADD-8801-0D06FADFA095}" type="slidenum">
              <a:rPr lang="en-US" smtClean="0"/>
              <a:t>39</a:t>
            </a:fld>
            <a:endParaRPr lang="en-US" dirty="0"/>
          </a:p>
        </p:txBody>
      </p:sp>
    </p:spTree>
    <p:extLst>
      <p:ext uri="{BB962C8B-B14F-4D97-AF65-F5344CB8AC3E}">
        <p14:creationId xmlns:p14="http://schemas.microsoft.com/office/powerpoint/2010/main" val="240177588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Net present value</a:t>
            </a:r>
            <a:endParaRPr lang="en-IN" dirty="0"/>
          </a:p>
        </p:txBody>
      </p:sp>
      <p:sp>
        <p:nvSpPr>
          <p:cNvPr id="3" name="Content Placeholder 2"/>
          <p:cNvSpPr>
            <a:spLocks noGrp="1"/>
          </p:cNvSpPr>
          <p:nvPr>
            <p:ph sz="half" idx="1"/>
          </p:nvPr>
        </p:nvSpPr>
        <p:spPr>
          <a:xfrm>
            <a:off x="2727712" y="1260620"/>
            <a:ext cx="1440633" cy="499566"/>
          </a:xfrm>
        </p:spPr>
        <p:txBody>
          <a:bodyPr>
            <a:normAutofit fontScale="92500" lnSpcReduction="20000"/>
          </a:bodyPr>
          <a:lstStyle/>
          <a:p>
            <a:pPr marL="0" indent="0">
              <a:buNone/>
            </a:pPr>
            <a:r>
              <a:rPr lang="en-GB" altLang="en-US" dirty="0"/>
              <a:t>Project 3</a:t>
            </a:r>
          </a:p>
        </p:txBody>
      </p:sp>
      <p:graphicFrame>
        <p:nvGraphicFramePr>
          <p:cNvPr id="5" name="Content Placeholder 4"/>
          <p:cNvGraphicFramePr>
            <a:graphicFrameLocks noGrp="1"/>
          </p:cNvGraphicFramePr>
          <p:nvPr>
            <p:ph sz="half" idx="2"/>
            <p:extLst>
              <p:ext uri="{D42A27DB-BD31-4B8C-83A1-F6EECF244321}">
                <p14:modId xmlns:p14="http://schemas.microsoft.com/office/powerpoint/2010/main" val="252317856"/>
              </p:ext>
            </p:extLst>
          </p:nvPr>
        </p:nvGraphicFramePr>
        <p:xfrm>
          <a:off x="1137148" y="1969904"/>
          <a:ext cx="7377849" cy="3901440"/>
        </p:xfrm>
        <a:graphic>
          <a:graphicData uri="http://schemas.openxmlformats.org/drawingml/2006/table">
            <a:tbl>
              <a:tblPr firstRow="1" bandRow="1">
                <a:tableStyleId>{5C22544A-7EE6-4342-B048-85BDC9FD1C3A}</a:tableStyleId>
              </a:tblPr>
              <a:tblGrid>
                <a:gridCol w="1026694">
                  <a:extLst>
                    <a:ext uri="{9D8B030D-6E8A-4147-A177-3AD203B41FA5}">
                      <a16:colId xmlns:a16="http://schemas.microsoft.com/office/drawing/2014/main" val="2248303887"/>
                    </a:ext>
                  </a:extLst>
                </a:gridCol>
                <a:gridCol w="2009992">
                  <a:extLst>
                    <a:ext uri="{9D8B030D-6E8A-4147-A177-3AD203B41FA5}">
                      <a16:colId xmlns:a16="http://schemas.microsoft.com/office/drawing/2014/main" val="2023753746"/>
                    </a:ext>
                  </a:extLst>
                </a:gridCol>
                <a:gridCol w="2318863">
                  <a:extLst>
                    <a:ext uri="{9D8B030D-6E8A-4147-A177-3AD203B41FA5}">
                      <a16:colId xmlns:a16="http://schemas.microsoft.com/office/drawing/2014/main" val="4244003138"/>
                    </a:ext>
                  </a:extLst>
                </a:gridCol>
                <a:gridCol w="2022300">
                  <a:extLst>
                    <a:ext uri="{9D8B030D-6E8A-4147-A177-3AD203B41FA5}">
                      <a16:colId xmlns:a16="http://schemas.microsoft.com/office/drawing/2014/main" val="387657477"/>
                    </a:ext>
                  </a:extLst>
                </a:gridCol>
              </a:tblGrid>
              <a:tr h="370840">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GB" altLang="en-US" sz="2000" b="0" i="0" u="none" strike="noStrike" cap="none" normalizeH="0" baseline="0" dirty="0">
                          <a:ln>
                            <a:noFill/>
                          </a:ln>
                          <a:solidFill>
                            <a:schemeClr val="bg2"/>
                          </a:solidFill>
                          <a:effectLst/>
                          <a:latin typeface="Tahoma" panose="020B0604030504040204" pitchFamily="34" charset="0"/>
                          <a:ea typeface="Tahoma" panose="020B0604030504040204" pitchFamily="34" charset="0"/>
                          <a:cs typeface="Tahoma" panose="020B0604030504040204" pitchFamily="34" charset="0"/>
                        </a:rPr>
                        <a:t>Year</a:t>
                      </a:r>
                    </a:p>
                  </a:txBody>
                  <a:tcPr horzOverflow="overflow"/>
                </a:tc>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GB" altLang="en-US" sz="2000" b="0" i="0" u="none" strike="noStrike" cap="none" normalizeH="0" baseline="0" dirty="0">
                          <a:ln>
                            <a:noFill/>
                          </a:ln>
                          <a:solidFill>
                            <a:schemeClr val="bg2"/>
                          </a:solidFill>
                          <a:effectLst/>
                          <a:latin typeface="Tahoma" panose="020B0604030504040204" pitchFamily="34" charset="0"/>
                          <a:ea typeface="Tahoma" panose="020B0604030504040204" pitchFamily="34" charset="0"/>
                          <a:cs typeface="Tahoma" panose="020B0604030504040204" pitchFamily="34" charset="0"/>
                        </a:rPr>
                        <a:t>Cash-flow</a:t>
                      </a:r>
                    </a:p>
                  </a:txBody>
                  <a:tcPr horzOverflow="overflow"/>
                </a:tc>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GB" altLang="en-US" sz="2000" b="0" i="0" u="none" strike="noStrike" cap="none" normalizeH="0" baseline="0" dirty="0">
                          <a:ln>
                            <a:noFill/>
                          </a:ln>
                          <a:solidFill>
                            <a:schemeClr val="bg2"/>
                          </a:solidFill>
                          <a:effectLst/>
                          <a:latin typeface="Tahoma" panose="020B0604030504040204" pitchFamily="34" charset="0"/>
                          <a:ea typeface="Tahoma" panose="020B0604030504040204" pitchFamily="34" charset="0"/>
                          <a:cs typeface="Tahoma" panose="020B0604030504040204" pitchFamily="34" charset="0"/>
                        </a:rPr>
                        <a:t>Discount Factor</a:t>
                      </a:r>
                    </a:p>
                  </a:txBody>
                  <a:tcPr horzOverflow="overflow"/>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defRPr/>
                      </a:pPr>
                      <a:r>
                        <a:rPr kumimoji="0" lang="en-GB" altLang="en-US" sz="2000" b="0" i="0" u="none" strike="noStrike" cap="none" normalizeH="0" baseline="0" dirty="0">
                          <a:ln>
                            <a:noFill/>
                          </a:ln>
                          <a:solidFill>
                            <a:schemeClr val="bg1"/>
                          </a:solidFill>
                          <a:effectLst/>
                          <a:latin typeface="Tahoma" panose="020B0604030504040204" pitchFamily="34" charset="0"/>
                        </a:rPr>
                        <a:t>Discounted cash flow</a:t>
                      </a:r>
                    </a:p>
                  </a:txBody>
                  <a:tcPr horzOverflow="overflow"/>
                </a:tc>
                <a:extLst>
                  <a:ext uri="{0D108BD9-81ED-4DB2-BD59-A6C34878D82A}">
                    <a16:rowId xmlns:a16="http://schemas.microsoft.com/office/drawing/2014/main" val="2686042913"/>
                  </a:ext>
                </a:extLst>
              </a:tr>
              <a:tr h="370840">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altLang="en-US" sz="200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0</a:t>
                      </a:r>
                    </a:p>
                  </a:txBody>
                  <a:tcPr horzOverflow="overflow"/>
                </a:tc>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sz="2000" b="0" i="0" u="none" strike="noStrike" kern="1200" cap="none" normalizeH="0" baseline="0" dirty="0">
                          <a:ln>
                            <a:noFill/>
                          </a:ln>
                          <a:solidFill>
                            <a:schemeClr val="tx1"/>
                          </a:solidFill>
                          <a:effectLst/>
                          <a:latin typeface="Tahoma" panose="020B0604030504040204" pitchFamily="34" charset="0"/>
                          <a:ea typeface="+mn-ea"/>
                          <a:cs typeface="+mn-cs"/>
                        </a:rPr>
                        <a:t>-1,00,000</a:t>
                      </a:r>
                    </a:p>
                  </a:txBody>
                  <a:tcPr/>
                </a:tc>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GB" altLang="en-US" sz="2400" b="0" i="0" u="none" strike="noStrike" cap="none" normalizeH="0" baseline="0" dirty="0">
                          <a:ln>
                            <a:noFill/>
                          </a:ln>
                          <a:solidFill>
                            <a:schemeClr val="tx1"/>
                          </a:solidFill>
                          <a:effectLst/>
                          <a:latin typeface="Tahoma" panose="020B0604030504040204" pitchFamily="34" charset="0"/>
                        </a:rPr>
                        <a:t>1.0000</a:t>
                      </a:r>
                    </a:p>
                  </a:txBody>
                  <a:tcPr marL="110731" marR="110731" horzOverflow="overflow"/>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IN" sz="2400" b="0" i="0" u="none" strike="noStrike" kern="1200" cap="none" normalizeH="0" baseline="0">
                          <a:ln>
                            <a:noFill/>
                          </a:ln>
                          <a:solidFill>
                            <a:srgbClr val="0000CC"/>
                          </a:solidFill>
                          <a:effectLst/>
                          <a:latin typeface="Tahoma" panose="020B0604030504040204" pitchFamily="34" charset="0"/>
                          <a:ea typeface="+mn-ea"/>
                          <a:cs typeface="+mn-cs"/>
                        </a:rPr>
                        <a:t>-100000</a:t>
                      </a:r>
                      <a:endParaRPr kumimoji="0" lang="en-IN" sz="2400" b="0" i="0" u="none" strike="noStrike" kern="1200" cap="none" normalizeH="0" baseline="0" dirty="0">
                        <a:ln>
                          <a:noFill/>
                        </a:ln>
                        <a:solidFill>
                          <a:srgbClr val="0000CC"/>
                        </a:solidFill>
                        <a:effectLst/>
                        <a:latin typeface="Tahoma" panose="020B0604030504040204" pitchFamily="34" charset="0"/>
                        <a:ea typeface="+mn-ea"/>
                        <a:cs typeface="+mn-cs"/>
                      </a:endParaRPr>
                    </a:p>
                  </a:txBody>
                  <a:tcPr marL="7620" marR="7620" marT="7620" marB="0" anchor="b"/>
                </a:tc>
                <a:extLst>
                  <a:ext uri="{0D108BD9-81ED-4DB2-BD59-A6C34878D82A}">
                    <a16:rowId xmlns:a16="http://schemas.microsoft.com/office/drawing/2014/main" val="2715192214"/>
                  </a:ext>
                </a:extLst>
              </a:tr>
              <a:tr h="420343">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altLang="en-US" sz="200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1</a:t>
                      </a:r>
                    </a:p>
                  </a:txBody>
                  <a:tcPr horzOverflow="overflow"/>
                </a:tc>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sz="2000" b="0" i="0" u="none" strike="noStrike" kern="1200" cap="none" normalizeH="0" baseline="0" dirty="0">
                          <a:ln>
                            <a:noFill/>
                          </a:ln>
                          <a:solidFill>
                            <a:schemeClr val="tx1"/>
                          </a:solidFill>
                          <a:effectLst/>
                          <a:latin typeface="Tahoma" panose="020B0604030504040204" pitchFamily="34" charset="0"/>
                          <a:ea typeface="+mn-ea"/>
                          <a:cs typeface="+mn-cs"/>
                        </a:rPr>
                        <a:t>30,000</a:t>
                      </a:r>
                    </a:p>
                  </a:txBody>
                  <a:tcPr/>
                </a:tc>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GB" altLang="en-US" sz="2400" b="0" i="0" u="none" strike="noStrike" cap="none" normalizeH="0" baseline="0" dirty="0">
                          <a:ln>
                            <a:noFill/>
                          </a:ln>
                          <a:solidFill>
                            <a:schemeClr val="tx1"/>
                          </a:solidFill>
                          <a:effectLst/>
                          <a:latin typeface="Tahoma" panose="020B0604030504040204" pitchFamily="34" charset="0"/>
                        </a:rPr>
                        <a:t>0.9091</a:t>
                      </a:r>
                    </a:p>
                  </a:txBody>
                  <a:tcPr marL="110731" marR="110731" horzOverflow="overflow"/>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IN" sz="2400" b="0" i="0" u="none" strike="noStrike" kern="1200" cap="none" normalizeH="0" baseline="0">
                          <a:ln>
                            <a:noFill/>
                          </a:ln>
                          <a:solidFill>
                            <a:srgbClr val="0000CC"/>
                          </a:solidFill>
                          <a:effectLst/>
                          <a:latin typeface="Tahoma" panose="020B0604030504040204" pitchFamily="34" charset="0"/>
                          <a:ea typeface="+mn-ea"/>
                          <a:cs typeface="+mn-cs"/>
                        </a:rPr>
                        <a:t>27273</a:t>
                      </a:r>
                      <a:endParaRPr kumimoji="0" lang="en-IN" sz="2400" b="0" i="0" u="none" strike="noStrike" kern="1200" cap="none" normalizeH="0" baseline="0" dirty="0">
                        <a:ln>
                          <a:noFill/>
                        </a:ln>
                        <a:solidFill>
                          <a:srgbClr val="0000CC"/>
                        </a:solidFill>
                        <a:effectLst/>
                        <a:latin typeface="Tahoma" panose="020B0604030504040204" pitchFamily="34" charset="0"/>
                        <a:ea typeface="+mn-ea"/>
                        <a:cs typeface="+mn-cs"/>
                      </a:endParaRPr>
                    </a:p>
                  </a:txBody>
                  <a:tcPr marL="7620" marR="7620" marT="7620" marB="0" anchor="b"/>
                </a:tc>
                <a:extLst>
                  <a:ext uri="{0D108BD9-81ED-4DB2-BD59-A6C34878D82A}">
                    <a16:rowId xmlns:a16="http://schemas.microsoft.com/office/drawing/2014/main" val="604836554"/>
                  </a:ext>
                </a:extLst>
              </a:tr>
              <a:tr h="370840">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altLang="en-US" sz="200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2</a:t>
                      </a:r>
                    </a:p>
                  </a:txBody>
                  <a:tcPr horzOverflow="overflow"/>
                </a:tc>
                <a:tc>
                  <a:txBody>
                    <a:bodyPr/>
                    <a:lstStyle/>
                    <a:p>
                      <a:pPr marL="0" marR="0" lvl="0" indent="0" algn="r" defTabSz="914400" rtl="0" eaLnBrk="1" fontAlgn="base" latinLnBrk="0" hangingPunct="1">
                        <a:lnSpc>
                          <a:spcPct val="100000"/>
                        </a:lnSpc>
                        <a:spcBef>
                          <a:spcPct val="20000"/>
                        </a:spcBef>
                        <a:spcAft>
                          <a:spcPct val="0"/>
                        </a:spcAft>
                        <a:buClrTx/>
                        <a:buSzTx/>
                        <a:buFontTx/>
                        <a:buNone/>
                        <a:tabLst/>
                        <a:defRPr/>
                      </a:pPr>
                      <a:r>
                        <a:rPr kumimoji="0" lang="en-US" sz="2000" b="0" i="0" u="none" strike="noStrike" kern="1200" cap="none" normalizeH="0" baseline="0" dirty="0">
                          <a:ln>
                            <a:noFill/>
                          </a:ln>
                          <a:solidFill>
                            <a:schemeClr val="tx1"/>
                          </a:solidFill>
                          <a:effectLst/>
                          <a:latin typeface="Tahoma" panose="020B0604030504040204" pitchFamily="34" charset="0"/>
                          <a:ea typeface="+mn-ea"/>
                          <a:cs typeface="+mn-cs"/>
                        </a:rPr>
                        <a:t>30,000</a:t>
                      </a:r>
                    </a:p>
                  </a:txBody>
                  <a:tcPr/>
                </a:tc>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GB" altLang="en-US" sz="2400" b="0" i="0" u="none" strike="noStrike" cap="none" normalizeH="0" baseline="0" dirty="0">
                          <a:ln>
                            <a:noFill/>
                          </a:ln>
                          <a:solidFill>
                            <a:schemeClr val="tx1"/>
                          </a:solidFill>
                          <a:effectLst/>
                          <a:latin typeface="Tahoma" panose="020B0604030504040204" pitchFamily="34" charset="0"/>
                        </a:rPr>
                        <a:t>0.8264</a:t>
                      </a:r>
                    </a:p>
                  </a:txBody>
                  <a:tcPr marL="110731" marR="110731" horzOverflow="overflow"/>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IN" sz="2400" b="0" i="0" u="none" strike="noStrike" kern="1200" cap="none" normalizeH="0" baseline="0">
                          <a:ln>
                            <a:noFill/>
                          </a:ln>
                          <a:solidFill>
                            <a:srgbClr val="0000CC"/>
                          </a:solidFill>
                          <a:effectLst/>
                          <a:latin typeface="Tahoma" panose="020B0604030504040204" pitchFamily="34" charset="0"/>
                          <a:ea typeface="+mn-ea"/>
                          <a:cs typeface="+mn-cs"/>
                        </a:rPr>
                        <a:t>24792</a:t>
                      </a:r>
                      <a:endParaRPr kumimoji="0" lang="en-IN" sz="2400" b="0" i="0" u="none" strike="noStrike" kern="1200" cap="none" normalizeH="0" baseline="0" dirty="0">
                        <a:ln>
                          <a:noFill/>
                        </a:ln>
                        <a:solidFill>
                          <a:srgbClr val="0000CC"/>
                        </a:solidFill>
                        <a:effectLst/>
                        <a:latin typeface="Tahoma" panose="020B0604030504040204" pitchFamily="34" charset="0"/>
                        <a:ea typeface="+mn-ea"/>
                        <a:cs typeface="+mn-cs"/>
                      </a:endParaRPr>
                    </a:p>
                  </a:txBody>
                  <a:tcPr marL="7620" marR="7620" marT="7620" marB="0" anchor="b"/>
                </a:tc>
                <a:extLst>
                  <a:ext uri="{0D108BD9-81ED-4DB2-BD59-A6C34878D82A}">
                    <a16:rowId xmlns:a16="http://schemas.microsoft.com/office/drawing/2014/main" val="3098725958"/>
                  </a:ext>
                </a:extLst>
              </a:tr>
              <a:tr h="370840">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altLang="en-US" sz="200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3</a:t>
                      </a:r>
                    </a:p>
                  </a:txBody>
                  <a:tcPr horzOverflow="overflow"/>
                </a:tc>
                <a:tc>
                  <a:txBody>
                    <a:bodyPr/>
                    <a:lstStyle/>
                    <a:p>
                      <a:pPr marL="0" marR="0" lvl="0" indent="0" algn="r" defTabSz="914400" rtl="0" eaLnBrk="1" fontAlgn="base" latinLnBrk="0" hangingPunct="1">
                        <a:lnSpc>
                          <a:spcPct val="100000"/>
                        </a:lnSpc>
                        <a:spcBef>
                          <a:spcPct val="20000"/>
                        </a:spcBef>
                        <a:spcAft>
                          <a:spcPct val="0"/>
                        </a:spcAft>
                        <a:buClrTx/>
                        <a:buSzTx/>
                        <a:buFontTx/>
                        <a:buNone/>
                        <a:tabLst/>
                        <a:defRPr/>
                      </a:pPr>
                      <a:r>
                        <a:rPr kumimoji="0" lang="en-US" sz="2000" b="0" i="0" u="none" strike="noStrike" kern="1200" cap="none" normalizeH="0" baseline="0" dirty="0">
                          <a:ln>
                            <a:noFill/>
                          </a:ln>
                          <a:solidFill>
                            <a:schemeClr val="tx1"/>
                          </a:solidFill>
                          <a:effectLst/>
                          <a:latin typeface="Tahoma" panose="020B0604030504040204" pitchFamily="34" charset="0"/>
                          <a:ea typeface="+mn-ea"/>
                          <a:cs typeface="+mn-cs"/>
                        </a:rPr>
                        <a:t>30,000</a:t>
                      </a:r>
                    </a:p>
                  </a:txBody>
                  <a:tcPr/>
                </a:tc>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GB" altLang="en-US" sz="2400" b="0" i="0" u="none" strike="noStrike" cap="none" normalizeH="0" baseline="0" dirty="0">
                          <a:ln>
                            <a:noFill/>
                          </a:ln>
                          <a:solidFill>
                            <a:schemeClr val="tx1"/>
                          </a:solidFill>
                          <a:effectLst/>
                          <a:latin typeface="Tahoma" panose="020B0604030504040204" pitchFamily="34" charset="0"/>
                        </a:rPr>
                        <a:t>0.7513</a:t>
                      </a:r>
                    </a:p>
                  </a:txBody>
                  <a:tcPr marL="110731" marR="110731" horzOverflow="overflow"/>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IN" sz="2400" b="0" i="0" u="none" strike="noStrike" kern="1200" cap="none" normalizeH="0" baseline="0">
                          <a:ln>
                            <a:noFill/>
                          </a:ln>
                          <a:solidFill>
                            <a:srgbClr val="0000CC"/>
                          </a:solidFill>
                          <a:effectLst/>
                          <a:latin typeface="Tahoma" panose="020B0604030504040204" pitchFamily="34" charset="0"/>
                          <a:ea typeface="+mn-ea"/>
                          <a:cs typeface="+mn-cs"/>
                        </a:rPr>
                        <a:t>22539</a:t>
                      </a:r>
                      <a:endParaRPr kumimoji="0" lang="en-IN" sz="2400" b="0" i="0" u="none" strike="noStrike" kern="1200" cap="none" normalizeH="0" baseline="0" dirty="0">
                        <a:ln>
                          <a:noFill/>
                        </a:ln>
                        <a:solidFill>
                          <a:srgbClr val="0000CC"/>
                        </a:solidFill>
                        <a:effectLst/>
                        <a:latin typeface="Tahoma" panose="020B0604030504040204" pitchFamily="34" charset="0"/>
                        <a:ea typeface="+mn-ea"/>
                        <a:cs typeface="+mn-cs"/>
                      </a:endParaRPr>
                    </a:p>
                  </a:txBody>
                  <a:tcPr marL="7620" marR="7620" marT="7620" marB="0" anchor="b"/>
                </a:tc>
                <a:extLst>
                  <a:ext uri="{0D108BD9-81ED-4DB2-BD59-A6C34878D82A}">
                    <a16:rowId xmlns:a16="http://schemas.microsoft.com/office/drawing/2014/main" val="929871789"/>
                  </a:ext>
                </a:extLst>
              </a:tr>
              <a:tr h="370840">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altLang="en-US" sz="200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4</a:t>
                      </a:r>
                    </a:p>
                  </a:txBody>
                  <a:tcPr horzOverflow="overflow"/>
                </a:tc>
                <a:tc>
                  <a:txBody>
                    <a:bodyPr/>
                    <a:lstStyle/>
                    <a:p>
                      <a:pPr marL="0" marR="0" lvl="0" indent="0" algn="r" defTabSz="914400" rtl="0" eaLnBrk="1" fontAlgn="base" latinLnBrk="0" hangingPunct="1">
                        <a:lnSpc>
                          <a:spcPct val="100000"/>
                        </a:lnSpc>
                        <a:spcBef>
                          <a:spcPct val="20000"/>
                        </a:spcBef>
                        <a:spcAft>
                          <a:spcPct val="0"/>
                        </a:spcAft>
                        <a:buClrTx/>
                        <a:buSzTx/>
                        <a:buFontTx/>
                        <a:buNone/>
                        <a:tabLst/>
                        <a:defRPr/>
                      </a:pPr>
                      <a:r>
                        <a:rPr kumimoji="0" lang="en-US" sz="2000" b="0" i="0" u="none" strike="noStrike" kern="1200" cap="none" normalizeH="0" baseline="0" dirty="0">
                          <a:ln>
                            <a:noFill/>
                          </a:ln>
                          <a:solidFill>
                            <a:schemeClr val="tx1"/>
                          </a:solidFill>
                          <a:effectLst/>
                          <a:latin typeface="Tahoma" panose="020B0604030504040204" pitchFamily="34" charset="0"/>
                          <a:ea typeface="+mn-ea"/>
                          <a:cs typeface="+mn-cs"/>
                        </a:rPr>
                        <a:t>30,000</a:t>
                      </a:r>
                    </a:p>
                  </a:txBody>
                  <a:tcPr/>
                </a:tc>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GB" altLang="en-US" sz="2400" b="0" i="0" u="none" strike="noStrike" cap="none" normalizeH="0" baseline="0" dirty="0">
                          <a:ln>
                            <a:noFill/>
                          </a:ln>
                          <a:solidFill>
                            <a:schemeClr val="tx1"/>
                          </a:solidFill>
                          <a:effectLst/>
                          <a:latin typeface="Tahoma" panose="020B0604030504040204" pitchFamily="34" charset="0"/>
                        </a:rPr>
                        <a:t>0.6830</a:t>
                      </a:r>
                    </a:p>
                  </a:txBody>
                  <a:tcPr marL="110731" marR="110731" horzOverflow="overflow"/>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IN" sz="2400" b="0" i="0" u="none" strike="noStrike" kern="1200" cap="none" normalizeH="0" baseline="0">
                          <a:ln>
                            <a:noFill/>
                          </a:ln>
                          <a:solidFill>
                            <a:srgbClr val="0000CC"/>
                          </a:solidFill>
                          <a:effectLst/>
                          <a:latin typeface="Tahoma" panose="020B0604030504040204" pitchFamily="34" charset="0"/>
                          <a:ea typeface="+mn-ea"/>
                          <a:cs typeface="+mn-cs"/>
                        </a:rPr>
                        <a:t>20490</a:t>
                      </a:r>
                      <a:endParaRPr kumimoji="0" lang="en-IN" sz="2400" b="0" i="0" u="none" strike="noStrike" kern="1200" cap="none" normalizeH="0" baseline="0" dirty="0">
                        <a:ln>
                          <a:noFill/>
                        </a:ln>
                        <a:solidFill>
                          <a:srgbClr val="0000CC"/>
                        </a:solidFill>
                        <a:effectLst/>
                        <a:latin typeface="Tahoma" panose="020B0604030504040204" pitchFamily="34" charset="0"/>
                        <a:ea typeface="+mn-ea"/>
                        <a:cs typeface="+mn-cs"/>
                      </a:endParaRPr>
                    </a:p>
                  </a:txBody>
                  <a:tcPr marL="7620" marR="7620" marT="7620" marB="0" anchor="b"/>
                </a:tc>
                <a:extLst>
                  <a:ext uri="{0D108BD9-81ED-4DB2-BD59-A6C34878D82A}">
                    <a16:rowId xmlns:a16="http://schemas.microsoft.com/office/drawing/2014/main" val="292312927"/>
                  </a:ext>
                </a:extLst>
              </a:tr>
              <a:tr h="370840">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altLang="en-US" sz="200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5</a:t>
                      </a:r>
                    </a:p>
                  </a:txBody>
                  <a:tcPr anchor="ctr" horzOverflow="overflow"/>
                </a:tc>
                <a:tc>
                  <a:txBody>
                    <a:bodyPr/>
                    <a:lstStyle/>
                    <a:p>
                      <a:pPr marL="0" marR="0" lvl="0" indent="0" algn="r" defTabSz="914400" rtl="0" eaLnBrk="1" fontAlgn="base" latinLnBrk="0" hangingPunct="1">
                        <a:lnSpc>
                          <a:spcPct val="100000"/>
                        </a:lnSpc>
                        <a:spcBef>
                          <a:spcPct val="20000"/>
                        </a:spcBef>
                        <a:spcAft>
                          <a:spcPct val="0"/>
                        </a:spcAft>
                        <a:buClrTx/>
                        <a:buSzTx/>
                        <a:buFontTx/>
                        <a:buNone/>
                        <a:tabLst/>
                        <a:defRPr/>
                      </a:pPr>
                      <a:r>
                        <a:rPr kumimoji="0" lang="en-US" sz="2000" b="0" i="0" u="none" strike="noStrike" kern="1200" cap="none" normalizeH="0" baseline="0" dirty="0">
                          <a:ln>
                            <a:noFill/>
                          </a:ln>
                          <a:solidFill>
                            <a:schemeClr val="tx1"/>
                          </a:solidFill>
                          <a:effectLst/>
                          <a:latin typeface="Tahoma" panose="020B0604030504040204" pitchFamily="34" charset="0"/>
                          <a:ea typeface="+mn-ea"/>
                          <a:cs typeface="+mn-cs"/>
                        </a:rPr>
                        <a:t>30,000</a:t>
                      </a:r>
                    </a:p>
                  </a:txBody>
                  <a:tcPr/>
                </a:tc>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GB" altLang="en-US" sz="2400" b="0" i="0" u="none" strike="noStrike" cap="none" normalizeH="0" baseline="0" dirty="0">
                          <a:ln>
                            <a:noFill/>
                          </a:ln>
                          <a:solidFill>
                            <a:schemeClr val="tx1"/>
                          </a:solidFill>
                          <a:effectLst/>
                          <a:latin typeface="Tahoma" panose="020B0604030504040204" pitchFamily="34" charset="0"/>
                        </a:rPr>
                        <a:t>0.6209</a:t>
                      </a:r>
                    </a:p>
                  </a:txBody>
                  <a:tcPr marL="110731" marR="110731" anchor="ctr" horzOverflow="overflow"/>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IN" sz="2400" b="0" i="0" u="none" strike="noStrike" kern="1200" cap="none" normalizeH="0" baseline="0">
                          <a:ln>
                            <a:noFill/>
                          </a:ln>
                          <a:solidFill>
                            <a:srgbClr val="0000CC"/>
                          </a:solidFill>
                          <a:effectLst/>
                          <a:latin typeface="Tahoma" panose="020B0604030504040204" pitchFamily="34" charset="0"/>
                          <a:ea typeface="+mn-ea"/>
                          <a:cs typeface="+mn-cs"/>
                        </a:rPr>
                        <a:t>18627</a:t>
                      </a:r>
                      <a:endParaRPr kumimoji="0" lang="en-IN" sz="2400" b="0" i="0" u="none" strike="noStrike" kern="1200" cap="none" normalizeH="0" baseline="0" dirty="0">
                        <a:ln>
                          <a:noFill/>
                        </a:ln>
                        <a:solidFill>
                          <a:srgbClr val="0000CC"/>
                        </a:solidFill>
                        <a:effectLst/>
                        <a:latin typeface="Tahoma" panose="020B0604030504040204" pitchFamily="34" charset="0"/>
                        <a:ea typeface="+mn-ea"/>
                        <a:cs typeface="+mn-cs"/>
                      </a:endParaRPr>
                    </a:p>
                  </a:txBody>
                  <a:tcPr marL="7620" marR="7620" marT="7620" marB="0" anchor="b"/>
                </a:tc>
                <a:extLst>
                  <a:ext uri="{0D108BD9-81ED-4DB2-BD59-A6C34878D82A}">
                    <a16:rowId xmlns:a16="http://schemas.microsoft.com/office/drawing/2014/main" val="2077385687"/>
                  </a:ext>
                </a:extLst>
              </a:tr>
              <a:tr h="37084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GB" altLang="en-US" sz="200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endParaRPr>
                    </a:p>
                  </a:txBody>
                  <a:tcPr anchor="ctr" horzOverflow="overflow"/>
                </a:tc>
                <a:tc>
                  <a:txBody>
                    <a:bodyPr/>
                    <a:lstStyle/>
                    <a:p>
                      <a:pPr algn="r"/>
                      <a:endParaRPr lang="en-US" sz="2000" dirty="0">
                        <a:latin typeface="Tahoma" panose="020B0604030504040204" pitchFamily="34" charset="0"/>
                        <a:ea typeface="Tahoma" panose="020B0604030504040204" pitchFamily="34" charset="0"/>
                        <a:cs typeface="Tahoma" panose="020B0604030504040204" pitchFamily="34" charset="0"/>
                      </a:endParaRPr>
                    </a:p>
                  </a:txBody>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GB" altLang="en-US" sz="2400" b="0" i="0" u="none" strike="noStrike" cap="none" normalizeH="0" baseline="0" dirty="0">
                          <a:ln>
                            <a:noFill/>
                          </a:ln>
                          <a:solidFill>
                            <a:schemeClr val="tx1"/>
                          </a:solidFill>
                          <a:effectLst/>
                          <a:latin typeface="Tahoma" panose="020B0604030504040204" pitchFamily="34" charset="0"/>
                        </a:rPr>
                        <a:t>NPV</a:t>
                      </a:r>
                    </a:p>
                  </a:txBody>
                  <a:tcPr marL="110731" marR="110731" anchor="ctr" horzOverflow="overflow"/>
                </a:tc>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sz="2000" b="0" i="0" u="none" strike="noStrike" kern="1200" cap="none" normalizeH="0" baseline="0" dirty="0">
                          <a:ln>
                            <a:noFill/>
                          </a:ln>
                          <a:solidFill>
                            <a:srgbClr val="0000CC"/>
                          </a:solidFill>
                          <a:effectLst/>
                          <a:latin typeface="Tahoma" panose="020B0604030504040204" pitchFamily="34" charset="0"/>
                          <a:ea typeface="Tahoma" panose="020B0604030504040204" pitchFamily="34" charset="0"/>
                          <a:cs typeface="Tahoma" panose="020B0604030504040204" pitchFamily="34" charset="0"/>
                        </a:rPr>
                        <a:t>13721</a:t>
                      </a:r>
                      <a:endParaRPr kumimoji="0" lang="en-IN" sz="2000" b="0" i="0" u="none" strike="noStrike" kern="1200" cap="none" normalizeH="0" baseline="0" dirty="0">
                        <a:ln>
                          <a:noFill/>
                        </a:ln>
                        <a:solidFill>
                          <a:srgbClr val="0000CC"/>
                        </a:solidFill>
                        <a:effectLst/>
                        <a:latin typeface="Tahoma" panose="020B0604030504040204" pitchFamily="34" charset="0"/>
                        <a:ea typeface="Tahoma" panose="020B0604030504040204" pitchFamily="34" charset="0"/>
                        <a:cs typeface="Tahoma" panose="020B0604030504040204" pitchFamily="34" charset="0"/>
                      </a:endParaRPr>
                    </a:p>
                  </a:txBody>
                  <a:tcPr marL="7620" marR="7620" marT="7620" marB="0" anchor="b"/>
                </a:tc>
                <a:extLst>
                  <a:ext uri="{0D108BD9-81ED-4DB2-BD59-A6C34878D82A}">
                    <a16:rowId xmlns:a16="http://schemas.microsoft.com/office/drawing/2014/main" val="460354135"/>
                  </a:ext>
                </a:extLst>
              </a:tr>
            </a:tbl>
          </a:graphicData>
        </a:graphic>
      </p:graphicFrame>
      <p:sp>
        <p:nvSpPr>
          <p:cNvPr id="4" name="Date Placeholder 3"/>
          <p:cNvSpPr>
            <a:spLocks noGrp="1"/>
          </p:cNvSpPr>
          <p:nvPr>
            <p:ph type="dt" sz="half" idx="10"/>
          </p:nvPr>
        </p:nvSpPr>
        <p:spPr>
          <a:xfrm>
            <a:off x="271849" y="5627533"/>
            <a:ext cx="947026" cy="309201"/>
          </a:xfrm>
        </p:spPr>
        <p:txBody>
          <a:bodyPr/>
          <a:lstStyle/>
          <a:p>
            <a:fld id="{E9376695-FE31-4FE3-8789-583C0374522F}" type="datetime3">
              <a:rPr lang="en-US" smtClean="0"/>
              <a:t>28 November 2023</a:t>
            </a:fld>
            <a:endParaRPr lang="en-US" dirty="0"/>
          </a:p>
        </p:txBody>
      </p:sp>
      <p:sp>
        <p:nvSpPr>
          <p:cNvPr id="6" name="Footer Placeholder 5"/>
          <p:cNvSpPr>
            <a:spLocks noGrp="1"/>
          </p:cNvSpPr>
          <p:nvPr>
            <p:ph type="ftr" sz="quarter" idx="11"/>
          </p:nvPr>
        </p:nvSpPr>
        <p:spPr>
          <a:xfrm>
            <a:off x="7234542" y="5898510"/>
            <a:ext cx="4545567" cy="309201"/>
          </a:xfrm>
        </p:spPr>
        <p:txBody>
          <a:bodyPr/>
          <a:lstStyle/>
          <a:p>
            <a:r>
              <a:rPr lang="en-US" dirty="0"/>
              <a:t>Software Project Management       Dr. D </a:t>
            </a:r>
            <a:r>
              <a:rPr lang="en-US" dirty="0" err="1"/>
              <a:t>Evangelin</a:t>
            </a:r>
            <a:r>
              <a:rPr lang="en-US" dirty="0"/>
              <a:t> Geetha    Dept. of MCA     RIT</a:t>
            </a:r>
          </a:p>
        </p:txBody>
      </p:sp>
      <p:sp>
        <p:nvSpPr>
          <p:cNvPr id="7" name="Slide Number Placeholder 6"/>
          <p:cNvSpPr>
            <a:spLocks noGrp="1"/>
          </p:cNvSpPr>
          <p:nvPr>
            <p:ph type="sldNum" sz="quarter" idx="12"/>
          </p:nvPr>
        </p:nvSpPr>
        <p:spPr/>
        <p:txBody>
          <a:bodyPr/>
          <a:lstStyle/>
          <a:p>
            <a:fld id="{6D22F896-40B5-4ADD-8801-0D06FADFA095}" type="slidenum">
              <a:rPr lang="en-US" smtClean="0"/>
              <a:t>40</a:t>
            </a:fld>
            <a:endParaRPr lang="en-US" dirty="0"/>
          </a:p>
        </p:txBody>
      </p:sp>
    </p:spTree>
    <p:extLst>
      <p:ext uri="{BB962C8B-B14F-4D97-AF65-F5344CB8AC3E}">
        <p14:creationId xmlns:p14="http://schemas.microsoft.com/office/powerpoint/2010/main" val="156163968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Net present value</a:t>
            </a:r>
            <a:endParaRPr lang="en-IN" dirty="0"/>
          </a:p>
        </p:txBody>
      </p:sp>
      <p:sp>
        <p:nvSpPr>
          <p:cNvPr id="3" name="Content Placeholder 2"/>
          <p:cNvSpPr>
            <a:spLocks noGrp="1"/>
          </p:cNvSpPr>
          <p:nvPr>
            <p:ph sz="half" idx="1"/>
          </p:nvPr>
        </p:nvSpPr>
        <p:spPr>
          <a:xfrm>
            <a:off x="2727712" y="1260620"/>
            <a:ext cx="1440633" cy="499566"/>
          </a:xfrm>
        </p:spPr>
        <p:txBody>
          <a:bodyPr>
            <a:normAutofit fontScale="92500" lnSpcReduction="20000"/>
          </a:bodyPr>
          <a:lstStyle/>
          <a:p>
            <a:pPr marL="0" indent="0">
              <a:buNone/>
            </a:pPr>
            <a:r>
              <a:rPr lang="en-GB" altLang="en-US" dirty="0"/>
              <a:t>Project 4</a:t>
            </a:r>
          </a:p>
        </p:txBody>
      </p:sp>
      <p:sp>
        <p:nvSpPr>
          <p:cNvPr id="4" name="Date Placeholder 3"/>
          <p:cNvSpPr>
            <a:spLocks noGrp="1"/>
          </p:cNvSpPr>
          <p:nvPr>
            <p:ph type="dt" sz="half" idx="10"/>
          </p:nvPr>
        </p:nvSpPr>
        <p:spPr>
          <a:xfrm>
            <a:off x="271849" y="5627533"/>
            <a:ext cx="947026" cy="309201"/>
          </a:xfrm>
        </p:spPr>
        <p:txBody>
          <a:bodyPr/>
          <a:lstStyle/>
          <a:p>
            <a:fld id="{E9376695-FE31-4FE3-8789-583C0374522F}" type="datetime3">
              <a:rPr lang="en-US" smtClean="0"/>
              <a:t>28 November 2023</a:t>
            </a:fld>
            <a:endParaRPr lang="en-US" dirty="0"/>
          </a:p>
        </p:txBody>
      </p:sp>
      <p:sp>
        <p:nvSpPr>
          <p:cNvPr id="6" name="Footer Placeholder 5"/>
          <p:cNvSpPr>
            <a:spLocks noGrp="1"/>
          </p:cNvSpPr>
          <p:nvPr>
            <p:ph type="ftr" sz="quarter" idx="11"/>
          </p:nvPr>
        </p:nvSpPr>
        <p:spPr>
          <a:xfrm>
            <a:off x="4466628" y="5600989"/>
            <a:ext cx="4545567" cy="309201"/>
          </a:xfrm>
        </p:spPr>
        <p:txBody>
          <a:bodyPr/>
          <a:lstStyle/>
          <a:p>
            <a:r>
              <a:rPr lang="en-US" dirty="0"/>
              <a:t>Software Project Management       Dr. D </a:t>
            </a:r>
            <a:r>
              <a:rPr lang="en-US" dirty="0" err="1"/>
              <a:t>Evangelin</a:t>
            </a:r>
            <a:r>
              <a:rPr lang="en-US" dirty="0"/>
              <a:t> Geetha    Dept. of MCA     RIT</a:t>
            </a:r>
          </a:p>
        </p:txBody>
      </p:sp>
      <p:sp>
        <p:nvSpPr>
          <p:cNvPr id="7" name="Slide Number Placeholder 6"/>
          <p:cNvSpPr>
            <a:spLocks noGrp="1"/>
          </p:cNvSpPr>
          <p:nvPr>
            <p:ph type="sldNum" sz="quarter" idx="12"/>
          </p:nvPr>
        </p:nvSpPr>
        <p:spPr/>
        <p:txBody>
          <a:bodyPr/>
          <a:lstStyle/>
          <a:p>
            <a:fld id="{6D22F896-40B5-4ADD-8801-0D06FADFA095}" type="slidenum">
              <a:rPr lang="en-US" smtClean="0"/>
              <a:t>41</a:t>
            </a:fld>
            <a:endParaRPr lang="en-US" dirty="0"/>
          </a:p>
        </p:txBody>
      </p:sp>
      <p:graphicFrame>
        <p:nvGraphicFramePr>
          <p:cNvPr id="12" name="Content Placeholder 4">
            <a:extLst>
              <a:ext uri="{FF2B5EF4-FFF2-40B4-BE49-F238E27FC236}">
                <a16:creationId xmlns:a16="http://schemas.microsoft.com/office/drawing/2014/main" id="{EBA00C39-F11D-4C80-97A7-1C6DF8612AB2}"/>
              </a:ext>
            </a:extLst>
          </p:cNvPr>
          <p:cNvGraphicFramePr>
            <a:graphicFrameLocks noGrp="1"/>
          </p:cNvGraphicFramePr>
          <p:nvPr>
            <p:ph sz="half" idx="2"/>
            <p:extLst>
              <p:ext uri="{D42A27DB-BD31-4B8C-83A1-F6EECF244321}">
                <p14:modId xmlns:p14="http://schemas.microsoft.com/office/powerpoint/2010/main" val="4084187247"/>
              </p:ext>
            </p:extLst>
          </p:nvPr>
        </p:nvGraphicFramePr>
        <p:xfrm>
          <a:off x="2213039" y="1889543"/>
          <a:ext cx="7377849" cy="3901440"/>
        </p:xfrm>
        <a:graphic>
          <a:graphicData uri="http://schemas.openxmlformats.org/drawingml/2006/table">
            <a:tbl>
              <a:tblPr firstRow="1" bandRow="1">
                <a:tableStyleId>{5C22544A-7EE6-4342-B048-85BDC9FD1C3A}</a:tableStyleId>
              </a:tblPr>
              <a:tblGrid>
                <a:gridCol w="1026694">
                  <a:extLst>
                    <a:ext uri="{9D8B030D-6E8A-4147-A177-3AD203B41FA5}">
                      <a16:colId xmlns:a16="http://schemas.microsoft.com/office/drawing/2014/main" val="2248303887"/>
                    </a:ext>
                  </a:extLst>
                </a:gridCol>
                <a:gridCol w="2009992">
                  <a:extLst>
                    <a:ext uri="{9D8B030D-6E8A-4147-A177-3AD203B41FA5}">
                      <a16:colId xmlns:a16="http://schemas.microsoft.com/office/drawing/2014/main" val="2023753746"/>
                    </a:ext>
                  </a:extLst>
                </a:gridCol>
                <a:gridCol w="2318863">
                  <a:extLst>
                    <a:ext uri="{9D8B030D-6E8A-4147-A177-3AD203B41FA5}">
                      <a16:colId xmlns:a16="http://schemas.microsoft.com/office/drawing/2014/main" val="4244003138"/>
                    </a:ext>
                  </a:extLst>
                </a:gridCol>
                <a:gridCol w="2022300">
                  <a:extLst>
                    <a:ext uri="{9D8B030D-6E8A-4147-A177-3AD203B41FA5}">
                      <a16:colId xmlns:a16="http://schemas.microsoft.com/office/drawing/2014/main" val="387657477"/>
                    </a:ext>
                  </a:extLst>
                </a:gridCol>
              </a:tblGrid>
              <a:tr h="370840">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GB" altLang="en-US" sz="2000" b="0" i="0" u="none" strike="noStrike" cap="none" normalizeH="0" baseline="0" dirty="0">
                          <a:ln>
                            <a:noFill/>
                          </a:ln>
                          <a:solidFill>
                            <a:schemeClr val="bg2"/>
                          </a:solidFill>
                          <a:effectLst/>
                          <a:latin typeface="Tahoma" panose="020B0604030504040204" pitchFamily="34" charset="0"/>
                          <a:ea typeface="Tahoma" panose="020B0604030504040204" pitchFamily="34" charset="0"/>
                          <a:cs typeface="Tahoma" panose="020B0604030504040204" pitchFamily="34" charset="0"/>
                        </a:rPr>
                        <a:t>Year</a:t>
                      </a:r>
                    </a:p>
                  </a:txBody>
                  <a:tcPr horzOverflow="overflow"/>
                </a:tc>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GB" altLang="en-US" sz="2000" b="0" i="0" u="none" strike="noStrike" cap="none" normalizeH="0" baseline="0" dirty="0">
                          <a:ln>
                            <a:noFill/>
                          </a:ln>
                          <a:solidFill>
                            <a:schemeClr val="bg2"/>
                          </a:solidFill>
                          <a:effectLst/>
                          <a:latin typeface="Tahoma" panose="020B0604030504040204" pitchFamily="34" charset="0"/>
                          <a:ea typeface="Tahoma" panose="020B0604030504040204" pitchFamily="34" charset="0"/>
                          <a:cs typeface="Tahoma" panose="020B0604030504040204" pitchFamily="34" charset="0"/>
                        </a:rPr>
                        <a:t>Cash-flow</a:t>
                      </a:r>
                    </a:p>
                  </a:txBody>
                  <a:tcPr horzOverflow="overflow"/>
                </a:tc>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GB" altLang="en-US" sz="2000" b="0" i="0" u="none" strike="noStrike" cap="none" normalizeH="0" baseline="0" dirty="0">
                          <a:ln>
                            <a:noFill/>
                          </a:ln>
                          <a:solidFill>
                            <a:schemeClr val="bg2"/>
                          </a:solidFill>
                          <a:effectLst/>
                          <a:latin typeface="Tahoma" panose="020B0604030504040204" pitchFamily="34" charset="0"/>
                          <a:ea typeface="Tahoma" panose="020B0604030504040204" pitchFamily="34" charset="0"/>
                          <a:cs typeface="Tahoma" panose="020B0604030504040204" pitchFamily="34" charset="0"/>
                        </a:rPr>
                        <a:t>Discount Factor</a:t>
                      </a:r>
                    </a:p>
                  </a:txBody>
                  <a:tcPr horzOverflow="overflow"/>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defRPr/>
                      </a:pPr>
                      <a:r>
                        <a:rPr kumimoji="0" lang="en-GB" altLang="en-US" sz="2000" b="0" i="0" u="none" strike="noStrike" cap="none" normalizeH="0" baseline="0" dirty="0">
                          <a:ln>
                            <a:noFill/>
                          </a:ln>
                          <a:solidFill>
                            <a:schemeClr val="bg1"/>
                          </a:solidFill>
                          <a:effectLst/>
                          <a:latin typeface="Tahoma" panose="020B0604030504040204" pitchFamily="34" charset="0"/>
                        </a:rPr>
                        <a:t>Discounted cash flow</a:t>
                      </a:r>
                    </a:p>
                  </a:txBody>
                  <a:tcPr horzOverflow="overflow"/>
                </a:tc>
                <a:extLst>
                  <a:ext uri="{0D108BD9-81ED-4DB2-BD59-A6C34878D82A}">
                    <a16:rowId xmlns:a16="http://schemas.microsoft.com/office/drawing/2014/main" val="2686042913"/>
                  </a:ext>
                </a:extLst>
              </a:tr>
              <a:tr h="370840">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altLang="en-US" sz="200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0</a:t>
                      </a:r>
                    </a:p>
                  </a:txBody>
                  <a:tcPr horzOverflow="overflow"/>
                </a:tc>
                <a:tc>
                  <a:txBody>
                    <a:bodyPr/>
                    <a:lstStyle/>
                    <a:p>
                      <a:pPr algn="r"/>
                      <a:r>
                        <a:rPr lang="en-US" sz="2000" dirty="0">
                          <a:latin typeface="Tahoma" panose="020B0604030504040204" pitchFamily="34" charset="0"/>
                          <a:ea typeface="Tahoma" panose="020B0604030504040204" pitchFamily="34" charset="0"/>
                          <a:cs typeface="Tahoma" panose="020B0604030504040204" pitchFamily="34" charset="0"/>
                        </a:rPr>
                        <a:t>-1,20,000</a:t>
                      </a:r>
                    </a:p>
                  </a:txBody>
                  <a:tcPr/>
                </a:tc>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GB" altLang="en-US" sz="2400" b="0" i="0" u="none" strike="noStrike" cap="none" normalizeH="0" baseline="0" dirty="0">
                          <a:ln>
                            <a:noFill/>
                          </a:ln>
                          <a:solidFill>
                            <a:schemeClr val="tx1"/>
                          </a:solidFill>
                          <a:effectLst/>
                          <a:latin typeface="Tahoma" panose="020B0604030504040204" pitchFamily="34" charset="0"/>
                        </a:rPr>
                        <a:t>1.0000</a:t>
                      </a:r>
                    </a:p>
                  </a:txBody>
                  <a:tcPr marL="110731" marR="110731" horzOverflow="overflow"/>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endParaRPr kumimoji="0" lang="en-IN" sz="2400" b="0" i="0" u="none" strike="noStrike" kern="1200" cap="none" normalizeH="0" baseline="0" dirty="0">
                        <a:ln>
                          <a:noFill/>
                        </a:ln>
                        <a:solidFill>
                          <a:schemeClr val="tx1"/>
                        </a:solidFill>
                        <a:effectLst/>
                        <a:latin typeface="Tahoma" panose="020B0604030504040204" pitchFamily="34" charset="0"/>
                        <a:ea typeface="+mn-ea"/>
                        <a:cs typeface="+mn-cs"/>
                      </a:endParaRPr>
                    </a:p>
                  </a:txBody>
                  <a:tcPr marL="7620" marR="7620" marT="7620" marB="0" anchor="b"/>
                </a:tc>
                <a:extLst>
                  <a:ext uri="{0D108BD9-81ED-4DB2-BD59-A6C34878D82A}">
                    <a16:rowId xmlns:a16="http://schemas.microsoft.com/office/drawing/2014/main" val="2715192214"/>
                  </a:ext>
                </a:extLst>
              </a:tr>
              <a:tr h="420343">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altLang="en-US" sz="200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1</a:t>
                      </a:r>
                    </a:p>
                  </a:txBody>
                  <a:tcPr horzOverflow="overflow"/>
                </a:tc>
                <a:tc>
                  <a:txBody>
                    <a:bodyPr/>
                    <a:lstStyle/>
                    <a:p>
                      <a:pPr algn="r"/>
                      <a:r>
                        <a:rPr lang="en-US" sz="2000" dirty="0">
                          <a:latin typeface="Tahoma" panose="020B0604030504040204" pitchFamily="34" charset="0"/>
                          <a:ea typeface="Tahoma" panose="020B0604030504040204" pitchFamily="34" charset="0"/>
                          <a:cs typeface="Tahoma" panose="020B0604030504040204" pitchFamily="34" charset="0"/>
                        </a:rPr>
                        <a:t>30,000</a:t>
                      </a:r>
                    </a:p>
                  </a:txBody>
                  <a:tcPr/>
                </a:tc>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GB" altLang="en-US" sz="2400" b="0" i="0" u="none" strike="noStrike" cap="none" normalizeH="0" baseline="0" dirty="0">
                          <a:ln>
                            <a:noFill/>
                          </a:ln>
                          <a:solidFill>
                            <a:schemeClr val="tx1"/>
                          </a:solidFill>
                          <a:effectLst/>
                          <a:latin typeface="Tahoma" panose="020B0604030504040204" pitchFamily="34" charset="0"/>
                        </a:rPr>
                        <a:t>0.9091</a:t>
                      </a:r>
                    </a:p>
                  </a:txBody>
                  <a:tcPr marL="110731" marR="110731" horzOverflow="overflow"/>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endParaRPr kumimoji="0" lang="en-IN" sz="2400" b="0" i="0" u="none" strike="noStrike" kern="1200" cap="none" normalizeH="0" baseline="0" dirty="0">
                        <a:ln>
                          <a:noFill/>
                        </a:ln>
                        <a:solidFill>
                          <a:schemeClr val="tx1"/>
                        </a:solidFill>
                        <a:effectLst/>
                        <a:latin typeface="Tahoma" panose="020B0604030504040204" pitchFamily="34" charset="0"/>
                        <a:ea typeface="+mn-ea"/>
                        <a:cs typeface="+mn-cs"/>
                      </a:endParaRPr>
                    </a:p>
                  </a:txBody>
                  <a:tcPr marL="7620" marR="7620" marT="7620" marB="0" anchor="b"/>
                </a:tc>
                <a:extLst>
                  <a:ext uri="{0D108BD9-81ED-4DB2-BD59-A6C34878D82A}">
                    <a16:rowId xmlns:a16="http://schemas.microsoft.com/office/drawing/2014/main" val="604836554"/>
                  </a:ext>
                </a:extLst>
              </a:tr>
              <a:tr h="370840">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altLang="en-US" sz="200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2</a:t>
                      </a:r>
                    </a:p>
                  </a:txBody>
                  <a:tcPr horzOverflow="overflow"/>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2000" dirty="0">
                          <a:latin typeface="Tahoma" panose="020B0604030504040204" pitchFamily="34" charset="0"/>
                          <a:ea typeface="Tahoma" panose="020B0604030504040204" pitchFamily="34" charset="0"/>
                          <a:cs typeface="Tahoma" panose="020B0604030504040204" pitchFamily="34" charset="0"/>
                        </a:rPr>
                        <a:t>30,000</a:t>
                      </a:r>
                    </a:p>
                  </a:txBody>
                  <a:tcPr/>
                </a:tc>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GB" altLang="en-US" sz="2400" b="0" i="0" u="none" strike="noStrike" cap="none" normalizeH="0" baseline="0" dirty="0">
                          <a:ln>
                            <a:noFill/>
                          </a:ln>
                          <a:solidFill>
                            <a:schemeClr val="tx1"/>
                          </a:solidFill>
                          <a:effectLst/>
                          <a:latin typeface="Tahoma" panose="020B0604030504040204" pitchFamily="34" charset="0"/>
                        </a:rPr>
                        <a:t>0.8264</a:t>
                      </a:r>
                    </a:p>
                  </a:txBody>
                  <a:tcPr marL="110731" marR="110731" horzOverflow="overflow"/>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endParaRPr kumimoji="0" lang="en-IN" sz="2400" b="0" i="0" u="none" strike="noStrike" kern="1200" cap="none" normalizeH="0" baseline="0" dirty="0">
                        <a:ln>
                          <a:noFill/>
                        </a:ln>
                        <a:solidFill>
                          <a:schemeClr val="tx1"/>
                        </a:solidFill>
                        <a:effectLst/>
                        <a:latin typeface="Tahoma" panose="020B0604030504040204" pitchFamily="34" charset="0"/>
                        <a:ea typeface="+mn-ea"/>
                        <a:cs typeface="+mn-cs"/>
                      </a:endParaRPr>
                    </a:p>
                  </a:txBody>
                  <a:tcPr marL="7620" marR="7620" marT="7620" marB="0" anchor="b"/>
                </a:tc>
                <a:extLst>
                  <a:ext uri="{0D108BD9-81ED-4DB2-BD59-A6C34878D82A}">
                    <a16:rowId xmlns:a16="http://schemas.microsoft.com/office/drawing/2014/main" val="3098725958"/>
                  </a:ext>
                </a:extLst>
              </a:tr>
              <a:tr h="370840">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altLang="en-US" sz="200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3</a:t>
                      </a:r>
                    </a:p>
                  </a:txBody>
                  <a:tcPr horzOverflow="overflow"/>
                </a:tc>
                <a:tc>
                  <a:txBody>
                    <a:bodyPr/>
                    <a:lstStyle/>
                    <a:p>
                      <a:pPr algn="r"/>
                      <a:r>
                        <a:rPr lang="en-US" sz="2000" dirty="0">
                          <a:latin typeface="Tahoma" panose="020B0604030504040204" pitchFamily="34" charset="0"/>
                          <a:ea typeface="Tahoma" panose="020B0604030504040204" pitchFamily="34" charset="0"/>
                          <a:cs typeface="Tahoma" panose="020B0604030504040204" pitchFamily="34" charset="0"/>
                        </a:rPr>
                        <a:t>30,000</a:t>
                      </a:r>
                    </a:p>
                  </a:txBody>
                  <a:tcPr/>
                </a:tc>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GB" altLang="en-US" sz="2400" b="0" i="0" u="none" strike="noStrike" cap="none" normalizeH="0" baseline="0" dirty="0">
                          <a:ln>
                            <a:noFill/>
                          </a:ln>
                          <a:solidFill>
                            <a:schemeClr val="tx1"/>
                          </a:solidFill>
                          <a:effectLst/>
                          <a:latin typeface="Tahoma" panose="020B0604030504040204" pitchFamily="34" charset="0"/>
                        </a:rPr>
                        <a:t>0.7513</a:t>
                      </a:r>
                    </a:p>
                  </a:txBody>
                  <a:tcPr marL="110731" marR="110731" horzOverflow="overflow"/>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endParaRPr kumimoji="0" lang="en-IN" sz="2400" b="0" i="0" u="none" strike="noStrike" kern="1200" cap="none" normalizeH="0" baseline="0" dirty="0">
                        <a:ln>
                          <a:noFill/>
                        </a:ln>
                        <a:solidFill>
                          <a:schemeClr val="tx1"/>
                        </a:solidFill>
                        <a:effectLst/>
                        <a:latin typeface="Tahoma" panose="020B0604030504040204" pitchFamily="34" charset="0"/>
                        <a:ea typeface="+mn-ea"/>
                        <a:cs typeface="+mn-cs"/>
                      </a:endParaRPr>
                    </a:p>
                  </a:txBody>
                  <a:tcPr marL="7620" marR="7620" marT="7620" marB="0" anchor="b"/>
                </a:tc>
                <a:extLst>
                  <a:ext uri="{0D108BD9-81ED-4DB2-BD59-A6C34878D82A}">
                    <a16:rowId xmlns:a16="http://schemas.microsoft.com/office/drawing/2014/main" val="929871789"/>
                  </a:ext>
                </a:extLst>
              </a:tr>
              <a:tr h="370840">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altLang="en-US" sz="200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4</a:t>
                      </a:r>
                    </a:p>
                  </a:txBody>
                  <a:tcPr horzOverflow="overflow"/>
                </a:tc>
                <a:tc>
                  <a:txBody>
                    <a:bodyPr/>
                    <a:lstStyle/>
                    <a:p>
                      <a:pPr algn="r"/>
                      <a:r>
                        <a:rPr lang="en-US" sz="2000" dirty="0">
                          <a:latin typeface="Tahoma" panose="020B0604030504040204" pitchFamily="34" charset="0"/>
                          <a:ea typeface="Tahoma" panose="020B0604030504040204" pitchFamily="34" charset="0"/>
                          <a:cs typeface="Tahoma" panose="020B0604030504040204" pitchFamily="34" charset="0"/>
                        </a:rPr>
                        <a:t>30,000</a:t>
                      </a:r>
                    </a:p>
                  </a:txBody>
                  <a:tcPr/>
                </a:tc>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GB" altLang="en-US" sz="2400" b="0" i="0" u="none" strike="noStrike" cap="none" normalizeH="0" baseline="0" dirty="0">
                          <a:ln>
                            <a:noFill/>
                          </a:ln>
                          <a:solidFill>
                            <a:schemeClr val="tx1"/>
                          </a:solidFill>
                          <a:effectLst/>
                          <a:latin typeface="Tahoma" panose="020B0604030504040204" pitchFamily="34" charset="0"/>
                        </a:rPr>
                        <a:t>0.6830</a:t>
                      </a:r>
                    </a:p>
                  </a:txBody>
                  <a:tcPr marL="110731" marR="110731" horzOverflow="overflow"/>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endParaRPr kumimoji="0" lang="en-IN" sz="2400" b="0" i="0" u="none" strike="noStrike" kern="1200" cap="none" normalizeH="0" baseline="0" dirty="0">
                        <a:ln>
                          <a:noFill/>
                        </a:ln>
                        <a:solidFill>
                          <a:schemeClr val="tx1"/>
                        </a:solidFill>
                        <a:effectLst/>
                        <a:latin typeface="Tahoma" panose="020B0604030504040204" pitchFamily="34" charset="0"/>
                        <a:ea typeface="+mn-ea"/>
                        <a:cs typeface="+mn-cs"/>
                      </a:endParaRPr>
                    </a:p>
                  </a:txBody>
                  <a:tcPr marL="7620" marR="7620" marT="7620" marB="0" anchor="b"/>
                </a:tc>
                <a:extLst>
                  <a:ext uri="{0D108BD9-81ED-4DB2-BD59-A6C34878D82A}">
                    <a16:rowId xmlns:a16="http://schemas.microsoft.com/office/drawing/2014/main" val="292312927"/>
                  </a:ext>
                </a:extLst>
              </a:tr>
              <a:tr h="370840">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altLang="en-US" sz="200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5</a:t>
                      </a:r>
                    </a:p>
                  </a:txBody>
                  <a:tcPr anchor="ctr" horzOverflow="overflow"/>
                </a:tc>
                <a:tc>
                  <a:txBody>
                    <a:bodyPr/>
                    <a:lstStyle/>
                    <a:p>
                      <a:pPr algn="r"/>
                      <a:r>
                        <a:rPr lang="en-US" sz="2000" dirty="0">
                          <a:latin typeface="Tahoma" panose="020B0604030504040204" pitchFamily="34" charset="0"/>
                          <a:ea typeface="Tahoma" panose="020B0604030504040204" pitchFamily="34" charset="0"/>
                          <a:cs typeface="Tahoma" panose="020B0604030504040204" pitchFamily="34" charset="0"/>
                        </a:rPr>
                        <a:t>75,000</a:t>
                      </a:r>
                    </a:p>
                  </a:txBody>
                  <a:tcPr/>
                </a:tc>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GB" altLang="en-US" sz="2400" b="0" i="0" u="none" strike="noStrike" cap="none" normalizeH="0" baseline="0" dirty="0">
                          <a:ln>
                            <a:noFill/>
                          </a:ln>
                          <a:solidFill>
                            <a:schemeClr val="tx1"/>
                          </a:solidFill>
                          <a:effectLst/>
                          <a:latin typeface="Tahoma" panose="020B0604030504040204" pitchFamily="34" charset="0"/>
                        </a:rPr>
                        <a:t>0.6209</a:t>
                      </a:r>
                    </a:p>
                  </a:txBody>
                  <a:tcPr marL="110731" marR="110731" anchor="ctr" horzOverflow="overflow"/>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endParaRPr kumimoji="0" lang="en-IN" sz="2400" b="0" i="0" u="none" strike="noStrike" kern="1200" cap="none" normalizeH="0" baseline="0" dirty="0">
                        <a:ln>
                          <a:noFill/>
                        </a:ln>
                        <a:solidFill>
                          <a:schemeClr val="tx1"/>
                        </a:solidFill>
                        <a:effectLst/>
                        <a:latin typeface="Tahoma" panose="020B0604030504040204" pitchFamily="34" charset="0"/>
                        <a:ea typeface="+mn-ea"/>
                        <a:cs typeface="+mn-cs"/>
                      </a:endParaRPr>
                    </a:p>
                  </a:txBody>
                  <a:tcPr marL="7620" marR="7620" marT="7620" marB="0" anchor="b"/>
                </a:tc>
                <a:extLst>
                  <a:ext uri="{0D108BD9-81ED-4DB2-BD59-A6C34878D82A}">
                    <a16:rowId xmlns:a16="http://schemas.microsoft.com/office/drawing/2014/main" val="2077385687"/>
                  </a:ext>
                </a:extLst>
              </a:tr>
              <a:tr h="37084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GB" altLang="en-US" sz="200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endParaRPr>
                    </a:p>
                  </a:txBody>
                  <a:tcPr anchor="ctr" horzOverflow="overflow"/>
                </a:tc>
                <a:tc>
                  <a:txBody>
                    <a:bodyPr/>
                    <a:lstStyle/>
                    <a:p>
                      <a:pPr algn="r"/>
                      <a:endParaRPr lang="en-US" sz="2000" dirty="0">
                        <a:latin typeface="Tahoma" panose="020B0604030504040204" pitchFamily="34" charset="0"/>
                        <a:ea typeface="Tahoma" panose="020B0604030504040204" pitchFamily="34" charset="0"/>
                        <a:cs typeface="Tahoma" panose="020B0604030504040204" pitchFamily="34" charset="0"/>
                      </a:endParaRPr>
                    </a:p>
                  </a:txBody>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GB" altLang="en-US" sz="2400" b="0" i="0" u="none" strike="noStrike" cap="none" normalizeH="0" baseline="0" dirty="0">
                          <a:ln>
                            <a:noFill/>
                          </a:ln>
                          <a:solidFill>
                            <a:schemeClr val="tx1"/>
                          </a:solidFill>
                          <a:effectLst/>
                          <a:latin typeface="Tahoma" panose="020B0604030504040204" pitchFamily="34" charset="0"/>
                        </a:rPr>
                        <a:t>NPV</a:t>
                      </a:r>
                    </a:p>
                  </a:txBody>
                  <a:tcPr marL="110731" marR="110731" anchor="ctr" horzOverflow="overflow"/>
                </a:tc>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endParaRPr kumimoji="0" lang="en-IN" sz="2000" b="0" i="0" u="none" strike="noStrike" kern="1200" cap="none" normalizeH="0" baseline="0" dirty="0">
                        <a:ln>
                          <a:noFill/>
                        </a:ln>
                        <a:solidFill>
                          <a:srgbClr val="0000CC"/>
                        </a:solidFill>
                        <a:effectLst/>
                        <a:latin typeface="Tahoma" panose="020B0604030504040204" pitchFamily="34" charset="0"/>
                        <a:ea typeface="Tahoma" panose="020B0604030504040204" pitchFamily="34" charset="0"/>
                        <a:cs typeface="Tahoma" panose="020B0604030504040204" pitchFamily="34" charset="0"/>
                      </a:endParaRPr>
                    </a:p>
                  </a:txBody>
                  <a:tcPr marL="7620" marR="7620" marT="7620" marB="0" anchor="b"/>
                </a:tc>
                <a:extLst>
                  <a:ext uri="{0D108BD9-81ED-4DB2-BD59-A6C34878D82A}">
                    <a16:rowId xmlns:a16="http://schemas.microsoft.com/office/drawing/2014/main" val="460354135"/>
                  </a:ext>
                </a:extLst>
              </a:tr>
            </a:tbl>
          </a:graphicData>
        </a:graphic>
      </p:graphicFrame>
    </p:spTree>
    <p:extLst>
      <p:ext uri="{BB962C8B-B14F-4D97-AF65-F5344CB8AC3E}">
        <p14:creationId xmlns:p14="http://schemas.microsoft.com/office/powerpoint/2010/main" val="389635108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Net present value</a:t>
            </a:r>
            <a:endParaRPr lang="en-IN" dirty="0"/>
          </a:p>
        </p:txBody>
      </p:sp>
      <p:sp>
        <p:nvSpPr>
          <p:cNvPr id="3" name="Content Placeholder 2"/>
          <p:cNvSpPr>
            <a:spLocks noGrp="1"/>
          </p:cNvSpPr>
          <p:nvPr>
            <p:ph sz="half" idx="1"/>
          </p:nvPr>
        </p:nvSpPr>
        <p:spPr>
          <a:xfrm>
            <a:off x="2727712" y="1260620"/>
            <a:ext cx="1440633" cy="499566"/>
          </a:xfrm>
        </p:spPr>
        <p:txBody>
          <a:bodyPr>
            <a:normAutofit fontScale="92500" lnSpcReduction="20000"/>
          </a:bodyPr>
          <a:lstStyle/>
          <a:p>
            <a:pPr marL="0" indent="0">
              <a:buNone/>
            </a:pPr>
            <a:r>
              <a:rPr lang="en-GB" altLang="en-US" dirty="0"/>
              <a:t>Project 4</a:t>
            </a:r>
          </a:p>
        </p:txBody>
      </p:sp>
      <p:sp>
        <p:nvSpPr>
          <p:cNvPr id="4" name="Date Placeholder 3"/>
          <p:cNvSpPr>
            <a:spLocks noGrp="1"/>
          </p:cNvSpPr>
          <p:nvPr>
            <p:ph type="dt" sz="half" idx="10"/>
          </p:nvPr>
        </p:nvSpPr>
        <p:spPr>
          <a:xfrm>
            <a:off x="271849" y="5627533"/>
            <a:ext cx="947026" cy="309201"/>
          </a:xfrm>
        </p:spPr>
        <p:txBody>
          <a:bodyPr/>
          <a:lstStyle/>
          <a:p>
            <a:fld id="{E9376695-FE31-4FE3-8789-583C0374522F}" type="datetime3">
              <a:rPr lang="en-US" smtClean="0"/>
              <a:t>28 November 2023</a:t>
            </a:fld>
            <a:endParaRPr lang="en-US" dirty="0"/>
          </a:p>
        </p:txBody>
      </p:sp>
      <p:sp>
        <p:nvSpPr>
          <p:cNvPr id="6" name="Footer Placeholder 5"/>
          <p:cNvSpPr>
            <a:spLocks noGrp="1"/>
          </p:cNvSpPr>
          <p:nvPr>
            <p:ph type="ftr" sz="quarter" idx="11"/>
          </p:nvPr>
        </p:nvSpPr>
        <p:spPr>
          <a:xfrm>
            <a:off x="4466628" y="5600989"/>
            <a:ext cx="4545567" cy="309201"/>
          </a:xfrm>
        </p:spPr>
        <p:txBody>
          <a:bodyPr/>
          <a:lstStyle/>
          <a:p>
            <a:r>
              <a:rPr lang="en-US" dirty="0"/>
              <a:t>Software Project Management       Dr. D </a:t>
            </a:r>
            <a:r>
              <a:rPr lang="en-US" dirty="0" err="1"/>
              <a:t>Evangelin</a:t>
            </a:r>
            <a:r>
              <a:rPr lang="en-US" dirty="0"/>
              <a:t> Geetha    Dept. of MCA     RIT</a:t>
            </a:r>
          </a:p>
        </p:txBody>
      </p:sp>
      <p:sp>
        <p:nvSpPr>
          <p:cNvPr id="7" name="Slide Number Placeholder 6"/>
          <p:cNvSpPr>
            <a:spLocks noGrp="1"/>
          </p:cNvSpPr>
          <p:nvPr>
            <p:ph type="sldNum" sz="quarter" idx="12"/>
          </p:nvPr>
        </p:nvSpPr>
        <p:spPr/>
        <p:txBody>
          <a:bodyPr/>
          <a:lstStyle/>
          <a:p>
            <a:fld id="{6D22F896-40B5-4ADD-8801-0D06FADFA095}" type="slidenum">
              <a:rPr lang="en-US" smtClean="0"/>
              <a:t>42</a:t>
            </a:fld>
            <a:endParaRPr lang="en-US" dirty="0"/>
          </a:p>
        </p:txBody>
      </p:sp>
      <p:graphicFrame>
        <p:nvGraphicFramePr>
          <p:cNvPr id="12" name="Content Placeholder 4">
            <a:extLst>
              <a:ext uri="{FF2B5EF4-FFF2-40B4-BE49-F238E27FC236}">
                <a16:creationId xmlns:a16="http://schemas.microsoft.com/office/drawing/2014/main" id="{EBA00C39-F11D-4C80-97A7-1C6DF8612AB2}"/>
              </a:ext>
            </a:extLst>
          </p:cNvPr>
          <p:cNvGraphicFramePr>
            <a:graphicFrameLocks noGrp="1"/>
          </p:cNvGraphicFramePr>
          <p:nvPr>
            <p:ph sz="half" idx="2"/>
            <p:extLst>
              <p:ext uri="{D42A27DB-BD31-4B8C-83A1-F6EECF244321}">
                <p14:modId xmlns:p14="http://schemas.microsoft.com/office/powerpoint/2010/main" val="2104138438"/>
              </p:ext>
            </p:extLst>
          </p:nvPr>
        </p:nvGraphicFramePr>
        <p:xfrm>
          <a:off x="2213039" y="1889543"/>
          <a:ext cx="7377849" cy="3901440"/>
        </p:xfrm>
        <a:graphic>
          <a:graphicData uri="http://schemas.openxmlformats.org/drawingml/2006/table">
            <a:tbl>
              <a:tblPr firstRow="1" bandRow="1">
                <a:tableStyleId>{5C22544A-7EE6-4342-B048-85BDC9FD1C3A}</a:tableStyleId>
              </a:tblPr>
              <a:tblGrid>
                <a:gridCol w="1026694">
                  <a:extLst>
                    <a:ext uri="{9D8B030D-6E8A-4147-A177-3AD203B41FA5}">
                      <a16:colId xmlns:a16="http://schemas.microsoft.com/office/drawing/2014/main" val="2248303887"/>
                    </a:ext>
                  </a:extLst>
                </a:gridCol>
                <a:gridCol w="2009992">
                  <a:extLst>
                    <a:ext uri="{9D8B030D-6E8A-4147-A177-3AD203B41FA5}">
                      <a16:colId xmlns:a16="http://schemas.microsoft.com/office/drawing/2014/main" val="2023753746"/>
                    </a:ext>
                  </a:extLst>
                </a:gridCol>
                <a:gridCol w="2318863">
                  <a:extLst>
                    <a:ext uri="{9D8B030D-6E8A-4147-A177-3AD203B41FA5}">
                      <a16:colId xmlns:a16="http://schemas.microsoft.com/office/drawing/2014/main" val="4244003138"/>
                    </a:ext>
                  </a:extLst>
                </a:gridCol>
                <a:gridCol w="2022300">
                  <a:extLst>
                    <a:ext uri="{9D8B030D-6E8A-4147-A177-3AD203B41FA5}">
                      <a16:colId xmlns:a16="http://schemas.microsoft.com/office/drawing/2014/main" val="387657477"/>
                    </a:ext>
                  </a:extLst>
                </a:gridCol>
              </a:tblGrid>
              <a:tr h="370840">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GB" altLang="en-US" sz="2000" b="0" i="0" u="none" strike="noStrike" cap="none" normalizeH="0" baseline="0" dirty="0">
                          <a:ln>
                            <a:noFill/>
                          </a:ln>
                          <a:solidFill>
                            <a:schemeClr val="bg2"/>
                          </a:solidFill>
                          <a:effectLst/>
                          <a:latin typeface="Tahoma" panose="020B0604030504040204" pitchFamily="34" charset="0"/>
                          <a:ea typeface="Tahoma" panose="020B0604030504040204" pitchFamily="34" charset="0"/>
                          <a:cs typeface="Tahoma" panose="020B0604030504040204" pitchFamily="34" charset="0"/>
                        </a:rPr>
                        <a:t>Year</a:t>
                      </a:r>
                    </a:p>
                  </a:txBody>
                  <a:tcPr horzOverflow="overflow"/>
                </a:tc>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GB" altLang="en-US" sz="2000" b="0" i="0" u="none" strike="noStrike" cap="none" normalizeH="0" baseline="0" dirty="0">
                          <a:ln>
                            <a:noFill/>
                          </a:ln>
                          <a:solidFill>
                            <a:schemeClr val="bg2"/>
                          </a:solidFill>
                          <a:effectLst/>
                          <a:latin typeface="Tahoma" panose="020B0604030504040204" pitchFamily="34" charset="0"/>
                          <a:ea typeface="Tahoma" panose="020B0604030504040204" pitchFamily="34" charset="0"/>
                          <a:cs typeface="Tahoma" panose="020B0604030504040204" pitchFamily="34" charset="0"/>
                        </a:rPr>
                        <a:t>Cash-flow</a:t>
                      </a:r>
                    </a:p>
                  </a:txBody>
                  <a:tcPr horzOverflow="overflow"/>
                </a:tc>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GB" altLang="en-US" sz="2000" b="0" i="0" u="none" strike="noStrike" cap="none" normalizeH="0" baseline="0" dirty="0">
                          <a:ln>
                            <a:noFill/>
                          </a:ln>
                          <a:solidFill>
                            <a:schemeClr val="bg2"/>
                          </a:solidFill>
                          <a:effectLst/>
                          <a:latin typeface="Tahoma" panose="020B0604030504040204" pitchFamily="34" charset="0"/>
                          <a:ea typeface="Tahoma" panose="020B0604030504040204" pitchFamily="34" charset="0"/>
                          <a:cs typeface="Tahoma" panose="020B0604030504040204" pitchFamily="34" charset="0"/>
                        </a:rPr>
                        <a:t>Discount Factor</a:t>
                      </a:r>
                    </a:p>
                  </a:txBody>
                  <a:tcPr horzOverflow="overflow"/>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defRPr/>
                      </a:pPr>
                      <a:r>
                        <a:rPr kumimoji="0" lang="en-GB" altLang="en-US" sz="2000" b="0" i="0" u="none" strike="noStrike" cap="none" normalizeH="0" baseline="0" dirty="0">
                          <a:ln>
                            <a:noFill/>
                          </a:ln>
                          <a:solidFill>
                            <a:schemeClr val="bg1"/>
                          </a:solidFill>
                          <a:effectLst/>
                          <a:latin typeface="Tahoma" panose="020B0604030504040204" pitchFamily="34" charset="0"/>
                        </a:rPr>
                        <a:t>Discounted cash flow</a:t>
                      </a:r>
                    </a:p>
                  </a:txBody>
                  <a:tcPr horzOverflow="overflow"/>
                </a:tc>
                <a:extLst>
                  <a:ext uri="{0D108BD9-81ED-4DB2-BD59-A6C34878D82A}">
                    <a16:rowId xmlns:a16="http://schemas.microsoft.com/office/drawing/2014/main" val="2686042913"/>
                  </a:ext>
                </a:extLst>
              </a:tr>
              <a:tr h="370840">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altLang="en-US" sz="200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0</a:t>
                      </a:r>
                    </a:p>
                  </a:txBody>
                  <a:tcPr horzOverflow="overflow"/>
                </a:tc>
                <a:tc>
                  <a:txBody>
                    <a:bodyPr/>
                    <a:lstStyle/>
                    <a:p>
                      <a:pPr algn="r"/>
                      <a:r>
                        <a:rPr lang="en-US" sz="2000" dirty="0">
                          <a:latin typeface="Tahoma" panose="020B0604030504040204" pitchFamily="34" charset="0"/>
                          <a:ea typeface="Tahoma" panose="020B0604030504040204" pitchFamily="34" charset="0"/>
                          <a:cs typeface="Tahoma" panose="020B0604030504040204" pitchFamily="34" charset="0"/>
                        </a:rPr>
                        <a:t>-1,20,000</a:t>
                      </a:r>
                    </a:p>
                  </a:txBody>
                  <a:tcPr/>
                </a:tc>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GB" altLang="en-US" sz="2400" b="0" i="0" u="none" strike="noStrike" cap="none" normalizeH="0" baseline="0" dirty="0">
                          <a:ln>
                            <a:noFill/>
                          </a:ln>
                          <a:solidFill>
                            <a:schemeClr val="tx1"/>
                          </a:solidFill>
                          <a:effectLst/>
                          <a:latin typeface="Tahoma" panose="020B0604030504040204" pitchFamily="34" charset="0"/>
                        </a:rPr>
                        <a:t>1.0000</a:t>
                      </a:r>
                    </a:p>
                  </a:txBody>
                  <a:tcPr marL="110731" marR="110731" horzOverflow="overflow"/>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IN" sz="2400" b="0" i="0" u="none" strike="noStrike" kern="1200" cap="none" normalizeH="0" baseline="0" dirty="0">
                          <a:ln>
                            <a:noFill/>
                          </a:ln>
                          <a:solidFill>
                            <a:schemeClr val="tx1"/>
                          </a:solidFill>
                          <a:effectLst/>
                          <a:latin typeface="Tahoma" panose="020B0604030504040204" pitchFamily="34" charset="0"/>
                          <a:ea typeface="+mn-ea"/>
                          <a:cs typeface="+mn-cs"/>
                        </a:rPr>
                        <a:t>-120000</a:t>
                      </a:r>
                    </a:p>
                  </a:txBody>
                  <a:tcPr marL="7620" marR="7620" marT="7620" marB="0" anchor="b"/>
                </a:tc>
                <a:extLst>
                  <a:ext uri="{0D108BD9-81ED-4DB2-BD59-A6C34878D82A}">
                    <a16:rowId xmlns:a16="http://schemas.microsoft.com/office/drawing/2014/main" val="2715192214"/>
                  </a:ext>
                </a:extLst>
              </a:tr>
              <a:tr h="420343">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altLang="en-US" sz="200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1</a:t>
                      </a:r>
                    </a:p>
                  </a:txBody>
                  <a:tcPr horzOverflow="overflow"/>
                </a:tc>
                <a:tc>
                  <a:txBody>
                    <a:bodyPr/>
                    <a:lstStyle/>
                    <a:p>
                      <a:pPr algn="r"/>
                      <a:r>
                        <a:rPr lang="en-US" sz="2000" dirty="0">
                          <a:latin typeface="Tahoma" panose="020B0604030504040204" pitchFamily="34" charset="0"/>
                          <a:ea typeface="Tahoma" panose="020B0604030504040204" pitchFamily="34" charset="0"/>
                          <a:cs typeface="Tahoma" panose="020B0604030504040204" pitchFamily="34" charset="0"/>
                        </a:rPr>
                        <a:t>30,000</a:t>
                      </a:r>
                    </a:p>
                  </a:txBody>
                  <a:tcPr/>
                </a:tc>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GB" altLang="en-US" sz="2400" b="0" i="0" u="none" strike="noStrike" cap="none" normalizeH="0" baseline="0" dirty="0">
                          <a:ln>
                            <a:noFill/>
                          </a:ln>
                          <a:solidFill>
                            <a:schemeClr val="tx1"/>
                          </a:solidFill>
                          <a:effectLst/>
                          <a:latin typeface="Tahoma" panose="020B0604030504040204" pitchFamily="34" charset="0"/>
                        </a:rPr>
                        <a:t>0.9091</a:t>
                      </a:r>
                    </a:p>
                  </a:txBody>
                  <a:tcPr marL="110731" marR="110731" horzOverflow="overflow"/>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IN" sz="2400" b="0" i="0" u="none" strike="noStrike" kern="1200" cap="none" normalizeH="0" baseline="0">
                          <a:ln>
                            <a:noFill/>
                          </a:ln>
                          <a:solidFill>
                            <a:schemeClr val="tx1"/>
                          </a:solidFill>
                          <a:effectLst/>
                          <a:latin typeface="Tahoma" panose="020B0604030504040204" pitchFamily="34" charset="0"/>
                          <a:ea typeface="+mn-ea"/>
                          <a:cs typeface="+mn-cs"/>
                        </a:rPr>
                        <a:t>27273</a:t>
                      </a:r>
                      <a:endParaRPr kumimoji="0" lang="en-IN" sz="2400" b="0" i="0" u="none" strike="noStrike" kern="1200" cap="none" normalizeH="0" baseline="0" dirty="0">
                        <a:ln>
                          <a:noFill/>
                        </a:ln>
                        <a:solidFill>
                          <a:schemeClr val="tx1"/>
                        </a:solidFill>
                        <a:effectLst/>
                        <a:latin typeface="Tahoma" panose="020B0604030504040204" pitchFamily="34" charset="0"/>
                        <a:ea typeface="+mn-ea"/>
                        <a:cs typeface="+mn-cs"/>
                      </a:endParaRPr>
                    </a:p>
                  </a:txBody>
                  <a:tcPr marL="7620" marR="7620" marT="7620" marB="0" anchor="b"/>
                </a:tc>
                <a:extLst>
                  <a:ext uri="{0D108BD9-81ED-4DB2-BD59-A6C34878D82A}">
                    <a16:rowId xmlns:a16="http://schemas.microsoft.com/office/drawing/2014/main" val="604836554"/>
                  </a:ext>
                </a:extLst>
              </a:tr>
              <a:tr h="370840">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altLang="en-US" sz="200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2</a:t>
                      </a:r>
                    </a:p>
                  </a:txBody>
                  <a:tcPr horzOverflow="overflow"/>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2000" dirty="0">
                          <a:latin typeface="Tahoma" panose="020B0604030504040204" pitchFamily="34" charset="0"/>
                          <a:ea typeface="Tahoma" panose="020B0604030504040204" pitchFamily="34" charset="0"/>
                          <a:cs typeface="Tahoma" panose="020B0604030504040204" pitchFamily="34" charset="0"/>
                        </a:rPr>
                        <a:t>30,000</a:t>
                      </a:r>
                    </a:p>
                  </a:txBody>
                  <a:tcPr/>
                </a:tc>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GB" altLang="en-US" sz="2400" b="0" i="0" u="none" strike="noStrike" cap="none" normalizeH="0" baseline="0" dirty="0">
                          <a:ln>
                            <a:noFill/>
                          </a:ln>
                          <a:solidFill>
                            <a:schemeClr val="tx1"/>
                          </a:solidFill>
                          <a:effectLst/>
                          <a:latin typeface="Tahoma" panose="020B0604030504040204" pitchFamily="34" charset="0"/>
                        </a:rPr>
                        <a:t>0.8264</a:t>
                      </a:r>
                    </a:p>
                  </a:txBody>
                  <a:tcPr marL="110731" marR="110731" horzOverflow="overflow"/>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IN" sz="2400" b="0" i="0" u="none" strike="noStrike" kern="1200" cap="none" normalizeH="0" baseline="0">
                          <a:ln>
                            <a:noFill/>
                          </a:ln>
                          <a:solidFill>
                            <a:schemeClr val="tx1"/>
                          </a:solidFill>
                          <a:effectLst/>
                          <a:latin typeface="Tahoma" panose="020B0604030504040204" pitchFamily="34" charset="0"/>
                          <a:ea typeface="+mn-ea"/>
                          <a:cs typeface="+mn-cs"/>
                        </a:rPr>
                        <a:t>24792</a:t>
                      </a:r>
                      <a:endParaRPr kumimoji="0" lang="en-IN" sz="2400" b="0" i="0" u="none" strike="noStrike" kern="1200" cap="none" normalizeH="0" baseline="0" dirty="0">
                        <a:ln>
                          <a:noFill/>
                        </a:ln>
                        <a:solidFill>
                          <a:schemeClr val="tx1"/>
                        </a:solidFill>
                        <a:effectLst/>
                        <a:latin typeface="Tahoma" panose="020B0604030504040204" pitchFamily="34" charset="0"/>
                        <a:ea typeface="+mn-ea"/>
                        <a:cs typeface="+mn-cs"/>
                      </a:endParaRPr>
                    </a:p>
                  </a:txBody>
                  <a:tcPr marL="7620" marR="7620" marT="7620" marB="0" anchor="b"/>
                </a:tc>
                <a:extLst>
                  <a:ext uri="{0D108BD9-81ED-4DB2-BD59-A6C34878D82A}">
                    <a16:rowId xmlns:a16="http://schemas.microsoft.com/office/drawing/2014/main" val="3098725958"/>
                  </a:ext>
                </a:extLst>
              </a:tr>
              <a:tr h="370840">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altLang="en-US" sz="200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3</a:t>
                      </a:r>
                    </a:p>
                  </a:txBody>
                  <a:tcPr horzOverflow="overflow"/>
                </a:tc>
                <a:tc>
                  <a:txBody>
                    <a:bodyPr/>
                    <a:lstStyle/>
                    <a:p>
                      <a:pPr algn="r"/>
                      <a:r>
                        <a:rPr lang="en-US" sz="2000" dirty="0">
                          <a:latin typeface="Tahoma" panose="020B0604030504040204" pitchFamily="34" charset="0"/>
                          <a:ea typeface="Tahoma" panose="020B0604030504040204" pitchFamily="34" charset="0"/>
                          <a:cs typeface="Tahoma" panose="020B0604030504040204" pitchFamily="34" charset="0"/>
                        </a:rPr>
                        <a:t>30,000</a:t>
                      </a:r>
                    </a:p>
                  </a:txBody>
                  <a:tcPr/>
                </a:tc>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GB" altLang="en-US" sz="2400" b="0" i="0" u="none" strike="noStrike" cap="none" normalizeH="0" baseline="0" dirty="0">
                          <a:ln>
                            <a:noFill/>
                          </a:ln>
                          <a:solidFill>
                            <a:schemeClr val="tx1"/>
                          </a:solidFill>
                          <a:effectLst/>
                          <a:latin typeface="Tahoma" panose="020B0604030504040204" pitchFamily="34" charset="0"/>
                        </a:rPr>
                        <a:t>0.7513</a:t>
                      </a:r>
                    </a:p>
                  </a:txBody>
                  <a:tcPr marL="110731" marR="110731" horzOverflow="overflow"/>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IN" sz="2400" b="0" i="0" u="none" strike="noStrike" kern="1200" cap="none" normalizeH="0" baseline="0">
                          <a:ln>
                            <a:noFill/>
                          </a:ln>
                          <a:solidFill>
                            <a:schemeClr val="tx1"/>
                          </a:solidFill>
                          <a:effectLst/>
                          <a:latin typeface="Tahoma" panose="020B0604030504040204" pitchFamily="34" charset="0"/>
                          <a:ea typeface="+mn-ea"/>
                          <a:cs typeface="+mn-cs"/>
                        </a:rPr>
                        <a:t>22539</a:t>
                      </a:r>
                      <a:endParaRPr kumimoji="0" lang="en-IN" sz="2400" b="0" i="0" u="none" strike="noStrike" kern="1200" cap="none" normalizeH="0" baseline="0" dirty="0">
                        <a:ln>
                          <a:noFill/>
                        </a:ln>
                        <a:solidFill>
                          <a:schemeClr val="tx1"/>
                        </a:solidFill>
                        <a:effectLst/>
                        <a:latin typeface="Tahoma" panose="020B0604030504040204" pitchFamily="34" charset="0"/>
                        <a:ea typeface="+mn-ea"/>
                        <a:cs typeface="+mn-cs"/>
                      </a:endParaRPr>
                    </a:p>
                  </a:txBody>
                  <a:tcPr marL="7620" marR="7620" marT="7620" marB="0" anchor="b"/>
                </a:tc>
                <a:extLst>
                  <a:ext uri="{0D108BD9-81ED-4DB2-BD59-A6C34878D82A}">
                    <a16:rowId xmlns:a16="http://schemas.microsoft.com/office/drawing/2014/main" val="929871789"/>
                  </a:ext>
                </a:extLst>
              </a:tr>
              <a:tr h="370840">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altLang="en-US" sz="200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4</a:t>
                      </a:r>
                    </a:p>
                  </a:txBody>
                  <a:tcPr horzOverflow="overflow"/>
                </a:tc>
                <a:tc>
                  <a:txBody>
                    <a:bodyPr/>
                    <a:lstStyle/>
                    <a:p>
                      <a:pPr algn="r"/>
                      <a:r>
                        <a:rPr lang="en-US" sz="2000" dirty="0">
                          <a:latin typeface="Tahoma" panose="020B0604030504040204" pitchFamily="34" charset="0"/>
                          <a:ea typeface="Tahoma" panose="020B0604030504040204" pitchFamily="34" charset="0"/>
                          <a:cs typeface="Tahoma" panose="020B0604030504040204" pitchFamily="34" charset="0"/>
                        </a:rPr>
                        <a:t>30,000</a:t>
                      </a:r>
                    </a:p>
                  </a:txBody>
                  <a:tcPr/>
                </a:tc>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GB" altLang="en-US" sz="2400" b="0" i="0" u="none" strike="noStrike" cap="none" normalizeH="0" baseline="0" dirty="0">
                          <a:ln>
                            <a:noFill/>
                          </a:ln>
                          <a:solidFill>
                            <a:schemeClr val="tx1"/>
                          </a:solidFill>
                          <a:effectLst/>
                          <a:latin typeface="Tahoma" panose="020B0604030504040204" pitchFamily="34" charset="0"/>
                        </a:rPr>
                        <a:t>0.6830</a:t>
                      </a:r>
                    </a:p>
                  </a:txBody>
                  <a:tcPr marL="110731" marR="110731" horzOverflow="overflow"/>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IN" sz="2400" b="0" i="0" u="none" strike="noStrike" kern="1200" cap="none" normalizeH="0" baseline="0">
                          <a:ln>
                            <a:noFill/>
                          </a:ln>
                          <a:solidFill>
                            <a:schemeClr val="tx1"/>
                          </a:solidFill>
                          <a:effectLst/>
                          <a:latin typeface="Tahoma" panose="020B0604030504040204" pitchFamily="34" charset="0"/>
                          <a:ea typeface="+mn-ea"/>
                          <a:cs typeface="+mn-cs"/>
                        </a:rPr>
                        <a:t>20490</a:t>
                      </a:r>
                      <a:endParaRPr kumimoji="0" lang="en-IN" sz="2400" b="0" i="0" u="none" strike="noStrike" kern="1200" cap="none" normalizeH="0" baseline="0" dirty="0">
                        <a:ln>
                          <a:noFill/>
                        </a:ln>
                        <a:solidFill>
                          <a:schemeClr val="tx1"/>
                        </a:solidFill>
                        <a:effectLst/>
                        <a:latin typeface="Tahoma" panose="020B0604030504040204" pitchFamily="34" charset="0"/>
                        <a:ea typeface="+mn-ea"/>
                        <a:cs typeface="+mn-cs"/>
                      </a:endParaRPr>
                    </a:p>
                  </a:txBody>
                  <a:tcPr marL="7620" marR="7620" marT="7620" marB="0" anchor="b"/>
                </a:tc>
                <a:extLst>
                  <a:ext uri="{0D108BD9-81ED-4DB2-BD59-A6C34878D82A}">
                    <a16:rowId xmlns:a16="http://schemas.microsoft.com/office/drawing/2014/main" val="292312927"/>
                  </a:ext>
                </a:extLst>
              </a:tr>
              <a:tr h="370840">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altLang="en-US" sz="200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5</a:t>
                      </a:r>
                    </a:p>
                  </a:txBody>
                  <a:tcPr anchor="ctr" horzOverflow="overflow"/>
                </a:tc>
                <a:tc>
                  <a:txBody>
                    <a:bodyPr/>
                    <a:lstStyle/>
                    <a:p>
                      <a:pPr algn="r"/>
                      <a:r>
                        <a:rPr lang="en-US" sz="2000" dirty="0">
                          <a:latin typeface="Tahoma" panose="020B0604030504040204" pitchFamily="34" charset="0"/>
                          <a:ea typeface="Tahoma" panose="020B0604030504040204" pitchFamily="34" charset="0"/>
                          <a:cs typeface="Tahoma" panose="020B0604030504040204" pitchFamily="34" charset="0"/>
                        </a:rPr>
                        <a:t>75,000</a:t>
                      </a:r>
                    </a:p>
                  </a:txBody>
                  <a:tcPr/>
                </a:tc>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GB" altLang="en-US" sz="2400" b="0" i="0" u="none" strike="noStrike" cap="none" normalizeH="0" baseline="0" dirty="0">
                          <a:ln>
                            <a:noFill/>
                          </a:ln>
                          <a:solidFill>
                            <a:schemeClr val="tx1"/>
                          </a:solidFill>
                          <a:effectLst/>
                          <a:latin typeface="Tahoma" panose="020B0604030504040204" pitchFamily="34" charset="0"/>
                        </a:rPr>
                        <a:t>0.6209</a:t>
                      </a:r>
                    </a:p>
                  </a:txBody>
                  <a:tcPr marL="110731" marR="110731" anchor="ctr" horzOverflow="overflow"/>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IN" sz="2400" b="0" i="0" u="none" strike="noStrike" kern="1200" cap="none" normalizeH="0" baseline="0" dirty="0">
                          <a:ln>
                            <a:noFill/>
                          </a:ln>
                          <a:solidFill>
                            <a:schemeClr val="tx1"/>
                          </a:solidFill>
                          <a:effectLst/>
                          <a:latin typeface="Tahoma" panose="020B0604030504040204" pitchFamily="34" charset="0"/>
                          <a:ea typeface="+mn-ea"/>
                          <a:cs typeface="+mn-cs"/>
                        </a:rPr>
                        <a:t>46568</a:t>
                      </a:r>
                    </a:p>
                  </a:txBody>
                  <a:tcPr marL="7620" marR="7620" marT="7620" marB="0" anchor="b"/>
                </a:tc>
                <a:extLst>
                  <a:ext uri="{0D108BD9-81ED-4DB2-BD59-A6C34878D82A}">
                    <a16:rowId xmlns:a16="http://schemas.microsoft.com/office/drawing/2014/main" val="2077385687"/>
                  </a:ext>
                </a:extLst>
              </a:tr>
              <a:tr h="37084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GB" altLang="en-US" sz="200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endParaRPr>
                    </a:p>
                  </a:txBody>
                  <a:tcPr anchor="ctr" horzOverflow="overflow"/>
                </a:tc>
                <a:tc>
                  <a:txBody>
                    <a:bodyPr/>
                    <a:lstStyle/>
                    <a:p>
                      <a:pPr algn="r"/>
                      <a:endParaRPr lang="en-US" sz="2000" dirty="0">
                        <a:latin typeface="Tahoma" panose="020B0604030504040204" pitchFamily="34" charset="0"/>
                        <a:ea typeface="Tahoma" panose="020B0604030504040204" pitchFamily="34" charset="0"/>
                        <a:cs typeface="Tahoma" panose="020B0604030504040204" pitchFamily="34" charset="0"/>
                      </a:endParaRPr>
                    </a:p>
                  </a:txBody>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GB" altLang="en-US" sz="2400" b="0" i="0" u="none" strike="noStrike" cap="none" normalizeH="0" baseline="0" dirty="0">
                          <a:ln>
                            <a:noFill/>
                          </a:ln>
                          <a:solidFill>
                            <a:schemeClr val="tx1"/>
                          </a:solidFill>
                          <a:effectLst/>
                          <a:latin typeface="Tahoma" panose="020B0604030504040204" pitchFamily="34" charset="0"/>
                        </a:rPr>
                        <a:t>NPV</a:t>
                      </a:r>
                    </a:p>
                  </a:txBody>
                  <a:tcPr marL="110731" marR="110731" anchor="ctr" horzOverflow="overflow"/>
                </a:tc>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sz="2000" b="0" i="0" u="none" strike="noStrike" kern="1200" cap="none" normalizeH="0" baseline="0" dirty="0">
                          <a:ln>
                            <a:noFill/>
                          </a:ln>
                          <a:solidFill>
                            <a:srgbClr val="0000CC"/>
                          </a:solidFill>
                          <a:effectLst/>
                          <a:latin typeface="Tahoma" panose="020B0604030504040204" pitchFamily="34" charset="0"/>
                          <a:ea typeface="Tahoma" panose="020B0604030504040204" pitchFamily="34" charset="0"/>
                          <a:cs typeface="Tahoma" panose="020B0604030504040204" pitchFamily="34" charset="0"/>
                        </a:rPr>
                        <a:t>21662</a:t>
                      </a:r>
                      <a:endParaRPr kumimoji="0" lang="en-IN" sz="2000" b="0" i="0" u="none" strike="noStrike" kern="1200" cap="none" normalizeH="0" baseline="0" dirty="0">
                        <a:ln>
                          <a:noFill/>
                        </a:ln>
                        <a:solidFill>
                          <a:srgbClr val="0000CC"/>
                        </a:solidFill>
                        <a:effectLst/>
                        <a:latin typeface="Tahoma" panose="020B0604030504040204" pitchFamily="34" charset="0"/>
                        <a:ea typeface="Tahoma" panose="020B0604030504040204" pitchFamily="34" charset="0"/>
                        <a:cs typeface="Tahoma" panose="020B0604030504040204" pitchFamily="34" charset="0"/>
                      </a:endParaRPr>
                    </a:p>
                  </a:txBody>
                  <a:tcPr marL="7620" marR="7620" marT="7620" marB="0" anchor="b"/>
                </a:tc>
                <a:extLst>
                  <a:ext uri="{0D108BD9-81ED-4DB2-BD59-A6C34878D82A}">
                    <a16:rowId xmlns:a16="http://schemas.microsoft.com/office/drawing/2014/main" val="460354135"/>
                  </a:ext>
                </a:extLst>
              </a:tr>
            </a:tbl>
          </a:graphicData>
        </a:graphic>
      </p:graphicFrame>
    </p:spTree>
    <p:extLst>
      <p:ext uri="{BB962C8B-B14F-4D97-AF65-F5344CB8AC3E}">
        <p14:creationId xmlns:p14="http://schemas.microsoft.com/office/powerpoint/2010/main" val="290255230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4B4BF23E-37C8-46EE-AA70-040BAF16FA63}"/>
              </a:ext>
            </a:extLst>
          </p:cNvPr>
          <p:cNvSpPr>
            <a:spLocks noGrp="1"/>
          </p:cNvSpPr>
          <p:nvPr>
            <p:ph type="title"/>
          </p:nvPr>
        </p:nvSpPr>
        <p:spPr/>
        <p:txBody>
          <a:bodyPr/>
          <a:lstStyle/>
          <a:p>
            <a:r>
              <a:rPr lang="en-US" dirty="0"/>
              <a:t>Net present value</a:t>
            </a:r>
            <a:endParaRPr lang="en-IN" dirty="0"/>
          </a:p>
        </p:txBody>
      </p:sp>
      <p:sp>
        <p:nvSpPr>
          <p:cNvPr id="9" name="Content Placeholder 8">
            <a:extLst>
              <a:ext uri="{FF2B5EF4-FFF2-40B4-BE49-F238E27FC236}">
                <a16:creationId xmlns:a16="http://schemas.microsoft.com/office/drawing/2014/main" id="{948EAA8F-22DF-4AFF-9714-86998A3CE71E}"/>
              </a:ext>
            </a:extLst>
          </p:cNvPr>
          <p:cNvSpPr>
            <a:spLocks noGrp="1"/>
          </p:cNvSpPr>
          <p:nvPr>
            <p:ph idx="1"/>
          </p:nvPr>
        </p:nvSpPr>
        <p:spPr/>
        <p:txBody>
          <a:bodyPr/>
          <a:lstStyle/>
          <a:p>
            <a:r>
              <a:rPr lang="en-US" dirty="0"/>
              <a:t>Project 4 provides the greatest return</a:t>
            </a:r>
          </a:p>
          <a:p>
            <a:r>
              <a:rPr lang="en-US" dirty="0"/>
              <a:t>Project 2 is not worth considering</a:t>
            </a:r>
          </a:p>
          <a:p>
            <a:r>
              <a:rPr lang="en-US" dirty="0"/>
              <a:t>Project 1 and 3 are significantly different – even though they yield the same net profit and both have the same return </a:t>
            </a:r>
            <a:r>
              <a:rPr lang="en-US"/>
              <a:t>on investment</a:t>
            </a:r>
            <a:endParaRPr lang="en-IN" dirty="0"/>
          </a:p>
        </p:txBody>
      </p:sp>
      <p:sp>
        <p:nvSpPr>
          <p:cNvPr id="5" name="Date Placeholder 4">
            <a:extLst>
              <a:ext uri="{FF2B5EF4-FFF2-40B4-BE49-F238E27FC236}">
                <a16:creationId xmlns:a16="http://schemas.microsoft.com/office/drawing/2014/main" id="{56988A77-D437-4FD1-A8F2-9806348161F5}"/>
              </a:ext>
            </a:extLst>
          </p:cNvPr>
          <p:cNvSpPr>
            <a:spLocks noGrp="1"/>
          </p:cNvSpPr>
          <p:nvPr>
            <p:ph type="dt" sz="half" idx="10"/>
          </p:nvPr>
        </p:nvSpPr>
        <p:spPr/>
        <p:txBody>
          <a:bodyPr/>
          <a:lstStyle/>
          <a:p>
            <a:fld id="{CB7C6265-89CA-4295-AB72-9817D3FFB07B}" type="datetime3">
              <a:rPr lang="en-US" smtClean="0"/>
              <a:t>28 November 2023</a:t>
            </a:fld>
            <a:endParaRPr lang="en-US" dirty="0"/>
          </a:p>
        </p:txBody>
      </p:sp>
      <p:sp>
        <p:nvSpPr>
          <p:cNvPr id="6" name="Footer Placeholder 5">
            <a:extLst>
              <a:ext uri="{FF2B5EF4-FFF2-40B4-BE49-F238E27FC236}">
                <a16:creationId xmlns:a16="http://schemas.microsoft.com/office/drawing/2014/main" id="{14A1E374-066A-4496-A26A-39BAC5B4932A}"/>
              </a:ext>
            </a:extLst>
          </p:cNvPr>
          <p:cNvSpPr>
            <a:spLocks noGrp="1"/>
          </p:cNvSpPr>
          <p:nvPr>
            <p:ph type="ftr" sz="quarter" idx="11"/>
          </p:nvPr>
        </p:nvSpPr>
        <p:spPr/>
        <p:txBody>
          <a:bodyPr/>
          <a:lstStyle/>
          <a:p>
            <a:r>
              <a:rPr lang="en-US"/>
              <a:t>Software Project Management       Dr. D Evangelin Geetha    Dept. of MCA     RIT</a:t>
            </a:r>
            <a:endParaRPr lang="en-US" dirty="0"/>
          </a:p>
        </p:txBody>
      </p:sp>
      <p:sp>
        <p:nvSpPr>
          <p:cNvPr id="7" name="Slide Number Placeholder 6">
            <a:extLst>
              <a:ext uri="{FF2B5EF4-FFF2-40B4-BE49-F238E27FC236}">
                <a16:creationId xmlns:a16="http://schemas.microsoft.com/office/drawing/2014/main" id="{290FCBE9-AA3F-4986-8D71-53CE5E13A144}"/>
              </a:ext>
            </a:extLst>
          </p:cNvPr>
          <p:cNvSpPr>
            <a:spLocks noGrp="1"/>
          </p:cNvSpPr>
          <p:nvPr>
            <p:ph type="sldNum" sz="quarter" idx="12"/>
          </p:nvPr>
        </p:nvSpPr>
        <p:spPr/>
        <p:txBody>
          <a:bodyPr/>
          <a:lstStyle/>
          <a:p>
            <a:fld id="{6D22F896-40B5-4ADD-8801-0D06FADFA095}" type="slidenum">
              <a:rPr lang="en-US" smtClean="0"/>
              <a:t>43</a:t>
            </a:fld>
            <a:endParaRPr lang="en-US" dirty="0"/>
          </a:p>
        </p:txBody>
      </p:sp>
    </p:spTree>
    <p:extLst>
      <p:ext uri="{BB962C8B-B14F-4D97-AF65-F5344CB8AC3E}">
        <p14:creationId xmlns:p14="http://schemas.microsoft.com/office/powerpoint/2010/main" val="359163347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fld id="{50213E5C-A9DC-4959-9C95-068BD8FD78E1}" type="slidenum">
              <a:rPr lang="en-US" altLang="en-US"/>
              <a:pPr/>
              <a:t>44</a:t>
            </a:fld>
            <a:endParaRPr lang="en-US" altLang="en-US"/>
          </a:p>
        </p:txBody>
      </p:sp>
      <p:sp>
        <p:nvSpPr>
          <p:cNvPr id="43010" name="Rectangle 2"/>
          <p:cNvSpPr>
            <a:spLocks noGrp="1" noChangeArrowheads="1"/>
          </p:cNvSpPr>
          <p:nvPr>
            <p:ph type="title"/>
          </p:nvPr>
        </p:nvSpPr>
        <p:spPr>
          <a:xfrm>
            <a:off x="2208213" y="188913"/>
            <a:ext cx="7772400" cy="1143000"/>
          </a:xfrm>
        </p:spPr>
        <p:txBody>
          <a:bodyPr/>
          <a:lstStyle/>
          <a:p>
            <a:r>
              <a:rPr lang="en-GB" altLang="en-US" b="1"/>
              <a:t>Discount factor</a:t>
            </a:r>
          </a:p>
        </p:txBody>
      </p:sp>
      <mc:AlternateContent xmlns:mc="http://schemas.openxmlformats.org/markup-compatibility/2006" xmlns:a14="http://schemas.microsoft.com/office/drawing/2010/main">
        <mc:Choice Requires="a14">
          <p:sp>
            <p:nvSpPr>
              <p:cNvPr id="43011" name="Rectangle 3"/>
              <p:cNvSpPr>
                <a:spLocks noGrp="1" noChangeArrowheads="1"/>
              </p:cNvSpPr>
              <p:nvPr>
                <p:ph type="body" idx="1"/>
              </p:nvPr>
            </p:nvSpPr>
            <p:spPr>
              <a:xfrm>
                <a:off x="2208213" y="1412875"/>
                <a:ext cx="7626350" cy="4254500"/>
              </a:xfrm>
            </p:spPr>
            <p:txBody>
              <a:bodyPr>
                <a:normAutofit fontScale="85000" lnSpcReduction="20000"/>
              </a:bodyPr>
              <a:lstStyle/>
              <a:p>
                <a:pPr>
                  <a:buFontTx/>
                  <a:buNone/>
                </a:pPr>
                <a14:m>
                  <m:oMathPara xmlns:m="http://schemas.openxmlformats.org/officeDocument/2006/math">
                    <m:oMathParaPr>
                      <m:jc m:val="centerGroup"/>
                    </m:oMathParaPr>
                    <m:oMath xmlns:m="http://schemas.openxmlformats.org/officeDocument/2006/math">
                      <m:r>
                        <a:rPr lang="en-US" altLang="en-US" b="0" i="1" smtClean="0">
                          <a:latin typeface="Cambria Math" panose="02040503050406030204" pitchFamily="18" charset="0"/>
                        </a:rPr>
                        <m:t>𝑃𝑟𝑒𝑠𝑒𝑛𝑡</m:t>
                      </m:r>
                      <m:r>
                        <a:rPr lang="en-US" altLang="en-US" b="0" i="1" smtClean="0">
                          <a:latin typeface="Cambria Math" panose="02040503050406030204" pitchFamily="18" charset="0"/>
                        </a:rPr>
                        <m:t> </m:t>
                      </m:r>
                      <m:r>
                        <a:rPr lang="en-US" altLang="en-US" b="0" i="1" smtClean="0">
                          <a:latin typeface="Cambria Math" panose="02040503050406030204" pitchFamily="18" charset="0"/>
                        </a:rPr>
                        <m:t>𝑉𝑎𝑙𝑢𝑒</m:t>
                      </m:r>
                      <m:r>
                        <a:rPr lang="en-US" altLang="en-US" b="0" i="1" smtClean="0">
                          <a:latin typeface="Cambria Math" panose="02040503050406030204" pitchFamily="18" charset="0"/>
                        </a:rPr>
                        <m:t>= </m:t>
                      </m:r>
                      <m:f>
                        <m:fPr>
                          <m:ctrlPr>
                            <a:rPr lang="en-US" altLang="en-US" b="0" i="1" smtClean="0">
                              <a:latin typeface="Cambria Math" panose="02040503050406030204" pitchFamily="18" charset="0"/>
                            </a:rPr>
                          </m:ctrlPr>
                        </m:fPr>
                        <m:num>
                          <m:r>
                            <a:rPr lang="en-US" altLang="en-US" b="0" i="1" smtClean="0">
                              <a:latin typeface="Cambria Math" panose="02040503050406030204" pitchFamily="18" charset="0"/>
                            </a:rPr>
                            <m:t>𝑣𝑎𝑙𝑢𝑒</m:t>
                          </m:r>
                          <m:r>
                            <a:rPr lang="en-US" altLang="en-US" b="0" i="1" smtClean="0">
                              <a:latin typeface="Cambria Math" panose="02040503050406030204" pitchFamily="18" charset="0"/>
                            </a:rPr>
                            <m:t> </m:t>
                          </m:r>
                          <m:r>
                            <a:rPr lang="en-US" altLang="en-US" b="0" i="1" smtClean="0">
                              <a:latin typeface="Cambria Math" panose="02040503050406030204" pitchFamily="18" charset="0"/>
                            </a:rPr>
                            <m:t>𝑖𝑛</m:t>
                          </m:r>
                          <m:r>
                            <a:rPr lang="en-US" altLang="en-US" b="0" i="1" smtClean="0">
                              <a:latin typeface="Cambria Math" panose="02040503050406030204" pitchFamily="18" charset="0"/>
                            </a:rPr>
                            <m:t> </m:t>
                          </m:r>
                          <m:r>
                            <a:rPr lang="en-US" altLang="en-US" b="0" i="1" smtClean="0">
                              <a:latin typeface="Cambria Math" panose="02040503050406030204" pitchFamily="18" charset="0"/>
                            </a:rPr>
                            <m:t>𝑦𝑒𝑎𝑟</m:t>
                          </m:r>
                          <m:r>
                            <a:rPr lang="en-US" altLang="en-US" b="0" i="1" smtClean="0">
                              <a:latin typeface="Cambria Math" panose="02040503050406030204" pitchFamily="18" charset="0"/>
                            </a:rPr>
                            <m:t> </m:t>
                          </m:r>
                          <m:r>
                            <a:rPr lang="en-US" altLang="en-US" b="0" i="1" smtClean="0">
                              <a:latin typeface="Cambria Math" panose="02040503050406030204" pitchFamily="18" charset="0"/>
                            </a:rPr>
                            <m:t>𝑡</m:t>
                          </m:r>
                        </m:num>
                        <m:den>
                          <m:sSup>
                            <m:sSupPr>
                              <m:ctrlPr>
                                <a:rPr lang="en-US" altLang="en-US" b="0" i="1" smtClean="0">
                                  <a:latin typeface="Cambria Math" panose="02040503050406030204" pitchFamily="18" charset="0"/>
                                </a:rPr>
                              </m:ctrlPr>
                            </m:sSupPr>
                            <m:e>
                              <m:d>
                                <m:dPr>
                                  <m:ctrlPr>
                                    <a:rPr lang="en-US" altLang="en-US" b="0" i="1" smtClean="0">
                                      <a:latin typeface="Cambria Math" panose="02040503050406030204" pitchFamily="18" charset="0"/>
                                    </a:rPr>
                                  </m:ctrlPr>
                                </m:dPr>
                                <m:e>
                                  <m:r>
                                    <a:rPr lang="en-US" altLang="en-US" b="0" i="1" smtClean="0">
                                      <a:latin typeface="Cambria Math" panose="02040503050406030204" pitchFamily="18" charset="0"/>
                                    </a:rPr>
                                    <m:t>1+</m:t>
                                  </m:r>
                                  <m:r>
                                    <a:rPr lang="en-US" altLang="en-US" b="0" i="1" smtClean="0">
                                      <a:latin typeface="Cambria Math" panose="02040503050406030204" pitchFamily="18" charset="0"/>
                                    </a:rPr>
                                    <m:t>𝑟</m:t>
                                  </m:r>
                                </m:e>
                              </m:d>
                            </m:e>
                            <m:sup>
                              <m:r>
                                <a:rPr lang="en-US" altLang="en-US" b="0" i="1" smtClean="0">
                                  <a:latin typeface="Cambria Math" panose="02040503050406030204" pitchFamily="18" charset="0"/>
                                </a:rPr>
                                <m:t>𝑡</m:t>
                              </m:r>
                            </m:sup>
                          </m:sSup>
                        </m:den>
                      </m:f>
                    </m:oMath>
                  </m:oMathPara>
                </a14:m>
                <a:endParaRPr lang="en-GB" altLang="en-US" dirty="0"/>
              </a:p>
              <a:p>
                <a:pPr>
                  <a:buFontTx/>
                  <a:buNone/>
                </a:pPr>
                <a:r>
                  <a:rPr lang="en-GB" altLang="en-US" dirty="0"/>
                  <a:t>Discount factor =  1/(1+r)</a:t>
                </a:r>
                <a:r>
                  <a:rPr lang="en-GB" altLang="en-US" baseline="30000" dirty="0"/>
                  <a:t>t</a:t>
                </a:r>
              </a:p>
              <a:p>
                <a:pPr lvl="1">
                  <a:buFontTx/>
                  <a:buNone/>
                </a:pPr>
                <a:r>
                  <a:rPr lang="en-GB" altLang="en-US" i="1" dirty="0"/>
                  <a:t>r</a:t>
                </a:r>
                <a:r>
                  <a:rPr lang="en-GB" altLang="en-US" dirty="0"/>
                  <a:t> is the interest rate (e.g. 8% is 0.08)</a:t>
                </a:r>
              </a:p>
              <a:p>
                <a:pPr lvl="1">
                  <a:buFontTx/>
                  <a:buNone/>
                </a:pPr>
                <a:r>
                  <a:rPr lang="en-GB" altLang="en-US" i="1" dirty="0"/>
                  <a:t>t</a:t>
                </a:r>
                <a:r>
                  <a:rPr lang="en-GB" altLang="en-US" dirty="0"/>
                  <a:t> is the number of years</a:t>
                </a:r>
              </a:p>
              <a:p>
                <a:pPr>
                  <a:buFontTx/>
                  <a:buNone/>
                </a:pPr>
                <a:r>
                  <a:rPr lang="en-GB" altLang="en-US" dirty="0"/>
                  <a:t>In the case of 8% rate and one year</a:t>
                </a:r>
              </a:p>
              <a:p>
                <a:pPr>
                  <a:buFontTx/>
                  <a:buNone/>
                </a:pPr>
                <a:r>
                  <a:rPr lang="en-GB" altLang="en-US" dirty="0"/>
                  <a:t>Discount factor = 1/(1+0.08) =1/1.08=0.9259</a:t>
                </a:r>
              </a:p>
              <a:p>
                <a:pPr>
                  <a:buFontTx/>
                  <a:buNone/>
                </a:pPr>
                <a:r>
                  <a:rPr lang="en-GB" altLang="en-US" dirty="0"/>
                  <a:t>In the case of 8% rate and two years</a:t>
                </a:r>
              </a:p>
              <a:p>
                <a:pPr>
                  <a:buFontTx/>
                  <a:buNone/>
                </a:pPr>
                <a:r>
                  <a:rPr lang="en-GB" altLang="en-US" dirty="0"/>
                  <a:t>Discount factor = 1/(1.08 x 1.08) =0.8573</a:t>
                </a:r>
              </a:p>
            </p:txBody>
          </p:sp>
        </mc:Choice>
        <mc:Fallback xmlns="">
          <p:sp>
            <p:nvSpPr>
              <p:cNvPr id="43011" name="Rectangle 3"/>
              <p:cNvSpPr>
                <a:spLocks noGrp="1" noRot="1" noChangeAspect="1" noMove="1" noResize="1" noEditPoints="1" noAdjustHandles="1" noChangeArrowheads="1" noChangeShapeType="1" noTextEdit="1"/>
              </p:cNvSpPr>
              <p:nvPr>
                <p:ph type="body" idx="1"/>
              </p:nvPr>
            </p:nvSpPr>
            <p:spPr>
              <a:xfrm>
                <a:off x="2208213" y="1412875"/>
                <a:ext cx="7626350" cy="4254500"/>
              </a:xfrm>
              <a:blipFill>
                <a:blip r:embed="rId2"/>
                <a:stretch>
                  <a:fillRect l="-1199" b="-1719"/>
                </a:stretch>
              </a:blipFill>
            </p:spPr>
            <p:txBody>
              <a:bodyPr/>
              <a:lstStyle/>
              <a:p>
                <a:r>
                  <a:rPr lang="en-IN">
                    <a:noFill/>
                  </a:rPr>
                  <a:t> </a:t>
                </a:r>
              </a:p>
            </p:txBody>
          </p:sp>
        </mc:Fallback>
      </mc:AlternateContent>
      <p:sp>
        <p:nvSpPr>
          <p:cNvPr id="2" name="Date Placeholder 1"/>
          <p:cNvSpPr>
            <a:spLocks noGrp="1"/>
          </p:cNvSpPr>
          <p:nvPr>
            <p:ph type="dt" sz="half" idx="10"/>
          </p:nvPr>
        </p:nvSpPr>
        <p:spPr/>
        <p:txBody>
          <a:bodyPr/>
          <a:lstStyle/>
          <a:p>
            <a:fld id="{4888AEAE-B5DF-4E6F-B922-723C13279B25}" type="datetime3">
              <a:rPr lang="en-US" smtClean="0"/>
              <a:t>28 November 2023</a:t>
            </a:fld>
            <a:endParaRPr lang="en-US" dirty="0"/>
          </a:p>
        </p:txBody>
      </p:sp>
      <p:sp>
        <p:nvSpPr>
          <p:cNvPr id="3" name="Footer Placeholder 2"/>
          <p:cNvSpPr>
            <a:spLocks noGrp="1"/>
          </p:cNvSpPr>
          <p:nvPr>
            <p:ph type="ftr" sz="quarter" idx="11"/>
          </p:nvPr>
        </p:nvSpPr>
        <p:spPr/>
        <p:txBody>
          <a:bodyPr/>
          <a:lstStyle/>
          <a:p>
            <a:r>
              <a:rPr lang="en-US"/>
              <a:t>Software Project Management       Dr. D Evangelin Geetha    Dept. of MCA     RIT</a:t>
            </a:r>
            <a:endParaRPr lang="en-US" dirty="0"/>
          </a:p>
        </p:txBody>
      </p:sp>
    </p:spTree>
    <p:extLst>
      <p:ext uri="{BB962C8B-B14F-4D97-AF65-F5344CB8AC3E}">
        <p14:creationId xmlns:p14="http://schemas.microsoft.com/office/powerpoint/2010/main" val="60128167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fld id="{50213E5C-A9DC-4959-9C95-068BD8FD78E1}" type="slidenum">
              <a:rPr lang="en-US" altLang="en-US"/>
              <a:pPr/>
              <a:t>45</a:t>
            </a:fld>
            <a:endParaRPr lang="en-US" altLang="en-US"/>
          </a:p>
        </p:txBody>
      </p:sp>
      <p:sp>
        <p:nvSpPr>
          <p:cNvPr id="43010" name="Rectangle 2"/>
          <p:cNvSpPr>
            <a:spLocks noGrp="1" noChangeArrowheads="1"/>
          </p:cNvSpPr>
          <p:nvPr>
            <p:ph type="title"/>
          </p:nvPr>
        </p:nvSpPr>
        <p:spPr>
          <a:xfrm>
            <a:off x="2208213" y="188913"/>
            <a:ext cx="7772400" cy="1143000"/>
          </a:xfrm>
        </p:spPr>
        <p:txBody>
          <a:bodyPr/>
          <a:lstStyle/>
          <a:p>
            <a:r>
              <a:rPr lang="en-GB" altLang="en-US" b="1"/>
              <a:t>Discount factor</a:t>
            </a:r>
          </a:p>
        </p:txBody>
      </p:sp>
      <p:sp>
        <p:nvSpPr>
          <p:cNvPr id="43011" name="Rectangle 3"/>
          <p:cNvSpPr>
            <a:spLocks noGrp="1" noChangeArrowheads="1"/>
          </p:cNvSpPr>
          <p:nvPr>
            <p:ph type="body" idx="1"/>
          </p:nvPr>
        </p:nvSpPr>
        <p:spPr>
          <a:xfrm>
            <a:off x="2208213" y="970156"/>
            <a:ext cx="7626350" cy="4895385"/>
          </a:xfrm>
        </p:spPr>
        <p:txBody>
          <a:bodyPr>
            <a:normAutofit fontScale="85000" lnSpcReduction="20000"/>
          </a:bodyPr>
          <a:lstStyle/>
          <a:p>
            <a:pPr>
              <a:buFontTx/>
              <a:buNone/>
            </a:pPr>
            <a:r>
              <a:rPr lang="en-GB" altLang="en-US" dirty="0"/>
              <a:t>Applying the discount factor to Project 1</a:t>
            </a:r>
          </a:p>
          <a:p>
            <a:r>
              <a:rPr lang="en-GB" altLang="en-US" dirty="0"/>
              <a:t>10% rate and 1 year</a:t>
            </a:r>
          </a:p>
          <a:p>
            <a:pPr>
              <a:buFontTx/>
              <a:buNone/>
            </a:pPr>
            <a:r>
              <a:rPr lang="en-GB" altLang="en-US" dirty="0"/>
              <a:t>Discount factor = 1/(1+0.10) = 0.9091</a:t>
            </a:r>
          </a:p>
          <a:p>
            <a:pPr>
              <a:buFontTx/>
              <a:buNone/>
            </a:pPr>
            <a:r>
              <a:rPr lang="en-GB" altLang="en-US" dirty="0"/>
              <a:t>Discounted cash flow = 0.9091 x 10,000 </a:t>
            </a:r>
          </a:p>
          <a:p>
            <a:pPr>
              <a:buFontTx/>
              <a:buNone/>
            </a:pPr>
            <a:r>
              <a:rPr lang="en-GB" altLang="en-US" dirty="0"/>
              <a:t>				     = $9091</a:t>
            </a:r>
          </a:p>
          <a:p>
            <a:r>
              <a:rPr lang="en-GB" altLang="en-US" dirty="0"/>
              <a:t>2</a:t>
            </a:r>
            <a:r>
              <a:rPr lang="en-GB" altLang="en-US" baseline="30000" dirty="0"/>
              <a:t>nd</a:t>
            </a:r>
            <a:r>
              <a:rPr lang="en-GB" altLang="en-US" dirty="0"/>
              <a:t> Year</a:t>
            </a:r>
          </a:p>
          <a:p>
            <a:pPr>
              <a:buFontTx/>
              <a:buNone/>
            </a:pPr>
            <a:r>
              <a:rPr lang="en-GB" altLang="en-US" dirty="0"/>
              <a:t>Discount factor = 1/(1.10 x 1.10) = 1/1.21</a:t>
            </a:r>
          </a:p>
          <a:p>
            <a:pPr>
              <a:buFontTx/>
              <a:buNone/>
            </a:pPr>
            <a:r>
              <a:rPr lang="en-GB" altLang="en-US" dirty="0"/>
              <a:t>				= 0.8264</a:t>
            </a:r>
          </a:p>
          <a:p>
            <a:pPr>
              <a:buFontTx/>
              <a:buNone/>
            </a:pPr>
            <a:r>
              <a:rPr lang="en-GB" altLang="en-US" dirty="0"/>
              <a:t>Discounted cash flow = 0.8264 x 10000</a:t>
            </a:r>
          </a:p>
          <a:p>
            <a:pPr>
              <a:buFontTx/>
              <a:buNone/>
            </a:pPr>
            <a:r>
              <a:rPr lang="en-GB" altLang="en-US" dirty="0"/>
              <a:t>				= $8264</a:t>
            </a:r>
          </a:p>
        </p:txBody>
      </p:sp>
      <p:sp>
        <p:nvSpPr>
          <p:cNvPr id="2" name="Date Placeholder 1"/>
          <p:cNvSpPr>
            <a:spLocks noGrp="1"/>
          </p:cNvSpPr>
          <p:nvPr>
            <p:ph type="dt" sz="half" idx="10"/>
          </p:nvPr>
        </p:nvSpPr>
        <p:spPr/>
        <p:txBody>
          <a:bodyPr/>
          <a:lstStyle/>
          <a:p>
            <a:fld id="{61C42E57-E719-4222-BCE9-D3738353A711}" type="datetime3">
              <a:rPr lang="en-US" smtClean="0"/>
              <a:t>28 November 2023</a:t>
            </a:fld>
            <a:endParaRPr lang="en-US" dirty="0"/>
          </a:p>
        </p:txBody>
      </p:sp>
      <p:sp>
        <p:nvSpPr>
          <p:cNvPr id="3" name="Footer Placeholder 2"/>
          <p:cNvSpPr>
            <a:spLocks noGrp="1"/>
          </p:cNvSpPr>
          <p:nvPr>
            <p:ph type="ftr" sz="quarter" idx="11"/>
          </p:nvPr>
        </p:nvSpPr>
        <p:spPr/>
        <p:txBody>
          <a:bodyPr/>
          <a:lstStyle/>
          <a:p>
            <a:r>
              <a:rPr lang="en-US"/>
              <a:t>Software Project Management       Dr. D Evangelin Geetha    Dept. of MCA     RIT</a:t>
            </a:r>
            <a:endParaRPr lang="en-US" dirty="0"/>
          </a:p>
        </p:txBody>
      </p:sp>
    </p:spTree>
    <p:extLst>
      <p:ext uri="{BB962C8B-B14F-4D97-AF65-F5344CB8AC3E}">
        <p14:creationId xmlns:p14="http://schemas.microsoft.com/office/powerpoint/2010/main" val="168130167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fld id="{50213E5C-A9DC-4959-9C95-068BD8FD78E1}" type="slidenum">
              <a:rPr lang="en-US" altLang="en-US"/>
              <a:pPr/>
              <a:t>46</a:t>
            </a:fld>
            <a:endParaRPr lang="en-US" altLang="en-US"/>
          </a:p>
        </p:txBody>
      </p:sp>
      <p:sp>
        <p:nvSpPr>
          <p:cNvPr id="43010" name="Rectangle 2"/>
          <p:cNvSpPr>
            <a:spLocks noGrp="1" noChangeArrowheads="1"/>
          </p:cNvSpPr>
          <p:nvPr>
            <p:ph type="title"/>
          </p:nvPr>
        </p:nvSpPr>
        <p:spPr>
          <a:xfrm>
            <a:off x="2208213" y="188913"/>
            <a:ext cx="7772400" cy="1143000"/>
          </a:xfrm>
        </p:spPr>
        <p:txBody>
          <a:bodyPr/>
          <a:lstStyle/>
          <a:p>
            <a:r>
              <a:rPr lang="en-GB" altLang="en-US" b="1"/>
              <a:t>Discount factor</a:t>
            </a:r>
          </a:p>
        </p:txBody>
      </p:sp>
      <p:sp>
        <p:nvSpPr>
          <p:cNvPr id="43011" name="Rectangle 3"/>
          <p:cNvSpPr>
            <a:spLocks noGrp="1" noChangeArrowheads="1"/>
          </p:cNvSpPr>
          <p:nvPr>
            <p:ph type="body" idx="1"/>
          </p:nvPr>
        </p:nvSpPr>
        <p:spPr>
          <a:xfrm>
            <a:off x="2208213" y="970156"/>
            <a:ext cx="7626350" cy="4895385"/>
          </a:xfrm>
        </p:spPr>
        <p:txBody>
          <a:bodyPr>
            <a:normAutofit fontScale="70000" lnSpcReduction="20000"/>
          </a:bodyPr>
          <a:lstStyle/>
          <a:p>
            <a:pPr>
              <a:buFontTx/>
              <a:buNone/>
            </a:pPr>
            <a:r>
              <a:rPr lang="en-GB" altLang="en-US" dirty="0"/>
              <a:t>Applying the discount factor to Project 1</a:t>
            </a:r>
          </a:p>
          <a:p>
            <a:r>
              <a:rPr lang="en-GB" altLang="en-US" dirty="0"/>
              <a:t>3</a:t>
            </a:r>
            <a:r>
              <a:rPr lang="en-GB" altLang="en-US" baseline="30000" dirty="0"/>
              <a:t>rd</a:t>
            </a:r>
            <a:r>
              <a:rPr lang="en-GB" altLang="en-US" dirty="0"/>
              <a:t> Year</a:t>
            </a:r>
          </a:p>
          <a:p>
            <a:pPr>
              <a:buFontTx/>
              <a:buNone/>
            </a:pPr>
            <a:r>
              <a:rPr lang="en-GB" altLang="en-US" dirty="0"/>
              <a:t>Discount factor = 1/(1+0.08)</a:t>
            </a:r>
            <a:r>
              <a:rPr lang="en-GB" altLang="en-US" baseline="30000" dirty="0"/>
              <a:t>3</a:t>
            </a:r>
            <a:r>
              <a:rPr lang="en-GB" altLang="en-US" dirty="0"/>
              <a:t>= 1/(1.08)</a:t>
            </a:r>
            <a:r>
              <a:rPr lang="en-GB" altLang="en-US" baseline="30000" dirty="0"/>
              <a:t>3</a:t>
            </a:r>
          </a:p>
          <a:p>
            <a:pPr>
              <a:buFontTx/>
              <a:buNone/>
            </a:pPr>
            <a:r>
              <a:rPr lang="en-GB" altLang="en-US" baseline="30000" dirty="0"/>
              <a:t>		</a:t>
            </a:r>
            <a:r>
              <a:rPr lang="en-GB" altLang="en-US" dirty="0"/>
              <a:t>	= 1/1.259712 = 0.7938</a:t>
            </a:r>
          </a:p>
          <a:p>
            <a:pPr>
              <a:buNone/>
            </a:pPr>
            <a:r>
              <a:rPr lang="en-GB" altLang="en-US" dirty="0"/>
              <a:t>Discounted cash flow = 0.7513 x 10,000 </a:t>
            </a:r>
          </a:p>
          <a:p>
            <a:pPr>
              <a:buFontTx/>
              <a:buNone/>
            </a:pPr>
            <a:r>
              <a:rPr lang="en-GB" altLang="en-US" dirty="0"/>
              <a:t>				     = $7513</a:t>
            </a:r>
          </a:p>
          <a:p>
            <a:r>
              <a:rPr lang="en-GB" altLang="en-US" dirty="0"/>
              <a:t>4</a:t>
            </a:r>
            <a:r>
              <a:rPr lang="en-GB" altLang="en-US" baseline="30000" dirty="0"/>
              <a:t>th</a:t>
            </a:r>
            <a:r>
              <a:rPr lang="en-GB" altLang="en-US" dirty="0"/>
              <a:t> Year</a:t>
            </a:r>
          </a:p>
          <a:p>
            <a:pPr>
              <a:buFontTx/>
              <a:buNone/>
            </a:pPr>
            <a:r>
              <a:rPr lang="en-GB" altLang="en-US" dirty="0"/>
              <a:t>Discount factor = 1/(1.08)</a:t>
            </a:r>
            <a:r>
              <a:rPr lang="en-GB" altLang="en-US" baseline="30000" dirty="0"/>
              <a:t>4</a:t>
            </a:r>
            <a:r>
              <a:rPr lang="en-GB" altLang="en-US" dirty="0"/>
              <a:t> = 1/1.360 = 0.735				= 0.6830</a:t>
            </a:r>
          </a:p>
          <a:p>
            <a:pPr>
              <a:buNone/>
            </a:pPr>
            <a:r>
              <a:rPr lang="en-GB" altLang="en-US" dirty="0"/>
              <a:t>Discounted cash flow = 0.6830 x 20000</a:t>
            </a:r>
          </a:p>
          <a:p>
            <a:pPr>
              <a:buFontTx/>
              <a:buNone/>
            </a:pPr>
            <a:r>
              <a:rPr lang="en-GB" altLang="en-US" dirty="0"/>
              <a:t>				= $13660</a:t>
            </a:r>
          </a:p>
        </p:txBody>
      </p:sp>
      <p:sp>
        <p:nvSpPr>
          <p:cNvPr id="2" name="Date Placeholder 1"/>
          <p:cNvSpPr>
            <a:spLocks noGrp="1"/>
          </p:cNvSpPr>
          <p:nvPr>
            <p:ph type="dt" sz="half" idx="10"/>
          </p:nvPr>
        </p:nvSpPr>
        <p:spPr/>
        <p:txBody>
          <a:bodyPr/>
          <a:lstStyle/>
          <a:p>
            <a:fld id="{76EAFC5B-1FFF-47FB-BD02-D6040A9E1A7F}" type="datetime3">
              <a:rPr lang="en-US" smtClean="0"/>
              <a:t>28 November 2023</a:t>
            </a:fld>
            <a:endParaRPr lang="en-US" dirty="0"/>
          </a:p>
        </p:txBody>
      </p:sp>
      <p:sp>
        <p:nvSpPr>
          <p:cNvPr id="3" name="Footer Placeholder 2"/>
          <p:cNvSpPr>
            <a:spLocks noGrp="1"/>
          </p:cNvSpPr>
          <p:nvPr>
            <p:ph type="ftr" sz="quarter" idx="11"/>
          </p:nvPr>
        </p:nvSpPr>
        <p:spPr/>
        <p:txBody>
          <a:bodyPr/>
          <a:lstStyle/>
          <a:p>
            <a:r>
              <a:rPr lang="en-US"/>
              <a:t>Software Project Management       Dr. D Evangelin Geetha    Dept. of MCA     RIT</a:t>
            </a:r>
            <a:endParaRPr lang="en-US" dirty="0"/>
          </a:p>
        </p:txBody>
      </p:sp>
    </p:spTree>
    <p:extLst>
      <p:ext uri="{BB962C8B-B14F-4D97-AF65-F5344CB8AC3E}">
        <p14:creationId xmlns:p14="http://schemas.microsoft.com/office/powerpoint/2010/main" val="197517640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fld id="{50213E5C-A9DC-4959-9C95-068BD8FD78E1}" type="slidenum">
              <a:rPr lang="en-US" altLang="en-US"/>
              <a:pPr/>
              <a:t>47</a:t>
            </a:fld>
            <a:endParaRPr lang="en-US" altLang="en-US"/>
          </a:p>
        </p:txBody>
      </p:sp>
      <p:sp>
        <p:nvSpPr>
          <p:cNvPr id="43010" name="Rectangle 2"/>
          <p:cNvSpPr>
            <a:spLocks noGrp="1" noChangeArrowheads="1"/>
          </p:cNvSpPr>
          <p:nvPr>
            <p:ph type="title"/>
          </p:nvPr>
        </p:nvSpPr>
        <p:spPr>
          <a:xfrm>
            <a:off x="2208213" y="188913"/>
            <a:ext cx="7772400" cy="1143000"/>
          </a:xfrm>
        </p:spPr>
        <p:txBody>
          <a:bodyPr/>
          <a:lstStyle/>
          <a:p>
            <a:r>
              <a:rPr lang="en-GB" altLang="en-US" b="1"/>
              <a:t>Discount factor</a:t>
            </a:r>
          </a:p>
        </p:txBody>
      </p:sp>
      <p:sp>
        <p:nvSpPr>
          <p:cNvPr id="43011" name="Rectangle 3"/>
          <p:cNvSpPr>
            <a:spLocks noGrp="1" noChangeArrowheads="1"/>
          </p:cNvSpPr>
          <p:nvPr>
            <p:ph type="body" idx="1"/>
          </p:nvPr>
        </p:nvSpPr>
        <p:spPr>
          <a:xfrm>
            <a:off x="2208213" y="1331913"/>
            <a:ext cx="7626350" cy="4533628"/>
          </a:xfrm>
        </p:spPr>
        <p:txBody>
          <a:bodyPr>
            <a:normAutofit/>
          </a:bodyPr>
          <a:lstStyle/>
          <a:p>
            <a:pPr>
              <a:buFontTx/>
              <a:buNone/>
            </a:pPr>
            <a:r>
              <a:rPr lang="en-GB" altLang="en-US" dirty="0"/>
              <a:t>Applying the discount factor to Project 1</a:t>
            </a:r>
          </a:p>
          <a:p>
            <a:r>
              <a:rPr lang="en-GB" altLang="en-US" dirty="0"/>
              <a:t>5</a:t>
            </a:r>
            <a:r>
              <a:rPr lang="en-GB" altLang="en-US" baseline="30000" dirty="0"/>
              <a:t>th</a:t>
            </a:r>
            <a:r>
              <a:rPr lang="en-GB" altLang="en-US" dirty="0"/>
              <a:t> Year</a:t>
            </a:r>
          </a:p>
          <a:p>
            <a:pPr>
              <a:buFontTx/>
              <a:buNone/>
            </a:pPr>
            <a:r>
              <a:rPr lang="en-GB" altLang="en-US" dirty="0"/>
              <a:t>Discount factor = 1/(1+0.08)5= 1/(1.08)</a:t>
            </a:r>
            <a:r>
              <a:rPr lang="en-GB" altLang="en-US" baseline="30000" dirty="0"/>
              <a:t>5</a:t>
            </a:r>
          </a:p>
          <a:p>
            <a:pPr>
              <a:buFontTx/>
              <a:buNone/>
            </a:pPr>
            <a:r>
              <a:rPr lang="en-GB" altLang="en-US" baseline="30000" dirty="0"/>
              <a:t>		</a:t>
            </a:r>
            <a:r>
              <a:rPr lang="en-GB" altLang="en-US" dirty="0"/>
              <a:t>	= 1/1.4693 = 0.6806</a:t>
            </a:r>
          </a:p>
          <a:p>
            <a:pPr>
              <a:buNone/>
            </a:pPr>
            <a:r>
              <a:rPr lang="en-GB" altLang="en-US" dirty="0"/>
              <a:t>Discounted cash flow = 0.6209 x 1,00,000 </a:t>
            </a:r>
          </a:p>
          <a:p>
            <a:pPr>
              <a:buFontTx/>
              <a:buNone/>
            </a:pPr>
            <a:r>
              <a:rPr lang="en-GB" altLang="en-US" dirty="0"/>
              <a:t>				     = $62090</a:t>
            </a:r>
          </a:p>
        </p:txBody>
      </p:sp>
      <p:sp>
        <p:nvSpPr>
          <p:cNvPr id="2" name="Date Placeholder 1"/>
          <p:cNvSpPr>
            <a:spLocks noGrp="1"/>
          </p:cNvSpPr>
          <p:nvPr>
            <p:ph type="dt" sz="half" idx="10"/>
          </p:nvPr>
        </p:nvSpPr>
        <p:spPr/>
        <p:txBody>
          <a:bodyPr/>
          <a:lstStyle/>
          <a:p>
            <a:fld id="{1FEC8350-7999-4D80-9B7F-3B5CCB0FFD01}" type="datetime3">
              <a:rPr lang="en-US" smtClean="0"/>
              <a:t>28 November 2023</a:t>
            </a:fld>
            <a:endParaRPr lang="en-US" dirty="0"/>
          </a:p>
        </p:txBody>
      </p:sp>
      <p:sp>
        <p:nvSpPr>
          <p:cNvPr id="3" name="Footer Placeholder 2"/>
          <p:cNvSpPr>
            <a:spLocks noGrp="1"/>
          </p:cNvSpPr>
          <p:nvPr>
            <p:ph type="ftr" sz="quarter" idx="11"/>
          </p:nvPr>
        </p:nvSpPr>
        <p:spPr/>
        <p:txBody>
          <a:bodyPr/>
          <a:lstStyle/>
          <a:p>
            <a:r>
              <a:rPr lang="en-US"/>
              <a:t>Software Project Management       Dr. D Evangelin Geetha    Dept. of MCA     RIT</a:t>
            </a:r>
            <a:endParaRPr lang="en-US" dirty="0"/>
          </a:p>
        </p:txBody>
      </p:sp>
    </p:spTree>
    <p:extLst>
      <p:ext uri="{BB962C8B-B14F-4D97-AF65-F5344CB8AC3E}">
        <p14:creationId xmlns:p14="http://schemas.microsoft.com/office/powerpoint/2010/main" val="281454121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p:txBody>
          <a:bodyPr/>
          <a:lstStyle/>
          <a:p>
            <a:r>
              <a:rPr lang="en-GB" altLang="en-US" b="1"/>
              <a:t>Applying discount factors</a:t>
            </a:r>
          </a:p>
        </p:txBody>
      </p:sp>
      <p:graphicFrame>
        <p:nvGraphicFramePr>
          <p:cNvPr id="44189" name="Group 157"/>
          <p:cNvGraphicFramePr>
            <a:graphicFrameLocks noGrp="1"/>
          </p:cNvGraphicFramePr>
          <p:nvPr>
            <p:ph idx="1"/>
            <p:extLst>
              <p:ext uri="{D42A27DB-BD31-4B8C-83A1-F6EECF244321}">
                <p14:modId xmlns:p14="http://schemas.microsoft.com/office/powerpoint/2010/main" val="1585680642"/>
              </p:ext>
            </p:extLst>
          </p:nvPr>
        </p:nvGraphicFramePr>
        <p:xfrm>
          <a:off x="1450975" y="2016125"/>
          <a:ext cx="9604375" cy="4000501"/>
        </p:xfrm>
        <a:graphic>
          <a:graphicData uri="http://schemas.openxmlformats.org/drawingml/2006/table">
            <a:tbl>
              <a:tblPr/>
              <a:tblGrid>
                <a:gridCol w="1578302">
                  <a:extLst>
                    <a:ext uri="{9D8B030D-6E8A-4147-A177-3AD203B41FA5}">
                      <a16:colId xmlns:a16="http://schemas.microsoft.com/office/drawing/2014/main" val="2511039406"/>
                    </a:ext>
                  </a:extLst>
                </a:gridCol>
                <a:gridCol w="2606792">
                  <a:extLst>
                    <a:ext uri="{9D8B030D-6E8A-4147-A177-3AD203B41FA5}">
                      <a16:colId xmlns:a16="http://schemas.microsoft.com/office/drawing/2014/main" val="194044081"/>
                    </a:ext>
                  </a:extLst>
                </a:gridCol>
                <a:gridCol w="2710602">
                  <a:extLst>
                    <a:ext uri="{9D8B030D-6E8A-4147-A177-3AD203B41FA5}">
                      <a16:colId xmlns:a16="http://schemas.microsoft.com/office/drawing/2014/main" val="1793404719"/>
                    </a:ext>
                  </a:extLst>
                </a:gridCol>
                <a:gridCol w="2708679">
                  <a:extLst>
                    <a:ext uri="{9D8B030D-6E8A-4147-A177-3AD203B41FA5}">
                      <a16:colId xmlns:a16="http://schemas.microsoft.com/office/drawing/2014/main" val="1783837900"/>
                    </a:ext>
                  </a:extLst>
                </a:gridCol>
              </a:tblGrid>
              <a:tr h="588963">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GB" altLang="en-US" sz="2000" b="0" i="0" u="none" strike="noStrike" cap="none" normalizeH="0" baseline="0" dirty="0">
                          <a:ln>
                            <a:noFill/>
                          </a:ln>
                          <a:solidFill>
                            <a:schemeClr val="tx1"/>
                          </a:solidFill>
                          <a:effectLst/>
                          <a:latin typeface="Tahoma" panose="020B0604030504040204" pitchFamily="34" charset="0"/>
                        </a:rPr>
                        <a:t>Year</a:t>
                      </a:r>
                    </a:p>
                  </a:txBody>
                  <a:tcPr marL="110731" marR="11073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GB" altLang="en-US" sz="2000" b="0" i="0" u="none" strike="noStrike" cap="none" normalizeH="0" baseline="0">
                          <a:ln>
                            <a:noFill/>
                          </a:ln>
                          <a:solidFill>
                            <a:schemeClr val="tx1"/>
                          </a:solidFill>
                          <a:effectLst/>
                          <a:latin typeface="Tahoma" panose="020B0604030504040204" pitchFamily="34" charset="0"/>
                        </a:rPr>
                        <a:t>Cash-flow</a:t>
                      </a:r>
                    </a:p>
                  </a:txBody>
                  <a:tcPr marL="110731" marR="110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GB" altLang="en-US" sz="2000" b="0" i="0" u="none" strike="noStrike" cap="none" normalizeH="0" baseline="0">
                          <a:ln>
                            <a:noFill/>
                          </a:ln>
                          <a:solidFill>
                            <a:schemeClr val="tx1"/>
                          </a:solidFill>
                          <a:effectLst/>
                          <a:latin typeface="Tahoma" panose="020B0604030504040204" pitchFamily="34" charset="0"/>
                        </a:rPr>
                        <a:t>Discount factor</a:t>
                      </a:r>
                    </a:p>
                  </a:txBody>
                  <a:tcPr marL="110731" marR="110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GB" altLang="en-US" sz="2000" b="0" i="0" u="none" strike="noStrike" cap="none" normalizeH="0" baseline="0" dirty="0">
                          <a:ln>
                            <a:noFill/>
                          </a:ln>
                          <a:solidFill>
                            <a:schemeClr val="tx1"/>
                          </a:solidFill>
                          <a:effectLst/>
                          <a:latin typeface="Tahoma" panose="020B0604030504040204" pitchFamily="34" charset="0"/>
                        </a:rPr>
                        <a:t>Discounted cash flow</a:t>
                      </a:r>
                    </a:p>
                  </a:txBody>
                  <a:tcPr marL="110731" marR="11073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756592706"/>
                  </a:ext>
                </a:extLst>
              </a:tr>
              <a:tr h="452438">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altLang="en-US" sz="2400" b="0" i="0" u="none" strike="noStrike" cap="none" normalizeH="0" baseline="0" dirty="0">
                          <a:ln>
                            <a:noFill/>
                          </a:ln>
                          <a:solidFill>
                            <a:schemeClr val="tx1"/>
                          </a:solidFill>
                          <a:effectLst/>
                          <a:latin typeface="Tahoma" panose="020B0604030504040204" pitchFamily="34" charset="0"/>
                        </a:rPr>
                        <a:t>0</a:t>
                      </a:r>
                    </a:p>
                  </a:txBody>
                  <a:tcPr marL="110731" marR="11073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GB" altLang="en-US" sz="2400" b="0" i="0" u="none" strike="noStrike" cap="none" normalizeH="0" baseline="0" dirty="0">
                          <a:ln>
                            <a:noFill/>
                          </a:ln>
                          <a:solidFill>
                            <a:schemeClr val="tx1"/>
                          </a:solidFill>
                          <a:effectLst/>
                          <a:latin typeface="Tahoma" panose="020B0604030504040204" pitchFamily="34" charset="0"/>
                        </a:rPr>
                        <a:t>-100,000</a:t>
                      </a:r>
                    </a:p>
                  </a:txBody>
                  <a:tcPr marL="110731" marR="110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GB" altLang="en-US" sz="2400" b="0" i="0" u="none" strike="noStrike" cap="none" normalizeH="0" baseline="0" dirty="0">
                          <a:ln>
                            <a:noFill/>
                          </a:ln>
                          <a:solidFill>
                            <a:schemeClr val="tx1"/>
                          </a:solidFill>
                          <a:effectLst/>
                          <a:latin typeface="Tahoma" panose="020B0604030504040204" pitchFamily="34" charset="0"/>
                        </a:rPr>
                        <a:t>1.0000</a:t>
                      </a:r>
                    </a:p>
                  </a:txBody>
                  <a:tcPr marL="110731" marR="110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GB" altLang="en-US" sz="2400" b="0" i="0" u="none" strike="noStrike" cap="none" normalizeH="0" baseline="0" dirty="0">
                          <a:ln>
                            <a:noFill/>
                          </a:ln>
                          <a:solidFill>
                            <a:schemeClr val="tx1"/>
                          </a:solidFill>
                          <a:effectLst/>
                          <a:latin typeface="Tahoma" panose="020B0604030504040204" pitchFamily="34" charset="0"/>
                        </a:rPr>
                        <a:t>-100,000</a:t>
                      </a:r>
                    </a:p>
                  </a:txBody>
                  <a:tcPr marL="110731" marR="11073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336024895"/>
                  </a:ext>
                </a:extLst>
              </a:tr>
              <a:tr h="431800">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altLang="en-US" sz="2400" b="0" i="0" u="none" strike="noStrike" cap="none" normalizeH="0" baseline="0" dirty="0">
                          <a:ln>
                            <a:noFill/>
                          </a:ln>
                          <a:solidFill>
                            <a:schemeClr val="tx1"/>
                          </a:solidFill>
                          <a:effectLst/>
                          <a:latin typeface="Tahoma" panose="020B0604030504040204" pitchFamily="34" charset="0"/>
                        </a:rPr>
                        <a:t>1</a:t>
                      </a:r>
                    </a:p>
                  </a:txBody>
                  <a:tcPr marL="110731" marR="11073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GB" altLang="en-US" sz="2400" b="0" i="0" u="none" strike="noStrike" cap="none" normalizeH="0" baseline="0" dirty="0">
                          <a:ln>
                            <a:noFill/>
                          </a:ln>
                          <a:solidFill>
                            <a:schemeClr val="tx1"/>
                          </a:solidFill>
                          <a:effectLst/>
                          <a:latin typeface="Tahoma" panose="020B0604030504040204" pitchFamily="34" charset="0"/>
                        </a:rPr>
                        <a:t>10,000</a:t>
                      </a:r>
                    </a:p>
                  </a:txBody>
                  <a:tcPr marL="110731" marR="110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GB" altLang="en-US" sz="2400" b="0" i="0" u="none" strike="noStrike" cap="none" normalizeH="0" baseline="0" dirty="0">
                          <a:ln>
                            <a:noFill/>
                          </a:ln>
                          <a:solidFill>
                            <a:schemeClr val="tx1"/>
                          </a:solidFill>
                          <a:effectLst/>
                          <a:latin typeface="Tahoma" panose="020B0604030504040204" pitchFamily="34" charset="0"/>
                        </a:rPr>
                        <a:t>0.9259</a:t>
                      </a:r>
                    </a:p>
                  </a:txBody>
                  <a:tcPr marL="110731" marR="110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GB" altLang="en-US" sz="2400" b="0" i="0" u="none" strike="noStrike" cap="none" normalizeH="0" baseline="0" dirty="0">
                          <a:ln>
                            <a:noFill/>
                          </a:ln>
                          <a:solidFill>
                            <a:schemeClr val="tx1"/>
                          </a:solidFill>
                          <a:effectLst/>
                          <a:latin typeface="Tahoma" panose="020B0604030504040204" pitchFamily="34" charset="0"/>
                        </a:rPr>
                        <a:t>9259</a:t>
                      </a:r>
                    </a:p>
                  </a:txBody>
                  <a:tcPr marL="110731" marR="11073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176800896"/>
                  </a:ext>
                </a:extLst>
              </a:tr>
              <a:tr h="431800">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altLang="en-US" sz="2400" b="0" i="0" u="none" strike="noStrike" cap="none" normalizeH="0" baseline="0" dirty="0">
                          <a:ln>
                            <a:noFill/>
                          </a:ln>
                          <a:solidFill>
                            <a:schemeClr val="tx1"/>
                          </a:solidFill>
                          <a:effectLst/>
                          <a:latin typeface="Tahoma" panose="020B0604030504040204" pitchFamily="34" charset="0"/>
                        </a:rPr>
                        <a:t>2</a:t>
                      </a:r>
                    </a:p>
                  </a:txBody>
                  <a:tcPr marL="110731" marR="11073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GB" altLang="en-US" sz="2400" b="0" i="0" u="none" strike="noStrike" cap="none" normalizeH="0" baseline="0">
                          <a:ln>
                            <a:noFill/>
                          </a:ln>
                          <a:solidFill>
                            <a:schemeClr val="tx1"/>
                          </a:solidFill>
                          <a:effectLst/>
                          <a:latin typeface="Tahoma" panose="020B0604030504040204" pitchFamily="34" charset="0"/>
                        </a:rPr>
                        <a:t>10,000</a:t>
                      </a:r>
                    </a:p>
                  </a:txBody>
                  <a:tcPr marL="110731" marR="110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GB" altLang="en-US" sz="2400" b="0" i="0" u="none" strike="noStrike" cap="none" normalizeH="0" baseline="0" dirty="0">
                          <a:ln>
                            <a:noFill/>
                          </a:ln>
                          <a:solidFill>
                            <a:schemeClr val="tx1"/>
                          </a:solidFill>
                          <a:effectLst/>
                          <a:latin typeface="Tahoma" panose="020B0604030504040204" pitchFamily="34" charset="0"/>
                        </a:rPr>
                        <a:t>0.8573</a:t>
                      </a:r>
                    </a:p>
                  </a:txBody>
                  <a:tcPr marL="110731" marR="110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GB" altLang="en-US" sz="2400" b="0" i="0" u="none" strike="noStrike" cap="none" normalizeH="0" baseline="0" dirty="0">
                          <a:ln>
                            <a:noFill/>
                          </a:ln>
                          <a:solidFill>
                            <a:schemeClr val="tx1"/>
                          </a:solidFill>
                          <a:effectLst/>
                          <a:latin typeface="Tahoma" panose="020B0604030504040204" pitchFamily="34" charset="0"/>
                        </a:rPr>
                        <a:t>8573</a:t>
                      </a:r>
                    </a:p>
                  </a:txBody>
                  <a:tcPr marL="110731" marR="11073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4248361617"/>
                  </a:ext>
                </a:extLst>
              </a:tr>
              <a:tr h="431800">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altLang="en-US" sz="2400" b="0" i="0" u="none" strike="noStrike" cap="none" normalizeH="0" baseline="0" dirty="0">
                          <a:ln>
                            <a:noFill/>
                          </a:ln>
                          <a:solidFill>
                            <a:schemeClr val="tx1"/>
                          </a:solidFill>
                          <a:effectLst/>
                          <a:latin typeface="Tahoma" panose="020B0604030504040204" pitchFamily="34" charset="0"/>
                        </a:rPr>
                        <a:t>3</a:t>
                      </a:r>
                    </a:p>
                  </a:txBody>
                  <a:tcPr marL="110731" marR="11073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GB" altLang="en-US" sz="2400" b="0" i="0" u="none" strike="noStrike" cap="none" normalizeH="0" baseline="0">
                          <a:ln>
                            <a:noFill/>
                          </a:ln>
                          <a:solidFill>
                            <a:schemeClr val="tx1"/>
                          </a:solidFill>
                          <a:effectLst/>
                          <a:latin typeface="Tahoma" panose="020B0604030504040204" pitchFamily="34" charset="0"/>
                        </a:rPr>
                        <a:t>10,000</a:t>
                      </a:r>
                    </a:p>
                  </a:txBody>
                  <a:tcPr marL="110731" marR="110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GB" altLang="en-US" sz="2400" b="0" i="0" u="none" strike="noStrike" cap="none" normalizeH="0" baseline="0" dirty="0">
                          <a:ln>
                            <a:noFill/>
                          </a:ln>
                          <a:solidFill>
                            <a:schemeClr val="tx1"/>
                          </a:solidFill>
                          <a:effectLst/>
                          <a:latin typeface="Tahoma" panose="020B0604030504040204" pitchFamily="34" charset="0"/>
                        </a:rPr>
                        <a:t>0.7938</a:t>
                      </a:r>
                    </a:p>
                  </a:txBody>
                  <a:tcPr marL="110731" marR="110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GB" altLang="en-US" sz="2400" b="0" i="0" u="none" strike="noStrike" cap="none" normalizeH="0" baseline="0" dirty="0">
                          <a:ln>
                            <a:noFill/>
                          </a:ln>
                          <a:solidFill>
                            <a:schemeClr val="tx1"/>
                          </a:solidFill>
                          <a:effectLst/>
                          <a:latin typeface="Tahoma" panose="020B0604030504040204" pitchFamily="34" charset="0"/>
                        </a:rPr>
                        <a:t>7938</a:t>
                      </a:r>
                    </a:p>
                  </a:txBody>
                  <a:tcPr marL="110731" marR="11073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205319087"/>
                  </a:ext>
                </a:extLst>
              </a:tr>
              <a:tr h="433388">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altLang="en-US" sz="2400" b="0" i="0" u="none" strike="noStrike" cap="none" normalizeH="0" baseline="0" dirty="0">
                          <a:ln>
                            <a:noFill/>
                          </a:ln>
                          <a:solidFill>
                            <a:schemeClr val="tx1"/>
                          </a:solidFill>
                          <a:effectLst/>
                          <a:latin typeface="Tahoma" panose="020B0604030504040204" pitchFamily="34" charset="0"/>
                        </a:rPr>
                        <a:t>4</a:t>
                      </a:r>
                    </a:p>
                  </a:txBody>
                  <a:tcPr marL="110731" marR="11073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GB" altLang="en-US" sz="2400" b="0" i="0" u="none" strike="noStrike" cap="none" normalizeH="0" baseline="0">
                          <a:ln>
                            <a:noFill/>
                          </a:ln>
                          <a:solidFill>
                            <a:schemeClr val="tx1"/>
                          </a:solidFill>
                          <a:effectLst/>
                          <a:latin typeface="Tahoma" panose="020B0604030504040204" pitchFamily="34" charset="0"/>
                        </a:rPr>
                        <a:t>20,000</a:t>
                      </a:r>
                    </a:p>
                  </a:txBody>
                  <a:tcPr marL="110731" marR="110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GB" altLang="en-US" sz="2400" b="0" i="0" u="none" strike="noStrike" cap="none" normalizeH="0" baseline="0" dirty="0">
                          <a:ln>
                            <a:noFill/>
                          </a:ln>
                          <a:solidFill>
                            <a:schemeClr val="tx1"/>
                          </a:solidFill>
                          <a:effectLst/>
                          <a:latin typeface="Tahoma" panose="020B0604030504040204" pitchFamily="34" charset="0"/>
                        </a:rPr>
                        <a:t>0.7350</a:t>
                      </a:r>
                    </a:p>
                  </a:txBody>
                  <a:tcPr marL="110731" marR="11073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GB" altLang="en-US" sz="2400" b="0" i="0" u="none" strike="noStrike" cap="none" normalizeH="0" baseline="0" dirty="0">
                          <a:ln>
                            <a:noFill/>
                          </a:ln>
                          <a:solidFill>
                            <a:schemeClr val="tx1"/>
                          </a:solidFill>
                          <a:effectLst/>
                          <a:latin typeface="Tahoma" panose="020B0604030504040204" pitchFamily="34" charset="0"/>
                        </a:rPr>
                        <a:t>14700</a:t>
                      </a:r>
                    </a:p>
                  </a:txBody>
                  <a:tcPr marL="110731" marR="11073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004657775"/>
                  </a:ext>
                </a:extLst>
              </a:tr>
              <a:tr h="503238">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altLang="en-US" sz="2400" b="0" i="0" u="none" strike="noStrike" cap="none" normalizeH="0" baseline="0" dirty="0">
                          <a:ln>
                            <a:noFill/>
                          </a:ln>
                          <a:solidFill>
                            <a:schemeClr val="tx1"/>
                          </a:solidFill>
                          <a:effectLst/>
                          <a:latin typeface="Tahoma" panose="020B0604030504040204" pitchFamily="34" charset="0"/>
                        </a:rPr>
                        <a:t>5</a:t>
                      </a:r>
                    </a:p>
                  </a:txBody>
                  <a:tcPr marL="110731" marR="110731"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GB" altLang="en-US" sz="2400" b="0" i="0" u="none" strike="noStrike" cap="none" normalizeH="0" baseline="0">
                          <a:ln>
                            <a:noFill/>
                          </a:ln>
                          <a:solidFill>
                            <a:schemeClr val="tx1"/>
                          </a:solidFill>
                          <a:effectLst/>
                          <a:latin typeface="Tahoma" panose="020B0604030504040204" pitchFamily="34" charset="0"/>
                        </a:rPr>
                        <a:t>100,000</a:t>
                      </a:r>
                    </a:p>
                  </a:txBody>
                  <a:tcPr marL="110731" marR="11073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GB" altLang="en-US" sz="2400" b="0" i="0" u="none" strike="noStrike" cap="none" normalizeH="0" baseline="0" dirty="0">
                          <a:ln>
                            <a:noFill/>
                          </a:ln>
                          <a:solidFill>
                            <a:schemeClr val="tx1"/>
                          </a:solidFill>
                          <a:effectLst/>
                          <a:latin typeface="Tahoma" panose="020B0604030504040204" pitchFamily="34" charset="0"/>
                        </a:rPr>
                        <a:t>0.6806</a:t>
                      </a:r>
                    </a:p>
                  </a:txBody>
                  <a:tcPr marL="110731" marR="11073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GB" altLang="en-US" sz="2400" b="0" i="0" u="none" strike="noStrike" cap="none" normalizeH="0" baseline="0" dirty="0">
                          <a:ln>
                            <a:noFill/>
                          </a:ln>
                          <a:solidFill>
                            <a:schemeClr val="tx1"/>
                          </a:solidFill>
                          <a:effectLst/>
                          <a:latin typeface="Tahoma" panose="020B0604030504040204" pitchFamily="34" charset="0"/>
                        </a:rPr>
                        <a:t>68060</a:t>
                      </a:r>
                    </a:p>
                  </a:txBody>
                  <a:tcPr marL="110731" marR="110731"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4071585679"/>
                  </a:ext>
                </a:extLst>
              </a:tr>
              <a:tr h="622300">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altLang="en-US" sz="2000" b="0" i="0" u="none" strike="noStrike" cap="none" normalizeH="0" baseline="0">
                        <a:ln>
                          <a:noFill/>
                        </a:ln>
                        <a:solidFill>
                          <a:schemeClr val="tx1"/>
                        </a:solidFill>
                        <a:effectLst/>
                        <a:latin typeface="Tahoma" panose="020B0604030504040204" pitchFamily="34" charset="0"/>
                      </a:endParaRPr>
                    </a:p>
                  </a:txBody>
                  <a:tcPr marL="110731" marR="110731"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altLang="en-US" sz="2000" b="0" i="0" u="none" strike="noStrike" cap="none" normalizeH="0" baseline="0">
                        <a:ln>
                          <a:noFill/>
                        </a:ln>
                        <a:solidFill>
                          <a:schemeClr val="tx1"/>
                        </a:solidFill>
                        <a:effectLst/>
                        <a:latin typeface="Tahoma" panose="020B0604030504040204" pitchFamily="34" charset="0"/>
                      </a:endParaRPr>
                    </a:p>
                  </a:txBody>
                  <a:tcPr marL="110731" marR="11073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GB" altLang="en-US" sz="2000" b="0" i="0" u="none" strike="noStrike" cap="none" normalizeH="0" baseline="0" dirty="0">
                          <a:ln>
                            <a:noFill/>
                          </a:ln>
                          <a:solidFill>
                            <a:schemeClr val="tx1"/>
                          </a:solidFill>
                          <a:effectLst/>
                          <a:latin typeface="Tahoma" panose="020B0604030504040204" pitchFamily="34" charset="0"/>
                        </a:rPr>
                        <a:t>NPV</a:t>
                      </a:r>
                    </a:p>
                  </a:txBody>
                  <a:tcPr marL="110731" marR="11073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GB" altLang="en-US" sz="2400" b="0" i="0" u="none" strike="noStrike" cap="none" normalizeH="0" baseline="0" dirty="0">
                          <a:ln>
                            <a:noFill/>
                          </a:ln>
                          <a:solidFill>
                            <a:schemeClr val="tx1"/>
                          </a:solidFill>
                          <a:effectLst/>
                          <a:latin typeface="Tahoma" panose="020B0604030504040204" pitchFamily="34" charset="0"/>
                        </a:rPr>
                        <a:t>8530</a:t>
                      </a:r>
                    </a:p>
                  </a:txBody>
                  <a:tcPr marL="110731" marR="110731"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132012003"/>
                  </a:ext>
                </a:extLst>
              </a:tr>
            </a:tbl>
          </a:graphicData>
        </a:graphic>
      </p:graphicFrame>
      <p:sp>
        <p:nvSpPr>
          <p:cNvPr id="50" name="Slide Number Placeholder 3"/>
          <p:cNvSpPr>
            <a:spLocks noGrp="1"/>
          </p:cNvSpPr>
          <p:nvPr>
            <p:ph type="sldNum" sz="quarter" idx="12"/>
          </p:nvPr>
        </p:nvSpPr>
        <p:spPr/>
        <p:txBody>
          <a:bodyPr/>
          <a:lstStyle/>
          <a:p>
            <a:fld id="{59CB0D65-E5A3-46DD-B3AC-E3F3D1EBAA5D}" type="slidenum">
              <a:rPr lang="en-US" altLang="en-US"/>
              <a:pPr/>
              <a:t>48</a:t>
            </a:fld>
            <a:endParaRPr lang="en-US" altLang="en-US"/>
          </a:p>
        </p:txBody>
      </p:sp>
    </p:spTree>
    <p:extLst>
      <p:ext uri="{BB962C8B-B14F-4D97-AF65-F5344CB8AC3E}">
        <p14:creationId xmlns:p14="http://schemas.microsoft.com/office/powerpoint/2010/main" val="29185674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Net present value</a:t>
            </a:r>
            <a:endParaRPr lang="en-IN" dirty="0"/>
          </a:p>
        </p:txBody>
      </p:sp>
      <p:sp>
        <p:nvSpPr>
          <p:cNvPr id="3" name="Content Placeholder 2"/>
          <p:cNvSpPr>
            <a:spLocks noGrp="1"/>
          </p:cNvSpPr>
          <p:nvPr>
            <p:ph sz="half" idx="1"/>
          </p:nvPr>
        </p:nvSpPr>
        <p:spPr>
          <a:xfrm>
            <a:off x="2727712" y="1260620"/>
            <a:ext cx="1440633" cy="499566"/>
          </a:xfrm>
        </p:spPr>
        <p:txBody>
          <a:bodyPr>
            <a:normAutofit fontScale="92500" lnSpcReduction="20000"/>
          </a:bodyPr>
          <a:lstStyle/>
          <a:p>
            <a:pPr marL="0" indent="0">
              <a:buNone/>
            </a:pPr>
            <a:r>
              <a:rPr lang="en-GB" altLang="en-US" dirty="0"/>
              <a:t>Project 2</a:t>
            </a:r>
          </a:p>
        </p:txBody>
      </p:sp>
      <p:graphicFrame>
        <p:nvGraphicFramePr>
          <p:cNvPr id="5" name="Content Placeholder 4"/>
          <p:cNvGraphicFramePr>
            <a:graphicFrameLocks noGrp="1"/>
          </p:cNvGraphicFramePr>
          <p:nvPr>
            <p:ph sz="half" idx="2"/>
          </p:nvPr>
        </p:nvGraphicFramePr>
        <p:xfrm>
          <a:off x="1140075" y="2050322"/>
          <a:ext cx="7377849" cy="3444240"/>
        </p:xfrm>
        <a:graphic>
          <a:graphicData uri="http://schemas.openxmlformats.org/drawingml/2006/table">
            <a:tbl>
              <a:tblPr firstRow="1" bandRow="1">
                <a:tableStyleId>{5C22544A-7EE6-4342-B048-85BDC9FD1C3A}</a:tableStyleId>
              </a:tblPr>
              <a:tblGrid>
                <a:gridCol w="1026694">
                  <a:extLst>
                    <a:ext uri="{9D8B030D-6E8A-4147-A177-3AD203B41FA5}">
                      <a16:colId xmlns:a16="http://schemas.microsoft.com/office/drawing/2014/main" val="2248303887"/>
                    </a:ext>
                  </a:extLst>
                </a:gridCol>
                <a:gridCol w="2009992">
                  <a:extLst>
                    <a:ext uri="{9D8B030D-6E8A-4147-A177-3AD203B41FA5}">
                      <a16:colId xmlns:a16="http://schemas.microsoft.com/office/drawing/2014/main" val="2023753746"/>
                    </a:ext>
                  </a:extLst>
                </a:gridCol>
                <a:gridCol w="2318863">
                  <a:extLst>
                    <a:ext uri="{9D8B030D-6E8A-4147-A177-3AD203B41FA5}">
                      <a16:colId xmlns:a16="http://schemas.microsoft.com/office/drawing/2014/main" val="4244003138"/>
                    </a:ext>
                  </a:extLst>
                </a:gridCol>
                <a:gridCol w="2022300">
                  <a:extLst>
                    <a:ext uri="{9D8B030D-6E8A-4147-A177-3AD203B41FA5}">
                      <a16:colId xmlns:a16="http://schemas.microsoft.com/office/drawing/2014/main" val="387657477"/>
                    </a:ext>
                  </a:extLst>
                </a:gridCol>
              </a:tblGrid>
              <a:tr h="370840">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GB" altLang="en-US" sz="2000" b="0" i="0" u="none" strike="noStrike" cap="none" normalizeH="0" baseline="0" dirty="0">
                          <a:ln>
                            <a:noFill/>
                          </a:ln>
                          <a:solidFill>
                            <a:schemeClr val="bg2"/>
                          </a:solidFill>
                          <a:effectLst/>
                          <a:latin typeface="Tahoma" panose="020B0604030504040204" pitchFamily="34" charset="0"/>
                          <a:ea typeface="Tahoma" panose="020B0604030504040204" pitchFamily="34" charset="0"/>
                          <a:cs typeface="Tahoma" panose="020B0604030504040204" pitchFamily="34" charset="0"/>
                        </a:rPr>
                        <a:t>Year</a:t>
                      </a:r>
                    </a:p>
                  </a:txBody>
                  <a:tcPr horzOverflow="overflow"/>
                </a:tc>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GB" altLang="en-US" sz="2000" b="0" i="0" u="none" strike="noStrike" cap="none" normalizeH="0" baseline="0" dirty="0">
                          <a:ln>
                            <a:noFill/>
                          </a:ln>
                          <a:solidFill>
                            <a:schemeClr val="bg2"/>
                          </a:solidFill>
                          <a:effectLst/>
                          <a:latin typeface="Tahoma" panose="020B0604030504040204" pitchFamily="34" charset="0"/>
                          <a:ea typeface="Tahoma" panose="020B0604030504040204" pitchFamily="34" charset="0"/>
                          <a:cs typeface="Tahoma" panose="020B0604030504040204" pitchFamily="34" charset="0"/>
                        </a:rPr>
                        <a:t>Cash-flow</a:t>
                      </a:r>
                    </a:p>
                  </a:txBody>
                  <a:tcPr horzOverflow="overflow"/>
                </a:tc>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GB" altLang="en-US" sz="2000" b="0" i="0" u="none" strike="noStrike" cap="none" normalizeH="0" baseline="0" dirty="0">
                          <a:ln>
                            <a:noFill/>
                          </a:ln>
                          <a:solidFill>
                            <a:schemeClr val="bg2"/>
                          </a:solidFill>
                          <a:effectLst/>
                          <a:latin typeface="Tahoma" panose="020B0604030504040204" pitchFamily="34" charset="0"/>
                          <a:ea typeface="Tahoma" panose="020B0604030504040204" pitchFamily="34" charset="0"/>
                          <a:cs typeface="Tahoma" panose="020B0604030504040204" pitchFamily="34" charset="0"/>
                        </a:rPr>
                        <a:t>Discount Factor</a:t>
                      </a:r>
                    </a:p>
                  </a:txBody>
                  <a:tcPr horzOverflow="overflow"/>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defRPr/>
                      </a:pPr>
                      <a:r>
                        <a:rPr kumimoji="0" lang="en-GB" altLang="en-US" sz="2000" b="0" i="0" u="none" strike="noStrike" cap="none" normalizeH="0" baseline="0" dirty="0">
                          <a:ln>
                            <a:noFill/>
                          </a:ln>
                          <a:solidFill>
                            <a:schemeClr val="tx1"/>
                          </a:solidFill>
                          <a:effectLst/>
                          <a:latin typeface="Tahoma" panose="020B0604030504040204" pitchFamily="34" charset="0"/>
                        </a:rPr>
                        <a:t>Discounted cash flow</a:t>
                      </a:r>
                    </a:p>
                  </a:txBody>
                  <a:tcPr horzOverflow="overflow"/>
                </a:tc>
                <a:extLst>
                  <a:ext uri="{0D108BD9-81ED-4DB2-BD59-A6C34878D82A}">
                    <a16:rowId xmlns:a16="http://schemas.microsoft.com/office/drawing/2014/main" val="2686042913"/>
                  </a:ext>
                </a:extLst>
              </a:tr>
              <a:tr h="370840">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altLang="en-US" sz="200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0</a:t>
                      </a:r>
                    </a:p>
                  </a:txBody>
                  <a:tcPr horzOverflow="overflow"/>
                </a:tc>
                <a:tc>
                  <a:txBody>
                    <a:bodyPr/>
                    <a:lstStyle/>
                    <a:p>
                      <a:pPr algn="r"/>
                      <a:r>
                        <a:rPr lang="en-US" sz="2000" dirty="0">
                          <a:latin typeface="Tahoma" panose="020B0604030504040204" pitchFamily="34" charset="0"/>
                          <a:ea typeface="Tahoma" panose="020B0604030504040204" pitchFamily="34" charset="0"/>
                          <a:cs typeface="Tahoma" panose="020B0604030504040204" pitchFamily="34" charset="0"/>
                        </a:rPr>
                        <a:t>-10,00,000</a:t>
                      </a:r>
                    </a:p>
                  </a:txBody>
                  <a:tcPr/>
                </a:tc>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GB" altLang="en-US" sz="2400" b="0" i="0" u="none" strike="noStrike" cap="none" normalizeH="0" baseline="0" dirty="0">
                          <a:ln>
                            <a:noFill/>
                          </a:ln>
                          <a:solidFill>
                            <a:schemeClr val="tx1"/>
                          </a:solidFill>
                          <a:effectLst/>
                          <a:latin typeface="Tahoma" panose="020B0604030504040204" pitchFamily="34" charset="0"/>
                        </a:rPr>
                        <a:t>1.0000</a:t>
                      </a:r>
                    </a:p>
                  </a:txBody>
                  <a:tcPr marL="110731" marR="110731" horzOverflow="overflow"/>
                </a:tc>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endParaRPr kumimoji="0" lang="en-GB" altLang="en-US" sz="2000" b="0" i="0" u="none" strike="noStrike" cap="none" normalizeH="0" baseline="0" dirty="0">
                        <a:ln>
                          <a:noFill/>
                        </a:ln>
                        <a:solidFill>
                          <a:srgbClr val="0000CC"/>
                        </a:solidFill>
                        <a:effectLst/>
                        <a:latin typeface="Tahoma" panose="020B0604030504040204" pitchFamily="34" charset="0"/>
                        <a:ea typeface="Tahoma" panose="020B0604030504040204" pitchFamily="34" charset="0"/>
                        <a:cs typeface="Tahoma" panose="020B0604030504040204" pitchFamily="34" charset="0"/>
                      </a:endParaRPr>
                    </a:p>
                  </a:txBody>
                  <a:tcPr horzOverflow="overflow"/>
                </a:tc>
                <a:extLst>
                  <a:ext uri="{0D108BD9-81ED-4DB2-BD59-A6C34878D82A}">
                    <a16:rowId xmlns:a16="http://schemas.microsoft.com/office/drawing/2014/main" val="2715192214"/>
                  </a:ext>
                </a:extLst>
              </a:tr>
              <a:tr h="370840">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altLang="en-US" sz="200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1</a:t>
                      </a:r>
                    </a:p>
                  </a:txBody>
                  <a:tcPr horzOverflow="overflow"/>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2000" dirty="0">
                          <a:latin typeface="Tahoma" panose="020B0604030504040204" pitchFamily="34" charset="0"/>
                          <a:ea typeface="Tahoma" panose="020B0604030504040204" pitchFamily="34" charset="0"/>
                          <a:cs typeface="Tahoma" panose="020B0604030504040204" pitchFamily="34" charset="0"/>
                        </a:rPr>
                        <a:t>2,00,000</a:t>
                      </a:r>
                    </a:p>
                  </a:txBody>
                  <a:tcPr/>
                </a:tc>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GB" altLang="en-US" sz="2400" b="0" i="0" u="none" strike="noStrike" cap="none" normalizeH="0" baseline="0" dirty="0">
                          <a:ln>
                            <a:noFill/>
                          </a:ln>
                          <a:solidFill>
                            <a:schemeClr val="tx1"/>
                          </a:solidFill>
                          <a:effectLst/>
                          <a:latin typeface="Tahoma" panose="020B0604030504040204" pitchFamily="34" charset="0"/>
                        </a:rPr>
                        <a:t>0.9091</a:t>
                      </a:r>
                    </a:p>
                  </a:txBody>
                  <a:tcPr marL="110731" marR="110731" horzOverflow="overflow"/>
                </a:tc>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endParaRPr kumimoji="0" lang="en-GB" altLang="en-US" sz="2000" b="0" i="0" u="none" strike="noStrike" cap="none" normalizeH="0" baseline="0" dirty="0">
                        <a:ln>
                          <a:noFill/>
                        </a:ln>
                        <a:solidFill>
                          <a:srgbClr val="0000CC"/>
                        </a:solidFill>
                        <a:effectLst/>
                        <a:latin typeface="Tahoma" panose="020B0604030504040204" pitchFamily="34" charset="0"/>
                        <a:ea typeface="Tahoma" panose="020B0604030504040204" pitchFamily="34" charset="0"/>
                        <a:cs typeface="Tahoma" panose="020B0604030504040204" pitchFamily="34" charset="0"/>
                      </a:endParaRPr>
                    </a:p>
                  </a:txBody>
                  <a:tcPr horzOverflow="overflow"/>
                </a:tc>
                <a:extLst>
                  <a:ext uri="{0D108BD9-81ED-4DB2-BD59-A6C34878D82A}">
                    <a16:rowId xmlns:a16="http://schemas.microsoft.com/office/drawing/2014/main" val="604836554"/>
                  </a:ext>
                </a:extLst>
              </a:tr>
              <a:tr h="370840">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altLang="en-US" sz="200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2</a:t>
                      </a:r>
                    </a:p>
                  </a:txBody>
                  <a:tcPr horzOverflow="overflow"/>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2000">
                          <a:latin typeface="Tahoma" panose="020B0604030504040204" pitchFamily="34" charset="0"/>
                          <a:ea typeface="Tahoma" panose="020B0604030504040204" pitchFamily="34" charset="0"/>
                          <a:cs typeface="Tahoma" panose="020B0604030504040204" pitchFamily="34" charset="0"/>
                        </a:rPr>
                        <a:t>2,00,000</a:t>
                      </a:r>
                      <a:endParaRPr lang="en-US" sz="2000" dirty="0">
                        <a:latin typeface="Tahoma" panose="020B0604030504040204" pitchFamily="34" charset="0"/>
                        <a:ea typeface="Tahoma" panose="020B0604030504040204" pitchFamily="34" charset="0"/>
                        <a:cs typeface="Tahoma" panose="020B0604030504040204" pitchFamily="34" charset="0"/>
                      </a:endParaRPr>
                    </a:p>
                  </a:txBody>
                  <a:tcPr/>
                </a:tc>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GB" altLang="en-US" sz="2400" b="0" i="0" u="none" strike="noStrike" cap="none" normalizeH="0" baseline="0" dirty="0">
                          <a:ln>
                            <a:noFill/>
                          </a:ln>
                          <a:solidFill>
                            <a:schemeClr val="tx1"/>
                          </a:solidFill>
                          <a:effectLst/>
                          <a:latin typeface="Tahoma" panose="020B0604030504040204" pitchFamily="34" charset="0"/>
                        </a:rPr>
                        <a:t>0.8264</a:t>
                      </a:r>
                    </a:p>
                  </a:txBody>
                  <a:tcPr marL="110731" marR="110731" horzOverflow="overflow"/>
                </a:tc>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endParaRPr kumimoji="0" lang="en-GB" altLang="en-US" sz="2000" b="0" i="0" u="none" strike="noStrike" cap="none" normalizeH="0" baseline="0" dirty="0">
                        <a:ln>
                          <a:noFill/>
                        </a:ln>
                        <a:solidFill>
                          <a:srgbClr val="0000CC"/>
                        </a:solidFill>
                        <a:effectLst/>
                        <a:latin typeface="Tahoma" panose="020B0604030504040204" pitchFamily="34" charset="0"/>
                        <a:ea typeface="Tahoma" panose="020B0604030504040204" pitchFamily="34" charset="0"/>
                        <a:cs typeface="Tahoma" panose="020B0604030504040204" pitchFamily="34" charset="0"/>
                      </a:endParaRPr>
                    </a:p>
                  </a:txBody>
                  <a:tcPr horzOverflow="overflow"/>
                </a:tc>
                <a:extLst>
                  <a:ext uri="{0D108BD9-81ED-4DB2-BD59-A6C34878D82A}">
                    <a16:rowId xmlns:a16="http://schemas.microsoft.com/office/drawing/2014/main" val="3098725958"/>
                  </a:ext>
                </a:extLst>
              </a:tr>
              <a:tr h="370840">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altLang="en-US" sz="200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3</a:t>
                      </a:r>
                    </a:p>
                  </a:txBody>
                  <a:tcPr horzOverflow="overflow"/>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2000" dirty="0">
                          <a:latin typeface="Tahoma" panose="020B0604030504040204" pitchFamily="34" charset="0"/>
                          <a:ea typeface="Tahoma" panose="020B0604030504040204" pitchFamily="34" charset="0"/>
                          <a:cs typeface="Tahoma" panose="020B0604030504040204" pitchFamily="34" charset="0"/>
                        </a:rPr>
                        <a:t>2,00,000</a:t>
                      </a:r>
                    </a:p>
                  </a:txBody>
                  <a:tcPr/>
                </a:tc>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GB" altLang="en-US" sz="2400" b="0" i="0" u="none" strike="noStrike" cap="none" normalizeH="0" baseline="0" dirty="0">
                          <a:ln>
                            <a:noFill/>
                          </a:ln>
                          <a:solidFill>
                            <a:schemeClr val="tx1"/>
                          </a:solidFill>
                          <a:effectLst/>
                          <a:latin typeface="Tahoma" panose="020B0604030504040204" pitchFamily="34" charset="0"/>
                        </a:rPr>
                        <a:t>0.7513</a:t>
                      </a:r>
                    </a:p>
                  </a:txBody>
                  <a:tcPr marL="110731" marR="110731" horzOverflow="overflow"/>
                </a:tc>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endParaRPr kumimoji="0" lang="en-GB" altLang="en-US" sz="2000" b="0" i="0" u="none" strike="noStrike" cap="none" normalizeH="0" baseline="0" dirty="0">
                        <a:ln>
                          <a:noFill/>
                        </a:ln>
                        <a:solidFill>
                          <a:srgbClr val="0000CC"/>
                        </a:solidFill>
                        <a:effectLst/>
                        <a:latin typeface="Tahoma" panose="020B0604030504040204" pitchFamily="34" charset="0"/>
                        <a:ea typeface="Tahoma" panose="020B0604030504040204" pitchFamily="34" charset="0"/>
                        <a:cs typeface="Tahoma" panose="020B0604030504040204" pitchFamily="34" charset="0"/>
                      </a:endParaRPr>
                    </a:p>
                  </a:txBody>
                  <a:tcPr horzOverflow="overflow"/>
                </a:tc>
                <a:extLst>
                  <a:ext uri="{0D108BD9-81ED-4DB2-BD59-A6C34878D82A}">
                    <a16:rowId xmlns:a16="http://schemas.microsoft.com/office/drawing/2014/main" val="929871789"/>
                  </a:ext>
                </a:extLst>
              </a:tr>
              <a:tr h="370840">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altLang="en-US" sz="200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4</a:t>
                      </a:r>
                    </a:p>
                  </a:txBody>
                  <a:tcPr horzOverflow="overflow"/>
                </a:tc>
                <a:tc>
                  <a:txBody>
                    <a:bodyPr/>
                    <a:lstStyle/>
                    <a:p>
                      <a:pPr algn="r"/>
                      <a:r>
                        <a:rPr lang="en-US" sz="2000" dirty="0">
                          <a:latin typeface="Tahoma" panose="020B0604030504040204" pitchFamily="34" charset="0"/>
                          <a:ea typeface="Tahoma" panose="020B0604030504040204" pitchFamily="34" charset="0"/>
                          <a:cs typeface="Tahoma" panose="020B0604030504040204" pitchFamily="34" charset="0"/>
                        </a:rPr>
                        <a:t>2,00,000</a:t>
                      </a:r>
                    </a:p>
                  </a:txBody>
                  <a:tcPr/>
                </a:tc>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GB" altLang="en-US" sz="2400" b="0" i="0" u="none" strike="noStrike" cap="none" normalizeH="0" baseline="0" dirty="0">
                          <a:ln>
                            <a:noFill/>
                          </a:ln>
                          <a:solidFill>
                            <a:schemeClr val="tx1"/>
                          </a:solidFill>
                          <a:effectLst/>
                          <a:latin typeface="Tahoma" panose="020B0604030504040204" pitchFamily="34" charset="0"/>
                        </a:rPr>
                        <a:t>0.6830</a:t>
                      </a:r>
                    </a:p>
                  </a:txBody>
                  <a:tcPr marL="110731" marR="110731" horzOverflow="overflow"/>
                </a:tc>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endParaRPr kumimoji="0" lang="en-GB" altLang="en-US" sz="2000" b="0" i="0" u="none" strike="noStrike" cap="none" normalizeH="0" baseline="0" dirty="0">
                        <a:ln>
                          <a:noFill/>
                        </a:ln>
                        <a:solidFill>
                          <a:srgbClr val="0000CC"/>
                        </a:solidFill>
                        <a:effectLst/>
                        <a:latin typeface="Tahoma" panose="020B0604030504040204" pitchFamily="34" charset="0"/>
                        <a:ea typeface="Tahoma" panose="020B0604030504040204" pitchFamily="34" charset="0"/>
                        <a:cs typeface="Tahoma" panose="020B0604030504040204" pitchFamily="34" charset="0"/>
                      </a:endParaRPr>
                    </a:p>
                  </a:txBody>
                  <a:tcPr horzOverflow="overflow"/>
                </a:tc>
                <a:extLst>
                  <a:ext uri="{0D108BD9-81ED-4DB2-BD59-A6C34878D82A}">
                    <a16:rowId xmlns:a16="http://schemas.microsoft.com/office/drawing/2014/main" val="292312927"/>
                  </a:ext>
                </a:extLst>
              </a:tr>
              <a:tr h="370840">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altLang="en-US" sz="200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5</a:t>
                      </a:r>
                    </a:p>
                  </a:txBody>
                  <a:tcPr anchor="ctr" horzOverflow="overflow"/>
                </a:tc>
                <a:tc>
                  <a:txBody>
                    <a:bodyPr/>
                    <a:lstStyle/>
                    <a:p>
                      <a:pPr algn="r"/>
                      <a:r>
                        <a:rPr lang="en-US" sz="2000" dirty="0">
                          <a:latin typeface="Tahoma" panose="020B0604030504040204" pitchFamily="34" charset="0"/>
                          <a:ea typeface="Tahoma" panose="020B0604030504040204" pitchFamily="34" charset="0"/>
                          <a:cs typeface="Tahoma" panose="020B0604030504040204" pitchFamily="34" charset="0"/>
                        </a:rPr>
                        <a:t>3,00,000</a:t>
                      </a:r>
                    </a:p>
                  </a:txBody>
                  <a:tcPr/>
                </a:tc>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GB" altLang="en-US" sz="2400" b="0" i="0" u="none" strike="noStrike" cap="none" normalizeH="0" baseline="0" dirty="0">
                          <a:ln>
                            <a:noFill/>
                          </a:ln>
                          <a:solidFill>
                            <a:schemeClr val="tx1"/>
                          </a:solidFill>
                          <a:effectLst/>
                          <a:latin typeface="Tahoma" panose="020B0604030504040204" pitchFamily="34" charset="0"/>
                        </a:rPr>
                        <a:t>0.6209</a:t>
                      </a:r>
                    </a:p>
                  </a:txBody>
                  <a:tcPr marL="110731" marR="110731" anchor="ctr" horzOverflow="overflow"/>
                </a:tc>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endParaRPr kumimoji="0" lang="en-GB" altLang="en-US" sz="2000" b="0" i="0" u="none" strike="noStrike" cap="none" normalizeH="0" baseline="0" dirty="0">
                        <a:ln>
                          <a:noFill/>
                        </a:ln>
                        <a:solidFill>
                          <a:srgbClr val="FF0000"/>
                        </a:solidFill>
                        <a:effectLst/>
                        <a:latin typeface="Tahoma" panose="020B0604030504040204" pitchFamily="34" charset="0"/>
                        <a:ea typeface="Tahoma" panose="020B0604030504040204" pitchFamily="34" charset="0"/>
                        <a:cs typeface="Tahoma" panose="020B0604030504040204" pitchFamily="34" charset="0"/>
                      </a:endParaRPr>
                    </a:p>
                  </a:txBody>
                  <a:tcPr horzOverflow="overflow"/>
                </a:tc>
                <a:extLst>
                  <a:ext uri="{0D108BD9-81ED-4DB2-BD59-A6C34878D82A}">
                    <a16:rowId xmlns:a16="http://schemas.microsoft.com/office/drawing/2014/main" val="2077385687"/>
                  </a:ext>
                </a:extLst>
              </a:tr>
            </a:tbl>
          </a:graphicData>
        </a:graphic>
      </p:graphicFrame>
      <p:sp>
        <p:nvSpPr>
          <p:cNvPr id="4" name="Date Placeholder 3"/>
          <p:cNvSpPr>
            <a:spLocks noGrp="1"/>
          </p:cNvSpPr>
          <p:nvPr>
            <p:ph type="dt" sz="half" idx="10"/>
          </p:nvPr>
        </p:nvSpPr>
        <p:spPr>
          <a:xfrm>
            <a:off x="271849" y="5627533"/>
            <a:ext cx="947026" cy="309201"/>
          </a:xfrm>
        </p:spPr>
        <p:txBody>
          <a:bodyPr/>
          <a:lstStyle/>
          <a:p>
            <a:fld id="{E9376695-FE31-4FE3-8789-583C0374522F}" type="datetime3">
              <a:rPr lang="en-US" smtClean="0"/>
              <a:t>28 November 2023</a:t>
            </a:fld>
            <a:endParaRPr lang="en-US" dirty="0"/>
          </a:p>
        </p:txBody>
      </p:sp>
      <p:sp>
        <p:nvSpPr>
          <p:cNvPr id="6" name="Footer Placeholder 5"/>
          <p:cNvSpPr>
            <a:spLocks noGrp="1"/>
          </p:cNvSpPr>
          <p:nvPr>
            <p:ph type="ftr" sz="quarter" idx="11"/>
          </p:nvPr>
        </p:nvSpPr>
        <p:spPr>
          <a:xfrm>
            <a:off x="4466628" y="5600989"/>
            <a:ext cx="4545567" cy="309201"/>
          </a:xfrm>
        </p:spPr>
        <p:txBody>
          <a:bodyPr/>
          <a:lstStyle/>
          <a:p>
            <a:r>
              <a:rPr lang="en-US" dirty="0"/>
              <a:t>Software Project Management       Dr. D </a:t>
            </a:r>
            <a:r>
              <a:rPr lang="en-US" dirty="0" err="1"/>
              <a:t>Evangelin</a:t>
            </a:r>
            <a:r>
              <a:rPr lang="en-US" dirty="0"/>
              <a:t> Geetha    Dept. of MCA     RIT</a:t>
            </a:r>
          </a:p>
        </p:txBody>
      </p:sp>
      <p:sp>
        <p:nvSpPr>
          <p:cNvPr id="7" name="Slide Number Placeholder 6"/>
          <p:cNvSpPr>
            <a:spLocks noGrp="1"/>
          </p:cNvSpPr>
          <p:nvPr>
            <p:ph type="sldNum" sz="quarter" idx="12"/>
          </p:nvPr>
        </p:nvSpPr>
        <p:spPr/>
        <p:txBody>
          <a:bodyPr/>
          <a:lstStyle/>
          <a:p>
            <a:fld id="{6D22F896-40B5-4ADD-8801-0D06FADFA095}" type="slidenum">
              <a:rPr lang="en-US" smtClean="0"/>
              <a:t>49</a:t>
            </a:fld>
            <a:endParaRPr lang="en-US" dirty="0"/>
          </a:p>
        </p:txBody>
      </p:sp>
    </p:spTree>
    <p:extLst>
      <p:ext uri="{BB962C8B-B14F-4D97-AF65-F5344CB8AC3E}">
        <p14:creationId xmlns:p14="http://schemas.microsoft.com/office/powerpoint/2010/main" val="5214268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Net present value</a:t>
            </a:r>
            <a:endParaRPr lang="en-IN" dirty="0"/>
          </a:p>
        </p:txBody>
      </p:sp>
      <p:sp>
        <p:nvSpPr>
          <p:cNvPr id="3" name="Content Placeholder 2"/>
          <p:cNvSpPr>
            <a:spLocks noGrp="1"/>
          </p:cNvSpPr>
          <p:nvPr>
            <p:ph sz="half" idx="1"/>
          </p:nvPr>
        </p:nvSpPr>
        <p:spPr>
          <a:xfrm>
            <a:off x="2727712" y="1260620"/>
            <a:ext cx="1440633" cy="499566"/>
          </a:xfrm>
        </p:spPr>
        <p:txBody>
          <a:bodyPr>
            <a:normAutofit fontScale="92500" lnSpcReduction="20000"/>
          </a:bodyPr>
          <a:lstStyle/>
          <a:p>
            <a:pPr marL="0" indent="0">
              <a:buNone/>
            </a:pPr>
            <a:r>
              <a:rPr lang="en-GB" altLang="en-US" dirty="0"/>
              <a:t>Project 2</a:t>
            </a:r>
          </a:p>
        </p:txBody>
      </p:sp>
      <p:graphicFrame>
        <p:nvGraphicFramePr>
          <p:cNvPr id="5" name="Content Placeholder 4"/>
          <p:cNvGraphicFramePr>
            <a:graphicFrameLocks noGrp="1"/>
          </p:cNvGraphicFramePr>
          <p:nvPr>
            <p:ph sz="half" idx="2"/>
          </p:nvPr>
        </p:nvGraphicFramePr>
        <p:xfrm>
          <a:off x="1137148" y="1969904"/>
          <a:ext cx="7377849" cy="3901440"/>
        </p:xfrm>
        <a:graphic>
          <a:graphicData uri="http://schemas.openxmlformats.org/drawingml/2006/table">
            <a:tbl>
              <a:tblPr firstRow="1" bandRow="1">
                <a:tableStyleId>{5C22544A-7EE6-4342-B048-85BDC9FD1C3A}</a:tableStyleId>
              </a:tblPr>
              <a:tblGrid>
                <a:gridCol w="1026694">
                  <a:extLst>
                    <a:ext uri="{9D8B030D-6E8A-4147-A177-3AD203B41FA5}">
                      <a16:colId xmlns:a16="http://schemas.microsoft.com/office/drawing/2014/main" val="2248303887"/>
                    </a:ext>
                  </a:extLst>
                </a:gridCol>
                <a:gridCol w="2009992">
                  <a:extLst>
                    <a:ext uri="{9D8B030D-6E8A-4147-A177-3AD203B41FA5}">
                      <a16:colId xmlns:a16="http://schemas.microsoft.com/office/drawing/2014/main" val="2023753746"/>
                    </a:ext>
                  </a:extLst>
                </a:gridCol>
                <a:gridCol w="2318863">
                  <a:extLst>
                    <a:ext uri="{9D8B030D-6E8A-4147-A177-3AD203B41FA5}">
                      <a16:colId xmlns:a16="http://schemas.microsoft.com/office/drawing/2014/main" val="4244003138"/>
                    </a:ext>
                  </a:extLst>
                </a:gridCol>
                <a:gridCol w="2022300">
                  <a:extLst>
                    <a:ext uri="{9D8B030D-6E8A-4147-A177-3AD203B41FA5}">
                      <a16:colId xmlns:a16="http://schemas.microsoft.com/office/drawing/2014/main" val="387657477"/>
                    </a:ext>
                  </a:extLst>
                </a:gridCol>
              </a:tblGrid>
              <a:tr h="370840">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GB" altLang="en-US" sz="2000" b="0" i="0" u="none" strike="noStrike" cap="none" normalizeH="0" baseline="0" dirty="0">
                          <a:ln>
                            <a:noFill/>
                          </a:ln>
                          <a:solidFill>
                            <a:schemeClr val="bg2"/>
                          </a:solidFill>
                          <a:effectLst/>
                          <a:latin typeface="Tahoma" panose="020B0604030504040204" pitchFamily="34" charset="0"/>
                          <a:ea typeface="Tahoma" panose="020B0604030504040204" pitchFamily="34" charset="0"/>
                          <a:cs typeface="Tahoma" panose="020B0604030504040204" pitchFamily="34" charset="0"/>
                        </a:rPr>
                        <a:t>Year</a:t>
                      </a:r>
                    </a:p>
                  </a:txBody>
                  <a:tcPr horzOverflow="overflow"/>
                </a:tc>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GB" altLang="en-US" sz="2000" b="0" i="0" u="none" strike="noStrike" cap="none" normalizeH="0" baseline="0" dirty="0">
                          <a:ln>
                            <a:noFill/>
                          </a:ln>
                          <a:solidFill>
                            <a:schemeClr val="bg2"/>
                          </a:solidFill>
                          <a:effectLst/>
                          <a:latin typeface="Tahoma" panose="020B0604030504040204" pitchFamily="34" charset="0"/>
                          <a:ea typeface="Tahoma" panose="020B0604030504040204" pitchFamily="34" charset="0"/>
                          <a:cs typeface="Tahoma" panose="020B0604030504040204" pitchFamily="34" charset="0"/>
                        </a:rPr>
                        <a:t>Cash-flow</a:t>
                      </a:r>
                    </a:p>
                  </a:txBody>
                  <a:tcPr horzOverflow="overflow"/>
                </a:tc>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GB" altLang="en-US" sz="2000" b="0" i="0" u="none" strike="noStrike" cap="none" normalizeH="0" baseline="0" dirty="0">
                          <a:ln>
                            <a:noFill/>
                          </a:ln>
                          <a:solidFill>
                            <a:schemeClr val="bg2"/>
                          </a:solidFill>
                          <a:effectLst/>
                          <a:latin typeface="Tahoma" panose="020B0604030504040204" pitchFamily="34" charset="0"/>
                          <a:ea typeface="Tahoma" panose="020B0604030504040204" pitchFamily="34" charset="0"/>
                          <a:cs typeface="Tahoma" panose="020B0604030504040204" pitchFamily="34" charset="0"/>
                        </a:rPr>
                        <a:t>Discount Factor</a:t>
                      </a:r>
                    </a:p>
                  </a:txBody>
                  <a:tcPr horzOverflow="overflow"/>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defRPr/>
                      </a:pPr>
                      <a:r>
                        <a:rPr kumimoji="0" lang="en-GB" altLang="en-US" sz="2000" b="0" i="0" u="none" strike="noStrike" cap="none" normalizeH="0" baseline="0" dirty="0">
                          <a:ln>
                            <a:noFill/>
                          </a:ln>
                          <a:solidFill>
                            <a:schemeClr val="tx1"/>
                          </a:solidFill>
                          <a:effectLst/>
                          <a:latin typeface="Tahoma" panose="020B0604030504040204" pitchFamily="34" charset="0"/>
                        </a:rPr>
                        <a:t>Discounted cash flow</a:t>
                      </a:r>
                    </a:p>
                  </a:txBody>
                  <a:tcPr horzOverflow="overflow"/>
                </a:tc>
                <a:extLst>
                  <a:ext uri="{0D108BD9-81ED-4DB2-BD59-A6C34878D82A}">
                    <a16:rowId xmlns:a16="http://schemas.microsoft.com/office/drawing/2014/main" val="2686042913"/>
                  </a:ext>
                </a:extLst>
              </a:tr>
              <a:tr h="370840">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altLang="en-US" sz="200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0</a:t>
                      </a:r>
                    </a:p>
                  </a:txBody>
                  <a:tcPr horzOverflow="overflow"/>
                </a:tc>
                <a:tc>
                  <a:txBody>
                    <a:bodyPr/>
                    <a:lstStyle/>
                    <a:p>
                      <a:pPr algn="r"/>
                      <a:r>
                        <a:rPr lang="en-US" sz="2000" dirty="0">
                          <a:latin typeface="Tahoma" panose="020B0604030504040204" pitchFamily="34" charset="0"/>
                          <a:ea typeface="Tahoma" panose="020B0604030504040204" pitchFamily="34" charset="0"/>
                          <a:cs typeface="Tahoma" panose="020B0604030504040204" pitchFamily="34" charset="0"/>
                        </a:rPr>
                        <a:t>-10,00,000</a:t>
                      </a:r>
                    </a:p>
                  </a:txBody>
                  <a:tcPr/>
                </a:tc>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GB" altLang="en-US" sz="2400" b="0" i="0" u="none" strike="noStrike" cap="none" normalizeH="0" baseline="0" dirty="0">
                          <a:ln>
                            <a:noFill/>
                          </a:ln>
                          <a:solidFill>
                            <a:schemeClr val="tx1"/>
                          </a:solidFill>
                          <a:effectLst/>
                          <a:latin typeface="Tahoma" panose="020B0604030504040204" pitchFamily="34" charset="0"/>
                        </a:rPr>
                        <a:t>1.0000</a:t>
                      </a:r>
                    </a:p>
                  </a:txBody>
                  <a:tcPr marL="110731" marR="110731" horzOverflow="overflow"/>
                </a:tc>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GB" altLang="en-US" sz="2000" b="0" i="0" u="none" strike="noStrike" cap="none" normalizeH="0" baseline="0" dirty="0">
                          <a:ln>
                            <a:noFill/>
                          </a:ln>
                          <a:solidFill>
                            <a:srgbClr val="0000CC"/>
                          </a:solidFill>
                          <a:effectLst/>
                          <a:latin typeface="Tahoma" panose="020B0604030504040204" pitchFamily="34" charset="0"/>
                          <a:ea typeface="Tahoma" panose="020B0604030504040204" pitchFamily="34" charset="0"/>
                          <a:cs typeface="Tahoma" panose="020B0604030504040204" pitchFamily="34" charset="0"/>
                        </a:rPr>
                        <a:t>-10,00,000</a:t>
                      </a:r>
                    </a:p>
                  </a:txBody>
                  <a:tcPr horzOverflow="overflow"/>
                </a:tc>
                <a:extLst>
                  <a:ext uri="{0D108BD9-81ED-4DB2-BD59-A6C34878D82A}">
                    <a16:rowId xmlns:a16="http://schemas.microsoft.com/office/drawing/2014/main" val="2715192214"/>
                  </a:ext>
                </a:extLst>
              </a:tr>
              <a:tr h="420343">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altLang="en-US" sz="200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1</a:t>
                      </a:r>
                    </a:p>
                  </a:txBody>
                  <a:tcPr horzOverflow="overflow"/>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2000" dirty="0">
                          <a:latin typeface="Tahoma" panose="020B0604030504040204" pitchFamily="34" charset="0"/>
                          <a:ea typeface="Tahoma" panose="020B0604030504040204" pitchFamily="34" charset="0"/>
                          <a:cs typeface="Tahoma" panose="020B0604030504040204" pitchFamily="34" charset="0"/>
                        </a:rPr>
                        <a:t>2,00,000</a:t>
                      </a:r>
                    </a:p>
                  </a:txBody>
                  <a:tcPr/>
                </a:tc>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GB" altLang="en-US" sz="2400" b="0" i="0" u="none" strike="noStrike" cap="none" normalizeH="0" baseline="0" dirty="0">
                          <a:ln>
                            <a:noFill/>
                          </a:ln>
                          <a:solidFill>
                            <a:schemeClr val="tx1"/>
                          </a:solidFill>
                          <a:effectLst/>
                          <a:latin typeface="Tahoma" panose="020B0604030504040204" pitchFamily="34" charset="0"/>
                        </a:rPr>
                        <a:t>0.9091</a:t>
                      </a:r>
                    </a:p>
                  </a:txBody>
                  <a:tcPr marL="110731" marR="110731" horzOverflow="overflow"/>
                </a:tc>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GB" altLang="en-US" sz="2000" b="0" i="0" u="none" strike="noStrike" cap="none" normalizeH="0" baseline="0" dirty="0">
                          <a:ln>
                            <a:noFill/>
                          </a:ln>
                          <a:solidFill>
                            <a:srgbClr val="0000CC"/>
                          </a:solidFill>
                          <a:effectLst/>
                          <a:latin typeface="Tahoma" panose="020B0604030504040204" pitchFamily="34" charset="0"/>
                          <a:ea typeface="Tahoma" panose="020B0604030504040204" pitchFamily="34" charset="0"/>
                          <a:cs typeface="Tahoma" panose="020B0604030504040204" pitchFamily="34" charset="0"/>
                        </a:rPr>
                        <a:t>1,81,820</a:t>
                      </a:r>
                    </a:p>
                  </a:txBody>
                  <a:tcPr horzOverflow="overflow"/>
                </a:tc>
                <a:extLst>
                  <a:ext uri="{0D108BD9-81ED-4DB2-BD59-A6C34878D82A}">
                    <a16:rowId xmlns:a16="http://schemas.microsoft.com/office/drawing/2014/main" val="604836554"/>
                  </a:ext>
                </a:extLst>
              </a:tr>
              <a:tr h="370840">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altLang="en-US" sz="200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2</a:t>
                      </a:r>
                    </a:p>
                  </a:txBody>
                  <a:tcPr horzOverflow="overflow"/>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2000">
                          <a:latin typeface="Tahoma" panose="020B0604030504040204" pitchFamily="34" charset="0"/>
                          <a:ea typeface="Tahoma" panose="020B0604030504040204" pitchFamily="34" charset="0"/>
                          <a:cs typeface="Tahoma" panose="020B0604030504040204" pitchFamily="34" charset="0"/>
                        </a:rPr>
                        <a:t>2,00,000</a:t>
                      </a:r>
                      <a:endParaRPr lang="en-US" sz="2000" dirty="0">
                        <a:latin typeface="Tahoma" panose="020B0604030504040204" pitchFamily="34" charset="0"/>
                        <a:ea typeface="Tahoma" panose="020B0604030504040204" pitchFamily="34" charset="0"/>
                        <a:cs typeface="Tahoma" panose="020B0604030504040204" pitchFamily="34" charset="0"/>
                      </a:endParaRPr>
                    </a:p>
                  </a:txBody>
                  <a:tcPr/>
                </a:tc>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GB" altLang="en-US" sz="2400" b="0" i="0" u="none" strike="noStrike" cap="none" normalizeH="0" baseline="0" dirty="0">
                          <a:ln>
                            <a:noFill/>
                          </a:ln>
                          <a:solidFill>
                            <a:schemeClr val="tx1"/>
                          </a:solidFill>
                          <a:effectLst/>
                          <a:latin typeface="Tahoma" panose="020B0604030504040204" pitchFamily="34" charset="0"/>
                        </a:rPr>
                        <a:t>0.8264</a:t>
                      </a:r>
                    </a:p>
                  </a:txBody>
                  <a:tcPr marL="110731" marR="110731" horzOverflow="overflow"/>
                </a:tc>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IN" sz="2000" b="0" i="0" u="none" strike="noStrike" kern="1200" cap="none" normalizeH="0" baseline="0" dirty="0">
                          <a:ln>
                            <a:noFill/>
                          </a:ln>
                          <a:solidFill>
                            <a:srgbClr val="0000CC"/>
                          </a:solidFill>
                          <a:effectLst/>
                          <a:latin typeface="Tahoma" panose="020B0604030504040204" pitchFamily="34" charset="0"/>
                          <a:ea typeface="Tahoma" panose="020B0604030504040204" pitchFamily="34" charset="0"/>
                          <a:cs typeface="Tahoma" panose="020B0604030504040204" pitchFamily="34" charset="0"/>
                        </a:rPr>
                        <a:t>1,65,280</a:t>
                      </a:r>
                    </a:p>
                  </a:txBody>
                  <a:tcPr marL="7620" marR="7620" marT="7620" marB="0" anchor="b"/>
                </a:tc>
                <a:extLst>
                  <a:ext uri="{0D108BD9-81ED-4DB2-BD59-A6C34878D82A}">
                    <a16:rowId xmlns:a16="http://schemas.microsoft.com/office/drawing/2014/main" val="3098725958"/>
                  </a:ext>
                </a:extLst>
              </a:tr>
              <a:tr h="370840">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altLang="en-US" sz="200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3</a:t>
                      </a:r>
                    </a:p>
                  </a:txBody>
                  <a:tcPr horzOverflow="overflow"/>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2000" dirty="0">
                          <a:latin typeface="Tahoma" panose="020B0604030504040204" pitchFamily="34" charset="0"/>
                          <a:ea typeface="Tahoma" panose="020B0604030504040204" pitchFamily="34" charset="0"/>
                          <a:cs typeface="Tahoma" panose="020B0604030504040204" pitchFamily="34" charset="0"/>
                        </a:rPr>
                        <a:t>2,00,000</a:t>
                      </a:r>
                    </a:p>
                  </a:txBody>
                  <a:tcPr/>
                </a:tc>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GB" altLang="en-US" sz="2400" b="0" i="0" u="none" strike="noStrike" cap="none" normalizeH="0" baseline="0" dirty="0">
                          <a:ln>
                            <a:noFill/>
                          </a:ln>
                          <a:solidFill>
                            <a:schemeClr val="tx1"/>
                          </a:solidFill>
                          <a:effectLst/>
                          <a:latin typeface="Tahoma" panose="020B0604030504040204" pitchFamily="34" charset="0"/>
                        </a:rPr>
                        <a:t>0.7513</a:t>
                      </a:r>
                    </a:p>
                  </a:txBody>
                  <a:tcPr marL="110731" marR="110731" horzOverflow="overflow"/>
                </a:tc>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IN" sz="2000" b="0" i="0" u="none" strike="noStrike" kern="1200" cap="none" normalizeH="0" baseline="0" dirty="0">
                          <a:ln>
                            <a:noFill/>
                          </a:ln>
                          <a:solidFill>
                            <a:srgbClr val="0000CC"/>
                          </a:solidFill>
                          <a:effectLst/>
                          <a:latin typeface="Tahoma" panose="020B0604030504040204" pitchFamily="34" charset="0"/>
                          <a:ea typeface="Tahoma" panose="020B0604030504040204" pitchFamily="34" charset="0"/>
                          <a:cs typeface="Tahoma" panose="020B0604030504040204" pitchFamily="34" charset="0"/>
                        </a:rPr>
                        <a:t>1,50,260</a:t>
                      </a:r>
                    </a:p>
                  </a:txBody>
                  <a:tcPr marL="7620" marR="7620" marT="7620" marB="0" anchor="b"/>
                </a:tc>
                <a:extLst>
                  <a:ext uri="{0D108BD9-81ED-4DB2-BD59-A6C34878D82A}">
                    <a16:rowId xmlns:a16="http://schemas.microsoft.com/office/drawing/2014/main" val="929871789"/>
                  </a:ext>
                </a:extLst>
              </a:tr>
              <a:tr h="370840">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altLang="en-US" sz="200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4</a:t>
                      </a:r>
                    </a:p>
                  </a:txBody>
                  <a:tcPr horzOverflow="overflow"/>
                </a:tc>
                <a:tc>
                  <a:txBody>
                    <a:bodyPr/>
                    <a:lstStyle/>
                    <a:p>
                      <a:pPr algn="r"/>
                      <a:r>
                        <a:rPr lang="en-US" sz="2000" dirty="0">
                          <a:latin typeface="Tahoma" panose="020B0604030504040204" pitchFamily="34" charset="0"/>
                          <a:ea typeface="Tahoma" panose="020B0604030504040204" pitchFamily="34" charset="0"/>
                          <a:cs typeface="Tahoma" panose="020B0604030504040204" pitchFamily="34" charset="0"/>
                        </a:rPr>
                        <a:t>2,00,000</a:t>
                      </a:r>
                    </a:p>
                  </a:txBody>
                  <a:tcPr/>
                </a:tc>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GB" altLang="en-US" sz="2400" b="0" i="0" u="none" strike="noStrike" cap="none" normalizeH="0" baseline="0" dirty="0">
                          <a:ln>
                            <a:noFill/>
                          </a:ln>
                          <a:solidFill>
                            <a:schemeClr val="tx1"/>
                          </a:solidFill>
                          <a:effectLst/>
                          <a:latin typeface="Tahoma" panose="020B0604030504040204" pitchFamily="34" charset="0"/>
                        </a:rPr>
                        <a:t>0.6830</a:t>
                      </a:r>
                    </a:p>
                  </a:txBody>
                  <a:tcPr marL="110731" marR="110731" horzOverflow="overflow"/>
                </a:tc>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IN" sz="2000" b="0" i="0" u="none" strike="noStrike" kern="1200" cap="none" normalizeH="0" baseline="0" dirty="0">
                          <a:ln>
                            <a:noFill/>
                          </a:ln>
                          <a:solidFill>
                            <a:srgbClr val="0000CC"/>
                          </a:solidFill>
                          <a:effectLst/>
                          <a:latin typeface="Tahoma" panose="020B0604030504040204" pitchFamily="34" charset="0"/>
                          <a:ea typeface="Tahoma" panose="020B0604030504040204" pitchFamily="34" charset="0"/>
                          <a:cs typeface="Tahoma" panose="020B0604030504040204" pitchFamily="34" charset="0"/>
                        </a:rPr>
                        <a:t>1,36,600</a:t>
                      </a:r>
                    </a:p>
                  </a:txBody>
                  <a:tcPr marL="7620" marR="7620" marT="7620" marB="0" anchor="b"/>
                </a:tc>
                <a:extLst>
                  <a:ext uri="{0D108BD9-81ED-4DB2-BD59-A6C34878D82A}">
                    <a16:rowId xmlns:a16="http://schemas.microsoft.com/office/drawing/2014/main" val="292312927"/>
                  </a:ext>
                </a:extLst>
              </a:tr>
              <a:tr h="370840">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altLang="en-US" sz="200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5</a:t>
                      </a:r>
                    </a:p>
                  </a:txBody>
                  <a:tcPr anchor="ctr" horzOverflow="overflow"/>
                </a:tc>
                <a:tc>
                  <a:txBody>
                    <a:bodyPr/>
                    <a:lstStyle/>
                    <a:p>
                      <a:pPr algn="r"/>
                      <a:r>
                        <a:rPr lang="en-US" sz="2000" dirty="0">
                          <a:latin typeface="Tahoma" panose="020B0604030504040204" pitchFamily="34" charset="0"/>
                          <a:ea typeface="Tahoma" panose="020B0604030504040204" pitchFamily="34" charset="0"/>
                          <a:cs typeface="Tahoma" panose="020B0604030504040204" pitchFamily="34" charset="0"/>
                        </a:rPr>
                        <a:t>3,00,000</a:t>
                      </a:r>
                    </a:p>
                  </a:txBody>
                  <a:tcPr/>
                </a:tc>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GB" altLang="en-US" sz="2400" b="0" i="0" u="none" strike="noStrike" cap="none" normalizeH="0" baseline="0" dirty="0">
                          <a:ln>
                            <a:noFill/>
                          </a:ln>
                          <a:solidFill>
                            <a:schemeClr val="tx1"/>
                          </a:solidFill>
                          <a:effectLst/>
                          <a:latin typeface="Tahoma" panose="020B0604030504040204" pitchFamily="34" charset="0"/>
                        </a:rPr>
                        <a:t>0.6209</a:t>
                      </a:r>
                    </a:p>
                  </a:txBody>
                  <a:tcPr marL="110731" marR="110731" anchor="ctr" horzOverflow="overflow"/>
                </a:tc>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IN" sz="2000" b="0" i="0" u="none" strike="noStrike" kern="1200" cap="none" normalizeH="0" baseline="0" dirty="0">
                          <a:ln>
                            <a:noFill/>
                          </a:ln>
                          <a:solidFill>
                            <a:srgbClr val="0000CC"/>
                          </a:solidFill>
                          <a:effectLst/>
                          <a:latin typeface="Tahoma" panose="020B0604030504040204" pitchFamily="34" charset="0"/>
                          <a:ea typeface="Tahoma" panose="020B0604030504040204" pitchFamily="34" charset="0"/>
                          <a:cs typeface="Tahoma" panose="020B0604030504040204" pitchFamily="34" charset="0"/>
                        </a:rPr>
                        <a:t>1,86,270</a:t>
                      </a:r>
                    </a:p>
                  </a:txBody>
                  <a:tcPr marL="7620" marR="7620" marT="7620" marB="0" anchor="b"/>
                </a:tc>
                <a:extLst>
                  <a:ext uri="{0D108BD9-81ED-4DB2-BD59-A6C34878D82A}">
                    <a16:rowId xmlns:a16="http://schemas.microsoft.com/office/drawing/2014/main" val="2077385687"/>
                  </a:ext>
                </a:extLst>
              </a:tr>
              <a:tr h="37084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GB" altLang="en-US" sz="200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endParaRPr>
                    </a:p>
                  </a:txBody>
                  <a:tcPr anchor="ctr" horzOverflow="overflow"/>
                </a:tc>
                <a:tc>
                  <a:txBody>
                    <a:bodyPr/>
                    <a:lstStyle/>
                    <a:p>
                      <a:pPr algn="r"/>
                      <a:endParaRPr lang="en-US" sz="2000" dirty="0">
                        <a:latin typeface="Tahoma" panose="020B0604030504040204" pitchFamily="34" charset="0"/>
                        <a:ea typeface="Tahoma" panose="020B0604030504040204" pitchFamily="34" charset="0"/>
                        <a:cs typeface="Tahoma" panose="020B0604030504040204" pitchFamily="34" charset="0"/>
                      </a:endParaRPr>
                    </a:p>
                  </a:txBody>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GB" altLang="en-US" sz="2400" b="0" i="0" u="none" strike="noStrike" cap="none" normalizeH="0" baseline="0" dirty="0">
                          <a:ln>
                            <a:noFill/>
                          </a:ln>
                          <a:solidFill>
                            <a:schemeClr val="tx1"/>
                          </a:solidFill>
                          <a:effectLst/>
                          <a:latin typeface="Tahoma" panose="020B0604030504040204" pitchFamily="34" charset="0"/>
                        </a:rPr>
                        <a:t>NPV</a:t>
                      </a:r>
                    </a:p>
                  </a:txBody>
                  <a:tcPr marL="110731" marR="110731" anchor="ctr" horzOverflow="overflow"/>
                </a:tc>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sz="2000" b="0" i="0" u="none" strike="noStrike" kern="1200" cap="none" normalizeH="0" baseline="0" dirty="0">
                          <a:ln>
                            <a:noFill/>
                          </a:ln>
                          <a:solidFill>
                            <a:srgbClr val="0000CC"/>
                          </a:solidFill>
                          <a:effectLst/>
                          <a:latin typeface="Tahoma" panose="020B0604030504040204" pitchFamily="34" charset="0"/>
                          <a:ea typeface="Tahoma" panose="020B0604030504040204" pitchFamily="34" charset="0"/>
                          <a:cs typeface="Tahoma" panose="020B0604030504040204" pitchFamily="34" charset="0"/>
                        </a:rPr>
                        <a:t>-1,79,770</a:t>
                      </a:r>
                      <a:endParaRPr kumimoji="0" lang="en-IN" sz="2000" b="0" i="0" u="none" strike="noStrike" kern="1200" cap="none" normalizeH="0" baseline="0" dirty="0">
                        <a:ln>
                          <a:noFill/>
                        </a:ln>
                        <a:solidFill>
                          <a:srgbClr val="0000CC"/>
                        </a:solidFill>
                        <a:effectLst/>
                        <a:latin typeface="Tahoma" panose="020B0604030504040204" pitchFamily="34" charset="0"/>
                        <a:ea typeface="Tahoma" panose="020B0604030504040204" pitchFamily="34" charset="0"/>
                        <a:cs typeface="Tahoma" panose="020B0604030504040204" pitchFamily="34" charset="0"/>
                      </a:endParaRPr>
                    </a:p>
                  </a:txBody>
                  <a:tcPr marL="7620" marR="7620" marT="7620" marB="0" anchor="b"/>
                </a:tc>
                <a:extLst>
                  <a:ext uri="{0D108BD9-81ED-4DB2-BD59-A6C34878D82A}">
                    <a16:rowId xmlns:a16="http://schemas.microsoft.com/office/drawing/2014/main" val="460354135"/>
                  </a:ext>
                </a:extLst>
              </a:tr>
            </a:tbl>
          </a:graphicData>
        </a:graphic>
      </p:graphicFrame>
      <p:sp>
        <p:nvSpPr>
          <p:cNvPr id="4" name="Date Placeholder 3"/>
          <p:cNvSpPr>
            <a:spLocks noGrp="1"/>
          </p:cNvSpPr>
          <p:nvPr>
            <p:ph type="dt" sz="half" idx="10"/>
          </p:nvPr>
        </p:nvSpPr>
        <p:spPr>
          <a:xfrm>
            <a:off x="271849" y="5627533"/>
            <a:ext cx="947026" cy="309201"/>
          </a:xfrm>
        </p:spPr>
        <p:txBody>
          <a:bodyPr/>
          <a:lstStyle/>
          <a:p>
            <a:fld id="{E9376695-FE31-4FE3-8789-583C0374522F}" type="datetime3">
              <a:rPr lang="en-US" smtClean="0"/>
              <a:t>28 November 2023</a:t>
            </a:fld>
            <a:endParaRPr lang="en-US" dirty="0"/>
          </a:p>
        </p:txBody>
      </p:sp>
      <p:sp>
        <p:nvSpPr>
          <p:cNvPr id="6" name="Footer Placeholder 5"/>
          <p:cNvSpPr>
            <a:spLocks noGrp="1"/>
          </p:cNvSpPr>
          <p:nvPr>
            <p:ph type="ftr" sz="quarter" idx="11"/>
          </p:nvPr>
        </p:nvSpPr>
        <p:spPr>
          <a:xfrm>
            <a:off x="7234542" y="5898510"/>
            <a:ext cx="4545567" cy="309201"/>
          </a:xfrm>
        </p:spPr>
        <p:txBody>
          <a:bodyPr/>
          <a:lstStyle/>
          <a:p>
            <a:r>
              <a:rPr lang="en-US" dirty="0"/>
              <a:t>Software Project Management       Dr. D </a:t>
            </a:r>
            <a:r>
              <a:rPr lang="en-US" dirty="0" err="1"/>
              <a:t>Evangelin</a:t>
            </a:r>
            <a:r>
              <a:rPr lang="en-US" dirty="0"/>
              <a:t> Geetha    Dept. of MCA     RIT</a:t>
            </a:r>
          </a:p>
        </p:txBody>
      </p:sp>
      <p:sp>
        <p:nvSpPr>
          <p:cNvPr id="7" name="Slide Number Placeholder 6"/>
          <p:cNvSpPr>
            <a:spLocks noGrp="1"/>
          </p:cNvSpPr>
          <p:nvPr>
            <p:ph type="sldNum" sz="quarter" idx="12"/>
          </p:nvPr>
        </p:nvSpPr>
        <p:spPr/>
        <p:txBody>
          <a:bodyPr/>
          <a:lstStyle/>
          <a:p>
            <a:fld id="{6D22F896-40B5-4ADD-8801-0D06FADFA095}" type="slidenum">
              <a:rPr lang="en-US" smtClean="0"/>
              <a:t>50</a:t>
            </a:fld>
            <a:endParaRPr lang="en-US" dirty="0"/>
          </a:p>
        </p:txBody>
      </p:sp>
    </p:spTree>
    <p:extLst>
      <p:ext uri="{BB962C8B-B14F-4D97-AF65-F5344CB8AC3E}">
        <p14:creationId xmlns:p14="http://schemas.microsoft.com/office/powerpoint/2010/main" val="79708798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Net present value</a:t>
            </a:r>
            <a:endParaRPr lang="en-IN" dirty="0"/>
          </a:p>
        </p:txBody>
      </p:sp>
      <p:sp>
        <p:nvSpPr>
          <p:cNvPr id="3" name="Content Placeholder 2"/>
          <p:cNvSpPr>
            <a:spLocks noGrp="1"/>
          </p:cNvSpPr>
          <p:nvPr>
            <p:ph sz="half" idx="1"/>
          </p:nvPr>
        </p:nvSpPr>
        <p:spPr>
          <a:xfrm>
            <a:off x="2727712" y="1260620"/>
            <a:ext cx="1440633" cy="499566"/>
          </a:xfrm>
        </p:spPr>
        <p:txBody>
          <a:bodyPr>
            <a:normAutofit fontScale="92500" lnSpcReduction="20000"/>
          </a:bodyPr>
          <a:lstStyle/>
          <a:p>
            <a:pPr marL="0" indent="0">
              <a:buNone/>
            </a:pPr>
            <a:r>
              <a:rPr lang="en-GB" altLang="en-US" dirty="0"/>
              <a:t>Project 3</a:t>
            </a:r>
          </a:p>
        </p:txBody>
      </p:sp>
      <p:graphicFrame>
        <p:nvGraphicFramePr>
          <p:cNvPr id="5" name="Content Placeholder 4"/>
          <p:cNvGraphicFramePr>
            <a:graphicFrameLocks noGrp="1"/>
          </p:cNvGraphicFramePr>
          <p:nvPr>
            <p:ph sz="half" idx="2"/>
          </p:nvPr>
        </p:nvGraphicFramePr>
        <p:xfrm>
          <a:off x="1137148" y="1969904"/>
          <a:ext cx="7377849" cy="3901440"/>
        </p:xfrm>
        <a:graphic>
          <a:graphicData uri="http://schemas.openxmlformats.org/drawingml/2006/table">
            <a:tbl>
              <a:tblPr firstRow="1" bandRow="1">
                <a:tableStyleId>{5C22544A-7EE6-4342-B048-85BDC9FD1C3A}</a:tableStyleId>
              </a:tblPr>
              <a:tblGrid>
                <a:gridCol w="1026694">
                  <a:extLst>
                    <a:ext uri="{9D8B030D-6E8A-4147-A177-3AD203B41FA5}">
                      <a16:colId xmlns:a16="http://schemas.microsoft.com/office/drawing/2014/main" val="2248303887"/>
                    </a:ext>
                  </a:extLst>
                </a:gridCol>
                <a:gridCol w="2009992">
                  <a:extLst>
                    <a:ext uri="{9D8B030D-6E8A-4147-A177-3AD203B41FA5}">
                      <a16:colId xmlns:a16="http://schemas.microsoft.com/office/drawing/2014/main" val="2023753746"/>
                    </a:ext>
                  </a:extLst>
                </a:gridCol>
                <a:gridCol w="2318863">
                  <a:extLst>
                    <a:ext uri="{9D8B030D-6E8A-4147-A177-3AD203B41FA5}">
                      <a16:colId xmlns:a16="http://schemas.microsoft.com/office/drawing/2014/main" val="4244003138"/>
                    </a:ext>
                  </a:extLst>
                </a:gridCol>
                <a:gridCol w="2022300">
                  <a:extLst>
                    <a:ext uri="{9D8B030D-6E8A-4147-A177-3AD203B41FA5}">
                      <a16:colId xmlns:a16="http://schemas.microsoft.com/office/drawing/2014/main" val="387657477"/>
                    </a:ext>
                  </a:extLst>
                </a:gridCol>
              </a:tblGrid>
              <a:tr h="370840">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GB" altLang="en-US" sz="2000" b="0" i="0" u="none" strike="noStrike" cap="none" normalizeH="0" baseline="0" dirty="0">
                          <a:ln>
                            <a:noFill/>
                          </a:ln>
                          <a:solidFill>
                            <a:schemeClr val="bg2"/>
                          </a:solidFill>
                          <a:effectLst/>
                          <a:latin typeface="Tahoma" panose="020B0604030504040204" pitchFamily="34" charset="0"/>
                          <a:ea typeface="Tahoma" panose="020B0604030504040204" pitchFamily="34" charset="0"/>
                          <a:cs typeface="Tahoma" panose="020B0604030504040204" pitchFamily="34" charset="0"/>
                        </a:rPr>
                        <a:t>Year</a:t>
                      </a:r>
                    </a:p>
                  </a:txBody>
                  <a:tcPr horzOverflow="overflow"/>
                </a:tc>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GB" altLang="en-US" sz="2000" b="0" i="0" u="none" strike="noStrike" cap="none" normalizeH="0" baseline="0" dirty="0">
                          <a:ln>
                            <a:noFill/>
                          </a:ln>
                          <a:solidFill>
                            <a:schemeClr val="bg2"/>
                          </a:solidFill>
                          <a:effectLst/>
                          <a:latin typeface="Tahoma" panose="020B0604030504040204" pitchFamily="34" charset="0"/>
                          <a:ea typeface="Tahoma" panose="020B0604030504040204" pitchFamily="34" charset="0"/>
                          <a:cs typeface="Tahoma" panose="020B0604030504040204" pitchFamily="34" charset="0"/>
                        </a:rPr>
                        <a:t>Cash-flow</a:t>
                      </a:r>
                    </a:p>
                  </a:txBody>
                  <a:tcPr horzOverflow="overflow"/>
                </a:tc>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GB" altLang="en-US" sz="2000" b="0" i="0" u="none" strike="noStrike" cap="none" normalizeH="0" baseline="0" dirty="0">
                          <a:ln>
                            <a:noFill/>
                          </a:ln>
                          <a:solidFill>
                            <a:schemeClr val="bg2"/>
                          </a:solidFill>
                          <a:effectLst/>
                          <a:latin typeface="Tahoma" panose="020B0604030504040204" pitchFamily="34" charset="0"/>
                          <a:ea typeface="Tahoma" panose="020B0604030504040204" pitchFamily="34" charset="0"/>
                          <a:cs typeface="Tahoma" panose="020B0604030504040204" pitchFamily="34" charset="0"/>
                        </a:rPr>
                        <a:t>Discount Factor</a:t>
                      </a:r>
                    </a:p>
                  </a:txBody>
                  <a:tcPr horzOverflow="overflow"/>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defRPr/>
                      </a:pPr>
                      <a:r>
                        <a:rPr kumimoji="0" lang="en-GB" altLang="en-US" sz="2000" b="0" i="0" u="none" strike="noStrike" cap="none" normalizeH="0" baseline="0" dirty="0">
                          <a:ln>
                            <a:noFill/>
                          </a:ln>
                          <a:solidFill>
                            <a:schemeClr val="bg1"/>
                          </a:solidFill>
                          <a:effectLst/>
                          <a:latin typeface="Tahoma" panose="020B0604030504040204" pitchFamily="34" charset="0"/>
                        </a:rPr>
                        <a:t>Discounted cash flow</a:t>
                      </a:r>
                    </a:p>
                  </a:txBody>
                  <a:tcPr horzOverflow="overflow"/>
                </a:tc>
                <a:extLst>
                  <a:ext uri="{0D108BD9-81ED-4DB2-BD59-A6C34878D82A}">
                    <a16:rowId xmlns:a16="http://schemas.microsoft.com/office/drawing/2014/main" val="2686042913"/>
                  </a:ext>
                </a:extLst>
              </a:tr>
              <a:tr h="370840">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altLang="en-US" sz="200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0</a:t>
                      </a:r>
                    </a:p>
                  </a:txBody>
                  <a:tcPr horzOverflow="overflow"/>
                </a:tc>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sz="2000" b="0" i="0" u="none" strike="noStrike" kern="1200" cap="none" normalizeH="0" baseline="0" dirty="0">
                          <a:ln>
                            <a:noFill/>
                          </a:ln>
                          <a:solidFill>
                            <a:schemeClr val="tx1"/>
                          </a:solidFill>
                          <a:effectLst/>
                          <a:latin typeface="Tahoma" panose="020B0604030504040204" pitchFamily="34" charset="0"/>
                          <a:ea typeface="+mn-ea"/>
                          <a:cs typeface="+mn-cs"/>
                        </a:rPr>
                        <a:t>-1,00,000</a:t>
                      </a:r>
                    </a:p>
                  </a:txBody>
                  <a:tcPr/>
                </a:tc>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GB" altLang="en-US" sz="2400" b="0" i="0" u="none" strike="noStrike" cap="none" normalizeH="0" baseline="0" dirty="0">
                          <a:ln>
                            <a:noFill/>
                          </a:ln>
                          <a:solidFill>
                            <a:schemeClr val="tx1"/>
                          </a:solidFill>
                          <a:effectLst/>
                          <a:latin typeface="Tahoma" panose="020B0604030504040204" pitchFamily="34" charset="0"/>
                        </a:rPr>
                        <a:t>1.0000</a:t>
                      </a:r>
                    </a:p>
                  </a:txBody>
                  <a:tcPr marL="110731" marR="110731" horzOverflow="overflow"/>
                </a:tc>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endParaRPr kumimoji="0" lang="en-GB" altLang="en-US" sz="2000" b="0" i="0" u="none" strike="noStrike" cap="none" normalizeH="0" baseline="0" dirty="0">
                        <a:ln>
                          <a:noFill/>
                        </a:ln>
                        <a:solidFill>
                          <a:srgbClr val="0000CC"/>
                        </a:solidFill>
                        <a:effectLst/>
                        <a:latin typeface="Tahoma" panose="020B0604030504040204" pitchFamily="34" charset="0"/>
                        <a:ea typeface="Tahoma" panose="020B0604030504040204" pitchFamily="34" charset="0"/>
                        <a:cs typeface="Tahoma" panose="020B0604030504040204" pitchFamily="34" charset="0"/>
                      </a:endParaRPr>
                    </a:p>
                  </a:txBody>
                  <a:tcPr horzOverflow="overflow"/>
                </a:tc>
                <a:extLst>
                  <a:ext uri="{0D108BD9-81ED-4DB2-BD59-A6C34878D82A}">
                    <a16:rowId xmlns:a16="http://schemas.microsoft.com/office/drawing/2014/main" val="2715192214"/>
                  </a:ext>
                </a:extLst>
              </a:tr>
              <a:tr h="420343">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altLang="en-US" sz="200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1</a:t>
                      </a:r>
                    </a:p>
                  </a:txBody>
                  <a:tcPr horzOverflow="overflow"/>
                </a:tc>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sz="2000" b="0" i="0" u="none" strike="noStrike" kern="1200" cap="none" normalizeH="0" baseline="0" dirty="0">
                          <a:ln>
                            <a:noFill/>
                          </a:ln>
                          <a:solidFill>
                            <a:schemeClr val="tx1"/>
                          </a:solidFill>
                          <a:effectLst/>
                          <a:latin typeface="Tahoma" panose="020B0604030504040204" pitchFamily="34" charset="0"/>
                          <a:ea typeface="+mn-ea"/>
                          <a:cs typeface="+mn-cs"/>
                        </a:rPr>
                        <a:t>30,000</a:t>
                      </a:r>
                    </a:p>
                  </a:txBody>
                  <a:tcPr/>
                </a:tc>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GB" altLang="en-US" sz="2400" b="0" i="0" u="none" strike="noStrike" cap="none" normalizeH="0" baseline="0" dirty="0">
                          <a:ln>
                            <a:noFill/>
                          </a:ln>
                          <a:solidFill>
                            <a:schemeClr val="tx1"/>
                          </a:solidFill>
                          <a:effectLst/>
                          <a:latin typeface="Tahoma" panose="020B0604030504040204" pitchFamily="34" charset="0"/>
                        </a:rPr>
                        <a:t>0.9091</a:t>
                      </a:r>
                    </a:p>
                  </a:txBody>
                  <a:tcPr marL="110731" marR="110731" horzOverflow="overflow"/>
                </a:tc>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endParaRPr kumimoji="0" lang="en-GB" altLang="en-US" sz="2000" b="0" i="0" u="none" strike="noStrike" cap="none" normalizeH="0" baseline="0" dirty="0">
                        <a:ln>
                          <a:noFill/>
                        </a:ln>
                        <a:solidFill>
                          <a:srgbClr val="0000CC"/>
                        </a:solidFill>
                        <a:effectLst/>
                        <a:latin typeface="Tahoma" panose="020B0604030504040204" pitchFamily="34" charset="0"/>
                        <a:ea typeface="Tahoma" panose="020B0604030504040204" pitchFamily="34" charset="0"/>
                        <a:cs typeface="Tahoma" panose="020B0604030504040204" pitchFamily="34" charset="0"/>
                      </a:endParaRPr>
                    </a:p>
                  </a:txBody>
                  <a:tcPr horzOverflow="overflow"/>
                </a:tc>
                <a:extLst>
                  <a:ext uri="{0D108BD9-81ED-4DB2-BD59-A6C34878D82A}">
                    <a16:rowId xmlns:a16="http://schemas.microsoft.com/office/drawing/2014/main" val="604836554"/>
                  </a:ext>
                </a:extLst>
              </a:tr>
              <a:tr h="370840">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altLang="en-US" sz="200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2</a:t>
                      </a:r>
                    </a:p>
                  </a:txBody>
                  <a:tcPr horzOverflow="overflow"/>
                </a:tc>
                <a:tc>
                  <a:txBody>
                    <a:bodyPr/>
                    <a:lstStyle/>
                    <a:p>
                      <a:pPr marL="0" marR="0" lvl="0" indent="0" algn="r" defTabSz="914400" rtl="0" eaLnBrk="1" fontAlgn="base" latinLnBrk="0" hangingPunct="1">
                        <a:lnSpc>
                          <a:spcPct val="100000"/>
                        </a:lnSpc>
                        <a:spcBef>
                          <a:spcPct val="20000"/>
                        </a:spcBef>
                        <a:spcAft>
                          <a:spcPct val="0"/>
                        </a:spcAft>
                        <a:buClrTx/>
                        <a:buSzTx/>
                        <a:buFontTx/>
                        <a:buNone/>
                        <a:tabLst/>
                        <a:defRPr/>
                      </a:pPr>
                      <a:r>
                        <a:rPr kumimoji="0" lang="en-US" sz="2000" b="0" i="0" u="none" strike="noStrike" kern="1200" cap="none" normalizeH="0" baseline="0" dirty="0">
                          <a:ln>
                            <a:noFill/>
                          </a:ln>
                          <a:solidFill>
                            <a:schemeClr val="tx1"/>
                          </a:solidFill>
                          <a:effectLst/>
                          <a:latin typeface="Tahoma" panose="020B0604030504040204" pitchFamily="34" charset="0"/>
                          <a:ea typeface="+mn-ea"/>
                          <a:cs typeface="+mn-cs"/>
                        </a:rPr>
                        <a:t>30,000</a:t>
                      </a:r>
                    </a:p>
                  </a:txBody>
                  <a:tcPr/>
                </a:tc>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GB" altLang="en-US" sz="2400" b="0" i="0" u="none" strike="noStrike" cap="none" normalizeH="0" baseline="0" dirty="0">
                          <a:ln>
                            <a:noFill/>
                          </a:ln>
                          <a:solidFill>
                            <a:schemeClr val="tx1"/>
                          </a:solidFill>
                          <a:effectLst/>
                          <a:latin typeface="Tahoma" panose="020B0604030504040204" pitchFamily="34" charset="0"/>
                        </a:rPr>
                        <a:t>0.8264</a:t>
                      </a:r>
                    </a:p>
                  </a:txBody>
                  <a:tcPr marL="110731" marR="110731" horzOverflow="overflow"/>
                </a:tc>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endParaRPr kumimoji="0" lang="en-IN" sz="2000" b="0" i="0" u="none" strike="noStrike" kern="1200" cap="none" normalizeH="0" baseline="0" dirty="0">
                        <a:ln>
                          <a:noFill/>
                        </a:ln>
                        <a:solidFill>
                          <a:srgbClr val="0000CC"/>
                        </a:solidFill>
                        <a:effectLst/>
                        <a:latin typeface="Tahoma" panose="020B0604030504040204" pitchFamily="34" charset="0"/>
                        <a:ea typeface="Tahoma" panose="020B0604030504040204" pitchFamily="34" charset="0"/>
                        <a:cs typeface="Tahoma" panose="020B0604030504040204" pitchFamily="34" charset="0"/>
                      </a:endParaRPr>
                    </a:p>
                  </a:txBody>
                  <a:tcPr marL="7620" marR="7620" marT="7620" marB="0" anchor="b"/>
                </a:tc>
                <a:extLst>
                  <a:ext uri="{0D108BD9-81ED-4DB2-BD59-A6C34878D82A}">
                    <a16:rowId xmlns:a16="http://schemas.microsoft.com/office/drawing/2014/main" val="3098725958"/>
                  </a:ext>
                </a:extLst>
              </a:tr>
              <a:tr h="370840">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altLang="en-US" sz="200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3</a:t>
                      </a:r>
                    </a:p>
                  </a:txBody>
                  <a:tcPr horzOverflow="overflow"/>
                </a:tc>
                <a:tc>
                  <a:txBody>
                    <a:bodyPr/>
                    <a:lstStyle/>
                    <a:p>
                      <a:pPr marL="0" marR="0" lvl="0" indent="0" algn="r" defTabSz="914400" rtl="0" eaLnBrk="1" fontAlgn="base" latinLnBrk="0" hangingPunct="1">
                        <a:lnSpc>
                          <a:spcPct val="100000"/>
                        </a:lnSpc>
                        <a:spcBef>
                          <a:spcPct val="20000"/>
                        </a:spcBef>
                        <a:spcAft>
                          <a:spcPct val="0"/>
                        </a:spcAft>
                        <a:buClrTx/>
                        <a:buSzTx/>
                        <a:buFontTx/>
                        <a:buNone/>
                        <a:tabLst/>
                        <a:defRPr/>
                      </a:pPr>
                      <a:r>
                        <a:rPr kumimoji="0" lang="en-US" sz="2000" b="0" i="0" u="none" strike="noStrike" kern="1200" cap="none" normalizeH="0" baseline="0" dirty="0">
                          <a:ln>
                            <a:noFill/>
                          </a:ln>
                          <a:solidFill>
                            <a:schemeClr val="tx1"/>
                          </a:solidFill>
                          <a:effectLst/>
                          <a:latin typeface="Tahoma" panose="020B0604030504040204" pitchFamily="34" charset="0"/>
                          <a:ea typeface="+mn-ea"/>
                          <a:cs typeface="+mn-cs"/>
                        </a:rPr>
                        <a:t>30,000</a:t>
                      </a:r>
                    </a:p>
                  </a:txBody>
                  <a:tcPr/>
                </a:tc>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GB" altLang="en-US" sz="2400" b="0" i="0" u="none" strike="noStrike" cap="none" normalizeH="0" baseline="0" dirty="0">
                          <a:ln>
                            <a:noFill/>
                          </a:ln>
                          <a:solidFill>
                            <a:schemeClr val="tx1"/>
                          </a:solidFill>
                          <a:effectLst/>
                          <a:latin typeface="Tahoma" panose="020B0604030504040204" pitchFamily="34" charset="0"/>
                        </a:rPr>
                        <a:t>0.7513</a:t>
                      </a:r>
                    </a:p>
                  </a:txBody>
                  <a:tcPr marL="110731" marR="110731" horzOverflow="overflow"/>
                </a:tc>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endParaRPr kumimoji="0" lang="en-IN" sz="2000" b="0" i="0" u="none" strike="noStrike" kern="1200" cap="none" normalizeH="0" baseline="0" dirty="0">
                        <a:ln>
                          <a:noFill/>
                        </a:ln>
                        <a:solidFill>
                          <a:srgbClr val="0000CC"/>
                        </a:solidFill>
                        <a:effectLst/>
                        <a:latin typeface="Tahoma" panose="020B0604030504040204" pitchFamily="34" charset="0"/>
                        <a:ea typeface="Tahoma" panose="020B0604030504040204" pitchFamily="34" charset="0"/>
                        <a:cs typeface="Tahoma" panose="020B0604030504040204" pitchFamily="34" charset="0"/>
                      </a:endParaRPr>
                    </a:p>
                  </a:txBody>
                  <a:tcPr marL="7620" marR="7620" marT="7620" marB="0" anchor="b"/>
                </a:tc>
                <a:extLst>
                  <a:ext uri="{0D108BD9-81ED-4DB2-BD59-A6C34878D82A}">
                    <a16:rowId xmlns:a16="http://schemas.microsoft.com/office/drawing/2014/main" val="929871789"/>
                  </a:ext>
                </a:extLst>
              </a:tr>
              <a:tr h="370840">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altLang="en-US" sz="200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4</a:t>
                      </a:r>
                    </a:p>
                  </a:txBody>
                  <a:tcPr horzOverflow="overflow"/>
                </a:tc>
                <a:tc>
                  <a:txBody>
                    <a:bodyPr/>
                    <a:lstStyle/>
                    <a:p>
                      <a:pPr marL="0" marR="0" lvl="0" indent="0" algn="r" defTabSz="914400" rtl="0" eaLnBrk="1" fontAlgn="base" latinLnBrk="0" hangingPunct="1">
                        <a:lnSpc>
                          <a:spcPct val="100000"/>
                        </a:lnSpc>
                        <a:spcBef>
                          <a:spcPct val="20000"/>
                        </a:spcBef>
                        <a:spcAft>
                          <a:spcPct val="0"/>
                        </a:spcAft>
                        <a:buClrTx/>
                        <a:buSzTx/>
                        <a:buFontTx/>
                        <a:buNone/>
                        <a:tabLst/>
                        <a:defRPr/>
                      </a:pPr>
                      <a:r>
                        <a:rPr kumimoji="0" lang="en-US" sz="2000" b="0" i="0" u="none" strike="noStrike" kern="1200" cap="none" normalizeH="0" baseline="0" dirty="0">
                          <a:ln>
                            <a:noFill/>
                          </a:ln>
                          <a:solidFill>
                            <a:schemeClr val="tx1"/>
                          </a:solidFill>
                          <a:effectLst/>
                          <a:latin typeface="Tahoma" panose="020B0604030504040204" pitchFamily="34" charset="0"/>
                          <a:ea typeface="+mn-ea"/>
                          <a:cs typeface="+mn-cs"/>
                        </a:rPr>
                        <a:t>30,000</a:t>
                      </a:r>
                    </a:p>
                  </a:txBody>
                  <a:tcPr/>
                </a:tc>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GB" altLang="en-US" sz="2400" b="0" i="0" u="none" strike="noStrike" cap="none" normalizeH="0" baseline="0" dirty="0">
                          <a:ln>
                            <a:noFill/>
                          </a:ln>
                          <a:solidFill>
                            <a:schemeClr val="tx1"/>
                          </a:solidFill>
                          <a:effectLst/>
                          <a:latin typeface="Tahoma" panose="020B0604030504040204" pitchFamily="34" charset="0"/>
                        </a:rPr>
                        <a:t>0.6830</a:t>
                      </a:r>
                    </a:p>
                  </a:txBody>
                  <a:tcPr marL="110731" marR="110731" horzOverflow="overflow"/>
                </a:tc>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endParaRPr kumimoji="0" lang="en-IN" sz="2000" b="0" i="0" u="none" strike="noStrike" kern="1200" cap="none" normalizeH="0" baseline="0" dirty="0">
                        <a:ln>
                          <a:noFill/>
                        </a:ln>
                        <a:solidFill>
                          <a:srgbClr val="0000CC"/>
                        </a:solidFill>
                        <a:effectLst/>
                        <a:latin typeface="Tahoma" panose="020B0604030504040204" pitchFamily="34" charset="0"/>
                        <a:ea typeface="Tahoma" panose="020B0604030504040204" pitchFamily="34" charset="0"/>
                        <a:cs typeface="Tahoma" panose="020B0604030504040204" pitchFamily="34" charset="0"/>
                      </a:endParaRPr>
                    </a:p>
                  </a:txBody>
                  <a:tcPr marL="7620" marR="7620" marT="7620" marB="0" anchor="b"/>
                </a:tc>
                <a:extLst>
                  <a:ext uri="{0D108BD9-81ED-4DB2-BD59-A6C34878D82A}">
                    <a16:rowId xmlns:a16="http://schemas.microsoft.com/office/drawing/2014/main" val="292312927"/>
                  </a:ext>
                </a:extLst>
              </a:tr>
              <a:tr h="370840">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altLang="en-US" sz="200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5</a:t>
                      </a:r>
                    </a:p>
                  </a:txBody>
                  <a:tcPr anchor="ctr" horzOverflow="overflow"/>
                </a:tc>
                <a:tc>
                  <a:txBody>
                    <a:bodyPr/>
                    <a:lstStyle/>
                    <a:p>
                      <a:pPr marL="0" marR="0" lvl="0" indent="0" algn="r" defTabSz="914400" rtl="0" eaLnBrk="1" fontAlgn="base" latinLnBrk="0" hangingPunct="1">
                        <a:lnSpc>
                          <a:spcPct val="100000"/>
                        </a:lnSpc>
                        <a:spcBef>
                          <a:spcPct val="20000"/>
                        </a:spcBef>
                        <a:spcAft>
                          <a:spcPct val="0"/>
                        </a:spcAft>
                        <a:buClrTx/>
                        <a:buSzTx/>
                        <a:buFontTx/>
                        <a:buNone/>
                        <a:tabLst/>
                        <a:defRPr/>
                      </a:pPr>
                      <a:r>
                        <a:rPr kumimoji="0" lang="en-US" sz="2000" b="0" i="0" u="none" strike="noStrike" kern="1200" cap="none" normalizeH="0" baseline="0" dirty="0">
                          <a:ln>
                            <a:noFill/>
                          </a:ln>
                          <a:solidFill>
                            <a:schemeClr val="tx1"/>
                          </a:solidFill>
                          <a:effectLst/>
                          <a:latin typeface="Tahoma" panose="020B0604030504040204" pitchFamily="34" charset="0"/>
                          <a:ea typeface="+mn-ea"/>
                          <a:cs typeface="+mn-cs"/>
                        </a:rPr>
                        <a:t>30,000</a:t>
                      </a:r>
                    </a:p>
                  </a:txBody>
                  <a:tcPr/>
                </a:tc>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GB" altLang="en-US" sz="2400" b="0" i="0" u="none" strike="noStrike" cap="none" normalizeH="0" baseline="0" dirty="0">
                          <a:ln>
                            <a:noFill/>
                          </a:ln>
                          <a:solidFill>
                            <a:schemeClr val="tx1"/>
                          </a:solidFill>
                          <a:effectLst/>
                          <a:latin typeface="Tahoma" panose="020B0604030504040204" pitchFamily="34" charset="0"/>
                        </a:rPr>
                        <a:t>0.6209</a:t>
                      </a:r>
                    </a:p>
                  </a:txBody>
                  <a:tcPr marL="110731" marR="110731" anchor="ctr" horzOverflow="overflow"/>
                </a:tc>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endParaRPr kumimoji="0" lang="en-IN" sz="2000" b="0" i="0" u="none" strike="noStrike" kern="1200" cap="none" normalizeH="0" baseline="0" dirty="0">
                        <a:ln>
                          <a:noFill/>
                        </a:ln>
                        <a:solidFill>
                          <a:srgbClr val="0000CC"/>
                        </a:solidFill>
                        <a:effectLst/>
                        <a:latin typeface="Tahoma" panose="020B0604030504040204" pitchFamily="34" charset="0"/>
                        <a:ea typeface="Tahoma" panose="020B0604030504040204" pitchFamily="34" charset="0"/>
                        <a:cs typeface="Tahoma" panose="020B0604030504040204" pitchFamily="34" charset="0"/>
                      </a:endParaRPr>
                    </a:p>
                  </a:txBody>
                  <a:tcPr marL="7620" marR="7620" marT="7620" marB="0" anchor="b"/>
                </a:tc>
                <a:extLst>
                  <a:ext uri="{0D108BD9-81ED-4DB2-BD59-A6C34878D82A}">
                    <a16:rowId xmlns:a16="http://schemas.microsoft.com/office/drawing/2014/main" val="2077385687"/>
                  </a:ext>
                </a:extLst>
              </a:tr>
              <a:tr h="37084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GB" altLang="en-US" sz="200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endParaRPr>
                    </a:p>
                  </a:txBody>
                  <a:tcPr anchor="ctr" horzOverflow="overflow"/>
                </a:tc>
                <a:tc>
                  <a:txBody>
                    <a:bodyPr/>
                    <a:lstStyle/>
                    <a:p>
                      <a:pPr algn="r"/>
                      <a:endParaRPr lang="en-US" sz="2000" dirty="0">
                        <a:latin typeface="Tahoma" panose="020B0604030504040204" pitchFamily="34" charset="0"/>
                        <a:ea typeface="Tahoma" panose="020B0604030504040204" pitchFamily="34" charset="0"/>
                        <a:cs typeface="Tahoma" panose="020B0604030504040204" pitchFamily="34" charset="0"/>
                      </a:endParaRPr>
                    </a:p>
                  </a:txBody>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GB" altLang="en-US" sz="2400" b="0" i="0" u="none" strike="noStrike" cap="none" normalizeH="0" baseline="0" dirty="0">
                          <a:ln>
                            <a:noFill/>
                          </a:ln>
                          <a:solidFill>
                            <a:schemeClr val="tx1"/>
                          </a:solidFill>
                          <a:effectLst/>
                          <a:latin typeface="Tahoma" panose="020B0604030504040204" pitchFamily="34" charset="0"/>
                        </a:rPr>
                        <a:t>NPV</a:t>
                      </a:r>
                    </a:p>
                  </a:txBody>
                  <a:tcPr marL="110731" marR="110731" anchor="ctr" horzOverflow="overflow"/>
                </a:tc>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endParaRPr kumimoji="0" lang="en-IN" sz="2000" b="0" i="0" u="none" strike="noStrike" kern="1200" cap="none" normalizeH="0" baseline="0" dirty="0">
                        <a:ln>
                          <a:noFill/>
                        </a:ln>
                        <a:solidFill>
                          <a:srgbClr val="0000CC"/>
                        </a:solidFill>
                        <a:effectLst/>
                        <a:latin typeface="Tahoma" panose="020B0604030504040204" pitchFamily="34" charset="0"/>
                        <a:ea typeface="Tahoma" panose="020B0604030504040204" pitchFamily="34" charset="0"/>
                        <a:cs typeface="Tahoma" panose="020B0604030504040204" pitchFamily="34" charset="0"/>
                      </a:endParaRPr>
                    </a:p>
                  </a:txBody>
                  <a:tcPr marL="7620" marR="7620" marT="7620" marB="0" anchor="b"/>
                </a:tc>
                <a:extLst>
                  <a:ext uri="{0D108BD9-81ED-4DB2-BD59-A6C34878D82A}">
                    <a16:rowId xmlns:a16="http://schemas.microsoft.com/office/drawing/2014/main" val="460354135"/>
                  </a:ext>
                </a:extLst>
              </a:tr>
            </a:tbl>
          </a:graphicData>
        </a:graphic>
      </p:graphicFrame>
      <p:sp>
        <p:nvSpPr>
          <p:cNvPr id="4" name="Date Placeholder 3"/>
          <p:cNvSpPr>
            <a:spLocks noGrp="1"/>
          </p:cNvSpPr>
          <p:nvPr>
            <p:ph type="dt" sz="half" idx="10"/>
          </p:nvPr>
        </p:nvSpPr>
        <p:spPr>
          <a:xfrm>
            <a:off x="271849" y="5627533"/>
            <a:ext cx="947026" cy="309201"/>
          </a:xfrm>
        </p:spPr>
        <p:txBody>
          <a:bodyPr/>
          <a:lstStyle/>
          <a:p>
            <a:fld id="{E9376695-FE31-4FE3-8789-583C0374522F}" type="datetime3">
              <a:rPr lang="en-US" smtClean="0"/>
              <a:t>28 November 2023</a:t>
            </a:fld>
            <a:endParaRPr lang="en-US" dirty="0"/>
          </a:p>
        </p:txBody>
      </p:sp>
      <p:sp>
        <p:nvSpPr>
          <p:cNvPr id="6" name="Footer Placeholder 5"/>
          <p:cNvSpPr>
            <a:spLocks noGrp="1"/>
          </p:cNvSpPr>
          <p:nvPr>
            <p:ph type="ftr" sz="quarter" idx="11"/>
          </p:nvPr>
        </p:nvSpPr>
        <p:spPr>
          <a:xfrm>
            <a:off x="7234542" y="5898510"/>
            <a:ext cx="4545567" cy="309201"/>
          </a:xfrm>
        </p:spPr>
        <p:txBody>
          <a:bodyPr/>
          <a:lstStyle/>
          <a:p>
            <a:r>
              <a:rPr lang="en-US" dirty="0"/>
              <a:t>Software Project Management       Dr. D </a:t>
            </a:r>
            <a:r>
              <a:rPr lang="en-US" dirty="0" err="1"/>
              <a:t>Evangelin</a:t>
            </a:r>
            <a:r>
              <a:rPr lang="en-US" dirty="0"/>
              <a:t> Geetha    Dept. of MCA     RIT</a:t>
            </a:r>
          </a:p>
        </p:txBody>
      </p:sp>
      <p:sp>
        <p:nvSpPr>
          <p:cNvPr id="7" name="Slide Number Placeholder 6"/>
          <p:cNvSpPr>
            <a:spLocks noGrp="1"/>
          </p:cNvSpPr>
          <p:nvPr>
            <p:ph type="sldNum" sz="quarter" idx="12"/>
          </p:nvPr>
        </p:nvSpPr>
        <p:spPr/>
        <p:txBody>
          <a:bodyPr/>
          <a:lstStyle/>
          <a:p>
            <a:fld id="{6D22F896-40B5-4ADD-8801-0D06FADFA095}" type="slidenum">
              <a:rPr lang="en-US" smtClean="0"/>
              <a:t>51</a:t>
            </a:fld>
            <a:endParaRPr lang="en-US" dirty="0"/>
          </a:p>
        </p:txBody>
      </p:sp>
    </p:spTree>
    <p:extLst>
      <p:ext uri="{BB962C8B-B14F-4D97-AF65-F5344CB8AC3E}">
        <p14:creationId xmlns:p14="http://schemas.microsoft.com/office/powerpoint/2010/main" val="228184046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Net present value</a:t>
            </a:r>
            <a:endParaRPr lang="en-IN" dirty="0"/>
          </a:p>
        </p:txBody>
      </p:sp>
      <p:sp>
        <p:nvSpPr>
          <p:cNvPr id="3" name="Content Placeholder 2"/>
          <p:cNvSpPr>
            <a:spLocks noGrp="1"/>
          </p:cNvSpPr>
          <p:nvPr>
            <p:ph sz="half" idx="1"/>
          </p:nvPr>
        </p:nvSpPr>
        <p:spPr>
          <a:xfrm>
            <a:off x="2727712" y="1260620"/>
            <a:ext cx="1440633" cy="499566"/>
          </a:xfrm>
        </p:spPr>
        <p:txBody>
          <a:bodyPr>
            <a:normAutofit fontScale="92500" lnSpcReduction="20000"/>
          </a:bodyPr>
          <a:lstStyle/>
          <a:p>
            <a:pPr marL="0" indent="0">
              <a:buNone/>
            </a:pPr>
            <a:r>
              <a:rPr lang="en-GB" altLang="en-US" dirty="0"/>
              <a:t>Project 3</a:t>
            </a:r>
          </a:p>
        </p:txBody>
      </p:sp>
      <p:graphicFrame>
        <p:nvGraphicFramePr>
          <p:cNvPr id="5" name="Content Placeholder 4"/>
          <p:cNvGraphicFramePr>
            <a:graphicFrameLocks noGrp="1"/>
          </p:cNvGraphicFramePr>
          <p:nvPr>
            <p:ph sz="half" idx="2"/>
          </p:nvPr>
        </p:nvGraphicFramePr>
        <p:xfrm>
          <a:off x="1137148" y="1969904"/>
          <a:ext cx="7377849" cy="3901440"/>
        </p:xfrm>
        <a:graphic>
          <a:graphicData uri="http://schemas.openxmlformats.org/drawingml/2006/table">
            <a:tbl>
              <a:tblPr firstRow="1" bandRow="1">
                <a:tableStyleId>{5C22544A-7EE6-4342-B048-85BDC9FD1C3A}</a:tableStyleId>
              </a:tblPr>
              <a:tblGrid>
                <a:gridCol w="1026694">
                  <a:extLst>
                    <a:ext uri="{9D8B030D-6E8A-4147-A177-3AD203B41FA5}">
                      <a16:colId xmlns:a16="http://schemas.microsoft.com/office/drawing/2014/main" val="2248303887"/>
                    </a:ext>
                  </a:extLst>
                </a:gridCol>
                <a:gridCol w="2009992">
                  <a:extLst>
                    <a:ext uri="{9D8B030D-6E8A-4147-A177-3AD203B41FA5}">
                      <a16:colId xmlns:a16="http://schemas.microsoft.com/office/drawing/2014/main" val="2023753746"/>
                    </a:ext>
                  </a:extLst>
                </a:gridCol>
                <a:gridCol w="2318863">
                  <a:extLst>
                    <a:ext uri="{9D8B030D-6E8A-4147-A177-3AD203B41FA5}">
                      <a16:colId xmlns:a16="http://schemas.microsoft.com/office/drawing/2014/main" val="4244003138"/>
                    </a:ext>
                  </a:extLst>
                </a:gridCol>
                <a:gridCol w="2022300">
                  <a:extLst>
                    <a:ext uri="{9D8B030D-6E8A-4147-A177-3AD203B41FA5}">
                      <a16:colId xmlns:a16="http://schemas.microsoft.com/office/drawing/2014/main" val="387657477"/>
                    </a:ext>
                  </a:extLst>
                </a:gridCol>
              </a:tblGrid>
              <a:tr h="370840">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GB" altLang="en-US" sz="2000" b="0" i="0" u="none" strike="noStrike" cap="none" normalizeH="0" baseline="0" dirty="0">
                          <a:ln>
                            <a:noFill/>
                          </a:ln>
                          <a:solidFill>
                            <a:schemeClr val="bg2"/>
                          </a:solidFill>
                          <a:effectLst/>
                          <a:latin typeface="Tahoma" panose="020B0604030504040204" pitchFamily="34" charset="0"/>
                          <a:ea typeface="Tahoma" panose="020B0604030504040204" pitchFamily="34" charset="0"/>
                          <a:cs typeface="Tahoma" panose="020B0604030504040204" pitchFamily="34" charset="0"/>
                        </a:rPr>
                        <a:t>Year</a:t>
                      </a:r>
                    </a:p>
                  </a:txBody>
                  <a:tcPr horzOverflow="overflow"/>
                </a:tc>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GB" altLang="en-US" sz="2000" b="0" i="0" u="none" strike="noStrike" cap="none" normalizeH="0" baseline="0" dirty="0">
                          <a:ln>
                            <a:noFill/>
                          </a:ln>
                          <a:solidFill>
                            <a:schemeClr val="bg2"/>
                          </a:solidFill>
                          <a:effectLst/>
                          <a:latin typeface="Tahoma" panose="020B0604030504040204" pitchFamily="34" charset="0"/>
                          <a:ea typeface="Tahoma" panose="020B0604030504040204" pitchFamily="34" charset="0"/>
                          <a:cs typeface="Tahoma" panose="020B0604030504040204" pitchFamily="34" charset="0"/>
                        </a:rPr>
                        <a:t>Cash-flow</a:t>
                      </a:r>
                    </a:p>
                  </a:txBody>
                  <a:tcPr horzOverflow="overflow"/>
                </a:tc>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GB" altLang="en-US" sz="2000" b="0" i="0" u="none" strike="noStrike" cap="none" normalizeH="0" baseline="0" dirty="0">
                          <a:ln>
                            <a:noFill/>
                          </a:ln>
                          <a:solidFill>
                            <a:schemeClr val="bg2"/>
                          </a:solidFill>
                          <a:effectLst/>
                          <a:latin typeface="Tahoma" panose="020B0604030504040204" pitchFamily="34" charset="0"/>
                          <a:ea typeface="Tahoma" panose="020B0604030504040204" pitchFamily="34" charset="0"/>
                          <a:cs typeface="Tahoma" panose="020B0604030504040204" pitchFamily="34" charset="0"/>
                        </a:rPr>
                        <a:t>Discount Factor</a:t>
                      </a:r>
                    </a:p>
                  </a:txBody>
                  <a:tcPr horzOverflow="overflow"/>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defRPr/>
                      </a:pPr>
                      <a:r>
                        <a:rPr kumimoji="0" lang="en-GB" altLang="en-US" sz="2000" b="0" i="0" u="none" strike="noStrike" cap="none" normalizeH="0" baseline="0" dirty="0">
                          <a:ln>
                            <a:noFill/>
                          </a:ln>
                          <a:solidFill>
                            <a:schemeClr val="bg1"/>
                          </a:solidFill>
                          <a:effectLst/>
                          <a:latin typeface="Tahoma" panose="020B0604030504040204" pitchFamily="34" charset="0"/>
                        </a:rPr>
                        <a:t>Discounted cash flow</a:t>
                      </a:r>
                    </a:p>
                  </a:txBody>
                  <a:tcPr horzOverflow="overflow"/>
                </a:tc>
                <a:extLst>
                  <a:ext uri="{0D108BD9-81ED-4DB2-BD59-A6C34878D82A}">
                    <a16:rowId xmlns:a16="http://schemas.microsoft.com/office/drawing/2014/main" val="2686042913"/>
                  </a:ext>
                </a:extLst>
              </a:tr>
              <a:tr h="370840">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altLang="en-US" sz="200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0</a:t>
                      </a:r>
                    </a:p>
                  </a:txBody>
                  <a:tcPr horzOverflow="overflow"/>
                </a:tc>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sz="2000" b="0" i="0" u="none" strike="noStrike" kern="1200" cap="none" normalizeH="0" baseline="0" dirty="0">
                          <a:ln>
                            <a:noFill/>
                          </a:ln>
                          <a:solidFill>
                            <a:schemeClr val="tx1"/>
                          </a:solidFill>
                          <a:effectLst/>
                          <a:latin typeface="Tahoma" panose="020B0604030504040204" pitchFamily="34" charset="0"/>
                          <a:ea typeface="+mn-ea"/>
                          <a:cs typeface="+mn-cs"/>
                        </a:rPr>
                        <a:t>-1,00,000</a:t>
                      </a:r>
                    </a:p>
                  </a:txBody>
                  <a:tcPr/>
                </a:tc>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GB" altLang="en-US" sz="2400" b="0" i="0" u="none" strike="noStrike" cap="none" normalizeH="0" baseline="0" dirty="0">
                          <a:ln>
                            <a:noFill/>
                          </a:ln>
                          <a:solidFill>
                            <a:schemeClr val="tx1"/>
                          </a:solidFill>
                          <a:effectLst/>
                          <a:latin typeface="Tahoma" panose="020B0604030504040204" pitchFamily="34" charset="0"/>
                        </a:rPr>
                        <a:t>1.0000</a:t>
                      </a:r>
                    </a:p>
                  </a:txBody>
                  <a:tcPr marL="110731" marR="110731" horzOverflow="overflow"/>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IN" sz="2400" b="0" i="0" u="none" strike="noStrike" kern="1200" cap="none" normalizeH="0" baseline="0">
                          <a:ln>
                            <a:noFill/>
                          </a:ln>
                          <a:solidFill>
                            <a:srgbClr val="0000CC"/>
                          </a:solidFill>
                          <a:effectLst/>
                          <a:latin typeface="Tahoma" panose="020B0604030504040204" pitchFamily="34" charset="0"/>
                          <a:ea typeface="+mn-ea"/>
                          <a:cs typeface="+mn-cs"/>
                        </a:rPr>
                        <a:t>-100000</a:t>
                      </a:r>
                      <a:endParaRPr kumimoji="0" lang="en-IN" sz="2400" b="0" i="0" u="none" strike="noStrike" kern="1200" cap="none" normalizeH="0" baseline="0" dirty="0">
                        <a:ln>
                          <a:noFill/>
                        </a:ln>
                        <a:solidFill>
                          <a:srgbClr val="0000CC"/>
                        </a:solidFill>
                        <a:effectLst/>
                        <a:latin typeface="Tahoma" panose="020B0604030504040204" pitchFamily="34" charset="0"/>
                        <a:ea typeface="+mn-ea"/>
                        <a:cs typeface="+mn-cs"/>
                      </a:endParaRPr>
                    </a:p>
                  </a:txBody>
                  <a:tcPr marL="7620" marR="7620" marT="7620" marB="0" anchor="b"/>
                </a:tc>
                <a:extLst>
                  <a:ext uri="{0D108BD9-81ED-4DB2-BD59-A6C34878D82A}">
                    <a16:rowId xmlns:a16="http://schemas.microsoft.com/office/drawing/2014/main" val="2715192214"/>
                  </a:ext>
                </a:extLst>
              </a:tr>
              <a:tr h="420343">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altLang="en-US" sz="200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1</a:t>
                      </a:r>
                    </a:p>
                  </a:txBody>
                  <a:tcPr horzOverflow="overflow"/>
                </a:tc>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sz="2000" b="0" i="0" u="none" strike="noStrike" kern="1200" cap="none" normalizeH="0" baseline="0" dirty="0">
                          <a:ln>
                            <a:noFill/>
                          </a:ln>
                          <a:solidFill>
                            <a:schemeClr val="tx1"/>
                          </a:solidFill>
                          <a:effectLst/>
                          <a:latin typeface="Tahoma" panose="020B0604030504040204" pitchFamily="34" charset="0"/>
                          <a:ea typeface="+mn-ea"/>
                          <a:cs typeface="+mn-cs"/>
                        </a:rPr>
                        <a:t>30,000</a:t>
                      </a:r>
                    </a:p>
                  </a:txBody>
                  <a:tcPr/>
                </a:tc>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GB" altLang="en-US" sz="2400" b="0" i="0" u="none" strike="noStrike" cap="none" normalizeH="0" baseline="0" dirty="0">
                          <a:ln>
                            <a:noFill/>
                          </a:ln>
                          <a:solidFill>
                            <a:schemeClr val="tx1"/>
                          </a:solidFill>
                          <a:effectLst/>
                          <a:latin typeface="Tahoma" panose="020B0604030504040204" pitchFamily="34" charset="0"/>
                        </a:rPr>
                        <a:t>0.9091</a:t>
                      </a:r>
                    </a:p>
                  </a:txBody>
                  <a:tcPr marL="110731" marR="110731" horzOverflow="overflow"/>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IN" sz="2400" b="0" i="0" u="none" strike="noStrike" kern="1200" cap="none" normalizeH="0" baseline="0">
                          <a:ln>
                            <a:noFill/>
                          </a:ln>
                          <a:solidFill>
                            <a:srgbClr val="0000CC"/>
                          </a:solidFill>
                          <a:effectLst/>
                          <a:latin typeface="Tahoma" panose="020B0604030504040204" pitchFamily="34" charset="0"/>
                          <a:ea typeface="+mn-ea"/>
                          <a:cs typeface="+mn-cs"/>
                        </a:rPr>
                        <a:t>27273</a:t>
                      </a:r>
                      <a:endParaRPr kumimoji="0" lang="en-IN" sz="2400" b="0" i="0" u="none" strike="noStrike" kern="1200" cap="none" normalizeH="0" baseline="0" dirty="0">
                        <a:ln>
                          <a:noFill/>
                        </a:ln>
                        <a:solidFill>
                          <a:srgbClr val="0000CC"/>
                        </a:solidFill>
                        <a:effectLst/>
                        <a:latin typeface="Tahoma" panose="020B0604030504040204" pitchFamily="34" charset="0"/>
                        <a:ea typeface="+mn-ea"/>
                        <a:cs typeface="+mn-cs"/>
                      </a:endParaRPr>
                    </a:p>
                  </a:txBody>
                  <a:tcPr marL="7620" marR="7620" marT="7620" marB="0" anchor="b"/>
                </a:tc>
                <a:extLst>
                  <a:ext uri="{0D108BD9-81ED-4DB2-BD59-A6C34878D82A}">
                    <a16:rowId xmlns:a16="http://schemas.microsoft.com/office/drawing/2014/main" val="604836554"/>
                  </a:ext>
                </a:extLst>
              </a:tr>
              <a:tr h="370840">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altLang="en-US" sz="200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2</a:t>
                      </a:r>
                    </a:p>
                  </a:txBody>
                  <a:tcPr horzOverflow="overflow"/>
                </a:tc>
                <a:tc>
                  <a:txBody>
                    <a:bodyPr/>
                    <a:lstStyle/>
                    <a:p>
                      <a:pPr marL="0" marR="0" lvl="0" indent="0" algn="r" defTabSz="914400" rtl="0" eaLnBrk="1" fontAlgn="base" latinLnBrk="0" hangingPunct="1">
                        <a:lnSpc>
                          <a:spcPct val="100000"/>
                        </a:lnSpc>
                        <a:spcBef>
                          <a:spcPct val="20000"/>
                        </a:spcBef>
                        <a:spcAft>
                          <a:spcPct val="0"/>
                        </a:spcAft>
                        <a:buClrTx/>
                        <a:buSzTx/>
                        <a:buFontTx/>
                        <a:buNone/>
                        <a:tabLst/>
                        <a:defRPr/>
                      </a:pPr>
                      <a:r>
                        <a:rPr kumimoji="0" lang="en-US" sz="2000" b="0" i="0" u="none" strike="noStrike" kern="1200" cap="none" normalizeH="0" baseline="0" dirty="0">
                          <a:ln>
                            <a:noFill/>
                          </a:ln>
                          <a:solidFill>
                            <a:schemeClr val="tx1"/>
                          </a:solidFill>
                          <a:effectLst/>
                          <a:latin typeface="Tahoma" panose="020B0604030504040204" pitchFamily="34" charset="0"/>
                          <a:ea typeface="+mn-ea"/>
                          <a:cs typeface="+mn-cs"/>
                        </a:rPr>
                        <a:t>30,000</a:t>
                      </a:r>
                    </a:p>
                  </a:txBody>
                  <a:tcPr/>
                </a:tc>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GB" altLang="en-US" sz="2400" b="0" i="0" u="none" strike="noStrike" cap="none" normalizeH="0" baseline="0" dirty="0">
                          <a:ln>
                            <a:noFill/>
                          </a:ln>
                          <a:solidFill>
                            <a:schemeClr val="tx1"/>
                          </a:solidFill>
                          <a:effectLst/>
                          <a:latin typeface="Tahoma" panose="020B0604030504040204" pitchFamily="34" charset="0"/>
                        </a:rPr>
                        <a:t>0.8264</a:t>
                      </a:r>
                    </a:p>
                  </a:txBody>
                  <a:tcPr marL="110731" marR="110731" horzOverflow="overflow"/>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IN" sz="2400" b="0" i="0" u="none" strike="noStrike" kern="1200" cap="none" normalizeH="0" baseline="0">
                          <a:ln>
                            <a:noFill/>
                          </a:ln>
                          <a:solidFill>
                            <a:srgbClr val="0000CC"/>
                          </a:solidFill>
                          <a:effectLst/>
                          <a:latin typeface="Tahoma" panose="020B0604030504040204" pitchFamily="34" charset="0"/>
                          <a:ea typeface="+mn-ea"/>
                          <a:cs typeface="+mn-cs"/>
                        </a:rPr>
                        <a:t>24792</a:t>
                      </a:r>
                      <a:endParaRPr kumimoji="0" lang="en-IN" sz="2400" b="0" i="0" u="none" strike="noStrike" kern="1200" cap="none" normalizeH="0" baseline="0" dirty="0">
                        <a:ln>
                          <a:noFill/>
                        </a:ln>
                        <a:solidFill>
                          <a:srgbClr val="0000CC"/>
                        </a:solidFill>
                        <a:effectLst/>
                        <a:latin typeface="Tahoma" panose="020B0604030504040204" pitchFamily="34" charset="0"/>
                        <a:ea typeface="+mn-ea"/>
                        <a:cs typeface="+mn-cs"/>
                      </a:endParaRPr>
                    </a:p>
                  </a:txBody>
                  <a:tcPr marL="7620" marR="7620" marT="7620" marB="0" anchor="b"/>
                </a:tc>
                <a:extLst>
                  <a:ext uri="{0D108BD9-81ED-4DB2-BD59-A6C34878D82A}">
                    <a16:rowId xmlns:a16="http://schemas.microsoft.com/office/drawing/2014/main" val="3098725958"/>
                  </a:ext>
                </a:extLst>
              </a:tr>
              <a:tr h="370840">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altLang="en-US" sz="200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3</a:t>
                      </a:r>
                    </a:p>
                  </a:txBody>
                  <a:tcPr horzOverflow="overflow"/>
                </a:tc>
                <a:tc>
                  <a:txBody>
                    <a:bodyPr/>
                    <a:lstStyle/>
                    <a:p>
                      <a:pPr marL="0" marR="0" lvl="0" indent="0" algn="r" defTabSz="914400" rtl="0" eaLnBrk="1" fontAlgn="base" latinLnBrk="0" hangingPunct="1">
                        <a:lnSpc>
                          <a:spcPct val="100000"/>
                        </a:lnSpc>
                        <a:spcBef>
                          <a:spcPct val="20000"/>
                        </a:spcBef>
                        <a:spcAft>
                          <a:spcPct val="0"/>
                        </a:spcAft>
                        <a:buClrTx/>
                        <a:buSzTx/>
                        <a:buFontTx/>
                        <a:buNone/>
                        <a:tabLst/>
                        <a:defRPr/>
                      </a:pPr>
                      <a:r>
                        <a:rPr kumimoji="0" lang="en-US" sz="2000" b="0" i="0" u="none" strike="noStrike" kern="1200" cap="none" normalizeH="0" baseline="0" dirty="0">
                          <a:ln>
                            <a:noFill/>
                          </a:ln>
                          <a:solidFill>
                            <a:schemeClr val="tx1"/>
                          </a:solidFill>
                          <a:effectLst/>
                          <a:latin typeface="Tahoma" panose="020B0604030504040204" pitchFamily="34" charset="0"/>
                          <a:ea typeface="+mn-ea"/>
                          <a:cs typeface="+mn-cs"/>
                        </a:rPr>
                        <a:t>30,000</a:t>
                      </a:r>
                    </a:p>
                  </a:txBody>
                  <a:tcPr/>
                </a:tc>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GB" altLang="en-US" sz="2400" b="0" i="0" u="none" strike="noStrike" cap="none" normalizeH="0" baseline="0" dirty="0">
                          <a:ln>
                            <a:noFill/>
                          </a:ln>
                          <a:solidFill>
                            <a:schemeClr val="tx1"/>
                          </a:solidFill>
                          <a:effectLst/>
                          <a:latin typeface="Tahoma" panose="020B0604030504040204" pitchFamily="34" charset="0"/>
                        </a:rPr>
                        <a:t>0.7513</a:t>
                      </a:r>
                    </a:p>
                  </a:txBody>
                  <a:tcPr marL="110731" marR="110731" horzOverflow="overflow"/>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IN" sz="2400" b="0" i="0" u="none" strike="noStrike" kern="1200" cap="none" normalizeH="0" baseline="0">
                          <a:ln>
                            <a:noFill/>
                          </a:ln>
                          <a:solidFill>
                            <a:srgbClr val="0000CC"/>
                          </a:solidFill>
                          <a:effectLst/>
                          <a:latin typeface="Tahoma" panose="020B0604030504040204" pitchFamily="34" charset="0"/>
                          <a:ea typeface="+mn-ea"/>
                          <a:cs typeface="+mn-cs"/>
                        </a:rPr>
                        <a:t>22539</a:t>
                      </a:r>
                      <a:endParaRPr kumimoji="0" lang="en-IN" sz="2400" b="0" i="0" u="none" strike="noStrike" kern="1200" cap="none" normalizeH="0" baseline="0" dirty="0">
                        <a:ln>
                          <a:noFill/>
                        </a:ln>
                        <a:solidFill>
                          <a:srgbClr val="0000CC"/>
                        </a:solidFill>
                        <a:effectLst/>
                        <a:latin typeface="Tahoma" panose="020B0604030504040204" pitchFamily="34" charset="0"/>
                        <a:ea typeface="+mn-ea"/>
                        <a:cs typeface="+mn-cs"/>
                      </a:endParaRPr>
                    </a:p>
                  </a:txBody>
                  <a:tcPr marL="7620" marR="7620" marT="7620" marB="0" anchor="b"/>
                </a:tc>
                <a:extLst>
                  <a:ext uri="{0D108BD9-81ED-4DB2-BD59-A6C34878D82A}">
                    <a16:rowId xmlns:a16="http://schemas.microsoft.com/office/drawing/2014/main" val="929871789"/>
                  </a:ext>
                </a:extLst>
              </a:tr>
              <a:tr h="370840">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altLang="en-US" sz="200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4</a:t>
                      </a:r>
                    </a:p>
                  </a:txBody>
                  <a:tcPr horzOverflow="overflow"/>
                </a:tc>
                <a:tc>
                  <a:txBody>
                    <a:bodyPr/>
                    <a:lstStyle/>
                    <a:p>
                      <a:pPr marL="0" marR="0" lvl="0" indent="0" algn="r" defTabSz="914400" rtl="0" eaLnBrk="1" fontAlgn="base" latinLnBrk="0" hangingPunct="1">
                        <a:lnSpc>
                          <a:spcPct val="100000"/>
                        </a:lnSpc>
                        <a:spcBef>
                          <a:spcPct val="20000"/>
                        </a:spcBef>
                        <a:spcAft>
                          <a:spcPct val="0"/>
                        </a:spcAft>
                        <a:buClrTx/>
                        <a:buSzTx/>
                        <a:buFontTx/>
                        <a:buNone/>
                        <a:tabLst/>
                        <a:defRPr/>
                      </a:pPr>
                      <a:r>
                        <a:rPr kumimoji="0" lang="en-US" sz="2000" b="0" i="0" u="none" strike="noStrike" kern="1200" cap="none" normalizeH="0" baseline="0" dirty="0">
                          <a:ln>
                            <a:noFill/>
                          </a:ln>
                          <a:solidFill>
                            <a:schemeClr val="tx1"/>
                          </a:solidFill>
                          <a:effectLst/>
                          <a:latin typeface="Tahoma" panose="020B0604030504040204" pitchFamily="34" charset="0"/>
                          <a:ea typeface="+mn-ea"/>
                          <a:cs typeface="+mn-cs"/>
                        </a:rPr>
                        <a:t>30,000</a:t>
                      </a:r>
                    </a:p>
                  </a:txBody>
                  <a:tcPr/>
                </a:tc>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GB" altLang="en-US" sz="2400" b="0" i="0" u="none" strike="noStrike" cap="none" normalizeH="0" baseline="0" dirty="0">
                          <a:ln>
                            <a:noFill/>
                          </a:ln>
                          <a:solidFill>
                            <a:schemeClr val="tx1"/>
                          </a:solidFill>
                          <a:effectLst/>
                          <a:latin typeface="Tahoma" panose="020B0604030504040204" pitchFamily="34" charset="0"/>
                        </a:rPr>
                        <a:t>0.6830</a:t>
                      </a:r>
                    </a:p>
                  </a:txBody>
                  <a:tcPr marL="110731" marR="110731" horzOverflow="overflow"/>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IN" sz="2400" b="0" i="0" u="none" strike="noStrike" kern="1200" cap="none" normalizeH="0" baseline="0">
                          <a:ln>
                            <a:noFill/>
                          </a:ln>
                          <a:solidFill>
                            <a:srgbClr val="0000CC"/>
                          </a:solidFill>
                          <a:effectLst/>
                          <a:latin typeface="Tahoma" panose="020B0604030504040204" pitchFamily="34" charset="0"/>
                          <a:ea typeface="+mn-ea"/>
                          <a:cs typeface="+mn-cs"/>
                        </a:rPr>
                        <a:t>20490</a:t>
                      </a:r>
                      <a:endParaRPr kumimoji="0" lang="en-IN" sz="2400" b="0" i="0" u="none" strike="noStrike" kern="1200" cap="none" normalizeH="0" baseline="0" dirty="0">
                        <a:ln>
                          <a:noFill/>
                        </a:ln>
                        <a:solidFill>
                          <a:srgbClr val="0000CC"/>
                        </a:solidFill>
                        <a:effectLst/>
                        <a:latin typeface="Tahoma" panose="020B0604030504040204" pitchFamily="34" charset="0"/>
                        <a:ea typeface="+mn-ea"/>
                        <a:cs typeface="+mn-cs"/>
                      </a:endParaRPr>
                    </a:p>
                  </a:txBody>
                  <a:tcPr marL="7620" marR="7620" marT="7620" marB="0" anchor="b"/>
                </a:tc>
                <a:extLst>
                  <a:ext uri="{0D108BD9-81ED-4DB2-BD59-A6C34878D82A}">
                    <a16:rowId xmlns:a16="http://schemas.microsoft.com/office/drawing/2014/main" val="292312927"/>
                  </a:ext>
                </a:extLst>
              </a:tr>
              <a:tr h="370840">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altLang="en-US" sz="200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5</a:t>
                      </a:r>
                    </a:p>
                  </a:txBody>
                  <a:tcPr anchor="ctr" horzOverflow="overflow"/>
                </a:tc>
                <a:tc>
                  <a:txBody>
                    <a:bodyPr/>
                    <a:lstStyle/>
                    <a:p>
                      <a:pPr marL="0" marR="0" lvl="0" indent="0" algn="r" defTabSz="914400" rtl="0" eaLnBrk="1" fontAlgn="base" latinLnBrk="0" hangingPunct="1">
                        <a:lnSpc>
                          <a:spcPct val="100000"/>
                        </a:lnSpc>
                        <a:spcBef>
                          <a:spcPct val="20000"/>
                        </a:spcBef>
                        <a:spcAft>
                          <a:spcPct val="0"/>
                        </a:spcAft>
                        <a:buClrTx/>
                        <a:buSzTx/>
                        <a:buFontTx/>
                        <a:buNone/>
                        <a:tabLst/>
                        <a:defRPr/>
                      </a:pPr>
                      <a:r>
                        <a:rPr kumimoji="0" lang="en-US" sz="2000" b="0" i="0" u="none" strike="noStrike" kern="1200" cap="none" normalizeH="0" baseline="0" dirty="0">
                          <a:ln>
                            <a:noFill/>
                          </a:ln>
                          <a:solidFill>
                            <a:schemeClr val="tx1"/>
                          </a:solidFill>
                          <a:effectLst/>
                          <a:latin typeface="Tahoma" panose="020B0604030504040204" pitchFamily="34" charset="0"/>
                          <a:ea typeface="+mn-ea"/>
                          <a:cs typeface="+mn-cs"/>
                        </a:rPr>
                        <a:t>30,000</a:t>
                      </a:r>
                    </a:p>
                  </a:txBody>
                  <a:tcPr/>
                </a:tc>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GB" altLang="en-US" sz="2400" b="0" i="0" u="none" strike="noStrike" cap="none" normalizeH="0" baseline="0" dirty="0">
                          <a:ln>
                            <a:noFill/>
                          </a:ln>
                          <a:solidFill>
                            <a:schemeClr val="tx1"/>
                          </a:solidFill>
                          <a:effectLst/>
                          <a:latin typeface="Tahoma" panose="020B0604030504040204" pitchFamily="34" charset="0"/>
                        </a:rPr>
                        <a:t>0.6209</a:t>
                      </a:r>
                    </a:p>
                  </a:txBody>
                  <a:tcPr marL="110731" marR="110731" anchor="ctr" horzOverflow="overflow"/>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IN" sz="2400" b="0" i="0" u="none" strike="noStrike" kern="1200" cap="none" normalizeH="0" baseline="0">
                          <a:ln>
                            <a:noFill/>
                          </a:ln>
                          <a:solidFill>
                            <a:srgbClr val="0000CC"/>
                          </a:solidFill>
                          <a:effectLst/>
                          <a:latin typeface="Tahoma" panose="020B0604030504040204" pitchFamily="34" charset="0"/>
                          <a:ea typeface="+mn-ea"/>
                          <a:cs typeface="+mn-cs"/>
                        </a:rPr>
                        <a:t>18627</a:t>
                      </a:r>
                      <a:endParaRPr kumimoji="0" lang="en-IN" sz="2400" b="0" i="0" u="none" strike="noStrike" kern="1200" cap="none" normalizeH="0" baseline="0" dirty="0">
                        <a:ln>
                          <a:noFill/>
                        </a:ln>
                        <a:solidFill>
                          <a:srgbClr val="0000CC"/>
                        </a:solidFill>
                        <a:effectLst/>
                        <a:latin typeface="Tahoma" panose="020B0604030504040204" pitchFamily="34" charset="0"/>
                        <a:ea typeface="+mn-ea"/>
                        <a:cs typeface="+mn-cs"/>
                      </a:endParaRPr>
                    </a:p>
                  </a:txBody>
                  <a:tcPr marL="7620" marR="7620" marT="7620" marB="0" anchor="b"/>
                </a:tc>
                <a:extLst>
                  <a:ext uri="{0D108BD9-81ED-4DB2-BD59-A6C34878D82A}">
                    <a16:rowId xmlns:a16="http://schemas.microsoft.com/office/drawing/2014/main" val="2077385687"/>
                  </a:ext>
                </a:extLst>
              </a:tr>
              <a:tr h="37084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GB" altLang="en-US" sz="200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endParaRPr>
                    </a:p>
                  </a:txBody>
                  <a:tcPr anchor="ctr" horzOverflow="overflow"/>
                </a:tc>
                <a:tc>
                  <a:txBody>
                    <a:bodyPr/>
                    <a:lstStyle/>
                    <a:p>
                      <a:pPr algn="r"/>
                      <a:endParaRPr lang="en-US" sz="2000" dirty="0">
                        <a:latin typeface="Tahoma" panose="020B0604030504040204" pitchFamily="34" charset="0"/>
                        <a:ea typeface="Tahoma" panose="020B0604030504040204" pitchFamily="34" charset="0"/>
                        <a:cs typeface="Tahoma" panose="020B0604030504040204" pitchFamily="34" charset="0"/>
                      </a:endParaRPr>
                    </a:p>
                  </a:txBody>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GB" altLang="en-US" sz="2400" b="0" i="0" u="none" strike="noStrike" cap="none" normalizeH="0" baseline="0" dirty="0">
                          <a:ln>
                            <a:noFill/>
                          </a:ln>
                          <a:solidFill>
                            <a:schemeClr val="tx1"/>
                          </a:solidFill>
                          <a:effectLst/>
                          <a:latin typeface="Tahoma" panose="020B0604030504040204" pitchFamily="34" charset="0"/>
                        </a:rPr>
                        <a:t>NPV</a:t>
                      </a:r>
                    </a:p>
                  </a:txBody>
                  <a:tcPr marL="110731" marR="110731" anchor="ctr" horzOverflow="overflow"/>
                </a:tc>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sz="2000" b="0" i="0" u="none" strike="noStrike" kern="1200" cap="none" normalizeH="0" baseline="0" dirty="0">
                          <a:ln>
                            <a:noFill/>
                          </a:ln>
                          <a:solidFill>
                            <a:srgbClr val="0000CC"/>
                          </a:solidFill>
                          <a:effectLst/>
                          <a:latin typeface="Tahoma" panose="020B0604030504040204" pitchFamily="34" charset="0"/>
                          <a:ea typeface="Tahoma" panose="020B0604030504040204" pitchFamily="34" charset="0"/>
                          <a:cs typeface="Tahoma" panose="020B0604030504040204" pitchFamily="34" charset="0"/>
                        </a:rPr>
                        <a:t>13721</a:t>
                      </a:r>
                      <a:endParaRPr kumimoji="0" lang="en-IN" sz="2000" b="0" i="0" u="none" strike="noStrike" kern="1200" cap="none" normalizeH="0" baseline="0" dirty="0">
                        <a:ln>
                          <a:noFill/>
                        </a:ln>
                        <a:solidFill>
                          <a:srgbClr val="0000CC"/>
                        </a:solidFill>
                        <a:effectLst/>
                        <a:latin typeface="Tahoma" panose="020B0604030504040204" pitchFamily="34" charset="0"/>
                        <a:ea typeface="Tahoma" panose="020B0604030504040204" pitchFamily="34" charset="0"/>
                        <a:cs typeface="Tahoma" panose="020B0604030504040204" pitchFamily="34" charset="0"/>
                      </a:endParaRPr>
                    </a:p>
                  </a:txBody>
                  <a:tcPr marL="7620" marR="7620" marT="7620" marB="0" anchor="b"/>
                </a:tc>
                <a:extLst>
                  <a:ext uri="{0D108BD9-81ED-4DB2-BD59-A6C34878D82A}">
                    <a16:rowId xmlns:a16="http://schemas.microsoft.com/office/drawing/2014/main" val="460354135"/>
                  </a:ext>
                </a:extLst>
              </a:tr>
            </a:tbl>
          </a:graphicData>
        </a:graphic>
      </p:graphicFrame>
      <p:sp>
        <p:nvSpPr>
          <p:cNvPr id="4" name="Date Placeholder 3"/>
          <p:cNvSpPr>
            <a:spLocks noGrp="1"/>
          </p:cNvSpPr>
          <p:nvPr>
            <p:ph type="dt" sz="half" idx="10"/>
          </p:nvPr>
        </p:nvSpPr>
        <p:spPr>
          <a:xfrm>
            <a:off x="271849" y="5627533"/>
            <a:ext cx="947026" cy="309201"/>
          </a:xfrm>
        </p:spPr>
        <p:txBody>
          <a:bodyPr/>
          <a:lstStyle/>
          <a:p>
            <a:fld id="{E9376695-FE31-4FE3-8789-583C0374522F}" type="datetime3">
              <a:rPr lang="en-US" smtClean="0"/>
              <a:t>28 November 2023</a:t>
            </a:fld>
            <a:endParaRPr lang="en-US" dirty="0"/>
          </a:p>
        </p:txBody>
      </p:sp>
      <p:sp>
        <p:nvSpPr>
          <p:cNvPr id="6" name="Footer Placeholder 5"/>
          <p:cNvSpPr>
            <a:spLocks noGrp="1"/>
          </p:cNvSpPr>
          <p:nvPr>
            <p:ph type="ftr" sz="quarter" idx="11"/>
          </p:nvPr>
        </p:nvSpPr>
        <p:spPr>
          <a:xfrm>
            <a:off x="7234542" y="5898510"/>
            <a:ext cx="4545567" cy="309201"/>
          </a:xfrm>
        </p:spPr>
        <p:txBody>
          <a:bodyPr/>
          <a:lstStyle/>
          <a:p>
            <a:r>
              <a:rPr lang="en-US" dirty="0"/>
              <a:t>Software Project Management       Dr. D </a:t>
            </a:r>
            <a:r>
              <a:rPr lang="en-US" dirty="0" err="1"/>
              <a:t>Evangelin</a:t>
            </a:r>
            <a:r>
              <a:rPr lang="en-US" dirty="0"/>
              <a:t> Geetha    Dept. of MCA     RIT</a:t>
            </a:r>
          </a:p>
        </p:txBody>
      </p:sp>
      <p:sp>
        <p:nvSpPr>
          <p:cNvPr id="7" name="Slide Number Placeholder 6"/>
          <p:cNvSpPr>
            <a:spLocks noGrp="1"/>
          </p:cNvSpPr>
          <p:nvPr>
            <p:ph type="sldNum" sz="quarter" idx="12"/>
          </p:nvPr>
        </p:nvSpPr>
        <p:spPr/>
        <p:txBody>
          <a:bodyPr/>
          <a:lstStyle/>
          <a:p>
            <a:fld id="{6D22F896-40B5-4ADD-8801-0D06FADFA095}" type="slidenum">
              <a:rPr lang="en-US" smtClean="0"/>
              <a:t>52</a:t>
            </a:fld>
            <a:endParaRPr lang="en-US" dirty="0"/>
          </a:p>
        </p:txBody>
      </p:sp>
    </p:spTree>
    <p:extLst>
      <p:ext uri="{BB962C8B-B14F-4D97-AF65-F5344CB8AC3E}">
        <p14:creationId xmlns:p14="http://schemas.microsoft.com/office/powerpoint/2010/main" val="197805354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Net present value</a:t>
            </a:r>
            <a:endParaRPr lang="en-IN" dirty="0"/>
          </a:p>
        </p:txBody>
      </p:sp>
      <p:sp>
        <p:nvSpPr>
          <p:cNvPr id="3" name="Content Placeholder 2"/>
          <p:cNvSpPr>
            <a:spLocks noGrp="1"/>
          </p:cNvSpPr>
          <p:nvPr>
            <p:ph sz="half" idx="1"/>
          </p:nvPr>
        </p:nvSpPr>
        <p:spPr>
          <a:xfrm>
            <a:off x="2727712" y="1260620"/>
            <a:ext cx="1440633" cy="499566"/>
          </a:xfrm>
        </p:spPr>
        <p:txBody>
          <a:bodyPr>
            <a:normAutofit fontScale="92500" lnSpcReduction="20000"/>
          </a:bodyPr>
          <a:lstStyle/>
          <a:p>
            <a:pPr marL="0" indent="0">
              <a:buNone/>
            </a:pPr>
            <a:r>
              <a:rPr lang="en-GB" altLang="en-US" dirty="0"/>
              <a:t>Project 4</a:t>
            </a:r>
          </a:p>
        </p:txBody>
      </p:sp>
      <p:sp>
        <p:nvSpPr>
          <p:cNvPr id="4" name="Date Placeholder 3"/>
          <p:cNvSpPr>
            <a:spLocks noGrp="1"/>
          </p:cNvSpPr>
          <p:nvPr>
            <p:ph type="dt" sz="half" idx="10"/>
          </p:nvPr>
        </p:nvSpPr>
        <p:spPr>
          <a:xfrm>
            <a:off x="271849" y="5627533"/>
            <a:ext cx="947026" cy="309201"/>
          </a:xfrm>
        </p:spPr>
        <p:txBody>
          <a:bodyPr/>
          <a:lstStyle/>
          <a:p>
            <a:fld id="{E9376695-FE31-4FE3-8789-583C0374522F}" type="datetime3">
              <a:rPr lang="en-US" smtClean="0"/>
              <a:t>28 November 2023</a:t>
            </a:fld>
            <a:endParaRPr lang="en-US" dirty="0"/>
          </a:p>
        </p:txBody>
      </p:sp>
      <p:sp>
        <p:nvSpPr>
          <p:cNvPr id="6" name="Footer Placeholder 5"/>
          <p:cNvSpPr>
            <a:spLocks noGrp="1"/>
          </p:cNvSpPr>
          <p:nvPr>
            <p:ph type="ftr" sz="quarter" idx="11"/>
          </p:nvPr>
        </p:nvSpPr>
        <p:spPr>
          <a:xfrm>
            <a:off x="4466628" y="5600989"/>
            <a:ext cx="4545567" cy="309201"/>
          </a:xfrm>
        </p:spPr>
        <p:txBody>
          <a:bodyPr/>
          <a:lstStyle/>
          <a:p>
            <a:r>
              <a:rPr lang="en-US" dirty="0"/>
              <a:t>Software Project Management       Dr. D </a:t>
            </a:r>
            <a:r>
              <a:rPr lang="en-US" dirty="0" err="1"/>
              <a:t>Evangelin</a:t>
            </a:r>
            <a:r>
              <a:rPr lang="en-US" dirty="0"/>
              <a:t> Geetha    Dept. of MCA     RIT</a:t>
            </a:r>
          </a:p>
        </p:txBody>
      </p:sp>
      <p:sp>
        <p:nvSpPr>
          <p:cNvPr id="7" name="Slide Number Placeholder 6"/>
          <p:cNvSpPr>
            <a:spLocks noGrp="1"/>
          </p:cNvSpPr>
          <p:nvPr>
            <p:ph type="sldNum" sz="quarter" idx="12"/>
          </p:nvPr>
        </p:nvSpPr>
        <p:spPr/>
        <p:txBody>
          <a:bodyPr/>
          <a:lstStyle/>
          <a:p>
            <a:fld id="{6D22F896-40B5-4ADD-8801-0D06FADFA095}" type="slidenum">
              <a:rPr lang="en-US" smtClean="0"/>
              <a:t>53</a:t>
            </a:fld>
            <a:endParaRPr lang="en-US" dirty="0"/>
          </a:p>
        </p:txBody>
      </p:sp>
      <p:graphicFrame>
        <p:nvGraphicFramePr>
          <p:cNvPr id="12" name="Content Placeholder 4">
            <a:extLst>
              <a:ext uri="{FF2B5EF4-FFF2-40B4-BE49-F238E27FC236}">
                <a16:creationId xmlns:a16="http://schemas.microsoft.com/office/drawing/2014/main" id="{EBA00C39-F11D-4C80-97A7-1C6DF8612AB2}"/>
              </a:ext>
            </a:extLst>
          </p:cNvPr>
          <p:cNvGraphicFramePr>
            <a:graphicFrameLocks noGrp="1"/>
          </p:cNvGraphicFramePr>
          <p:nvPr>
            <p:ph sz="half" idx="2"/>
          </p:nvPr>
        </p:nvGraphicFramePr>
        <p:xfrm>
          <a:off x="2213039" y="1889543"/>
          <a:ext cx="7377849" cy="3901440"/>
        </p:xfrm>
        <a:graphic>
          <a:graphicData uri="http://schemas.openxmlformats.org/drawingml/2006/table">
            <a:tbl>
              <a:tblPr firstRow="1" bandRow="1">
                <a:tableStyleId>{5C22544A-7EE6-4342-B048-85BDC9FD1C3A}</a:tableStyleId>
              </a:tblPr>
              <a:tblGrid>
                <a:gridCol w="1026694">
                  <a:extLst>
                    <a:ext uri="{9D8B030D-6E8A-4147-A177-3AD203B41FA5}">
                      <a16:colId xmlns:a16="http://schemas.microsoft.com/office/drawing/2014/main" val="2248303887"/>
                    </a:ext>
                  </a:extLst>
                </a:gridCol>
                <a:gridCol w="2009992">
                  <a:extLst>
                    <a:ext uri="{9D8B030D-6E8A-4147-A177-3AD203B41FA5}">
                      <a16:colId xmlns:a16="http://schemas.microsoft.com/office/drawing/2014/main" val="2023753746"/>
                    </a:ext>
                  </a:extLst>
                </a:gridCol>
                <a:gridCol w="2318863">
                  <a:extLst>
                    <a:ext uri="{9D8B030D-6E8A-4147-A177-3AD203B41FA5}">
                      <a16:colId xmlns:a16="http://schemas.microsoft.com/office/drawing/2014/main" val="4244003138"/>
                    </a:ext>
                  </a:extLst>
                </a:gridCol>
                <a:gridCol w="2022300">
                  <a:extLst>
                    <a:ext uri="{9D8B030D-6E8A-4147-A177-3AD203B41FA5}">
                      <a16:colId xmlns:a16="http://schemas.microsoft.com/office/drawing/2014/main" val="387657477"/>
                    </a:ext>
                  </a:extLst>
                </a:gridCol>
              </a:tblGrid>
              <a:tr h="370840">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GB" altLang="en-US" sz="2000" b="0" i="0" u="none" strike="noStrike" cap="none" normalizeH="0" baseline="0" dirty="0">
                          <a:ln>
                            <a:noFill/>
                          </a:ln>
                          <a:solidFill>
                            <a:schemeClr val="bg2"/>
                          </a:solidFill>
                          <a:effectLst/>
                          <a:latin typeface="Tahoma" panose="020B0604030504040204" pitchFamily="34" charset="0"/>
                          <a:ea typeface="Tahoma" panose="020B0604030504040204" pitchFamily="34" charset="0"/>
                          <a:cs typeface="Tahoma" panose="020B0604030504040204" pitchFamily="34" charset="0"/>
                        </a:rPr>
                        <a:t>Year</a:t>
                      </a:r>
                    </a:p>
                  </a:txBody>
                  <a:tcPr horzOverflow="overflow"/>
                </a:tc>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GB" altLang="en-US" sz="2000" b="0" i="0" u="none" strike="noStrike" cap="none" normalizeH="0" baseline="0" dirty="0">
                          <a:ln>
                            <a:noFill/>
                          </a:ln>
                          <a:solidFill>
                            <a:schemeClr val="bg2"/>
                          </a:solidFill>
                          <a:effectLst/>
                          <a:latin typeface="Tahoma" panose="020B0604030504040204" pitchFamily="34" charset="0"/>
                          <a:ea typeface="Tahoma" panose="020B0604030504040204" pitchFamily="34" charset="0"/>
                          <a:cs typeface="Tahoma" panose="020B0604030504040204" pitchFamily="34" charset="0"/>
                        </a:rPr>
                        <a:t>Cash-flow</a:t>
                      </a:r>
                    </a:p>
                  </a:txBody>
                  <a:tcPr horzOverflow="overflow"/>
                </a:tc>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GB" altLang="en-US" sz="2000" b="0" i="0" u="none" strike="noStrike" cap="none" normalizeH="0" baseline="0" dirty="0">
                          <a:ln>
                            <a:noFill/>
                          </a:ln>
                          <a:solidFill>
                            <a:schemeClr val="bg2"/>
                          </a:solidFill>
                          <a:effectLst/>
                          <a:latin typeface="Tahoma" panose="020B0604030504040204" pitchFamily="34" charset="0"/>
                          <a:ea typeface="Tahoma" panose="020B0604030504040204" pitchFamily="34" charset="0"/>
                          <a:cs typeface="Tahoma" panose="020B0604030504040204" pitchFamily="34" charset="0"/>
                        </a:rPr>
                        <a:t>Discount Factor</a:t>
                      </a:r>
                    </a:p>
                  </a:txBody>
                  <a:tcPr horzOverflow="overflow"/>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defRPr/>
                      </a:pPr>
                      <a:r>
                        <a:rPr kumimoji="0" lang="en-GB" altLang="en-US" sz="2000" b="0" i="0" u="none" strike="noStrike" cap="none" normalizeH="0" baseline="0" dirty="0">
                          <a:ln>
                            <a:noFill/>
                          </a:ln>
                          <a:solidFill>
                            <a:schemeClr val="bg1"/>
                          </a:solidFill>
                          <a:effectLst/>
                          <a:latin typeface="Tahoma" panose="020B0604030504040204" pitchFamily="34" charset="0"/>
                        </a:rPr>
                        <a:t>Discounted cash flow</a:t>
                      </a:r>
                    </a:p>
                  </a:txBody>
                  <a:tcPr horzOverflow="overflow"/>
                </a:tc>
                <a:extLst>
                  <a:ext uri="{0D108BD9-81ED-4DB2-BD59-A6C34878D82A}">
                    <a16:rowId xmlns:a16="http://schemas.microsoft.com/office/drawing/2014/main" val="2686042913"/>
                  </a:ext>
                </a:extLst>
              </a:tr>
              <a:tr h="370840">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altLang="en-US" sz="200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0</a:t>
                      </a:r>
                    </a:p>
                  </a:txBody>
                  <a:tcPr horzOverflow="overflow"/>
                </a:tc>
                <a:tc>
                  <a:txBody>
                    <a:bodyPr/>
                    <a:lstStyle/>
                    <a:p>
                      <a:pPr algn="r"/>
                      <a:r>
                        <a:rPr lang="en-US" sz="2000" dirty="0">
                          <a:latin typeface="Tahoma" panose="020B0604030504040204" pitchFamily="34" charset="0"/>
                          <a:ea typeface="Tahoma" panose="020B0604030504040204" pitchFamily="34" charset="0"/>
                          <a:cs typeface="Tahoma" panose="020B0604030504040204" pitchFamily="34" charset="0"/>
                        </a:rPr>
                        <a:t>-1,20,000</a:t>
                      </a:r>
                    </a:p>
                  </a:txBody>
                  <a:tcPr/>
                </a:tc>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GB" altLang="en-US" sz="2400" b="0" i="0" u="none" strike="noStrike" cap="none" normalizeH="0" baseline="0" dirty="0">
                          <a:ln>
                            <a:noFill/>
                          </a:ln>
                          <a:solidFill>
                            <a:schemeClr val="tx1"/>
                          </a:solidFill>
                          <a:effectLst/>
                          <a:latin typeface="Tahoma" panose="020B0604030504040204" pitchFamily="34" charset="0"/>
                        </a:rPr>
                        <a:t>1.0000</a:t>
                      </a:r>
                    </a:p>
                  </a:txBody>
                  <a:tcPr marL="110731" marR="110731" horzOverflow="overflow"/>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endParaRPr kumimoji="0" lang="en-IN" sz="2400" b="0" i="0" u="none" strike="noStrike" kern="1200" cap="none" normalizeH="0" baseline="0" dirty="0">
                        <a:ln>
                          <a:noFill/>
                        </a:ln>
                        <a:solidFill>
                          <a:schemeClr val="tx1"/>
                        </a:solidFill>
                        <a:effectLst/>
                        <a:latin typeface="Tahoma" panose="020B0604030504040204" pitchFamily="34" charset="0"/>
                        <a:ea typeface="+mn-ea"/>
                        <a:cs typeface="+mn-cs"/>
                      </a:endParaRPr>
                    </a:p>
                  </a:txBody>
                  <a:tcPr marL="7620" marR="7620" marT="7620" marB="0" anchor="b"/>
                </a:tc>
                <a:extLst>
                  <a:ext uri="{0D108BD9-81ED-4DB2-BD59-A6C34878D82A}">
                    <a16:rowId xmlns:a16="http://schemas.microsoft.com/office/drawing/2014/main" val="2715192214"/>
                  </a:ext>
                </a:extLst>
              </a:tr>
              <a:tr h="420343">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altLang="en-US" sz="200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1</a:t>
                      </a:r>
                    </a:p>
                  </a:txBody>
                  <a:tcPr horzOverflow="overflow"/>
                </a:tc>
                <a:tc>
                  <a:txBody>
                    <a:bodyPr/>
                    <a:lstStyle/>
                    <a:p>
                      <a:pPr algn="r"/>
                      <a:r>
                        <a:rPr lang="en-US" sz="2000" dirty="0">
                          <a:latin typeface="Tahoma" panose="020B0604030504040204" pitchFamily="34" charset="0"/>
                          <a:ea typeface="Tahoma" panose="020B0604030504040204" pitchFamily="34" charset="0"/>
                          <a:cs typeface="Tahoma" panose="020B0604030504040204" pitchFamily="34" charset="0"/>
                        </a:rPr>
                        <a:t>30,000</a:t>
                      </a:r>
                    </a:p>
                  </a:txBody>
                  <a:tcPr/>
                </a:tc>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GB" altLang="en-US" sz="2400" b="0" i="0" u="none" strike="noStrike" cap="none" normalizeH="0" baseline="0" dirty="0">
                          <a:ln>
                            <a:noFill/>
                          </a:ln>
                          <a:solidFill>
                            <a:schemeClr val="tx1"/>
                          </a:solidFill>
                          <a:effectLst/>
                          <a:latin typeface="Tahoma" panose="020B0604030504040204" pitchFamily="34" charset="0"/>
                        </a:rPr>
                        <a:t>0.9091</a:t>
                      </a:r>
                    </a:p>
                  </a:txBody>
                  <a:tcPr marL="110731" marR="110731" horzOverflow="overflow"/>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endParaRPr kumimoji="0" lang="en-IN" sz="2400" b="0" i="0" u="none" strike="noStrike" kern="1200" cap="none" normalizeH="0" baseline="0" dirty="0">
                        <a:ln>
                          <a:noFill/>
                        </a:ln>
                        <a:solidFill>
                          <a:schemeClr val="tx1"/>
                        </a:solidFill>
                        <a:effectLst/>
                        <a:latin typeface="Tahoma" panose="020B0604030504040204" pitchFamily="34" charset="0"/>
                        <a:ea typeface="+mn-ea"/>
                        <a:cs typeface="+mn-cs"/>
                      </a:endParaRPr>
                    </a:p>
                  </a:txBody>
                  <a:tcPr marL="7620" marR="7620" marT="7620" marB="0" anchor="b"/>
                </a:tc>
                <a:extLst>
                  <a:ext uri="{0D108BD9-81ED-4DB2-BD59-A6C34878D82A}">
                    <a16:rowId xmlns:a16="http://schemas.microsoft.com/office/drawing/2014/main" val="604836554"/>
                  </a:ext>
                </a:extLst>
              </a:tr>
              <a:tr h="370840">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altLang="en-US" sz="200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2</a:t>
                      </a:r>
                    </a:p>
                  </a:txBody>
                  <a:tcPr horzOverflow="overflow"/>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2000" dirty="0">
                          <a:latin typeface="Tahoma" panose="020B0604030504040204" pitchFamily="34" charset="0"/>
                          <a:ea typeface="Tahoma" panose="020B0604030504040204" pitchFamily="34" charset="0"/>
                          <a:cs typeface="Tahoma" panose="020B0604030504040204" pitchFamily="34" charset="0"/>
                        </a:rPr>
                        <a:t>30,000</a:t>
                      </a:r>
                    </a:p>
                  </a:txBody>
                  <a:tcPr/>
                </a:tc>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GB" altLang="en-US" sz="2400" b="0" i="0" u="none" strike="noStrike" cap="none" normalizeH="0" baseline="0" dirty="0">
                          <a:ln>
                            <a:noFill/>
                          </a:ln>
                          <a:solidFill>
                            <a:schemeClr val="tx1"/>
                          </a:solidFill>
                          <a:effectLst/>
                          <a:latin typeface="Tahoma" panose="020B0604030504040204" pitchFamily="34" charset="0"/>
                        </a:rPr>
                        <a:t>0.8264</a:t>
                      </a:r>
                    </a:p>
                  </a:txBody>
                  <a:tcPr marL="110731" marR="110731" horzOverflow="overflow"/>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endParaRPr kumimoji="0" lang="en-IN" sz="2400" b="0" i="0" u="none" strike="noStrike" kern="1200" cap="none" normalizeH="0" baseline="0" dirty="0">
                        <a:ln>
                          <a:noFill/>
                        </a:ln>
                        <a:solidFill>
                          <a:schemeClr val="tx1"/>
                        </a:solidFill>
                        <a:effectLst/>
                        <a:latin typeface="Tahoma" panose="020B0604030504040204" pitchFamily="34" charset="0"/>
                        <a:ea typeface="+mn-ea"/>
                        <a:cs typeface="+mn-cs"/>
                      </a:endParaRPr>
                    </a:p>
                  </a:txBody>
                  <a:tcPr marL="7620" marR="7620" marT="7620" marB="0" anchor="b"/>
                </a:tc>
                <a:extLst>
                  <a:ext uri="{0D108BD9-81ED-4DB2-BD59-A6C34878D82A}">
                    <a16:rowId xmlns:a16="http://schemas.microsoft.com/office/drawing/2014/main" val="3098725958"/>
                  </a:ext>
                </a:extLst>
              </a:tr>
              <a:tr h="370840">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altLang="en-US" sz="200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3</a:t>
                      </a:r>
                    </a:p>
                  </a:txBody>
                  <a:tcPr horzOverflow="overflow"/>
                </a:tc>
                <a:tc>
                  <a:txBody>
                    <a:bodyPr/>
                    <a:lstStyle/>
                    <a:p>
                      <a:pPr algn="r"/>
                      <a:r>
                        <a:rPr lang="en-US" sz="2000" dirty="0">
                          <a:latin typeface="Tahoma" panose="020B0604030504040204" pitchFamily="34" charset="0"/>
                          <a:ea typeface="Tahoma" panose="020B0604030504040204" pitchFamily="34" charset="0"/>
                          <a:cs typeface="Tahoma" panose="020B0604030504040204" pitchFamily="34" charset="0"/>
                        </a:rPr>
                        <a:t>30,000</a:t>
                      </a:r>
                    </a:p>
                  </a:txBody>
                  <a:tcPr/>
                </a:tc>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GB" altLang="en-US" sz="2400" b="0" i="0" u="none" strike="noStrike" cap="none" normalizeH="0" baseline="0" dirty="0">
                          <a:ln>
                            <a:noFill/>
                          </a:ln>
                          <a:solidFill>
                            <a:schemeClr val="tx1"/>
                          </a:solidFill>
                          <a:effectLst/>
                          <a:latin typeface="Tahoma" panose="020B0604030504040204" pitchFamily="34" charset="0"/>
                        </a:rPr>
                        <a:t>0.7513</a:t>
                      </a:r>
                    </a:p>
                  </a:txBody>
                  <a:tcPr marL="110731" marR="110731" horzOverflow="overflow"/>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endParaRPr kumimoji="0" lang="en-IN" sz="2400" b="0" i="0" u="none" strike="noStrike" kern="1200" cap="none" normalizeH="0" baseline="0" dirty="0">
                        <a:ln>
                          <a:noFill/>
                        </a:ln>
                        <a:solidFill>
                          <a:schemeClr val="tx1"/>
                        </a:solidFill>
                        <a:effectLst/>
                        <a:latin typeface="Tahoma" panose="020B0604030504040204" pitchFamily="34" charset="0"/>
                        <a:ea typeface="+mn-ea"/>
                        <a:cs typeface="+mn-cs"/>
                      </a:endParaRPr>
                    </a:p>
                  </a:txBody>
                  <a:tcPr marL="7620" marR="7620" marT="7620" marB="0" anchor="b"/>
                </a:tc>
                <a:extLst>
                  <a:ext uri="{0D108BD9-81ED-4DB2-BD59-A6C34878D82A}">
                    <a16:rowId xmlns:a16="http://schemas.microsoft.com/office/drawing/2014/main" val="929871789"/>
                  </a:ext>
                </a:extLst>
              </a:tr>
              <a:tr h="370840">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altLang="en-US" sz="200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4</a:t>
                      </a:r>
                    </a:p>
                  </a:txBody>
                  <a:tcPr horzOverflow="overflow"/>
                </a:tc>
                <a:tc>
                  <a:txBody>
                    <a:bodyPr/>
                    <a:lstStyle/>
                    <a:p>
                      <a:pPr algn="r"/>
                      <a:r>
                        <a:rPr lang="en-US" sz="2000" dirty="0">
                          <a:latin typeface="Tahoma" panose="020B0604030504040204" pitchFamily="34" charset="0"/>
                          <a:ea typeface="Tahoma" panose="020B0604030504040204" pitchFamily="34" charset="0"/>
                          <a:cs typeface="Tahoma" panose="020B0604030504040204" pitchFamily="34" charset="0"/>
                        </a:rPr>
                        <a:t>30,000</a:t>
                      </a:r>
                    </a:p>
                  </a:txBody>
                  <a:tcPr/>
                </a:tc>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GB" altLang="en-US" sz="2400" b="0" i="0" u="none" strike="noStrike" cap="none" normalizeH="0" baseline="0" dirty="0">
                          <a:ln>
                            <a:noFill/>
                          </a:ln>
                          <a:solidFill>
                            <a:schemeClr val="tx1"/>
                          </a:solidFill>
                          <a:effectLst/>
                          <a:latin typeface="Tahoma" panose="020B0604030504040204" pitchFamily="34" charset="0"/>
                        </a:rPr>
                        <a:t>0.6830</a:t>
                      </a:r>
                    </a:p>
                  </a:txBody>
                  <a:tcPr marL="110731" marR="110731" horzOverflow="overflow"/>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endParaRPr kumimoji="0" lang="en-IN" sz="2400" b="0" i="0" u="none" strike="noStrike" kern="1200" cap="none" normalizeH="0" baseline="0" dirty="0">
                        <a:ln>
                          <a:noFill/>
                        </a:ln>
                        <a:solidFill>
                          <a:schemeClr val="tx1"/>
                        </a:solidFill>
                        <a:effectLst/>
                        <a:latin typeface="Tahoma" panose="020B0604030504040204" pitchFamily="34" charset="0"/>
                        <a:ea typeface="+mn-ea"/>
                        <a:cs typeface="+mn-cs"/>
                      </a:endParaRPr>
                    </a:p>
                  </a:txBody>
                  <a:tcPr marL="7620" marR="7620" marT="7620" marB="0" anchor="b"/>
                </a:tc>
                <a:extLst>
                  <a:ext uri="{0D108BD9-81ED-4DB2-BD59-A6C34878D82A}">
                    <a16:rowId xmlns:a16="http://schemas.microsoft.com/office/drawing/2014/main" val="292312927"/>
                  </a:ext>
                </a:extLst>
              </a:tr>
              <a:tr h="370840">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altLang="en-US" sz="200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5</a:t>
                      </a:r>
                    </a:p>
                  </a:txBody>
                  <a:tcPr anchor="ctr" horzOverflow="overflow"/>
                </a:tc>
                <a:tc>
                  <a:txBody>
                    <a:bodyPr/>
                    <a:lstStyle/>
                    <a:p>
                      <a:pPr algn="r"/>
                      <a:r>
                        <a:rPr lang="en-US" sz="2000" dirty="0">
                          <a:latin typeface="Tahoma" panose="020B0604030504040204" pitchFamily="34" charset="0"/>
                          <a:ea typeface="Tahoma" panose="020B0604030504040204" pitchFamily="34" charset="0"/>
                          <a:cs typeface="Tahoma" panose="020B0604030504040204" pitchFamily="34" charset="0"/>
                        </a:rPr>
                        <a:t>75,000</a:t>
                      </a:r>
                    </a:p>
                  </a:txBody>
                  <a:tcPr/>
                </a:tc>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GB" altLang="en-US" sz="2400" b="0" i="0" u="none" strike="noStrike" cap="none" normalizeH="0" baseline="0" dirty="0">
                          <a:ln>
                            <a:noFill/>
                          </a:ln>
                          <a:solidFill>
                            <a:schemeClr val="tx1"/>
                          </a:solidFill>
                          <a:effectLst/>
                          <a:latin typeface="Tahoma" panose="020B0604030504040204" pitchFamily="34" charset="0"/>
                        </a:rPr>
                        <a:t>0.6209</a:t>
                      </a:r>
                    </a:p>
                  </a:txBody>
                  <a:tcPr marL="110731" marR="110731" anchor="ctr" horzOverflow="overflow"/>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endParaRPr kumimoji="0" lang="en-IN" sz="2400" b="0" i="0" u="none" strike="noStrike" kern="1200" cap="none" normalizeH="0" baseline="0" dirty="0">
                        <a:ln>
                          <a:noFill/>
                        </a:ln>
                        <a:solidFill>
                          <a:schemeClr val="tx1"/>
                        </a:solidFill>
                        <a:effectLst/>
                        <a:latin typeface="Tahoma" panose="020B0604030504040204" pitchFamily="34" charset="0"/>
                        <a:ea typeface="+mn-ea"/>
                        <a:cs typeface="+mn-cs"/>
                      </a:endParaRPr>
                    </a:p>
                  </a:txBody>
                  <a:tcPr marL="7620" marR="7620" marT="7620" marB="0" anchor="b"/>
                </a:tc>
                <a:extLst>
                  <a:ext uri="{0D108BD9-81ED-4DB2-BD59-A6C34878D82A}">
                    <a16:rowId xmlns:a16="http://schemas.microsoft.com/office/drawing/2014/main" val="2077385687"/>
                  </a:ext>
                </a:extLst>
              </a:tr>
              <a:tr h="37084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GB" altLang="en-US" sz="200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endParaRPr>
                    </a:p>
                  </a:txBody>
                  <a:tcPr anchor="ctr" horzOverflow="overflow"/>
                </a:tc>
                <a:tc>
                  <a:txBody>
                    <a:bodyPr/>
                    <a:lstStyle/>
                    <a:p>
                      <a:pPr algn="r"/>
                      <a:endParaRPr lang="en-US" sz="2000" dirty="0">
                        <a:latin typeface="Tahoma" panose="020B0604030504040204" pitchFamily="34" charset="0"/>
                        <a:ea typeface="Tahoma" panose="020B0604030504040204" pitchFamily="34" charset="0"/>
                        <a:cs typeface="Tahoma" panose="020B0604030504040204" pitchFamily="34" charset="0"/>
                      </a:endParaRPr>
                    </a:p>
                  </a:txBody>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GB" altLang="en-US" sz="2400" b="0" i="0" u="none" strike="noStrike" cap="none" normalizeH="0" baseline="0" dirty="0">
                          <a:ln>
                            <a:noFill/>
                          </a:ln>
                          <a:solidFill>
                            <a:schemeClr val="tx1"/>
                          </a:solidFill>
                          <a:effectLst/>
                          <a:latin typeface="Tahoma" panose="020B0604030504040204" pitchFamily="34" charset="0"/>
                        </a:rPr>
                        <a:t>NPV</a:t>
                      </a:r>
                    </a:p>
                  </a:txBody>
                  <a:tcPr marL="110731" marR="110731" anchor="ctr" horzOverflow="overflow"/>
                </a:tc>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endParaRPr kumimoji="0" lang="en-IN" sz="2000" b="0" i="0" u="none" strike="noStrike" kern="1200" cap="none" normalizeH="0" baseline="0" dirty="0">
                        <a:ln>
                          <a:noFill/>
                        </a:ln>
                        <a:solidFill>
                          <a:srgbClr val="0000CC"/>
                        </a:solidFill>
                        <a:effectLst/>
                        <a:latin typeface="Tahoma" panose="020B0604030504040204" pitchFamily="34" charset="0"/>
                        <a:ea typeface="Tahoma" panose="020B0604030504040204" pitchFamily="34" charset="0"/>
                        <a:cs typeface="Tahoma" panose="020B0604030504040204" pitchFamily="34" charset="0"/>
                      </a:endParaRPr>
                    </a:p>
                  </a:txBody>
                  <a:tcPr marL="7620" marR="7620" marT="7620" marB="0" anchor="b"/>
                </a:tc>
                <a:extLst>
                  <a:ext uri="{0D108BD9-81ED-4DB2-BD59-A6C34878D82A}">
                    <a16:rowId xmlns:a16="http://schemas.microsoft.com/office/drawing/2014/main" val="460354135"/>
                  </a:ext>
                </a:extLst>
              </a:tr>
            </a:tbl>
          </a:graphicData>
        </a:graphic>
      </p:graphicFrame>
    </p:spTree>
    <p:extLst>
      <p:ext uri="{BB962C8B-B14F-4D97-AF65-F5344CB8AC3E}">
        <p14:creationId xmlns:p14="http://schemas.microsoft.com/office/powerpoint/2010/main" val="304611354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Net present value</a:t>
            </a:r>
            <a:endParaRPr lang="en-IN" dirty="0"/>
          </a:p>
        </p:txBody>
      </p:sp>
      <p:sp>
        <p:nvSpPr>
          <p:cNvPr id="3" name="Content Placeholder 2"/>
          <p:cNvSpPr>
            <a:spLocks noGrp="1"/>
          </p:cNvSpPr>
          <p:nvPr>
            <p:ph sz="half" idx="1"/>
          </p:nvPr>
        </p:nvSpPr>
        <p:spPr>
          <a:xfrm>
            <a:off x="2727712" y="1260620"/>
            <a:ext cx="1440633" cy="499566"/>
          </a:xfrm>
        </p:spPr>
        <p:txBody>
          <a:bodyPr>
            <a:normAutofit fontScale="92500" lnSpcReduction="20000"/>
          </a:bodyPr>
          <a:lstStyle/>
          <a:p>
            <a:pPr marL="0" indent="0">
              <a:buNone/>
            </a:pPr>
            <a:r>
              <a:rPr lang="en-GB" altLang="en-US" dirty="0"/>
              <a:t>Project 4</a:t>
            </a:r>
          </a:p>
        </p:txBody>
      </p:sp>
      <p:sp>
        <p:nvSpPr>
          <p:cNvPr id="4" name="Date Placeholder 3"/>
          <p:cNvSpPr>
            <a:spLocks noGrp="1"/>
          </p:cNvSpPr>
          <p:nvPr>
            <p:ph type="dt" sz="half" idx="10"/>
          </p:nvPr>
        </p:nvSpPr>
        <p:spPr>
          <a:xfrm>
            <a:off x="271849" y="5627533"/>
            <a:ext cx="947026" cy="309201"/>
          </a:xfrm>
        </p:spPr>
        <p:txBody>
          <a:bodyPr/>
          <a:lstStyle/>
          <a:p>
            <a:fld id="{E9376695-FE31-4FE3-8789-583C0374522F}" type="datetime3">
              <a:rPr lang="en-US" smtClean="0"/>
              <a:t>28 November 2023</a:t>
            </a:fld>
            <a:endParaRPr lang="en-US" dirty="0"/>
          </a:p>
        </p:txBody>
      </p:sp>
      <p:sp>
        <p:nvSpPr>
          <p:cNvPr id="6" name="Footer Placeholder 5"/>
          <p:cNvSpPr>
            <a:spLocks noGrp="1"/>
          </p:cNvSpPr>
          <p:nvPr>
            <p:ph type="ftr" sz="quarter" idx="11"/>
          </p:nvPr>
        </p:nvSpPr>
        <p:spPr>
          <a:xfrm>
            <a:off x="4466628" y="5600989"/>
            <a:ext cx="4545567" cy="309201"/>
          </a:xfrm>
        </p:spPr>
        <p:txBody>
          <a:bodyPr/>
          <a:lstStyle/>
          <a:p>
            <a:r>
              <a:rPr lang="en-US" dirty="0"/>
              <a:t>Software Project Management       Dr. D </a:t>
            </a:r>
            <a:r>
              <a:rPr lang="en-US" dirty="0" err="1"/>
              <a:t>Evangelin</a:t>
            </a:r>
            <a:r>
              <a:rPr lang="en-US" dirty="0"/>
              <a:t> Geetha    Dept. of MCA     RIT</a:t>
            </a:r>
          </a:p>
        </p:txBody>
      </p:sp>
      <p:sp>
        <p:nvSpPr>
          <p:cNvPr id="7" name="Slide Number Placeholder 6"/>
          <p:cNvSpPr>
            <a:spLocks noGrp="1"/>
          </p:cNvSpPr>
          <p:nvPr>
            <p:ph type="sldNum" sz="quarter" idx="12"/>
          </p:nvPr>
        </p:nvSpPr>
        <p:spPr/>
        <p:txBody>
          <a:bodyPr/>
          <a:lstStyle/>
          <a:p>
            <a:fld id="{6D22F896-40B5-4ADD-8801-0D06FADFA095}" type="slidenum">
              <a:rPr lang="en-US" smtClean="0"/>
              <a:t>54</a:t>
            </a:fld>
            <a:endParaRPr lang="en-US" dirty="0"/>
          </a:p>
        </p:txBody>
      </p:sp>
      <p:graphicFrame>
        <p:nvGraphicFramePr>
          <p:cNvPr id="12" name="Content Placeholder 4">
            <a:extLst>
              <a:ext uri="{FF2B5EF4-FFF2-40B4-BE49-F238E27FC236}">
                <a16:creationId xmlns:a16="http://schemas.microsoft.com/office/drawing/2014/main" id="{EBA00C39-F11D-4C80-97A7-1C6DF8612AB2}"/>
              </a:ext>
            </a:extLst>
          </p:cNvPr>
          <p:cNvGraphicFramePr>
            <a:graphicFrameLocks noGrp="1"/>
          </p:cNvGraphicFramePr>
          <p:nvPr>
            <p:ph sz="half" idx="2"/>
          </p:nvPr>
        </p:nvGraphicFramePr>
        <p:xfrm>
          <a:off x="2213039" y="1889543"/>
          <a:ext cx="7377849" cy="3901440"/>
        </p:xfrm>
        <a:graphic>
          <a:graphicData uri="http://schemas.openxmlformats.org/drawingml/2006/table">
            <a:tbl>
              <a:tblPr firstRow="1" bandRow="1">
                <a:tableStyleId>{5C22544A-7EE6-4342-B048-85BDC9FD1C3A}</a:tableStyleId>
              </a:tblPr>
              <a:tblGrid>
                <a:gridCol w="1026694">
                  <a:extLst>
                    <a:ext uri="{9D8B030D-6E8A-4147-A177-3AD203B41FA5}">
                      <a16:colId xmlns:a16="http://schemas.microsoft.com/office/drawing/2014/main" val="2248303887"/>
                    </a:ext>
                  </a:extLst>
                </a:gridCol>
                <a:gridCol w="2009992">
                  <a:extLst>
                    <a:ext uri="{9D8B030D-6E8A-4147-A177-3AD203B41FA5}">
                      <a16:colId xmlns:a16="http://schemas.microsoft.com/office/drawing/2014/main" val="2023753746"/>
                    </a:ext>
                  </a:extLst>
                </a:gridCol>
                <a:gridCol w="2318863">
                  <a:extLst>
                    <a:ext uri="{9D8B030D-6E8A-4147-A177-3AD203B41FA5}">
                      <a16:colId xmlns:a16="http://schemas.microsoft.com/office/drawing/2014/main" val="4244003138"/>
                    </a:ext>
                  </a:extLst>
                </a:gridCol>
                <a:gridCol w="2022300">
                  <a:extLst>
                    <a:ext uri="{9D8B030D-6E8A-4147-A177-3AD203B41FA5}">
                      <a16:colId xmlns:a16="http://schemas.microsoft.com/office/drawing/2014/main" val="387657477"/>
                    </a:ext>
                  </a:extLst>
                </a:gridCol>
              </a:tblGrid>
              <a:tr h="370840">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GB" altLang="en-US" sz="2000" b="0" i="0" u="none" strike="noStrike" cap="none" normalizeH="0" baseline="0" dirty="0">
                          <a:ln>
                            <a:noFill/>
                          </a:ln>
                          <a:solidFill>
                            <a:schemeClr val="bg2"/>
                          </a:solidFill>
                          <a:effectLst/>
                          <a:latin typeface="Tahoma" panose="020B0604030504040204" pitchFamily="34" charset="0"/>
                          <a:ea typeface="Tahoma" panose="020B0604030504040204" pitchFamily="34" charset="0"/>
                          <a:cs typeface="Tahoma" panose="020B0604030504040204" pitchFamily="34" charset="0"/>
                        </a:rPr>
                        <a:t>Year</a:t>
                      </a:r>
                    </a:p>
                  </a:txBody>
                  <a:tcPr horzOverflow="overflow"/>
                </a:tc>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GB" altLang="en-US" sz="2000" b="0" i="0" u="none" strike="noStrike" cap="none" normalizeH="0" baseline="0" dirty="0">
                          <a:ln>
                            <a:noFill/>
                          </a:ln>
                          <a:solidFill>
                            <a:schemeClr val="bg2"/>
                          </a:solidFill>
                          <a:effectLst/>
                          <a:latin typeface="Tahoma" panose="020B0604030504040204" pitchFamily="34" charset="0"/>
                          <a:ea typeface="Tahoma" panose="020B0604030504040204" pitchFamily="34" charset="0"/>
                          <a:cs typeface="Tahoma" panose="020B0604030504040204" pitchFamily="34" charset="0"/>
                        </a:rPr>
                        <a:t>Cash-flow</a:t>
                      </a:r>
                    </a:p>
                  </a:txBody>
                  <a:tcPr horzOverflow="overflow"/>
                </a:tc>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GB" altLang="en-US" sz="2000" b="0" i="0" u="none" strike="noStrike" cap="none" normalizeH="0" baseline="0" dirty="0">
                          <a:ln>
                            <a:noFill/>
                          </a:ln>
                          <a:solidFill>
                            <a:schemeClr val="bg2"/>
                          </a:solidFill>
                          <a:effectLst/>
                          <a:latin typeface="Tahoma" panose="020B0604030504040204" pitchFamily="34" charset="0"/>
                          <a:ea typeface="Tahoma" panose="020B0604030504040204" pitchFamily="34" charset="0"/>
                          <a:cs typeface="Tahoma" panose="020B0604030504040204" pitchFamily="34" charset="0"/>
                        </a:rPr>
                        <a:t>Discount Factor</a:t>
                      </a:r>
                    </a:p>
                  </a:txBody>
                  <a:tcPr horzOverflow="overflow"/>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defRPr/>
                      </a:pPr>
                      <a:r>
                        <a:rPr kumimoji="0" lang="en-GB" altLang="en-US" sz="2000" b="0" i="0" u="none" strike="noStrike" cap="none" normalizeH="0" baseline="0" dirty="0">
                          <a:ln>
                            <a:noFill/>
                          </a:ln>
                          <a:solidFill>
                            <a:schemeClr val="bg1"/>
                          </a:solidFill>
                          <a:effectLst/>
                          <a:latin typeface="Tahoma" panose="020B0604030504040204" pitchFamily="34" charset="0"/>
                        </a:rPr>
                        <a:t>Discounted cash flow</a:t>
                      </a:r>
                    </a:p>
                  </a:txBody>
                  <a:tcPr horzOverflow="overflow"/>
                </a:tc>
                <a:extLst>
                  <a:ext uri="{0D108BD9-81ED-4DB2-BD59-A6C34878D82A}">
                    <a16:rowId xmlns:a16="http://schemas.microsoft.com/office/drawing/2014/main" val="2686042913"/>
                  </a:ext>
                </a:extLst>
              </a:tr>
              <a:tr h="370840">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altLang="en-US" sz="200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0</a:t>
                      </a:r>
                    </a:p>
                  </a:txBody>
                  <a:tcPr horzOverflow="overflow"/>
                </a:tc>
                <a:tc>
                  <a:txBody>
                    <a:bodyPr/>
                    <a:lstStyle/>
                    <a:p>
                      <a:pPr algn="r"/>
                      <a:r>
                        <a:rPr lang="en-US" sz="2000" dirty="0">
                          <a:latin typeface="Tahoma" panose="020B0604030504040204" pitchFamily="34" charset="0"/>
                          <a:ea typeface="Tahoma" panose="020B0604030504040204" pitchFamily="34" charset="0"/>
                          <a:cs typeface="Tahoma" panose="020B0604030504040204" pitchFamily="34" charset="0"/>
                        </a:rPr>
                        <a:t>-1,20,000</a:t>
                      </a:r>
                    </a:p>
                  </a:txBody>
                  <a:tcPr/>
                </a:tc>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GB" altLang="en-US" sz="2400" b="0" i="0" u="none" strike="noStrike" cap="none" normalizeH="0" baseline="0" dirty="0">
                          <a:ln>
                            <a:noFill/>
                          </a:ln>
                          <a:solidFill>
                            <a:schemeClr val="tx1"/>
                          </a:solidFill>
                          <a:effectLst/>
                          <a:latin typeface="Tahoma" panose="020B0604030504040204" pitchFamily="34" charset="0"/>
                        </a:rPr>
                        <a:t>1.0000</a:t>
                      </a:r>
                    </a:p>
                  </a:txBody>
                  <a:tcPr marL="110731" marR="110731" horzOverflow="overflow"/>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IN" sz="2400" b="0" i="0" u="none" strike="noStrike" kern="1200" cap="none" normalizeH="0" baseline="0" dirty="0">
                          <a:ln>
                            <a:noFill/>
                          </a:ln>
                          <a:solidFill>
                            <a:schemeClr val="tx1"/>
                          </a:solidFill>
                          <a:effectLst/>
                          <a:latin typeface="Tahoma" panose="020B0604030504040204" pitchFamily="34" charset="0"/>
                          <a:ea typeface="+mn-ea"/>
                          <a:cs typeface="+mn-cs"/>
                        </a:rPr>
                        <a:t>-120000</a:t>
                      </a:r>
                    </a:p>
                  </a:txBody>
                  <a:tcPr marL="7620" marR="7620" marT="7620" marB="0" anchor="b"/>
                </a:tc>
                <a:extLst>
                  <a:ext uri="{0D108BD9-81ED-4DB2-BD59-A6C34878D82A}">
                    <a16:rowId xmlns:a16="http://schemas.microsoft.com/office/drawing/2014/main" val="2715192214"/>
                  </a:ext>
                </a:extLst>
              </a:tr>
              <a:tr h="420343">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altLang="en-US" sz="200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1</a:t>
                      </a:r>
                    </a:p>
                  </a:txBody>
                  <a:tcPr horzOverflow="overflow"/>
                </a:tc>
                <a:tc>
                  <a:txBody>
                    <a:bodyPr/>
                    <a:lstStyle/>
                    <a:p>
                      <a:pPr algn="r"/>
                      <a:r>
                        <a:rPr lang="en-US" sz="2000" dirty="0">
                          <a:latin typeface="Tahoma" panose="020B0604030504040204" pitchFamily="34" charset="0"/>
                          <a:ea typeface="Tahoma" panose="020B0604030504040204" pitchFamily="34" charset="0"/>
                          <a:cs typeface="Tahoma" panose="020B0604030504040204" pitchFamily="34" charset="0"/>
                        </a:rPr>
                        <a:t>30,000</a:t>
                      </a:r>
                    </a:p>
                  </a:txBody>
                  <a:tcPr/>
                </a:tc>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GB" altLang="en-US" sz="2400" b="0" i="0" u="none" strike="noStrike" cap="none" normalizeH="0" baseline="0" dirty="0">
                          <a:ln>
                            <a:noFill/>
                          </a:ln>
                          <a:solidFill>
                            <a:schemeClr val="tx1"/>
                          </a:solidFill>
                          <a:effectLst/>
                          <a:latin typeface="Tahoma" panose="020B0604030504040204" pitchFamily="34" charset="0"/>
                        </a:rPr>
                        <a:t>0.9091</a:t>
                      </a:r>
                    </a:p>
                  </a:txBody>
                  <a:tcPr marL="110731" marR="110731" horzOverflow="overflow"/>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IN" sz="2400" b="0" i="0" u="none" strike="noStrike" kern="1200" cap="none" normalizeH="0" baseline="0">
                          <a:ln>
                            <a:noFill/>
                          </a:ln>
                          <a:solidFill>
                            <a:schemeClr val="tx1"/>
                          </a:solidFill>
                          <a:effectLst/>
                          <a:latin typeface="Tahoma" panose="020B0604030504040204" pitchFamily="34" charset="0"/>
                          <a:ea typeface="+mn-ea"/>
                          <a:cs typeface="+mn-cs"/>
                        </a:rPr>
                        <a:t>27273</a:t>
                      </a:r>
                      <a:endParaRPr kumimoji="0" lang="en-IN" sz="2400" b="0" i="0" u="none" strike="noStrike" kern="1200" cap="none" normalizeH="0" baseline="0" dirty="0">
                        <a:ln>
                          <a:noFill/>
                        </a:ln>
                        <a:solidFill>
                          <a:schemeClr val="tx1"/>
                        </a:solidFill>
                        <a:effectLst/>
                        <a:latin typeface="Tahoma" panose="020B0604030504040204" pitchFamily="34" charset="0"/>
                        <a:ea typeface="+mn-ea"/>
                        <a:cs typeface="+mn-cs"/>
                      </a:endParaRPr>
                    </a:p>
                  </a:txBody>
                  <a:tcPr marL="7620" marR="7620" marT="7620" marB="0" anchor="b"/>
                </a:tc>
                <a:extLst>
                  <a:ext uri="{0D108BD9-81ED-4DB2-BD59-A6C34878D82A}">
                    <a16:rowId xmlns:a16="http://schemas.microsoft.com/office/drawing/2014/main" val="604836554"/>
                  </a:ext>
                </a:extLst>
              </a:tr>
              <a:tr h="370840">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altLang="en-US" sz="200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2</a:t>
                      </a:r>
                    </a:p>
                  </a:txBody>
                  <a:tcPr horzOverflow="overflow"/>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2000" dirty="0">
                          <a:latin typeface="Tahoma" panose="020B0604030504040204" pitchFamily="34" charset="0"/>
                          <a:ea typeface="Tahoma" panose="020B0604030504040204" pitchFamily="34" charset="0"/>
                          <a:cs typeface="Tahoma" panose="020B0604030504040204" pitchFamily="34" charset="0"/>
                        </a:rPr>
                        <a:t>30,000</a:t>
                      </a:r>
                    </a:p>
                  </a:txBody>
                  <a:tcPr/>
                </a:tc>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GB" altLang="en-US" sz="2400" b="0" i="0" u="none" strike="noStrike" cap="none" normalizeH="0" baseline="0" dirty="0">
                          <a:ln>
                            <a:noFill/>
                          </a:ln>
                          <a:solidFill>
                            <a:schemeClr val="tx1"/>
                          </a:solidFill>
                          <a:effectLst/>
                          <a:latin typeface="Tahoma" panose="020B0604030504040204" pitchFamily="34" charset="0"/>
                        </a:rPr>
                        <a:t>0.8264</a:t>
                      </a:r>
                    </a:p>
                  </a:txBody>
                  <a:tcPr marL="110731" marR="110731" horzOverflow="overflow"/>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IN" sz="2400" b="0" i="0" u="none" strike="noStrike" kern="1200" cap="none" normalizeH="0" baseline="0">
                          <a:ln>
                            <a:noFill/>
                          </a:ln>
                          <a:solidFill>
                            <a:schemeClr val="tx1"/>
                          </a:solidFill>
                          <a:effectLst/>
                          <a:latin typeface="Tahoma" panose="020B0604030504040204" pitchFamily="34" charset="0"/>
                          <a:ea typeface="+mn-ea"/>
                          <a:cs typeface="+mn-cs"/>
                        </a:rPr>
                        <a:t>24792</a:t>
                      </a:r>
                      <a:endParaRPr kumimoji="0" lang="en-IN" sz="2400" b="0" i="0" u="none" strike="noStrike" kern="1200" cap="none" normalizeH="0" baseline="0" dirty="0">
                        <a:ln>
                          <a:noFill/>
                        </a:ln>
                        <a:solidFill>
                          <a:schemeClr val="tx1"/>
                        </a:solidFill>
                        <a:effectLst/>
                        <a:latin typeface="Tahoma" panose="020B0604030504040204" pitchFamily="34" charset="0"/>
                        <a:ea typeface="+mn-ea"/>
                        <a:cs typeface="+mn-cs"/>
                      </a:endParaRPr>
                    </a:p>
                  </a:txBody>
                  <a:tcPr marL="7620" marR="7620" marT="7620" marB="0" anchor="b"/>
                </a:tc>
                <a:extLst>
                  <a:ext uri="{0D108BD9-81ED-4DB2-BD59-A6C34878D82A}">
                    <a16:rowId xmlns:a16="http://schemas.microsoft.com/office/drawing/2014/main" val="3098725958"/>
                  </a:ext>
                </a:extLst>
              </a:tr>
              <a:tr h="370840">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altLang="en-US" sz="200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3</a:t>
                      </a:r>
                    </a:p>
                  </a:txBody>
                  <a:tcPr horzOverflow="overflow"/>
                </a:tc>
                <a:tc>
                  <a:txBody>
                    <a:bodyPr/>
                    <a:lstStyle/>
                    <a:p>
                      <a:pPr algn="r"/>
                      <a:r>
                        <a:rPr lang="en-US" sz="2000" dirty="0">
                          <a:latin typeface="Tahoma" panose="020B0604030504040204" pitchFamily="34" charset="0"/>
                          <a:ea typeface="Tahoma" panose="020B0604030504040204" pitchFamily="34" charset="0"/>
                          <a:cs typeface="Tahoma" panose="020B0604030504040204" pitchFamily="34" charset="0"/>
                        </a:rPr>
                        <a:t>30,000</a:t>
                      </a:r>
                    </a:p>
                  </a:txBody>
                  <a:tcPr/>
                </a:tc>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GB" altLang="en-US" sz="2400" b="0" i="0" u="none" strike="noStrike" cap="none" normalizeH="0" baseline="0" dirty="0">
                          <a:ln>
                            <a:noFill/>
                          </a:ln>
                          <a:solidFill>
                            <a:schemeClr val="tx1"/>
                          </a:solidFill>
                          <a:effectLst/>
                          <a:latin typeface="Tahoma" panose="020B0604030504040204" pitchFamily="34" charset="0"/>
                        </a:rPr>
                        <a:t>0.7513</a:t>
                      </a:r>
                    </a:p>
                  </a:txBody>
                  <a:tcPr marL="110731" marR="110731" horzOverflow="overflow"/>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IN" sz="2400" b="0" i="0" u="none" strike="noStrike" kern="1200" cap="none" normalizeH="0" baseline="0">
                          <a:ln>
                            <a:noFill/>
                          </a:ln>
                          <a:solidFill>
                            <a:schemeClr val="tx1"/>
                          </a:solidFill>
                          <a:effectLst/>
                          <a:latin typeface="Tahoma" panose="020B0604030504040204" pitchFamily="34" charset="0"/>
                          <a:ea typeface="+mn-ea"/>
                          <a:cs typeface="+mn-cs"/>
                        </a:rPr>
                        <a:t>22539</a:t>
                      </a:r>
                      <a:endParaRPr kumimoji="0" lang="en-IN" sz="2400" b="0" i="0" u="none" strike="noStrike" kern="1200" cap="none" normalizeH="0" baseline="0" dirty="0">
                        <a:ln>
                          <a:noFill/>
                        </a:ln>
                        <a:solidFill>
                          <a:schemeClr val="tx1"/>
                        </a:solidFill>
                        <a:effectLst/>
                        <a:latin typeface="Tahoma" panose="020B0604030504040204" pitchFamily="34" charset="0"/>
                        <a:ea typeface="+mn-ea"/>
                        <a:cs typeface="+mn-cs"/>
                      </a:endParaRPr>
                    </a:p>
                  </a:txBody>
                  <a:tcPr marL="7620" marR="7620" marT="7620" marB="0" anchor="b"/>
                </a:tc>
                <a:extLst>
                  <a:ext uri="{0D108BD9-81ED-4DB2-BD59-A6C34878D82A}">
                    <a16:rowId xmlns:a16="http://schemas.microsoft.com/office/drawing/2014/main" val="929871789"/>
                  </a:ext>
                </a:extLst>
              </a:tr>
              <a:tr h="370840">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altLang="en-US" sz="200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4</a:t>
                      </a:r>
                    </a:p>
                  </a:txBody>
                  <a:tcPr horzOverflow="overflow"/>
                </a:tc>
                <a:tc>
                  <a:txBody>
                    <a:bodyPr/>
                    <a:lstStyle/>
                    <a:p>
                      <a:pPr algn="r"/>
                      <a:r>
                        <a:rPr lang="en-US" sz="2000" dirty="0">
                          <a:latin typeface="Tahoma" panose="020B0604030504040204" pitchFamily="34" charset="0"/>
                          <a:ea typeface="Tahoma" panose="020B0604030504040204" pitchFamily="34" charset="0"/>
                          <a:cs typeface="Tahoma" panose="020B0604030504040204" pitchFamily="34" charset="0"/>
                        </a:rPr>
                        <a:t>30,000</a:t>
                      </a:r>
                    </a:p>
                  </a:txBody>
                  <a:tcPr/>
                </a:tc>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GB" altLang="en-US" sz="2400" b="0" i="0" u="none" strike="noStrike" cap="none" normalizeH="0" baseline="0" dirty="0">
                          <a:ln>
                            <a:noFill/>
                          </a:ln>
                          <a:solidFill>
                            <a:schemeClr val="tx1"/>
                          </a:solidFill>
                          <a:effectLst/>
                          <a:latin typeface="Tahoma" panose="020B0604030504040204" pitchFamily="34" charset="0"/>
                        </a:rPr>
                        <a:t>0.6830</a:t>
                      </a:r>
                    </a:p>
                  </a:txBody>
                  <a:tcPr marL="110731" marR="110731" horzOverflow="overflow"/>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IN" sz="2400" b="0" i="0" u="none" strike="noStrike" kern="1200" cap="none" normalizeH="0" baseline="0">
                          <a:ln>
                            <a:noFill/>
                          </a:ln>
                          <a:solidFill>
                            <a:schemeClr val="tx1"/>
                          </a:solidFill>
                          <a:effectLst/>
                          <a:latin typeface="Tahoma" panose="020B0604030504040204" pitchFamily="34" charset="0"/>
                          <a:ea typeface="+mn-ea"/>
                          <a:cs typeface="+mn-cs"/>
                        </a:rPr>
                        <a:t>20490</a:t>
                      </a:r>
                      <a:endParaRPr kumimoji="0" lang="en-IN" sz="2400" b="0" i="0" u="none" strike="noStrike" kern="1200" cap="none" normalizeH="0" baseline="0" dirty="0">
                        <a:ln>
                          <a:noFill/>
                        </a:ln>
                        <a:solidFill>
                          <a:schemeClr val="tx1"/>
                        </a:solidFill>
                        <a:effectLst/>
                        <a:latin typeface="Tahoma" panose="020B0604030504040204" pitchFamily="34" charset="0"/>
                        <a:ea typeface="+mn-ea"/>
                        <a:cs typeface="+mn-cs"/>
                      </a:endParaRPr>
                    </a:p>
                  </a:txBody>
                  <a:tcPr marL="7620" marR="7620" marT="7620" marB="0" anchor="b"/>
                </a:tc>
                <a:extLst>
                  <a:ext uri="{0D108BD9-81ED-4DB2-BD59-A6C34878D82A}">
                    <a16:rowId xmlns:a16="http://schemas.microsoft.com/office/drawing/2014/main" val="292312927"/>
                  </a:ext>
                </a:extLst>
              </a:tr>
              <a:tr h="370840">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altLang="en-US" sz="200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5</a:t>
                      </a:r>
                    </a:p>
                  </a:txBody>
                  <a:tcPr anchor="ctr" horzOverflow="overflow"/>
                </a:tc>
                <a:tc>
                  <a:txBody>
                    <a:bodyPr/>
                    <a:lstStyle/>
                    <a:p>
                      <a:pPr algn="r"/>
                      <a:r>
                        <a:rPr lang="en-US" sz="2000" dirty="0">
                          <a:latin typeface="Tahoma" panose="020B0604030504040204" pitchFamily="34" charset="0"/>
                          <a:ea typeface="Tahoma" panose="020B0604030504040204" pitchFamily="34" charset="0"/>
                          <a:cs typeface="Tahoma" panose="020B0604030504040204" pitchFamily="34" charset="0"/>
                        </a:rPr>
                        <a:t>75,000</a:t>
                      </a:r>
                    </a:p>
                  </a:txBody>
                  <a:tcPr/>
                </a:tc>
                <a:tc>
                  <a:txBody>
                    <a:bodyPr/>
                    <a:lstStyle>
                      <a:lvl1pPr>
                        <a:spcBef>
                          <a:spcPct val="20000"/>
                        </a:spcBef>
                        <a:defRPr sz="2800">
                          <a:solidFill>
                            <a:schemeClr val="bg2"/>
                          </a:solidFill>
                          <a:latin typeface="Tahoma" panose="020B0604030504040204" pitchFamily="34" charset="0"/>
                        </a:defRPr>
                      </a:lvl1pPr>
                      <a:lvl2pPr>
                        <a:spcBef>
                          <a:spcPct val="20000"/>
                        </a:spcBef>
                        <a:defRPr sz="2400">
                          <a:solidFill>
                            <a:schemeClr val="bg2"/>
                          </a:solidFill>
                          <a:latin typeface="Tahoma" panose="020B0604030504040204" pitchFamily="34" charset="0"/>
                        </a:defRPr>
                      </a:lvl2pPr>
                      <a:lvl3pPr>
                        <a:spcBef>
                          <a:spcPct val="20000"/>
                        </a:spcBef>
                        <a:defRPr sz="2000">
                          <a:solidFill>
                            <a:schemeClr val="bg2"/>
                          </a:solidFill>
                          <a:latin typeface="Tahoma" panose="020B0604030504040204" pitchFamily="34" charset="0"/>
                        </a:defRPr>
                      </a:lvl3pPr>
                      <a:lvl4pPr>
                        <a:spcBef>
                          <a:spcPct val="20000"/>
                        </a:spcBef>
                        <a:defRPr>
                          <a:solidFill>
                            <a:schemeClr val="bg2"/>
                          </a:solidFill>
                          <a:latin typeface="Tahoma" panose="020B0604030504040204" pitchFamily="34" charset="0"/>
                        </a:defRPr>
                      </a:lvl4pPr>
                      <a:lvl5pPr>
                        <a:spcBef>
                          <a:spcPct val="20000"/>
                        </a:spcBef>
                        <a:defRPr>
                          <a:solidFill>
                            <a:schemeClr val="bg2"/>
                          </a:solidFill>
                          <a:latin typeface="Tahoma" panose="020B0604030504040204" pitchFamily="34" charset="0"/>
                        </a:defRPr>
                      </a:lvl5pPr>
                      <a:lvl6pPr fontAlgn="base">
                        <a:spcBef>
                          <a:spcPct val="20000"/>
                        </a:spcBef>
                        <a:spcAft>
                          <a:spcPct val="0"/>
                        </a:spcAft>
                        <a:defRPr>
                          <a:solidFill>
                            <a:schemeClr val="bg2"/>
                          </a:solidFill>
                          <a:latin typeface="Tahoma" panose="020B0604030504040204" pitchFamily="34" charset="0"/>
                        </a:defRPr>
                      </a:lvl6pPr>
                      <a:lvl7pPr fontAlgn="base">
                        <a:spcBef>
                          <a:spcPct val="20000"/>
                        </a:spcBef>
                        <a:spcAft>
                          <a:spcPct val="0"/>
                        </a:spcAft>
                        <a:defRPr>
                          <a:solidFill>
                            <a:schemeClr val="bg2"/>
                          </a:solidFill>
                          <a:latin typeface="Tahoma" panose="020B0604030504040204" pitchFamily="34" charset="0"/>
                        </a:defRPr>
                      </a:lvl7pPr>
                      <a:lvl8pPr fontAlgn="base">
                        <a:spcBef>
                          <a:spcPct val="20000"/>
                        </a:spcBef>
                        <a:spcAft>
                          <a:spcPct val="0"/>
                        </a:spcAft>
                        <a:defRPr>
                          <a:solidFill>
                            <a:schemeClr val="bg2"/>
                          </a:solidFill>
                          <a:latin typeface="Tahoma" panose="020B0604030504040204" pitchFamily="34" charset="0"/>
                        </a:defRPr>
                      </a:lvl8pPr>
                      <a:lvl9pPr fontAlgn="base">
                        <a:spcBef>
                          <a:spcPct val="20000"/>
                        </a:spcBef>
                        <a:spcAft>
                          <a:spcPct val="0"/>
                        </a:spcAft>
                        <a:defRPr>
                          <a:solidFill>
                            <a:schemeClr val="bg2"/>
                          </a:solidFill>
                          <a:latin typeface="Tahoma" panose="020B060403050404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GB" altLang="en-US" sz="2400" b="0" i="0" u="none" strike="noStrike" cap="none" normalizeH="0" baseline="0" dirty="0">
                          <a:ln>
                            <a:noFill/>
                          </a:ln>
                          <a:solidFill>
                            <a:schemeClr val="tx1"/>
                          </a:solidFill>
                          <a:effectLst/>
                          <a:latin typeface="Tahoma" panose="020B0604030504040204" pitchFamily="34" charset="0"/>
                        </a:rPr>
                        <a:t>0.6209</a:t>
                      </a:r>
                    </a:p>
                  </a:txBody>
                  <a:tcPr marL="110731" marR="110731" anchor="ctr" horzOverflow="overflow"/>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IN" sz="2400" b="0" i="0" u="none" strike="noStrike" kern="1200" cap="none" normalizeH="0" baseline="0" dirty="0">
                          <a:ln>
                            <a:noFill/>
                          </a:ln>
                          <a:solidFill>
                            <a:schemeClr val="tx1"/>
                          </a:solidFill>
                          <a:effectLst/>
                          <a:latin typeface="Tahoma" panose="020B0604030504040204" pitchFamily="34" charset="0"/>
                          <a:ea typeface="+mn-ea"/>
                          <a:cs typeface="+mn-cs"/>
                        </a:rPr>
                        <a:t>46568</a:t>
                      </a:r>
                    </a:p>
                  </a:txBody>
                  <a:tcPr marL="7620" marR="7620" marT="7620" marB="0" anchor="b"/>
                </a:tc>
                <a:extLst>
                  <a:ext uri="{0D108BD9-81ED-4DB2-BD59-A6C34878D82A}">
                    <a16:rowId xmlns:a16="http://schemas.microsoft.com/office/drawing/2014/main" val="2077385687"/>
                  </a:ext>
                </a:extLst>
              </a:tr>
              <a:tr h="37084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GB" altLang="en-US" sz="200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endParaRPr>
                    </a:p>
                  </a:txBody>
                  <a:tcPr anchor="ctr" horzOverflow="overflow"/>
                </a:tc>
                <a:tc>
                  <a:txBody>
                    <a:bodyPr/>
                    <a:lstStyle/>
                    <a:p>
                      <a:pPr algn="r"/>
                      <a:endParaRPr lang="en-US" sz="2000" dirty="0">
                        <a:latin typeface="Tahoma" panose="020B0604030504040204" pitchFamily="34" charset="0"/>
                        <a:ea typeface="Tahoma" panose="020B0604030504040204" pitchFamily="34" charset="0"/>
                        <a:cs typeface="Tahoma" panose="020B0604030504040204" pitchFamily="34" charset="0"/>
                      </a:endParaRPr>
                    </a:p>
                  </a:txBody>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GB" altLang="en-US" sz="2400" b="0" i="0" u="none" strike="noStrike" cap="none" normalizeH="0" baseline="0" dirty="0">
                          <a:ln>
                            <a:noFill/>
                          </a:ln>
                          <a:solidFill>
                            <a:schemeClr val="tx1"/>
                          </a:solidFill>
                          <a:effectLst/>
                          <a:latin typeface="Tahoma" panose="020B0604030504040204" pitchFamily="34" charset="0"/>
                        </a:rPr>
                        <a:t>NPV</a:t>
                      </a:r>
                    </a:p>
                  </a:txBody>
                  <a:tcPr marL="110731" marR="110731" anchor="ctr" horzOverflow="overflow"/>
                </a:tc>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sz="2000" b="0" i="0" u="none" strike="noStrike" kern="1200" cap="none" normalizeH="0" baseline="0" dirty="0">
                          <a:ln>
                            <a:noFill/>
                          </a:ln>
                          <a:solidFill>
                            <a:srgbClr val="0000CC"/>
                          </a:solidFill>
                          <a:effectLst/>
                          <a:latin typeface="Tahoma" panose="020B0604030504040204" pitchFamily="34" charset="0"/>
                          <a:ea typeface="Tahoma" panose="020B0604030504040204" pitchFamily="34" charset="0"/>
                          <a:cs typeface="Tahoma" panose="020B0604030504040204" pitchFamily="34" charset="0"/>
                        </a:rPr>
                        <a:t>21662</a:t>
                      </a:r>
                      <a:endParaRPr kumimoji="0" lang="en-IN" sz="2000" b="0" i="0" u="none" strike="noStrike" kern="1200" cap="none" normalizeH="0" baseline="0" dirty="0">
                        <a:ln>
                          <a:noFill/>
                        </a:ln>
                        <a:solidFill>
                          <a:srgbClr val="0000CC"/>
                        </a:solidFill>
                        <a:effectLst/>
                        <a:latin typeface="Tahoma" panose="020B0604030504040204" pitchFamily="34" charset="0"/>
                        <a:ea typeface="Tahoma" panose="020B0604030504040204" pitchFamily="34" charset="0"/>
                        <a:cs typeface="Tahoma" panose="020B0604030504040204" pitchFamily="34" charset="0"/>
                      </a:endParaRPr>
                    </a:p>
                  </a:txBody>
                  <a:tcPr marL="7620" marR="7620" marT="7620" marB="0" anchor="b"/>
                </a:tc>
                <a:extLst>
                  <a:ext uri="{0D108BD9-81ED-4DB2-BD59-A6C34878D82A}">
                    <a16:rowId xmlns:a16="http://schemas.microsoft.com/office/drawing/2014/main" val="460354135"/>
                  </a:ext>
                </a:extLst>
              </a:tr>
            </a:tbl>
          </a:graphicData>
        </a:graphic>
      </p:graphicFrame>
    </p:spTree>
    <p:extLst>
      <p:ext uri="{BB962C8B-B14F-4D97-AF65-F5344CB8AC3E}">
        <p14:creationId xmlns:p14="http://schemas.microsoft.com/office/powerpoint/2010/main" val="235502231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Risk evaluation</a:t>
            </a:r>
          </a:p>
        </p:txBody>
      </p:sp>
      <p:sp>
        <p:nvSpPr>
          <p:cNvPr id="3" name="Text Placeholder 2"/>
          <p:cNvSpPr>
            <a:spLocks noGrp="1"/>
          </p:cNvSpPr>
          <p:nvPr>
            <p:ph idx="1"/>
          </p:nvPr>
        </p:nvSpPr>
        <p:spPr/>
        <p:txBody>
          <a:bodyPr/>
          <a:lstStyle/>
          <a:p>
            <a:r>
              <a:rPr lang="en-IN" dirty="0">
                <a:solidFill>
                  <a:srgbClr val="0000CC"/>
                </a:solidFill>
              </a:rPr>
              <a:t>Project risks</a:t>
            </a:r>
            <a:r>
              <a:rPr lang="en-IN" dirty="0"/>
              <a:t>, which prevent the project from being completed successfully, are different from the </a:t>
            </a:r>
            <a:r>
              <a:rPr lang="en-IN" dirty="0">
                <a:solidFill>
                  <a:srgbClr val="0000CC"/>
                </a:solidFill>
              </a:rPr>
              <a:t>business risk </a:t>
            </a:r>
            <a:r>
              <a:rPr lang="en-IN" dirty="0"/>
              <a:t>that the delivered products are not profitable.</a:t>
            </a:r>
          </a:p>
        </p:txBody>
      </p:sp>
      <p:sp>
        <p:nvSpPr>
          <p:cNvPr id="4" name="Date Placeholder 3"/>
          <p:cNvSpPr>
            <a:spLocks noGrp="1"/>
          </p:cNvSpPr>
          <p:nvPr>
            <p:ph type="dt" sz="half" idx="10"/>
          </p:nvPr>
        </p:nvSpPr>
        <p:spPr/>
        <p:txBody>
          <a:bodyPr/>
          <a:lstStyle/>
          <a:p>
            <a:fld id="{2D64B479-D36C-4564-A7EF-4D42E9C7A0E5}" type="datetime3">
              <a:rPr lang="en-US" smtClean="0"/>
              <a:t>28 November 2023</a:t>
            </a:fld>
            <a:endParaRPr lang="en-US" dirty="0"/>
          </a:p>
        </p:txBody>
      </p:sp>
      <p:sp>
        <p:nvSpPr>
          <p:cNvPr id="5" name="Footer Placeholder 4"/>
          <p:cNvSpPr>
            <a:spLocks noGrp="1"/>
          </p:cNvSpPr>
          <p:nvPr>
            <p:ph type="ftr" sz="quarter" idx="11"/>
          </p:nvPr>
        </p:nvSpPr>
        <p:spPr/>
        <p:txBody>
          <a:bodyPr/>
          <a:lstStyle/>
          <a:p>
            <a:r>
              <a:rPr lang="en-US"/>
              <a:t>Software Project Management       Dr. D Evangelin Geetha    Dept. of MCA     RIT</a:t>
            </a:r>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55</a:t>
            </a:fld>
            <a:endParaRPr lang="en-US" dirty="0"/>
          </a:p>
        </p:txBody>
      </p:sp>
    </p:spTree>
    <p:extLst>
      <p:ext uri="{BB962C8B-B14F-4D97-AF65-F5344CB8AC3E}">
        <p14:creationId xmlns:p14="http://schemas.microsoft.com/office/powerpoint/2010/main" val="403383139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Risk identification and ranking</a:t>
            </a:r>
          </a:p>
        </p:txBody>
      </p:sp>
      <p:sp>
        <p:nvSpPr>
          <p:cNvPr id="3" name="Content Placeholder 2"/>
          <p:cNvSpPr>
            <a:spLocks noGrp="1"/>
          </p:cNvSpPr>
          <p:nvPr>
            <p:ph idx="1"/>
          </p:nvPr>
        </p:nvSpPr>
        <p:spPr/>
        <p:txBody>
          <a:bodyPr>
            <a:normAutofit/>
          </a:bodyPr>
          <a:lstStyle/>
          <a:p>
            <a:r>
              <a:rPr lang="en-IN" dirty="0"/>
              <a:t>Project risk matrix</a:t>
            </a:r>
          </a:p>
          <a:p>
            <a:pPr lvl="1"/>
            <a:r>
              <a:rPr lang="en-IN" dirty="0"/>
              <a:t>Checklist of possible risks and classifying risks according to their relative importance and likelihood</a:t>
            </a:r>
          </a:p>
        </p:txBody>
      </p:sp>
      <p:sp>
        <p:nvSpPr>
          <p:cNvPr id="4" name="Date Placeholder 3"/>
          <p:cNvSpPr>
            <a:spLocks noGrp="1"/>
          </p:cNvSpPr>
          <p:nvPr>
            <p:ph type="dt" sz="half" idx="10"/>
          </p:nvPr>
        </p:nvSpPr>
        <p:spPr/>
        <p:txBody>
          <a:bodyPr/>
          <a:lstStyle/>
          <a:p>
            <a:fld id="{BDBD8DAF-604E-4AAE-8C04-55B1E98D2D54}" type="datetime3">
              <a:rPr lang="en-US" smtClean="0"/>
              <a:t>28 November 2023</a:t>
            </a:fld>
            <a:endParaRPr lang="en-US" dirty="0"/>
          </a:p>
        </p:txBody>
      </p:sp>
      <p:sp>
        <p:nvSpPr>
          <p:cNvPr id="5" name="Footer Placeholder 4"/>
          <p:cNvSpPr>
            <a:spLocks noGrp="1"/>
          </p:cNvSpPr>
          <p:nvPr>
            <p:ph type="ftr" sz="quarter" idx="11"/>
          </p:nvPr>
        </p:nvSpPr>
        <p:spPr/>
        <p:txBody>
          <a:bodyPr/>
          <a:lstStyle/>
          <a:p>
            <a:r>
              <a:rPr lang="en-US"/>
              <a:t>Software Project Management       Dr. D Evangelin Geetha    Dept. of MCA     RIT</a:t>
            </a:r>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56</a:t>
            </a:fld>
            <a:endParaRPr lang="en-US" dirty="0"/>
          </a:p>
        </p:txBody>
      </p:sp>
    </p:spTree>
    <p:extLst>
      <p:ext uri="{BB962C8B-B14F-4D97-AF65-F5344CB8AC3E}">
        <p14:creationId xmlns:p14="http://schemas.microsoft.com/office/powerpoint/2010/main" val="78531910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Risk identification and ranking</a:t>
            </a:r>
          </a:p>
        </p:txBody>
      </p:sp>
      <p:sp>
        <p:nvSpPr>
          <p:cNvPr id="3" name="Content Placeholder 2"/>
          <p:cNvSpPr>
            <a:spLocks noGrp="1"/>
          </p:cNvSpPr>
          <p:nvPr>
            <p:ph sz="half" idx="1"/>
          </p:nvPr>
        </p:nvSpPr>
        <p:spPr>
          <a:xfrm>
            <a:off x="666746" y="1864194"/>
            <a:ext cx="3414600" cy="3448595"/>
          </a:xfrm>
        </p:spPr>
        <p:txBody>
          <a:bodyPr>
            <a:normAutofit/>
          </a:bodyPr>
          <a:lstStyle/>
          <a:p>
            <a:r>
              <a:rPr lang="en-IN" dirty="0"/>
              <a:t>Project risk matrix</a:t>
            </a:r>
          </a:p>
          <a:p>
            <a:pPr lvl="1"/>
            <a:r>
              <a:rPr lang="en-IN" dirty="0"/>
              <a:t>H – High</a:t>
            </a:r>
          </a:p>
          <a:p>
            <a:pPr lvl="1"/>
            <a:r>
              <a:rPr lang="en-IN" dirty="0"/>
              <a:t>M – Medium</a:t>
            </a:r>
          </a:p>
          <a:p>
            <a:pPr lvl="1"/>
            <a:r>
              <a:rPr lang="en-IN" dirty="0"/>
              <a:t>L – Low</a:t>
            </a:r>
          </a:p>
          <a:p>
            <a:pPr lvl="1"/>
            <a:r>
              <a:rPr lang="en-IN" dirty="0"/>
              <a:t>_ - exceedingly  </a:t>
            </a:r>
          </a:p>
          <a:p>
            <a:pPr marL="457200" lvl="1" indent="0">
              <a:buNone/>
            </a:pPr>
            <a:r>
              <a:rPr lang="en-IN" dirty="0"/>
              <a:t> 	   unlikely</a:t>
            </a:r>
          </a:p>
        </p:txBody>
      </p:sp>
      <p:graphicFrame>
        <p:nvGraphicFramePr>
          <p:cNvPr id="5" name="Content Placeholder 4"/>
          <p:cNvGraphicFramePr>
            <a:graphicFrameLocks noGrp="1"/>
          </p:cNvGraphicFramePr>
          <p:nvPr>
            <p:ph sz="half" idx="2"/>
            <p:extLst>
              <p:ext uri="{D42A27DB-BD31-4B8C-83A1-F6EECF244321}">
                <p14:modId xmlns:p14="http://schemas.microsoft.com/office/powerpoint/2010/main" val="1407551473"/>
              </p:ext>
            </p:extLst>
          </p:nvPr>
        </p:nvGraphicFramePr>
        <p:xfrm>
          <a:off x="4211486" y="1652320"/>
          <a:ext cx="6843366" cy="4898695"/>
        </p:xfrm>
        <a:graphic>
          <a:graphicData uri="http://schemas.openxmlformats.org/drawingml/2006/table">
            <a:tbl>
              <a:tblPr firstRow="1" bandRow="1">
                <a:tableStyleId>{5C22544A-7EE6-4342-B048-85BDC9FD1C3A}</a:tableStyleId>
              </a:tblPr>
              <a:tblGrid>
                <a:gridCol w="2281122">
                  <a:extLst>
                    <a:ext uri="{9D8B030D-6E8A-4147-A177-3AD203B41FA5}">
                      <a16:colId xmlns:a16="http://schemas.microsoft.com/office/drawing/2014/main" val="2102801313"/>
                    </a:ext>
                  </a:extLst>
                </a:gridCol>
                <a:gridCol w="2281122">
                  <a:extLst>
                    <a:ext uri="{9D8B030D-6E8A-4147-A177-3AD203B41FA5}">
                      <a16:colId xmlns:a16="http://schemas.microsoft.com/office/drawing/2014/main" val="3910583432"/>
                    </a:ext>
                  </a:extLst>
                </a:gridCol>
                <a:gridCol w="2281122">
                  <a:extLst>
                    <a:ext uri="{9D8B030D-6E8A-4147-A177-3AD203B41FA5}">
                      <a16:colId xmlns:a16="http://schemas.microsoft.com/office/drawing/2014/main" val="1802021921"/>
                    </a:ext>
                  </a:extLst>
                </a:gridCol>
              </a:tblGrid>
              <a:tr h="385625">
                <a:tc>
                  <a:txBody>
                    <a:bodyPr/>
                    <a:lstStyle/>
                    <a:p>
                      <a:r>
                        <a:rPr lang="en-IN" dirty="0"/>
                        <a:t>Risk</a:t>
                      </a:r>
                    </a:p>
                  </a:txBody>
                  <a:tcPr/>
                </a:tc>
                <a:tc>
                  <a:txBody>
                    <a:bodyPr/>
                    <a:lstStyle/>
                    <a:p>
                      <a:r>
                        <a:rPr lang="en-IN" dirty="0"/>
                        <a:t>Importance</a:t>
                      </a:r>
                    </a:p>
                  </a:txBody>
                  <a:tcPr/>
                </a:tc>
                <a:tc>
                  <a:txBody>
                    <a:bodyPr/>
                    <a:lstStyle/>
                    <a:p>
                      <a:r>
                        <a:rPr lang="en-IN" dirty="0" err="1"/>
                        <a:t>Liklihood</a:t>
                      </a:r>
                      <a:endParaRPr lang="en-IN" dirty="0"/>
                    </a:p>
                  </a:txBody>
                  <a:tcPr/>
                </a:tc>
                <a:extLst>
                  <a:ext uri="{0D108BD9-81ED-4DB2-BD59-A6C34878D82A}">
                    <a16:rowId xmlns:a16="http://schemas.microsoft.com/office/drawing/2014/main" val="32557720"/>
                  </a:ext>
                </a:extLst>
              </a:tr>
              <a:tr h="950856">
                <a:tc>
                  <a:txBody>
                    <a:bodyPr/>
                    <a:lstStyle/>
                    <a:p>
                      <a:r>
                        <a:rPr lang="en-IN" dirty="0"/>
                        <a:t>Client rejects</a:t>
                      </a:r>
                      <a:r>
                        <a:rPr lang="en-IN" baseline="0" dirty="0"/>
                        <a:t> proposed look and feel of site</a:t>
                      </a:r>
                      <a:endParaRPr lang="en-IN" dirty="0"/>
                    </a:p>
                  </a:txBody>
                  <a:tcPr/>
                </a:tc>
                <a:tc>
                  <a:txBody>
                    <a:bodyPr/>
                    <a:lstStyle/>
                    <a:p>
                      <a:r>
                        <a:rPr lang="en-IN" dirty="0"/>
                        <a:t>H</a:t>
                      </a:r>
                    </a:p>
                  </a:txBody>
                  <a:tcPr/>
                </a:tc>
                <a:tc>
                  <a:txBody>
                    <a:bodyPr/>
                    <a:lstStyle/>
                    <a:p>
                      <a:r>
                        <a:rPr lang="en-IN" dirty="0"/>
                        <a:t>_</a:t>
                      </a:r>
                    </a:p>
                  </a:txBody>
                  <a:tcPr/>
                </a:tc>
                <a:extLst>
                  <a:ext uri="{0D108BD9-81ED-4DB2-BD59-A6C34878D82A}">
                    <a16:rowId xmlns:a16="http://schemas.microsoft.com/office/drawing/2014/main" val="1089449126"/>
                  </a:ext>
                </a:extLst>
              </a:tr>
              <a:tr h="665599">
                <a:tc>
                  <a:txBody>
                    <a:bodyPr/>
                    <a:lstStyle/>
                    <a:p>
                      <a:r>
                        <a:rPr lang="en-IN" dirty="0"/>
                        <a:t>Competitors undercut</a:t>
                      </a:r>
                      <a:r>
                        <a:rPr lang="en-IN" baseline="0" dirty="0"/>
                        <a:t> prices</a:t>
                      </a:r>
                      <a:endParaRPr lang="en-IN" dirty="0"/>
                    </a:p>
                  </a:txBody>
                  <a:tcPr/>
                </a:tc>
                <a:tc>
                  <a:txBody>
                    <a:bodyPr/>
                    <a:lstStyle/>
                    <a:p>
                      <a:r>
                        <a:rPr lang="en-IN" dirty="0"/>
                        <a:t>H</a:t>
                      </a:r>
                    </a:p>
                  </a:txBody>
                  <a:tcPr/>
                </a:tc>
                <a:tc>
                  <a:txBody>
                    <a:bodyPr/>
                    <a:lstStyle/>
                    <a:p>
                      <a:r>
                        <a:rPr lang="en-IN" dirty="0"/>
                        <a:t>M</a:t>
                      </a:r>
                    </a:p>
                  </a:txBody>
                  <a:tcPr/>
                </a:tc>
                <a:extLst>
                  <a:ext uri="{0D108BD9-81ED-4DB2-BD59-A6C34878D82A}">
                    <a16:rowId xmlns:a16="http://schemas.microsoft.com/office/drawing/2014/main" val="1525661630"/>
                  </a:ext>
                </a:extLst>
              </a:tr>
              <a:tr h="950856">
                <a:tc>
                  <a:txBody>
                    <a:bodyPr/>
                    <a:lstStyle/>
                    <a:p>
                      <a:r>
                        <a:rPr lang="en-IN" dirty="0"/>
                        <a:t>Warehouse unable to deal with increased</a:t>
                      </a:r>
                      <a:r>
                        <a:rPr lang="en-IN" baseline="0" dirty="0"/>
                        <a:t> demand</a:t>
                      </a:r>
                      <a:endParaRPr lang="en-IN" dirty="0"/>
                    </a:p>
                  </a:txBody>
                  <a:tcPr/>
                </a:tc>
                <a:tc>
                  <a:txBody>
                    <a:bodyPr/>
                    <a:lstStyle/>
                    <a:p>
                      <a:r>
                        <a:rPr lang="en-IN" dirty="0"/>
                        <a:t>M</a:t>
                      </a:r>
                    </a:p>
                  </a:txBody>
                  <a:tcPr/>
                </a:tc>
                <a:tc>
                  <a:txBody>
                    <a:bodyPr/>
                    <a:lstStyle/>
                    <a:p>
                      <a:r>
                        <a:rPr lang="en-IN" dirty="0"/>
                        <a:t>L</a:t>
                      </a:r>
                    </a:p>
                  </a:txBody>
                  <a:tcPr/>
                </a:tc>
                <a:extLst>
                  <a:ext uri="{0D108BD9-81ED-4DB2-BD59-A6C34878D82A}">
                    <a16:rowId xmlns:a16="http://schemas.microsoft.com/office/drawing/2014/main" val="4289296865"/>
                  </a:ext>
                </a:extLst>
              </a:tr>
              <a:tr h="665599">
                <a:tc>
                  <a:txBody>
                    <a:bodyPr/>
                    <a:lstStyle/>
                    <a:p>
                      <a:r>
                        <a:rPr lang="en-IN" dirty="0"/>
                        <a:t>Online payment has security problems</a:t>
                      </a:r>
                    </a:p>
                  </a:txBody>
                  <a:tcPr/>
                </a:tc>
                <a:tc>
                  <a:txBody>
                    <a:bodyPr/>
                    <a:lstStyle/>
                    <a:p>
                      <a:r>
                        <a:rPr lang="en-IN" dirty="0"/>
                        <a:t>M</a:t>
                      </a:r>
                    </a:p>
                  </a:txBody>
                  <a:tcPr/>
                </a:tc>
                <a:tc>
                  <a:txBody>
                    <a:bodyPr/>
                    <a:lstStyle/>
                    <a:p>
                      <a:r>
                        <a:rPr lang="en-IN" dirty="0"/>
                        <a:t>M</a:t>
                      </a:r>
                    </a:p>
                  </a:txBody>
                  <a:tcPr/>
                </a:tc>
                <a:extLst>
                  <a:ext uri="{0D108BD9-81ED-4DB2-BD59-A6C34878D82A}">
                    <a16:rowId xmlns:a16="http://schemas.microsoft.com/office/drawing/2014/main" val="370950432"/>
                  </a:ext>
                </a:extLst>
              </a:tr>
              <a:tr h="385625">
                <a:tc>
                  <a:txBody>
                    <a:bodyPr/>
                    <a:lstStyle/>
                    <a:p>
                      <a:r>
                        <a:rPr lang="en-IN" dirty="0"/>
                        <a:t>Maintenance costs higher than estimated</a:t>
                      </a:r>
                    </a:p>
                  </a:txBody>
                  <a:tcPr/>
                </a:tc>
                <a:tc>
                  <a:txBody>
                    <a:bodyPr/>
                    <a:lstStyle/>
                    <a:p>
                      <a:r>
                        <a:rPr lang="en-IN" dirty="0"/>
                        <a:t>L</a:t>
                      </a:r>
                    </a:p>
                  </a:txBody>
                  <a:tcPr/>
                </a:tc>
                <a:tc>
                  <a:txBody>
                    <a:bodyPr/>
                    <a:lstStyle/>
                    <a:p>
                      <a:r>
                        <a:rPr lang="en-IN" dirty="0"/>
                        <a:t>L</a:t>
                      </a:r>
                    </a:p>
                  </a:txBody>
                  <a:tcPr/>
                </a:tc>
                <a:extLst>
                  <a:ext uri="{0D108BD9-81ED-4DB2-BD59-A6C34878D82A}">
                    <a16:rowId xmlns:a16="http://schemas.microsoft.com/office/drawing/2014/main" val="2490894830"/>
                  </a:ext>
                </a:extLst>
              </a:tr>
              <a:tr h="385625">
                <a:tc>
                  <a:txBody>
                    <a:bodyPr/>
                    <a:lstStyle/>
                    <a:p>
                      <a:r>
                        <a:rPr lang="en-IN" dirty="0"/>
                        <a:t>Response times deter purchasers</a:t>
                      </a:r>
                    </a:p>
                  </a:txBody>
                  <a:tcPr/>
                </a:tc>
                <a:tc>
                  <a:txBody>
                    <a:bodyPr/>
                    <a:lstStyle/>
                    <a:p>
                      <a:r>
                        <a:rPr lang="en-IN" dirty="0"/>
                        <a:t>M</a:t>
                      </a:r>
                    </a:p>
                  </a:txBody>
                  <a:tcPr/>
                </a:tc>
                <a:tc>
                  <a:txBody>
                    <a:bodyPr/>
                    <a:lstStyle/>
                    <a:p>
                      <a:r>
                        <a:rPr lang="en-IN" dirty="0"/>
                        <a:t>M</a:t>
                      </a:r>
                    </a:p>
                  </a:txBody>
                  <a:tcPr/>
                </a:tc>
                <a:extLst>
                  <a:ext uri="{0D108BD9-81ED-4DB2-BD59-A6C34878D82A}">
                    <a16:rowId xmlns:a16="http://schemas.microsoft.com/office/drawing/2014/main" val="2879573902"/>
                  </a:ext>
                </a:extLst>
              </a:tr>
            </a:tbl>
          </a:graphicData>
        </a:graphic>
      </p:graphicFrame>
      <p:sp>
        <p:nvSpPr>
          <p:cNvPr id="4" name="Date Placeholder 3"/>
          <p:cNvSpPr>
            <a:spLocks noGrp="1"/>
          </p:cNvSpPr>
          <p:nvPr>
            <p:ph type="dt" sz="half" idx="10"/>
          </p:nvPr>
        </p:nvSpPr>
        <p:spPr/>
        <p:txBody>
          <a:bodyPr/>
          <a:lstStyle/>
          <a:p>
            <a:fld id="{89DB7BBE-96DF-42CC-9EAD-C7E3C5942554}" type="datetime3">
              <a:rPr lang="en-US" smtClean="0"/>
              <a:t>28 November 2023</a:t>
            </a:fld>
            <a:endParaRPr lang="en-US" dirty="0"/>
          </a:p>
        </p:txBody>
      </p:sp>
      <p:sp>
        <p:nvSpPr>
          <p:cNvPr id="6" name="Footer Placeholder 5"/>
          <p:cNvSpPr>
            <a:spLocks noGrp="1"/>
          </p:cNvSpPr>
          <p:nvPr>
            <p:ph type="ftr" sz="quarter" idx="11"/>
          </p:nvPr>
        </p:nvSpPr>
        <p:spPr/>
        <p:txBody>
          <a:bodyPr/>
          <a:lstStyle/>
          <a:p>
            <a:r>
              <a:rPr lang="en-US"/>
              <a:t>Software Project Management       Dr. D Evangelin Geetha    Dept. of MCA     RIT</a:t>
            </a:r>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57</a:t>
            </a:fld>
            <a:endParaRPr lang="en-US" dirty="0"/>
          </a:p>
        </p:txBody>
      </p:sp>
    </p:spTree>
    <p:extLst>
      <p:ext uri="{BB962C8B-B14F-4D97-AF65-F5344CB8AC3E}">
        <p14:creationId xmlns:p14="http://schemas.microsoft.com/office/powerpoint/2010/main" val="389545163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Risk and net present value</a:t>
            </a:r>
          </a:p>
        </p:txBody>
      </p:sp>
      <p:sp>
        <p:nvSpPr>
          <p:cNvPr id="5" name="Content Placeholder 4"/>
          <p:cNvSpPr>
            <a:spLocks noGrp="1"/>
          </p:cNvSpPr>
          <p:nvPr>
            <p:ph idx="1"/>
          </p:nvPr>
        </p:nvSpPr>
        <p:spPr/>
        <p:txBody>
          <a:bodyPr/>
          <a:lstStyle/>
          <a:p>
            <a:r>
              <a:rPr lang="en-IN" dirty="0"/>
              <a:t>Project is relatively risky – use a higher discount rate to calculate net present value</a:t>
            </a:r>
          </a:p>
          <a:p>
            <a:pPr lvl="1"/>
            <a:r>
              <a:rPr lang="en-IN" dirty="0"/>
              <a:t>An additional 2% for reasonably safe project</a:t>
            </a:r>
          </a:p>
          <a:p>
            <a:pPr lvl="1"/>
            <a:r>
              <a:rPr lang="en-IN" dirty="0"/>
              <a:t>5% for fairly risky one</a:t>
            </a:r>
          </a:p>
          <a:p>
            <a:r>
              <a:rPr lang="en-IN" dirty="0"/>
              <a:t>Categorized using scoring method – low, medium, high</a:t>
            </a:r>
          </a:p>
          <a:p>
            <a:pPr marL="0" indent="0">
              <a:buNone/>
            </a:pPr>
            <a:endParaRPr lang="en-IN" dirty="0"/>
          </a:p>
        </p:txBody>
      </p:sp>
      <p:sp>
        <p:nvSpPr>
          <p:cNvPr id="3" name="Date Placeholder 2"/>
          <p:cNvSpPr>
            <a:spLocks noGrp="1"/>
          </p:cNvSpPr>
          <p:nvPr>
            <p:ph type="dt" sz="half" idx="10"/>
          </p:nvPr>
        </p:nvSpPr>
        <p:spPr/>
        <p:txBody>
          <a:bodyPr/>
          <a:lstStyle/>
          <a:p>
            <a:fld id="{133B01A7-9F57-474B-B98B-B31175285DD2}" type="datetime3">
              <a:rPr lang="en-US" smtClean="0"/>
              <a:t>28 November 2023</a:t>
            </a:fld>
            <a:endParaRPr lang="en-US" dirty="0"/>
          </a:p>
        </p:txBody>
      </p:sp>
      <p:sp>
        <p:nvSpPr>
          <p:cNvPr id="4" name="Footer Placeholder 3"/>
          <p:cNvSpPr>
            <a:spLocks noGrp="1"/>
          </p:cNvSpPr>
          <p:nvPr>
            <p:ph type="ftr" sz="quarter" idx="11"/>
          </p:nvPr>
        </p:nvSpPr>
        <p:spPr/>
        <p:txBody>
          <a:bodyPr/>
          <a:lstStyle/>
          <a:p>
            <a:r>
              <a:rPr lang="en-US"/>
              <a:t>Software Project Management       Dr. D Evangelin Geetha    Dept. of MCA     RIT</a:t>
            </a:r>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58</a:t>
            </a:fld>
            <a:endParaRPr lang="en-US" dirty="0"/>
          </a:p>
        </p:txBody>
      </p:sp>
    </p:spTree>
    <p:extLst>
      <p:ext uri="{BB962C8B-B14F-4D97-AF65-F5344CB8AC3E}">
        <p14:creationId xmlns:p14="http://schemas.microsoft.com/office/powerpoint/2010/main" val="18423045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51579" y="804519"/>
            <a:ext cx="9603275" cy="912769"/>
          </a:xfrm>
        </p:spPr>
        <p:txBody>
          <a:bodyPr/>
          <a:lstStyle/>
          <a:p>
            <a:r>
              <a:rPr lang="en-IN" dirty="0"/>
              <a:t>Cost-benefit analysis – Another approach</a:t>
            </a:r>
          </a:p>
        </p:txBody>
      </p:sp>
      <p:sp>
        <p:nvSpPr>
          <p:cNvPr id="3" name="Content Placeholder 2"/>
          <p:cNvSpPr>
            <a:spLocks noGrp="1"/>
          </p:cNvSpPr>
          <p:nvPr>
            <p:ph idx="1"/>
          </p:nvPr>
        </p:nvSpPr>
        <p:spPr>
          <a:xfrm>
            <a:off x="1451579" y="1828800"/>
            <a:ext cx="9603275" cy="3637545"/>
          </a:xfrm>
        </p:spPr>
        <p:txBody>
          <a:bodyPr>
            <a:normAutofit fontScale="92500" lnSpcReduction="10000"/>
          </a:bodyPr>
          <a:lstStyle/>
          <a:p>
            <a:r>
              <a:rPr lang="en-IN" dirty="0"/>
              <a:t>Consider each possible outcome </a:t>
            </a:r>
          </a:p>
          <a:p>
            <a:r>
              <a:rPr lang="en-IN" dirty="0"/>
              <a:t>Estimate the probability of its occurring and the corresponding value of the outcome</a:t>
            </a:r>
          </a:p>
          <a:p>
            <a:r>
              <a:rPr lang="en-IN" dirty="0"/>
              <a:t>Calculate set of cash flow forecasts, each with an associated probability of occurring</a:t>
            </a:r>
          </a:p>
          <a:p>
            <a:r>
              <a:rPr lang="en-IN" dirty="0"/>
              <a:t>Sum the cost or benefit for each possible outcome weighted by its corresponding probability.</a:t>
            </a:r>
          </a:p>
        </p:txBody>
      </p:sp>
      <p:sp>
        <p:nvSpPr>
          <p:cNvPr id="4" name="Date Placeholder 3"/>
          <p:cNvSpPr>
            <a:spLocks noGrp="1"/>
          </p:cNvSpPr>
          <p:nvPr>
            <p:ph type="dt" sz="half" idx="10"/>
          </p:nvPr>
        </p:nvSpPr>
        <p:spPr/>
        <p:txBody>
          <a:bodyPr/>
          <a:lstStyle/>
          <a:p>
            <a:fld id="{3542CD77-9BD8-4264-B8B4-1A352E1D0A33}" type="datetime3">
              <a:rPr lang="en-US" smtClean="0"/>
              <a:t>28 November 2023</a:t>
            </a:fld>
            <a:endParaRPr lang="en-US" dirty="0"/>
          </a:p>
        </p:txBody>
      </p:sp>
      <p:sp>
        <p:nvSpPr>
          <p:cNvPr id="5" name="Footer Placeholder 4"/>
          <p:cNvSpPr>
            <a:spLocks noGrp="1"/>
          </p:cNvSpPr>
          <p:nvPr>
            <p:ph type="ftr" sz="quarter" idx="11"/>
          </p:nvPr>
        </p:nvSpPr>
        <p:spPr/>
        <p:txBody>
          <a:bodyPr/>
          <a:lstStyle/>
          <a:p>
            <a:r>
              <a:rPr lang="en-US"/>
              <a:t>Software Project Management       Dr. D Evangelin Geetha    Dept. of MCA     RIT</a:t>
            </a:r>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59</a:t>
            </a:fld>
            <a:endParaRPr lang="en-US" dirty="0"/>
          </a:p>
        </p:txBody>
      </p:sp>
    </p:spTree>
    <p:extLst>
      <p:ext uri="{BB962C8B-B14F-4D97-AF65-F5344CB8AC3E}">
        <p14:creationId xmlns:p14="http://schemas.microsoft.com/office/powerpoint/2010/main" val="100400185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06613" y="1"/>
            <a:ext cx="9603275" cy="457200"/>
          </a:xfrm>
        </p:spPr>
        <p:txBody>
          <a:bodyPr>
            <a:normAutofit fontScale="90000"/>
          </a:bodyPr>
          <a:lstStyle/>
          <a:p>
            <a:r>
              <a:rPr lang="en-IN" dirty="0"/>
              <a:t>Cost-benefit analysis</a:t>
            </a:r>
          </a:p>
        </p:txBody>
      </p:sp>
      <p:sp>
        <p:nvSpPr>
          <p:cNvPr id="3" name="Content Placeholder 2"/>
          <p:cNvSpPr>
            <a:spLocks noGrp="1"/>
          </p:cNvSpPr>
          <p:nvPr>
            <p:ph idx="1"/>
          </p:nvPr>
        </p:nvSpPr>
        <p:spPr>
          <a:xfrm>
            <a:off x="735981" y="457202"/>
            <a:ext cx="10883590" cy="5009144"/>
          </a:xfrm>
        </p:spPr>
        <p:txBody>
          <a:bodyPr>
            <a:normAutofit fontScale="85000" lnSpcReduction="20000"/>
          </a:bodyPr>
          <a:lstStyle/>
          <a:p>
            <a:r>
              <a:rPr lang="en-US" dirty="0" err="1"/>
              <a:t>BuyRight</a:t>
            </a:r>
            <a:r>
              <a:rPr lang="en-US" dirty="0"/>
              <a:t>, a software house, is considering developing a payroll application for use in academic institutions and is currently engaged in a cost-benefit analysis.</a:t>
            </a:r>
          </a:p>
          <a:p>
            <a:r>
              <a:rPr lang="en-US" dirty="0"/>
              <a:t>Study of the market has shown that, if they can target it efficiently and no competing products become available, they will obtain a high level of sales generating an </a:t>
            </a:r>
            <a:r>
              <a:rPr lang="en-US" dirty="0">
                <a:solidFill>
                  <a:srgbClr val="0000CC"/>
                </a:solidFill>
              </a:rPr>
              <a:t>annual income</a:t>
            </a:r>
            <a:r>
              <a:rPr lang="en-US" dirty="0"/>
              <a:t> of Rs. 800,000. They estimate that there is a 1 in 10 chance of this happening. </a:t>
            </a:r>
          </a:p>
          <a:p>
            <a:r>
              <a:rPr lang="en-US" dirty="0"/>
              <a:t>However, a competitor might launch a competing application before their own launch date and then sales might generate only Rs. 100,000 per year. </a:t>
            </a:r>
          </a:p>
          <a:p>
            <a:r>
              <a:rPr lang="en-US" dirty="0"/>
              <a:t>They estimate that there is a 30% chance of this happening. </a:t>
            </a:r>
          </a:p>
          <a:p>
            <a:r>
              <a:rPr lang="en-US" dirty="0"/>
              <a:t>The most likely outcome, they believe, is somewhere in between these two extremes - they will gain a market lead by launching before any competing product becomes available and achieve an annual income of Rs. 650,000. </a:t>
            </a:r>
            <a:r>
              <a:rPr lang="en-US" dirty="0" err="1"/>
              <a:t>BuyRight</a:t>
            </a:r>
            <a:r>
              <a:rPr lang="en-US" dirty="0"/>
              <a:t> have therefore calculated their expected sales income as given in the following slide.</a:t>
            </a:r>
          </a:p>
          <a:p>
            <a:pPr marL="0" indent="0">
              <a:buNone/>
            </a:pPr>
            <a:endParaRPr lang="en-US" dirty="0"/>
          </a:p>
          <a:p>
            <a:pPr marL="0" indent="0">
              <a:buNone/>
            </a:pPr>
            <a:endParaRPr lang="en-IN" dirty="0"/>
          </a:p>
        </p:txBody>
      </p:sp>
      <p:sp>
        <p:nvSpPr>
          <p:cNvPr id="4" name="Date Placeholder 3"/>
          <p:cNvSpPr>
            <a:spLocks noGrp="1"/>
          </p:cNvSpPr>
          <p:nvPr>
            <p:ph type="dt" sz="half" idx="10"/>
          </p:nvPr>
        </p:nvSpPr>
        <p:spPr/>
        <p:txBody>
          <a:bodyPr/>
          <a:lstStyle/>
          <a:p>
            <a:fld id="{2F8F447B-4003-482C-B73F-AA9D89637F27}" type="datetime3">
              <a:rPr lang="en-US" smtClean="0"/>
              <a:t>28 November 2023</a:t>
            </a:fld>
            <a:endParaRPr lang="en-US" dirty="0"/>
          </a:p>
        </p:txBody>
      </p:sp>
      <p:sp>
        <p:nvSpPr>
          <p:cNvPr id="5" name="Footer Placeholder 4"/>
          <p:cNvSpPr>
            <a:spLocks noGrp="1"/>
          </p:cNvSpPr>
          <p:nvPr>
            <p:ph type="ftr" sz="quarter" idx="11"/>
          </p:nvPr>
        </p:nvSpPr>
        <p:spPr/>
        <p:txBody>
          <a:bodyPr/>
          <a:lstStyle/>
          <a:p>
            <a:r>
              <a:rPr lang="en-US"/>
              <a:t>Software Project Management       Dr. D Evangelin Geetha    Dept. of MCA     RIT</a:t>
            </a:r>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60</a:t>
            </a:fld>
            <a:endParaRPr lang="en-US" dirty="0"/>
          </a:p>
        </p:txBody>
      </p:sp>
    </p:spTree>
    <p:extLst>
      <p:ext uri="{BB962C8B-B14F-4D97-AF65-F5344CB8AC3E}">
        <p14:creationId xmlns:p14="http://schemas.microsoft.com/office/powerpoint/2010/main" val="58850735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D2FB4B-C185-44D6-87E7-9B471FA3490F}"/>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76494F07-0B74-41F2-9035-10E4B83330BF}"/>
              </a:ext>
            </a:extLst>
          </p:cNvPr>
          <p:cNvSpPr>
            <a:spLocks noGrp="1"/>
          </p:cNvSpPr>
          <p:nvPr>
            <p:ph idx="1"/>
          </p:nvPr>
        </p:nvSpPr>
        <p:spPr>
          <a:xfrm>
            <a:off x="1451579" y="1079158"/>
            <a:ext cx="9603275" cy="4387188"/>
          </a:xfrm>
        </p:spPr>
        <p:txBody>
          <a:bodyPr>
            <a:normAutofit fontScale="92500" lnSpcReduction="10000"/>
          </a:bodyPr>
          <a:lstStyle/>
          <a:p>
            <a:endParaRPr lang="en-US" dirty="0"/>
          </a:p>
          <a:p>
            <a:r>
              <a:rPr lang="en-IN" dirty="0"/>
              <a:t>8,00,000	10%	0.1</a:t>
            </a:r>
          </a:p>
          <a:p>
            <a:r>
              <a:rPr lang="en-IN" dirty="0"/>
              <a:t>1,00,000 	30%	0.3</a:t>
            </a:r>
          </a:p>
          <a:p>
            <a:r>
              <a:rPr lang="en-IN" dirty="0"/>
              <a:t>6,50,000	</a:t>
            </a:r>
            <a:r>
              <a:rPr lang="en-IN" dirty="0">
                <a:solidFill>
                  <a:srgbClr val="FF0000"/>
                </a:solidFill>
              </a:rPr>
              <a:t>60%</a:t>
            </a:r>
            <a:r>
              <a:rPr lang="en-IN" dirty="0"/>
              <a:t>	1-(0.1+0.3)=1-0.4=0.6</a:t>
            </a:r>
          </a:p>
          <a:p>
            <a:r>
              <a:rPr lang="en-IN" dirty="0"/>
              <a:t>1. expected income =8,00,000*0.1=  80,000</a:t>
            </a:r>
          </a:p>
          <a:p>
            <a:r>
              <a:rPr lang="en-IN" dirty="0"/>
              <a:t>2.                           =1,00,000*0.3=  30,000</a:t>
            </a:r>
          </a:p>
          <a:p>
            <a:r>
              <a:rPr lang="en-IN" dirty="0"/>
              <a:t>3. 			   = 6,50,000*0.6=3,90,000</a:t>
            </a:r>
          </a:p>
          <a:p>
            <a:pPr lvl="3"/>
            <a:r>
              <a:rPr lang="en-IN" dirty="0"/>
              <a:t> 		   			5,00,000</a:t>
            </a:r>
          </a:p>
        </p:txBody>
      </p:sp>
      <p:sp>
        <p:nvSpPr>
          <p:cNvPr id="4" name="Date Placeholder 3">
            <a:extLst>
              <a:ext uri="{FF2B5EF4-FFF2-40B4-BE49-F238E27FC236}">
                <a16:creationId xmlns:a16="http://schemas.microsoft.com/office/drawing/2014/main" id="{9B3334E6-2279-47C1-AD97-AEC32D9A044E}"/>
              </a:ext>
            </a:extLst>
          </p:cNvPr>
          <p:cNvSpPr>
            <a:spLocks noGrp="1"/>
          </p:cNvSpPr>
          <p:nvPr>
            <p:ph type="dt" sz="half" idx="10"/>
          </p:nvPr>
        </p:nvSpPr>
        <p:spPr/>
        <p:txBody>
          <a:bodyPr/>
          <a:lstStyle/>
          <a:p>
            <a:fld id="{B2F0588E-38E9-4677-8983-8BD4A360546E}" type="datetime3">
              <a:rPr lang="en-US" smtClean="0"/>
              <a:pPr/>
              <a:t>28 November 2023</a:t>
            </a:fld>
            <a:endParaRPr lang="en-US" dirty="0"/>
          </a:p>
        </p:txBody>
      </p:sp>
      <p:sp>
        <p:nvSpPr>
          <p:cNvPr id="5" name="Footer Placeholder 4">
            <a:extLst>
              <a:ext uri="{FF2B5EF4-FFF2-40B4-BE49-F238E27FC236}">
                <a16:creationId xmlns:a16="http://schemas.microsoft.com/office/drawing/2014/main" id="{41AB0288-D09E-4DF5-9824-7014A178C699}"/>
              </a:ext>
            </a:extLst>
          </p:cNvPr>
          <p:cNvSpPr>
            <a:spLocks noGrp="1"/>
          </p:cNvSpPr>
          <p:nvPr>
            <p:ph type="ftr" sz="quarter" idx="11"/>
          </p:nvPr>
        </p:nvSpPr>
        <p:spPr/>
        <p:txBody>
          <a:bodyPr/>
          <a:lstStyle/>
          <a:p>
            <a:r>
              <a:rPr lang="en-US"/>
              <a:t>Software Project Management       Dr. D Evangelin Geetha    Dept. of MCA     RIT</a:t>
            </a:r>
            <a:endParaRPr lang="en-US" dirty="0"/>
          </a:p>
        </p:txBody>
      </p:sp>
      <p:sp>
        <p:nvSpPr>
          <p:cNvPr id="6" name="Slide Number Placeholder 5">
            <a:extLst>
              <a:ext uri="{FF2B5EF4-FFF2-40B4-BE49-F238E27FC236}">
                <a16:creationId xmlns:a16="http://schemas.microsoft.com/office/drawing/2014/main" id="{E24D142D-DC96-4688-A6C3-A34D3B5E76E1}"/>
              </a:ext>
            </a:extLst>
          </p:cNvPr>
          <p:cNvSpPr>
            <a:spLocks noGrp="1"/>
          </p:cNvSpPr>
          <p:nvPr>
            <p:ph type="sldNum" sz="quarter" idx="12"/>
          </p:nvPr>
        </p:nvSpPr>
        <p:spPr/>
        <p:txBody>
          <a:bodyPr/>
          <a:lstStyle/>
          <a:p>
            <a:fld id="{6D22F896-40B5-4ADD-8801-0D06FADFA095}" type="slidenum">
              <a:rPr lang="en-US" smtClean="0"/>
              <a:pPr/>
              <a:t>61</a:t>
            </a:fld>
            <a:endParaRPr lang="en-US" dirty="0"/>
          </a:p>
        </p:txBody>
      </p:sp>
    </p:spTree>
    <p:extLst>
      <p:ext uri="{BB962C8B-B14F-4D97-AF65-F5344CB8AC3E}">
        <p14:creationId xmlns:p14="http://schemas.microsoft.com/office/powerpoint/2010/main" val="325310332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51525" y="113144"/>
            <a:ext cx="9603275" cy="611686"/>
          </a:xfrm>
        </p:spPr>
        <p:txBody>
          <a:bodyPr/>
          <a:lstStyle/>
          <a:p>
            <a:r>
              <a:rPr lang="en-IN" dirty="0" err="1"/>
              <a:t>BuyRight’s</a:t>
            </a:r>
            <a:r>
              <a:rPr lang="en-IN" dirty="0"/>
              <a:t> income forecasts</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2802379785"/>
              </p:ext>
            </p:extLst>
          </p:nvPr>
        </p:nvGraphicFramePr>
        <p:xfrm>
          <a:off x="1450424" y="1103971"/>
          <a:ext cx="9604376" cy="4339220"/>
        </p:xfrm>
        <a:graphic>
          <a:graphicData uri="http://schemas.openxmlformats.org/drawingml/2006/table">
            <a:tbl>
              <a:tblPr firstRow="1" bandRow="1">
                <a:tableStyleId>{5C22544A-7EE6-4342-B048-85BDC9FD1C3A}</a:tableStyleId>
              </a:tblPr>
              <a:tblGrid>
                <a:gridCol w="2401094">
                  <a:extLst>
                    <a:ext uri="{9D8B030D-6E8A-4147-A177-3AD203B41FA5}">
                      <a16:colId xmlns:a16="http://schemas.microsoft.com/office/drawing/2014/main" val="3757587514"/>
                    </a:ext>
                  </a:extLst>
                </a:gridCol>
                <a:gridCol w="2401094">
                  <a:extLst>
                    <a:ext uri="{9D8B030D-6E8A-4147-A177-3AD203B41FA5}">
                      <a16:colId xmlns:a16="http://schemas.microsoft.com/office/drawing/2014/main" val="3538661634"/>
                    </a:ext>
                  </a:extLst>
                </a:gridCol>
                <a:gridCol w="2401094">
                  <a:extLst>
                    <a:ext uri="{9D8B030D-6E8A-4147-A177-3AD203B41FA5}">
                      <a16:colId xmlns:a16="http://schemas.microsoft.com/office/drawing/2014/main" val="2659339759"/>
                    </a:ext>
                  </a:extLst>
                </a:gridCol>
                <a:gridCol w="2401094">
                  <a:extLst>
                    <a:ext uri="{9D8B030D-6E8A-4147-A177-3AD203B41FA5}">
                      <a16:colId xmlns:a16="http://schemas.microsoft.com/office/drawing/2014/main" val="3877156976"/>
                    </a:ext>
                  </a:extLst>
                </a:gridCol>
              </a:tblGrid>
              <a:tr h="852786">
                <a:tc>
                  <a:txBody>
                    <a:bodyPr/>
                    <a:lstStyle/>
                    <a:p>
                      <a:pPr algn="ctr"/>
                      <a:r>
                        <a:rPr lang="en-IN" sz="2400" dirty="0"/>
                        <a:t>Sales</a:t>
                      </a:r>
                    </a:p>
                  </a:txBody>
                  <a:tcPr/>
                </a:tc>
                <a:tc>
                  <a:txBody>
                    <a:bodyPr/>
                    <a:lstStyle/>
                    <a:p>
                      <a:pPr algn="ctr"/>
                      <a:r>
                        <a:rPr lang="en-IN" sz="2400" dirty="0"/>
                        <a:t>Annual Sales Income (Rs)</a:t>
                      </a:r>
                    </a:p>
                    <a:p>
                      <a:pPr algn="ctr"/>
                      <a:r>
                        <a:rPr lang="en-IN" sz="2400" dirty="0"/>
                        <a:t>i</a:t>
                      </a:r>
                    </a:p>
                  </a:txBody>
                  <a:tcPr/>
                </a:tc>
                <a:tc>
                  <a:txBody>
                    <a:bodyPr/>
                    <a:lstStyle/>
                    <a:p>
                      <a:pPr algn="ctr"/>
                      <a:r>
                        <a:rPr lang="en-IN" sz="2400" dirty="0"/>
                        <a:t>Probability</a:t>
                      </a:r>
                    </a:p>
                    <a:p>
                      <a:pPr algn="ctr"/>
                      <a:r>
                        <a:rPr lang="en-IN" sz="2400" dirty="0"/>
                        <a:t>p</a:t>
                      </a:r>
                    </a:p>
                  </a:txBody>
                  <a:tcPr/>
                </a:tc>
                <a:tc>
                  <a:txBody>
                    <a:bodyPr/>
                    <a:lstStyle/>
                    <a:p>
                      <a:pPr algn="ctr"/>
                      <a:r>
                        <a:rPr lang="en-IN" sz="2400" dirty="0"/>
                        <a:t>Expected value (Rs)</a:t>
                      </a:r>
                    </a:p>
                    <a:p>
                      <a:pPr algn="ctr"/>
                      <a:r>
                        <a:rPr lang="en-IN" sz="2400" dirty="0" err="1"/>
                        <a:t>i</a:t>
                      </a:r>
                      <a:r>
                        <a:rPr lang="en-IN" sz="2400" dirty="0"/>
                        <a:t> x p</a:t>
                      </a:r>
                    </a:p>
                  </a:txBody>
                  <a:tcPr/>
                </a:tc>
                <a:extLst>
                  <a:ext uri="{0D108BD9-81ED-4DB2-BD59-A6C34878D82A}">
                    <a16:rowId xmlns:a16="http://schemas.microsoft.com/office/drawing/2014/main" val="940292847"/>
                  </a:ext>
                </a:extLst>
              </a:tr>
              <a:tr h="787625">
                <a:tc>
                  <a:txBody>
                    <a:bodyPr/>
                    <a:lstStyle/>
                    <a:p>
                      <a:r>
                        <a:rPr lang="en-IN" sz="2400" dirty="0"/>
                        <a:t>High</a:t>
                      </a:r>
                    </a:p>
                  </a:txBody>
                  <a:tcPr/>
                </a:tc>
                <a:tc>
                  <a:txBody>
                    <a:bodyPr/>
                    <a:lstStyle/>
                    <a:p>
                      <a:pPr algn="r"/>
                      <a:r>
                        <a:rPr lang="en-IN" sz="2400" dirty="0"/>
                        <a:t>8,00,000</a:t>
                      </a:r>
                    </a:p>
                  </a:txBody>
                  <a:tcPr/>
                </a:tc>
                <a:tc>
                  <a:txBody>
                    <a:bodyPr/>
                    <a:lstStyle/>
                    <a:p>
                      <a:pPr algn="r"/>
                      <a:r>
                        <a:rPr lang="en-IN" sz="2400" dirty="0"/>
                        <a:t>0.1</a:t>
                      </a:r>
                    </a:p>
                  </a:txBody>
                  <a:tcPr/>
                </a:tc>
                <a:tc>
                  <a:txBody>
                    <a:bodyPr/>
                    <a:lstStyle/>
                    <a:p>
                      <a:pPr algn="r"/>
                      <a:r>
                        <a:rPr lang="en-IN" sz="2400" dirty="0"/>
                        <a:t>80,000</a:t>
                      </a:r>
                    </a:p>
                  </a:txBody>
                  <a:tcPr/>
                </a:tc>
                <a:extLst>
                  <a:ext uri="{0D108BD9-81ED-4DB2-BD59-A6C34878D82A}">
                    <a16:rowId xmlns:a16="http://schemas.microsoft.com/office/drawing/2014/main" val="278456249"/>
                  </a:ext>
                </a:extLst>
              </a:tr>
              <a:tr h="787625">
                <a:tc>
                  <a:txBody>
                    <a:bodyPr/>
                    <a:lstStyle/>
                    <a:p>
                      <a:r>
                        <a:rPr lang="en-IN" sz="2400" dirty="0"/>
                        <a:t>Medium</a:t>
                      </a:r>
                    </a:p>
                  </a:txBody>
                  <a:tcPr/>
                </a:tc>
                <a:tc>
                  <a:txBody>
                    <a:bodyPr/>
                    <a:lstStyle/>
                    <a:p>
                      <a:pPr algn="r"/>
                      <a:r>
                        <a:rPr lang="en-IN" sz="2400" dirty="0"/>
                        <a:t>6,50,000</a:t>
                      </a:r>
                    </a:p>
                  </a:txBody>
                  <a:tcPr/>
                </a:tc>
                <a:tc>
                  <a:txBody>
                    <a:bodyPr/>
                    <a:lstStyle/>
                    <a:p>
                      <a:pPr algn="r"/>
                      <a:r>
                        <a:rPr lang="en-IN" sz="2400" dirty="0"/>
                        <a:t>0.6</a:t>
                      </a:r>
                    </a:p>
                  </a:txBody>
                  <a:tcPr/>
                </a:tc>
                <a:tc>
                  <a:txBody>
                    <a:bodyPr/>
                    <a:lstStyle/>
                    <a:p>
                      <a:pPr algn="r"/>
                      <a:r>
                        <a:rPr lang="en-IN" sz="2400" dirty="0"/>
                        <a:t>3,90,000</a:t>
                      </a:r>
                    </a:p>
                  </a:txBody>
                  <a:tcPr/>
                </a:tc>
                <a:extLst>
                  <a:ext uri="{0D108BD9-81ED-4DB2-BD59-A6C34878D82A}">
                    <a16:rowId xmlns:a16="http://schemas.microsoft.com/office/drawing/2014/main" val="1701499188"/>
                  </a:ext>
                </a:extLst>
              </a:tr>
              <a:tr h="787625">
                <a:tc>
                  <a:txBody>
                    <a:bodyPr/>
                    <a:lstStyle/>
                    <a:p>
                      <a:r>
                        <a:rPr lang="en-IN" sz="2400" dirty="0"/>
                        <a:t>Low</a:t>
                      </a:r>
                    </a:p>
                  </a:txBody>
                  <a:tcPr/>
                </a:tc>
                <a:tc>
                  <a:txBody>
                    <a:bodyPr/>
                    <a:lstStyle/>
                    <a:p>
                      <a:pPr algn="r"/>
                      <a:r>
                        <a:rPr lang="en-IN" sz="2400" dirty="0"/>
                        <a:t>1,00,000</a:t>
                      </a:r>
                    </a:p>
                  </a:txBody>
                  <a:tcPr/>
                </a:tc>
                <a:tc>
                  <a:txBody>
                    <a:bodyPr/>
                    <a:lstStyle/>
                    <a:p>
                      <a:pPr algn="r"/>
                      <a:r>
                        <a:rPr lang="en-IN" sz="2400" dirty="0"/>
                        <a:t>0.3</a:t>
                      </a:r>
                    </a:p>
                  </a:txBody>
                  <a:tcPr/>
                </a:tc>
                <a:tc>
                  <a:txBody>
                    <a:bodyPr/>
                    <a:lstStyle/>
                    <a:p>
                      <a:pPr algn="r"/>
                      <a:r>
                        <a:rPr lang="en-IN" sz="2400" dirty="0"/>
                        <a:t>30,000</a:t>
                      </a:r>
                    </a:p>
                  </a:txBody>
                  <a:tcPr/>
                </a:tc>
                <a:extLst>
                  <a:ext uri="{0D108BD9-81ED-4DB2-BD59-A6C34878D82A}">
                    <a16:rowId xmlns:a16="http://schemas.microsoft.com/office/drawing/2014/main" val="731873925"/>
                  </a:ext>
                </a:extLst>
              </a:tr>
              <a:tr h="787625">
                <a:tc>
                  <a:txBody>
                    <a:bodyPr/>
                    <a:lstStyle/>
                    <a:p>
                      <a:r>
                        <a:rPr lang="en-IN" sz="2400" dirty="0"/>
                        <a:t>Expected Income</a:t>
                      </a:r>
                    </a:p>
                  </a:txBody>
                  <a:tcPr/>
                </a:tc>
                <a:tc>
                  <a:txBody>
                    <a:bodyPr/>
                    <a:lstStyle/>
                    <a:p>
                      <a:endParaRPr lang="en-IN" sz="2400" dirty="0"/>
                    </a:p>
                  </a:txBody>
                  <a:tcPr/>
                </a:tc>
                <a:tc>
                  <a:txBody>
                    <a:bodyPr/>
                    <a:lstStyle/>
                    <a:p>
                      <a:pPr algn="r"/>
                      <a:endParaRPr lang="en-IN" sz="2400" dirty="0"/>
                    </a:p>
                  </a:txBody>
                  <a:tcPr/>
                </a:tc>
                <a:tc>
                  <a:txBody>
                    <a:bodyPr/>
                    <a:lstStyle/>
                    <a:p>
                      <a:pPr algn="r"/>
                      <a:r>
                        <a:rPr lang="en-IN" sz="2400" dirty="0"/>
                        <a:t>5,00,000</a:t>
                      </a:r>
                    </a:p>
                  </a:txBody>
                  <a:tcPr/>
                </a:tc>
                <a:extLst>
                  <a:ext uri="{0D108BD9-81ED-4DB2-BD59-A6C34878D82A}">
                    <a16:rowId xmlns:a16="http://schemas.microsoft.com/office/drawing/2014/main" val="2875962182"/>
                  </a:ext>
                </a:extLst>
              </a:tr>
            </a:tbl>
          </a:graphicData>
        </a:graphic>
      </p:graphicFrame>
      <p:sp>
        <p:nvSpPr>
          <p:cNvPr id="3" name="Date Placeholder 2"/>
          <p:cNvSpPr>
            <a:spLocks noGrp="1"/>
          </p:cNvSpPr>
          <p:nvPr>
            <p:ph type="dt" sz="half" idx="10"/>
          </p:nvPr>
        </p:nvSpPr>
        <p:spPr/>
        <p:txBody>
          <a:bodyPr/>
          <a:lstStyle/>
          <a:p>
            <a:fld id="{F3AFD6E7-7E15-474D-A4E5-0826AFFEC031}" type="datetime3">
              <a:rPr lang="en-US" smtClean="0"/>
              <a:t>28 November 2023</a:t>
            </a:fld>
            <a:endParaRPr lang="en-US" dirty="0"/>
          </a:p>
        </p:txBody>
      </p:sp>
      <p:sp>
        <p:nvSpPr>
          <p:cNvPr id="5" name="Footer Placeholder 4"/>
          <p:cNvSpPr>
            <a:spLocks noGrp="1"/>
          </p:cNvSpPr>
          <p:nvPr>
            <p:ph type="ftr" sz="quarter" idx="11"/>
          </p:nvPr>
        </p:nvSpPr>
        <p:spPr/>
        <p:txBody>
          <a:bodyPr/>
          <a:lstStyle/>
          <a:p>
            <a:r>
              <a:rPr lang="en-US"/>
              <a:t>Software Project Management       Dr. D Evangelin Geetha    Dept. of MCA     RIT</a:t>
            </a:r>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62</a:t>
            </a:fld>
            <a:endParaRPr lang="en-US" dirty="0"/>
          </a:p>
        </p:txBody>
      </p:sp>
    </p:spTree>
    <p:extLst>
      <p:ext uri="{BB962C8B-B14F-4D97-AF65-F5344CB8AC3E}">
        <p14:creationId xmlns:p14="http://schemas.microsoft.com/office/powerpoint/2010/main" val="104151976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err="1"/>
              <a:t>BuyRight’s</a:t>
            </a:r>
            <a:r>
              <a:rPr lang="en-IN" dirty="0"/>
              <a:t> income forecasts</a:t>
            </a:r>
          </a:p>
        </p:txBody>
      </p:sp>
      <p:sp>
        <p:nvSpPr>
          <p:cNvPr id="3" name="Content Placeholder 2"/>
          <p:cNvSpPr>
            <a:spLocks noGrp="1"/>
          </p:cNvSpPr>
          <p:nvPr>
            <p:ph idx="1"/>
          </p:nvPr>
        </p:nvSpPr>
        <p:spPr>
          <a:xfrm>
            <a:off x="636032" y="1329136"/>
            <a:ext cx="9603275" cy="3239010"/>
          </a:xfrm>
        </p:spPr>
        <p:txBody>
          <a:bodyPr>
            <a:normAutofit fontScale="70000" lnSpcReduction="20000"/>
          </a:bodyPr>
          <a:lstStyle/>
          <a:p>
            <a:r>
              <a:rPr lang="en-US" dirty="0"/>
              <a:t>Total development costs are estimated at Rs. 750,000 and sales are expected to be maintained at a reasonably constant level for at least four years. Annual costs of marketing and product maintenance are estimated at Rs. 200,000, irrespective of the market share gained. Would you advise them to go ahead with the project?</a:t>
            </a:r>
          </a:p>
          <a:p>
            <a:r>
              <a:rPr lang="en-US" dirty="0"/>
              <a:t> 7,50,000 – once</a:t>
            </a:r>
          </a:p>
          <a:p>
            <a:r>
              <a:rPr lang="en-US" dirty="0"/>
              <a:t>Annual income = 5,00,000 – 2,00,000 = 3,00,000</a:t>
            </a:r>
          </a:p>
          <a:p>
            <a:r>
              <a:rPr lang="en-US" dirty="0"/>
              <a:t>For 4 years = 3,00,000*4= 12,00,000</a:t>
            </a:r>
          </a:p>
          <a:p>
            <a:r>
              <a:rPr lang="en-US" dirty="0"/>
              <a:t>Total income = 12,00,000 – 7,50,000 = 4,50,000</a:t>
            </a:r>
          </a:p>
          <a:p>
            <a:endParaRPr lang="en-IN" dirty="0"/>
          </a:p>
        </p:txBody>
      </p:sp>
      <p:sp>
        <p:nvSpPr>
          <p:cNvPr id="4" name="Date Placeholder 3"/>
          <p:cNvSpPr>
            <a:spLocks noGrp="1"/>
          </p:cNvSpPr>
          <p:nvPr>
            <p:ph type="dt" sz="half" idx="10"/>
          </p:nvPr>
        </p:nvSpPr>
        <p:spPr/>
        <p:txBody>
          <a:bodyPr/>
          <a:lstStyle/>
          <a:p>
            <a:fld id="{35F9D0F1-70FE-4148-9995-393646775B79}" type="datetime3">
              <a:rPr lang="en-US" smtClean="0"/>
              <a:t>28 November 2023</a:t>
            </a:fld>
            <a:endParaRPr lang="en-US" dirty="0"/>
          </a:p>
        </p:txBody>
      </p:sp>
      <p:sp>
        <p:nvSpPr>
          <p:cNvPr id="5" name="Footer Placeholder 4"/>
          <p:cNvSpPr>
            <a:spLocks noGrp="1"/>
          </p:cNvSpPr>
          <p:nvPr>
            <p:ph type="ftr" sz="quarter" idx="11"/>
          </p:nvPr>
        </p:nvSpPr>
        <p:spPr/>
        <p:txBody>
          <a:bodyPr/>
          <a:lstStyle/>
          <a:p>
            <a:r>
              <a:rPr lang="en-US"/>
              <a:t>Software Project Management       Dr. D Evangelin Geetha    Dept. of MCA     RIT</a:t>
            </a:r>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63</a:t>
            </a:fld>
            <a:endParaRPr lang="en-US" dirty="0"/>
          </a:p>
        </p:txBody>
      </p:sp>
    </p:spTree>
    <p:extLst>
      <p:ext uri="{BB962C8B-B14F-4D97-AF65-F5344CB8AC3E}">
        <p14:creationId xmlns:p14="http://schemas.microsoft.com/office/powerpoint/2010/main" val="214451234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51579" y="191202"/>
            <a:ext cx="9603275" cy="589383"/>
          </a:xfrm>
        </p:spPr>
        <p:txBody>
          <a:bodyPr/>
          <a:lstStyle/>
          <a:p>
            <a:r>
              <a:rPr lang="en-IN" b="1" dirty="0"/>
              <a:t>Risk profile analysis</a:t>
            </a:r>
            <a:endParaRPr lang="en-IN" dirty="0"/>
          </a:p>
        </p:txBody>
      </p:sp>
      <p:sp>
        <p:nvSpPr>
          <p:cNvPr id="3" name="Content Placeholder 2"/>
          <p:cNvSpPr>
            <a:spLocks noGrp="1"/>
          </p:cNvSpPr>
          <p:nvPr>
            <p:ph idx="1"/>
          </p:nvPr>
        </p:nvSpPr>
        <p:spPr>
          <a:xfrm>
            <a:off x="1451579" y="1282390"/>
            <a:ext cx="9603275" cy="4183955"/>
          </a:xfrm>
        </p:spPr>
        <p:txBody>
          <a:bodyPr/>
          <a:lstStyle/>
          <a:p>
            <a:r>
              <a:rPr lang="en-US" dirty="0"/>
              <a:t>An approach which attempts to overcome some of the objections to cost-benefit averaging is the construction of risk profiles using sensitivity analysis.</a:t>
            </a:r>
          </a:p>
          <a:p>
            <a:r>
              <a:rPr lang="en-US" dirty="0"/>
              <a:t>varying each of the parameters that affect the project's cost or benefits to ascertain how sensitive the project's profitability is to each factor.</a:t>
            </a:r>
          </a:p>
          <a:p>
            <a:r>
              <a:rPr lang="en-IN" dirty="0"/>
              <a:t>Monte Carlo technique</a:t>
            </a:r>
          </a:p>
        </p:txBody>
      </p:sp>
      <p:sp>
        <p:nvSpPr>
          <p:cNvPr id="4" name="Date Placeholder 3"/>
          <p:cNvSpPr>
            <a:spLocks noGrp="1"/>
          </p:cNvSpPr>
          <p:nvPr>
            <p:ph type="dt" sz="half" idx="10"/>
          </p:nvPr>
        </p:nvSpPr>
        <p:spPr/>
        <p:txBody>
          <a:bodyPr/>
          <a:lstStyle/>
          <a:p>
            <a:fld id="{B7DDFC0E-E047-4DED-BE69-A7F07DF51EF3}" type="datetime3">
              <a:rPr lang="en-US" smtClean="0"/>
              <a:t>28 November 2023</a:t>
            </a:fld>
            <a:endParaRPr lang="en-US" dirty="0"/>
          </a:p>
        </p:txBody>
      </p:sp>
      <p:sp>
        <p:nvSpPr>
          <p:cNvPr id="5" name="Footer Placeholder 4"/>
          <p:cNvSpPr>
            <a:spLocks noGrp="1"/>
          </p:cNvSpPr>
          <p:nvPr>
            <p:ph type="ftr" sz="quarter" idx="11"/>
          </p:nvPr>
        </p:nvSpPr>
        <p:spPr/>
        <p:txBody>
          <a:bodyPr/>
          <a:lstStyle/>
          <a:p>
            <a:r>
              <a:rPr lang="en-US"/>
              <a:t>Software Project Management       Dr. D Evangelin Geetha    Dept. of MCA     RIT</a:t>
            </a:r>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64</a:t>
            </a:fld>
            <a:endParaRPr lang="en-US" dirty="0"/>
          </a:p>
        </p:txBody>
      </p:sp>
    </p:spTree>
    <p:extLst>
      <p:ext uri="{BB962C8B-B14F-4D97-AF65-F5344CB8AC3E}">
        <p14:creationId xmlns:p14="http://schemas.microsoft.com/office/powerpoint/2010/main" val="4293374123"/>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51578" y="224655"/>
            <a:ext cx="9603275" cy="678594"/>
          </a:xfrm>
        </p:spPr>
        <p:txBody>
          <a:bodyPr>
            <a:normAutofit fontScale="90000"/>
          </a:bodyPr>
          <a:lstStyle/>
          <a:p>
            <a:r>
              <a:rPr lang="en-IN" b="1" dirty="0"/>
              <a:t>Using decision trees</a:t>
            </a:r>
            <a:br>
              <a:rPr lang="en-IN" b="1" dirty="0"/>
            </a:br>
            <a:endParaRPr lang="en-IN" dirty="0"/>
          </a:p>
        </p:txBody>
      </p:sp>
      <p:sp>
        <p:nvSpPr>
          <p:cNvPr id="3" name="Content Placeholder 2"/>
          <p:cNvSpPr>
            <a:spLocks noGrp="1"/>
          </p:cNvSpPr>
          <p:nvPr>
            <p:ph idx="1"/>
          </p:nvPr>
        </p:nvSpPr>
        <p:spPr>
          <a:xfrm>
            <a:off x="1451579" y="1126272"/>
            <a:ext cx="9603275" cy="4340073"/>
          </a:xfrm>
        </p:spPr>
        <p:txBody>
          <a:bodyPr/>
          <a:lstStyle/>
          <a:p>
            <a:r>
              <a:rPr lang="en-IN" dirty="0"/>
              <a:t>Evaluate whether a risk is important and if it is, decide a suitable course of action</a:t>
            </a:r>
          </a:p>
          <a:p>
            <a:r>
              <a:rPr lang="en-IN" dirty="0"/>
              <a:t>Example:</a:t>
            </a:r>
          </a:p>
          <a:p>
            <a:endParaRPr lang="en-IN" dirty="0"/>
          </a:p>
        </p:txBody>
      </p:sp>
      <p:sp>
        <p:nvSpPr>
          <p:cNvPr id="4" name="Date Placeholder 3"/>
          <p:cNvSpPr>
            <a:spLocks noGrp="1"/>
          </p:cNvSpPr>
          <p:nvPr>
            <p:ph type="dt" sz="half" idx="10"/>
          </p:nvPr>
        </p:nvSpPr>
        <p:spPr/>
        <p:txBody>
          <a:bodyPr/>
          <a:lstStyle/>
          <a:p>
            <a:fld id="{946E042D-16C0-40F4-8B29-19140BE423C9}" type="datetime3">
              <a:rPr lang="en-US" smtClean="0"/>
              <a:t>28 November 2023</a:t>
            </a:fld>
            <a:endParaRPr lang="en-US" dirty="0"/>
          </a:p>
        </p:txBody>
      </p:sp>
      <p:sp>
        <p:nvSpPr>
          <p:cNvPr id="5" name="Footer Placeholder 4"/>
          <p:cNvSpPr>
            <a:spLocks noGrp="1"/>
          </p:cNvSpPr>
          <p:nvPr>
            <p:ph type="ftr" sz="quarter" idx="11"/>
          </p:nvPr>
        </p:nvSpPr>
        <p:spPr/>
        <p:txBody>
          <a:bodyPr/>
          <a:lstStyle/>
          <a:p>
            <a:r>
              <a:rPr lang="en-US"/>
              <a:t>Software Project Management       Dr. D Evangelin Geetha    Dept. of MCA     RIT</a:t>
            </a:r>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65</a:t>
            </a:fld>
            <a:endParaRPr lang="en-US" dirty="0"/>
          </a:p>
        </p:txBody>
      </p:sp>
    </p:spTree>
    <p:extLst>
      <p:ext uri="{BB962C8B-B14F-4D97-AF65-F5344CB8AC3E}">
        <p14:creationId xmlns:p14="http://schemas.microsoft.com/office/powerpoint/2010/main" val="1196526038"/>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2D9196D-AE87-4814-93B9-8FA52D6803B2}"/>
              </a:ext>
            </a:extLst>
          </p:cNvPr>
          <p:cNvSpPr>
            <a:spLocks noGrp="1"/>
          </p:cNvSpPr>
          <p:nvPr>
            <p:ph idx="1"/>
          </p:nvPr>
        </p:nvSpPr>
        <p:spPr>
          <a:xfrm>
            <a:off x="774357" y="634314"/>
            <a:ext cx="10799805" cy="4832031"/>
          </a:xfrm>
        </p:spPr>
        <p:txBody>
          <a:bodyPr>
            <a:normAutofit fontScale="92500" lnSpcReduction="20000"/>
          </a:bodyPr>
          <a:lstStyle/>
          <a:p>
            <a:r>
              <a:rPr lang="en-US" dirty="0"/>
              <a:t>Extending with Existing system or Replacing a new system</a:t>
            </a:r>
          </a:p>
          <a:p>
            <a:r>
              <a:rPr lang="en-US" dirty="0"/>
              <a:t>Business increases or not</a:t>
            </a:r>
          </a:p>
          <a:p>
            <a:endParaRPr lang="en-US" dirty="0"/>
          </a:p>
          <a:p>
            <a:r>
              <a:rPr lang="en-US" dirty="0"/>
              <a:t>Extending with Existing system</a:t>
            </a:r>
            <a:r>
              <a:rPr lang="en-IN" dirty="0"/>
              <a:t> &amp; not increasing – NPV 75,000</a:t>
            </a:r>
          </a:p>
          <a:p>
            <a:r>
              <a:rPr lang="en-IN" dirty="0"/>
              <a:t>Extending with existing system &amp; business increases – NPV -1,00,000</a:t>
            </a:r>
          </a:p>
          <a:p>
            <a:r>
              <a:rPr lang="en-IN" dirty="0"/>
              <a:t>Replacing a new system &amp; market improves – NPV 2,50,000</a:t>
            </a:r>
          </a:p>
          <a:p>
            <a:r>
              <a:rPr lang="en-IN" dirty="0"/>
              <a:t>Replacing a new system &amp; market does not improve – NPV – 50,000</a:t>
            </a:r>
          </a:p>
          <a:p>
            <a:r>
              <a:rPr lang="en-IN" dirty="0"/>
              <a:t>Prob. That market increases 20%</a:t>
            </a:r>
          </a:p>
          <a:p>
            <a:r>
              <a:rPr lang="en-IN" dirty="0"/>
              <a:t>Prob that market does not improve 80%</a:t>
            </a:r>
          </a:p>
        </p:txBody>
      </p:sp>
      <p:sp>
        <p:nvSpPr>
          <p:cNvPr id="4" name="Date Placeholder 3">
            <a:extLst>
              <a:ext uri="{FF2B5EF4-FFF2-40B4-BE49-F238E27FC236}">
                <a16:creationId xmlns:a16="http://schemas.microsoft.com/office/drawing/2014/main" id="{E0BE51A7-5C4A-47CB-BDBD-DF45DE4ECB6D}"/>
              </a:ext>
            </a:extLst>
          </p:cNvPr>
          <p:cNvSpPr>
            <a:spLocks noGrp="1"/>
          </p:cNvSpPr>
          <p:nvPr>
            <p:ph type="dt" sz="half" idx="10"/>
          </p:nvPr>
        </p:nvSpPr>
        <p:spPr/>
        <p:txBody>
          <a:bodyPr/>
          <a:lstStyle/>
          <a:p>
            <a:fld id="{B2F0588E-38E9-4677-8983-8BD4A360546E}" type="datetime3">
              <a:rPr lang="en-US" smtClean="0"/>
              <a:pPr/>
              <a:t>28 November 2023</a:t>
            </a:fld>
            <a:endParaRPr lang="en-US" dirty="0"/>
          </a:p>
        </p:txBody>
      </p:sp>
      <p:sp>
        <p:nvSpPr>
          <p:cNvPr id="5" name="Footer Placeholder 4">
            <a:extLst>
              <a:ext uri="{FF2B5EF4-FFF2-40B4-BE49-F238E27FC236}">
                <a16:creationId xmlns:a16="http://schemas.microsoft.com/office/drawing/2014/main" id="{516C0E52-1EA6-4B72-8F0B-F2C4300CD75D}"/>
              </a:ext>
            </a:extLst>
          </p:cNvPr>
          <p:cNvSpPr>
            <a:spLocks noGrp="1"/>
          </p:cNvSpPr>
          <p:nvPr>
            <p:ph type="ftr" sz="quarter" idx="11"/>
          </p:nvPr>
        </p:nvSpPr>
        <p:spPr/>
        <p:txBody>
          <a:bodyPr/>
          <a:lstStyle/>
          <a:p>
            <a:r>
              <a:rPr lang="en-US"/>
              <a:t>Software Project Management       Dr. D Evangelin Geetha    Dept. of MCA     RIT</a:t>
            </a:r>
            <a:endParaRPr lang="en-US" dirty="0"/>
          </a:p>
        </p:txBody>
      </p:sp>
      <p:sp>
        <p:nvSpPr>
          <p:cNvPr id="6" name="Slide Number Placeholder 5">
            <a:extLst>
              <a:ext uri="{FF2B5EF4-FFF2-40B4-BE49-F238E27FC236}">
                <a16:creationId xmlns:a16="http://schemas.microsoft.com/office/drawing/2014/main" id="{DF14739C-34CA-4D94-A129-74FC42E8C057}"/>
              </a:ext>
            </a:extLst>
          </p:cNvPr>
          <p:cNvSpPr>
            <a:spLocks noGrp="1"/>
          </p:cNvSpPr>
          <p:nvPr>
            <p:ph type="sldNum" sz="quarter" idx="12"/>
          </p:nvPr>
        </p:nvSpPr>
        <p:spPr/>
        <p:txBody>
          <a:bodyPr/>
          <a:lstStyle/>
          <a:p>
            <a:fld id="{6D22F896-40B5-4ADD-8801-0D06FADFA095}" type="slidenum">
              <a:rPr lang="en-US" smtClean="0"/>
              <a:pPr/>
              <a:t>66</a:t>
            </a:fld>
            <a:endParaRPr lang="en-US" dirty="0"/>
          </a:p>
        </p:txBody>
      </p:sp>
    </p:spTree>
    <p:extLst>
      <p:ext uri="{BB962C8B-B14F-4D97-AF65-F5344CB8AC3E}">
        <p14:creationId xmlns:p14="http://schemas.microsoft.com/office/powerpoint/2010/main" val="3013102076"/>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8A47D259-E8B1-4131-9C12-6A86AFD7A82C}"/>
              </a:ext>
            </a:extLst>
          </p:cNvPr>
          <p:cNvSpPr>
            <a:spLocks noGrp="1"/>
          </p:cNvSpPr>
          <p:nvPr>
            <p:ph type="dt" sz="half" idx="10"/>
          </p:nvPr>
        </p:nvSpPr>
        <p:spPr/>
        <p:txBody>
          <a:bodyPr/>
          <a:lstStyle/>
          <a:p>
            <a:fld id="{B2F0588E-38E9-4677-8983-8BD4A360546E}" type="datetime3">
              <a:rPr lang="en-US" smtClean="0"/>
              <a:pPr/>
              <a:t>28 November 2023</a:t>
            </a:fld>
            <a:endParaRPr lang="en-US" dirty="0"/>
          </a:p>
        </p:txBody>
      </p:sp>
      <p:sp>
        <p:nvSpPr>
          <p:cNvPr id="5" name="Footer Placeholder 4">
            <a:extLst>
              <a:ext uri="{FF2B5EF4-FFF2-40B4-BE49-F238E27FC236}">
                <a16:creationId xmlns:a16="http://schemas.microsoft.com/office/drawing/2014/main" id="{F58419DE-E8F1-44F0-95A5-F560C59A6AA1}"/>
              </a:ext>
            </a:extLst>
          </p:cNvPr>
          <p:cNvSpPr>
            <a:spLocks noGrp="1"/>
          </p:cNvSpPr>
          <p:nvPr>
            <p:ph type="ftr" sz="quarter" idx="11"/>
          </p:nvPr>
        </p:nvSpPr>
        <p:spPr/>
        <p:txBody>
          <a:bodyPr/>
          <a:lstStyle/>
          <a:p>
            <a:r>
              <a:rPr lang="en-US"/>
              <a:t>Software Project Management       Dr. D Evangelin Geetha    Dept. of MCA     RIT</a:t>
            </a:r>
            <a:endParaRPr lang="en-US" dirty="0"/>
          </a:p>
        </p:txBody>
      </p:sp>
      <p:sp>
        <p:nvSpPr>
          <p:cNvPr id="6" name="Slide Number Placeholder 5">
            <a:extLst>
              <a:ext uri="{FF2B5EF4-FFF2-40B4-BE49-F238E27FC236}">
                <a16:creationId xmlns:a16="http://schemas.microsoft.com/office/drawing/2014/main" id="{3592A5A5-D718-4DDE-91FB-1D1CF133EF8F}"/>
              </a:ext>
            </a:extLst>
          </p:cNvPr>
          <p:cNvSpPr>
            <a:spLocks noGrp="1"/>
          </p:cNvSpPr>
          <p:nvPr>
            <p:ph type="sldNum" sz="quarter" idx="12"/>
          </p:nvPr>
        </p:nvSpPr>
        <p:spPr/>
        <p:txBody>
          <a:bodyPr/>
          <a:lstStyle/>
          <a:p>
            <a:fld id="{6D22F896-40B5-4ADD-8801-0D06FADFA095}" type="slidenum">
              <a:rPr lang="en-US" smtClean="0"/>
              <a:pPr/>
              <a:t>67</a:t>
            </a:fld>
            <a:endParaRPr lang="en-US" dirty="0"/>
          </a:p>
        </p:txBody>
      </p:sp>
      <p:sp>
        <p:nvSpPr>
          <p:cNvPr id="7" name="TextBox 6">
            <a:extLst>
              <a:ext uri="{FF2B5EF4-FFF2-40B4-BE49-F238E27FC236}">
                <a16:creationId xmlns:a16="http://schemas.microsoft.com/office/drawing/2014/main" id="{27FBE6D6-02B8-4EFC-9727-C29273B7D9E7}"/>
              </a:ext>
            </a:extLst>
          </p:cNvPr>
          <p:cNvSpPr txBox="1"/>
          <p:nvPr/>
        </p:nvSpPr>
        <p:spPr>
          <a:xfrm>
            <a:off x="1392196" y="3080951"/>
            <a:ext cx="510746" cy="369332"/>
          </a:xfrm>
          <a:prstGeom prst="rect">
            <a:avLst/>
          </a:prstGeom>
          <a:noFill/>
        </p:spPr>
        <p:txBody>
          <a:bodyPr wrap="square" rtlCol="0">
            <a:spAutoFit/>
          </a:bodyPr>
          <a:lstStyle/>
          <a:p>
            <a:r>
              <a:rPr lang="en-US" dirty="0"/>
              <a:t>D</a:t>
            </a:r>
            <a:endParaRPr lang="en-IN" dirty="0"/>
          </a:p>
        </p:txBody>
      </p:sp>
      <p:cxnSp>
        <p:nvCxnSpPr>
          <p:cNvPr id="9" name="Straight Connector 8">
            <a:extLst>
              <a:ext uri="{FF2B5EF4-FFF2-40B4-BE49-F238E27FC236}">
                <a16:creationId xmlns:a16="http://schemas.microsoft.com/office/drawing/2014/main" id="{A3313243-4563-46D3-91A4-AE81EBA9D9FD}"/>
              </a:ext>
            </a:extLst>
          </p:cNvPr>
          <p:cNvCxnSpPr>
            <a:stCxn id="7" idx="0"/>
          </p:cNvCxnSpPr>
          <p:nvPr/>
        </p:nvCxnSpPr>
        <p:spPr>
          <a:xfrm flipV="1">
            <a:off x="1647569" y="2454876"/>
            <a:ext cx="675501" cy="626075"/>
          </a:xfrm>
          <a:prstGeom prst="line">
            <a:avLst/>
          </a:prstGeom>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65616DEA-E86B-4365-B268-16981D2B7814}"/>
              </a:ext>
            </a:extLst>
          </p:cNvPr>
          <p:cNvSpPr txBox="1"/>
          <p:nvPr/>
        </p:nvSpPr>
        <p:spPr>
          <a:xfrm>
            <a:off x="1219199" y="2085544"/>
            <a:ext cx="1103871" cy="646331"/>
          </a:xfrm>
          <a:prstGeom prst="rect">
            <a:avLst/>
          </a:prstGeom>
          <a:noFill/>
        </p:spPr>
        <p:txBody>
          <a:bodyPr wrap="square" rtlCol="0">
            <a:spAutoFit/>
          </a:bodyPr>
          <a:lstStyle/>
          <a:p>
            <a:r>
              <a:rPr lang="en-US" dirty="0"/>
              <a:t>Extend existing</a:t>
            </a:r>
            <a:endParaRPr lang="en-IN" dirty="0"/>
          </a:p>
        </p:txBody>
      </p:sp>
      <p:cxnSp>
        <p:nvCxnSpPr>
          <p:cNvPr id="11" name="Straight Connector 10">
            <a:extLst>
              <a:ext uri="{FF2B5EF4-FFF2-40B4-BE49-F238E27FC236}">
                <a16:creationId xmlns:a16="http://schemas.microsoft.com/office/drawing/2014/main" id="{0F64F534-1717-4453-AE65-46B3F391DA23}"/>
              </a:ext>
            </a:extLst>
          </p:cNvPr>
          <p:cNvCxnSpPr>
            <a:cxnSpLocks/>
            <a:stCxn id="7" idx="2"/>
          </p:cNvCxnSpPr>
          <p:nvPr/>
        </p:nvCxnSpPr>
        <p:spPr>
          <a:xfrm>
            <a:off x="1647569" y="3450283"/>
            <a:ext cx="939112" cy="554740"/>
          </a:xfrm>
          <a:prstGeom prst="line">
            <a:avLst/>
          </a:prstGeom>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1B6E84B5-4A06-4601-B69C-E2FCE56844A8}"/>
              </a:ext>
            </a:extLst>
          </p:cNvPr>
          <p:cNvSpPr txBox="1"/>
          <p:nvPr/>
        </p:nvSpPr>
        <p:spPr>
          <a:xfrm>
            <a:off x="1095633" y="3777050"/>
            <a:ext cx="1103871" cy="369332"/>
          </a:xfrm>
          <a:prstGeom prst="rect">
            <a:avLst/>
          </a:prstGeom>
          <a:noFill/>
        </p:spPr>
        <p:txBody>
          <a:bodyPr wrap="square" rtlCol="0">
            <a:spAutoFit/>
          </a:bodyPr>
          <a:lstStyle/>
          <a:p>
            <a:r>
              <a:rPr lang="en-US" dirty="0"/>
              <a:t>Replace</a:t>
            </a:r>
            <a:endParaRPr lang="en-IN" dirty="0"/>
          </a:p>
        </p:txBody>
      </p:sp>
      <p:cxnSp>
        <p:nvCxnSpPr>
          <p:cNvPr id="16" name="Straight Connector 15">
            <a:extLst>
              <a:ext uri="{FF2B5EF4-FFF2-40B4-BE49-F238E27FC236}">
                <a16:creationId xmlns:a16="http://schemas.microsoft.com/office/drawing/2014/main" id="{400B2CCE-151E-406D-A963-7445DBFF2A26}"/>
              </a:ext>
            </a:extLst>
          </p:cNvPr>
          <p:cNvCxnSpPr>
            <a:cxnSpLocks/>
          </p:cNvCxnSpPr>
          <p:nvPr/>
        </p:nvCxnSpPr>
        <p:spPr>
          <a:xfrm flipV="1">
            <a:off x="2323070" y="1270716"/>
            <a:ext cx="1672281" cy="1137994"/>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14DD0B8F-8D1D-4F7D-B9D1-923D64BA2951}"/>
              </a:ext>
            </a:extLst>
          </p:cNvPr>
          <p:cNvCxnSpPr/>
          <p:nvPr/>
        </p:nvCxnSpPr>
        <p:spPr>
          <a:xfrm flipV="1">
            <a:off x="2405449" y="2397129"/>
            <a:ext cx="1820562" cy="65903"/>
          </a:xfrm>
          <a:prstGeom prst="line">
            <a:avLst/>
          </a:prstGeom>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502B21CC-1B40-49BA-8C25-7D76FA0CCE25}"/>
              </a:ext>
            </a:extLst>
          </p:cNvPr>
          <p:cNvSpPr txBox="1"/>
          <p:nvPr/>
        </p:nvSpPr>
        <p:spPr>
          <a:xfrm>
            <a:off x="1915299" y="1086050"/>
            <a:ext cx="1400431" cy="369332"/>
          </a:xfrm>
          <a:prstGeom prst="rect">
            <a:avLst/>
          </a:prstGeom>
          <a:noFill/>
        </p:spPr>
        <p:txBody>
          <a:bodyPr wrap="square" rtlCol="0">
            <a:spAutoFit/>
          </a:bodyPr>
          <a:lstStyle/>
          <a:p>
            <a:r>
              <a:rPr lang="en-US" dirty="0"/>
              <a:t>Increase 0.2</a:t>
            </a:r>
            <a:endParaRPr lang="en-IN" dirty="0"/>
          </a:p>
        </p:txBody>
      </p:sp>
      <p:sp>
        <p:nvSpPr>
          <p:cNvPr id="20" name="TextBox 19">
            <a:extLst>
              <a:ext uri="{FF2B5EF4-FFF2-40B4-BE49-F238E27FC236}">
                <a16:creationId xmlns:a16="http://schemas.microsoft.com/office/drawing/2014/main" id="{F3E0619B-D334-4EDF-8135-38B7BE4A38EF}"/>
              </a:ext>
            </a:extLst>
          </p:cNvPr>
          <p:cNvSpPr txBox="1"/>
          <p:nvPr/>
        </p:nvSpPr>
        <p:spPr>
          <a:xfrm>
            <a:off x="3072715" y="2616001"/>
            <a:ext cx="1400431" cy="646331"/>
          </a:xfrm>
          <a:prstGeom prst="rect">
            <a:avLst/>
          </a:prstGeom>
          <a:noFill/>
        </p:spPr>
        <p:txBody>
          <a:bodyPr wrap="square" rtlCol="0">
            <a:spAutoFit/>
          </a:bodyPr>
          <a:lstStyle/>
          <a:p>
            <a:r>
              <a:rPr lang="en-US" dirty="0"/>
              <a:t>No increase</a:t>
            </a:r>
          </a:p>
          <a:p>
            <a:r>
              <a:rPr lang="en-US" dirty="0"/>
              <a:t>0.8</a:t>
            </a:r>
            <a:endParaRPr lang="en-IN" dirty="0"/>
          </a:p>
        </p:txBody>
      </p:sp>
      <p:cxnSp>
        <p:nvCxnSpPr>
          <p:cNvPr id="21" name="Straight Connector 20">
            <a:extLst>
              <a:ext uri="{FF2B5EF4-FFF2-40B4-BE49-F238E27FC236}">
                <a16:creationId xmlns:a16="http://schemas.microsoft.com/office/drawing/2014/main" id="{59D42AB0-45C1-4A5B-B6F6-A327F2485341}"/>
              </a:ext>
            </a:extLst>
          </p:cNvPr>
          <p:cNvCxnSpPr>
            <a:cxnSpLocks/>
          </p:cNvCxnSpPr>
          <p:nvPr/>
        </p:nvCxnSpPr>
        <p:spPr>
          <a:xfrm flipV="1">
            <a:off x="2646245" y="3265132"/>
            <a:ext cx="2403550" cy="716807"/>
          </a:xfrm>
          <a:prstGeom prst="line">
            <a:avLst/>
          </a:prstGeom>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B1B0DCB9-63A9-4B0A-9A0D-22BA8EDA525E}"/>
              </a:ext>
            </a:extLst>
          </p:cNvPr>
          <p:cNvCxnSpPr>
            <a:cxnSpLocks/>
          </p:cNvCxnSpPr>
          <p:nvPr/>
        </p:nvCxnSpPr>
        <p:spPr>
          <a:xfrm>
            <a:off x="2689654" y="4057335"/>
            <a:ext cx="2360141" cy="766976"/>
          </a:xfrm>
          <a:prstGeom prst="line">
            <a:avLst/>
          </a:prstGeom>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218533AE-4DF8-4CDC-A678-1F8D184F1CD4}"/>
              </a:ext>
            </a:extLst>
          </p:cNvPr>
          <p:cNvSpPr txBox="1"/>
          <p:nvPr/>
        </p:nvSpPr>
        <p:spPr>
          <a:xfrm>
            <a:off x="4588477" y="3438869"/>
            <a:ext cx="1400431" cy="646331"/>
          </a:xfrm>
          <a:prstGeom prst="rect">
            <a:avLst/>
          </a:prstGeom>
          <a:noFill/>
        </p:spPr>
        <p:txBody>
          <a:bodyPr wrap="square" rtlCol="0">
            <a:spAutoFit/>
          </a:bodyPr>
          <a:lstStyle/>
          <a:p>
            <a:r>
              <a:rPr lang="en-US" dirty="0"/>
              <a:t>Increase</a:t>
            </a:r>
          </a:p>
          <a:p>
            <a:r>
              <a:rPr lang="en-US" dirty="0"/>
              <a:t>0.2</a:t>
            </a:r>
            <a:endParaRPr lang="en-IN" dirty="0"/>
          </a:p>
        </p:txBody>
      </p:sp>
      <p:sp>
        <p:nvSpPr>
          <p:cNvPr id="24" name="TextBox 23">
            <a:extLst>
              <a:ext uri="{FF2B5EF4-FFF2-40B4-BE49-F238E27FC236}">
                <a16:creationId xmlns:a16="http://schemas.microsoft.com/office/drawing/2014/main" id="{71935229-A083-466E-9626-0B837379569B}"/>
              </a:ext>
            </a:extLst>
          </p:cNvPr>
          <p:cNvSpPr txBox="1"/>
          <p:nvPr/>
        </p:nvSpPr>
        <p:spPr>
          <a:xfrm>
            <a:off x="3455774" y="4982050"/>
            <a:ext cx="1400431" cy="646331"/>
          </a:xfrm>
          <a:prstGeom prst="rect">
            <a:avLst/>
          </a:prstGeom>
          <a:noFill/>
        </p:spPr>
        <p:txBody>
          <a:bodyPr wrap="square" rtlCol="0">
            <a:spAutoFit/>
          </a:bodyPr>
          <a:lstStyle/>
          <a:p>
            <a:r>
              <a:rPr lang="en-US" dirty="0"/>
              <a:t>No increase</a:t>
            </a:r>
          </a:p>
          <a:p>
            <a:r>
              <a:rPr lang="en-US" dirty="0"/>
              <a:t>0.8</a:t>
            </a:r>
            <a:endParaRPr lang="en-IN" dirty="0"/>
          </a:p>
        </p:txBody>
      </p:sp>
      <p:sp>
        <p:nvSpPr>
          <p:cNvPr id="28" name="TextBox 27">
            <a:extLst>
              <a:ext uri="{FF2B5EF4-FFF2-40B4-BE49-F238E27FC236}">
                <a16:creationId xmlns:a16="http://schemas.microsoft.com/office/drawing/2014/main" id="{242995B3-9FF8-4BA4-AC81-C0D24AE39F6B}"/>
              </a:ext>
            </a:extLst>
          </p:cNvPr>
          <p:cNvSpPr txBox="1"/>
          <p:nvPr/>
        </p:nvSpPr>
        <p:spPr>
          <a:xfrm>
            <a:off x="3995351" y="889686"/>
            <a:ext cx="3608173" cy="369332"/>
          </a:xfrm>
          <a:prstGeom prst="rect">
            <a:avLst/>
          </a:prstGeom>
          <a:noFill/>
        </p:spPr>
        <p:txBody>
          <a:bodyPr wrap="square" rtlCol="0">
            <a:spAutoFit/>
          </a:bodyPr>
          <a:lstStyle/>
          <a:p>
            <a:r>
              <a:rPr lang="en-US" dirty="0"/>
              <a:t>-1,00,000</a:t>
            </a:r>
            <a:endParaRPr lang="en-IN" dirty="0"/>
          </a:p>
        </p:txBody>
      </p:sp>
      <p:sp>
        <p:nvSpPr>
          <p:cNvPr id="29" name="TextBox 28">
            <a:extLst>
              <a:ext uri="{FF2B5EF4-FFF2-40B4-BE49-F238E27FC236}">
                <a16:creationId xmlns:a16="http://schemas.microsoft.com/office/drawing/2014/main" id="{25213F42-0F97-40EC-9F14-9F3A7C1E7128}"/>
              </a:ext>
            </a:extLst>
          </p:cNvPr>
          <p:cNvSpPr txBox="1"/>
          <p:nvPr/>
        </p:nvSpPr>
        <p:spPr>
          <a:xfrm>
            <a:off x="4226011" y="2156689"/>
            <a:ext cx="3608173" cy="369332"/>
          </a:xfrm>
          <a:prstGeom prst="rect">
            <a:avLst/>
          </a:prstGeom>
          <a:noFill/>
        </p:spPr>
        <p:txBody>
          <a:bodyPr wrap="square" rtlCol="0">
            <a:spAutoFit/>
          </a:bodyPr>
          <a:lstStyle/>
          <a:p>
            <a:r>
              <a:rPr lang="en-US" dirty="0"/>
              <a:t>75,000</a:t>
            </a:r>
            <a:endParaRPr lang="en-IN" dirty="0"/>
          </a:p>
        </p:txBody>
      </p:sp>
      <p:sp>
        <p:nvSpPr>
          <p:cNvPr id="30" name="TextBox 29">
            <a:extLst>
              <a:ext uri="{FF2B5EF4-FFF2-40B4-BE49-F238E27FC236}">
                <a16:creationId xmlns:a16="http://schemas.microsoft.com/office/drawing/2014/main" id="{754E802F-DBE7-4BCD-BB2E-FCC670EFDCBD}"/>
              </a:ext>
            </a:extLst>
          </p:cNvPr>
          <p:cNvSpPr txBox="1"/>
          <p:nvPr/>
        </p:nvSpPr>
        <p:spPr>
          <a:xfrm>
            <a:off x="5049795" y="3022060"/>
            <a:ext cx="3608173" cy="369332"/>
          </a:xfrm>
          <a:prstGeom prst="rect">
            <a:avLst/>
          </a:prstGeom>
          <a:noFill/>
        </p:spPr>
        <p:txBody>
          <a:bodyPr wrap="square" rtlCol="0">
            <a:spAutoFit/>
          </a:bodyPr>
          <a:lstStyle/>
          <a:p>
            <a:r>
              <a:rPr lang="en-US" dirty="0"/>
              <a:t>2,50,000</a:t>
            </a:r>
            <a:endParaRPr lang="en-IN" dirty="0"/>
          </a:p>
        </p:txBody>
      </p:sp>
      <p:sp>
        <p:nvSpPr>
          <p:cNvPr id="31" name="TextBox 30">
            <a:extLst>
              <a:ext uri="{FF2B5EF4-FFF2-40B4-BE49-F238E27FC236}">
                <a16:creationId xmlns:a16="http://schemas.microsoft.com/office/drawing/2014/main" id="{CB78FA0E-2175-4FC5-B3EB-A81E318BF5A3}"/>
              </a:ext>
            </a:extLst>
          </p:cNvPr>
          <p:cNvSpPr txBox="1"/>
          <p:nvPr/>
        </p:nvSpPr>
        <p:spPr>
          <a:xfrm>
            <a:off x="5288692" y="4612718"/>
            <a:ext cx="3608173" cy="369332"/>
          </a:xfrm>
          <a:prstGeom prst="rect">
            <a:avLst/>
          </a:prstGeom>
          <a:noFill/>
        </p:spPr>
        <p:txBody>
          <a:bodyPr wrap="square" rtlCol="0">
            <a:spAutoFit/>
          </a:bodyPr>
          <a:lstStyle/>
          <a:p>
            <a:r>
              <a:rPr lang="en-US" dirty="0"/>
              <a:t>-50,000</a:t>
            </a:r>
            <a:endParaRPr lang="en-IN" dirty="0"/>
          </a:p>
        </p:txBody>
      </p:sp>
      <p:sp>
        <p:nvSpPr>
          <p:cNvPr id="32" name="TextBox 31">
            <a:extLst>
              <a:ext uri="{FF2B5EF4-FFF2-40B4-BE49-F238E27FC236}">
                <a16:creationId xmlns:a16="http://schemas.microsoft.com/office/drawing/2014/main" id="{F21F5DF6-55B7-415A-BF83-345C1092B66A}"/>
              </a:ext>
            </a:extLst>
          </p:cNvPr>
          <p:cNvSpPr txBox="1"/>
          <p:nvPr/>
        </p:nvSpPr>
        <p:spPr>
          <a:xfrm>
            <a:off x="6252519" y="1153297"/>
            <a:ext cx="4423719" cy="646331"/>
          </a:xfrm>
          <a:prstGeom prst="rect">
            <a:avLst/>
          </a:prstGeom>
          <a:noFill/>
        </p:spPr>
        <p:txBody>
          <a:bodyPr wrap="square" rtlCol="0">
            <a:spAutoFit/>
          </a:bodyPr>
          <a:lstStyle/>
          <a:p>
            <a:r>
              <a:rPr lang="en-US" dirty="0"/>
              <a:t>Expected value = 75000*0.8-1,00,000*0.2=40,000</a:t>
            </a:r>
            <a:endParaRPr lang="en-IN" dirty="0"/>
          </a:p>
        </p:txBody>
      </p:sp>
      <p:sp>
        <p:nvSpPr>
          <p:cNvPr id="33" name="TextBox 32">
            <a:extLst>
              <a:ext uri="{FF2B5EF4-FFF2-40B4-BE49-F238E27FC236}">
                <a16:creationId xmlns:a16="http://schemas.microsoft.com/office/drawing/2014/main" id="{AC09F49A-21E1-4AB5-BEB6-149CB1D0890A}"/>
              </a:ext>
            </a:extLst>
          </p:cNvPr>
          <p:cNvSpPr txBox="1"/>
          <p:nvPr/>
        </p:nvSpPr>
        <p:spPr>
          <a:xfrm>
            <a:off x="6330051" y="3848798"/>
            <a:ext cx="4423719" cy="646331"/>
          </a:xfrm>
          <a:prstGeom prst="rect">
            <a:avLst/>
          </a:prstGeom>
          <a:noFill/>
        </p:spPr>
        <p:txBody>
          <a:bodyPr wrap="square" rtlCol="0">
            <a:spAutoFit/>
          </a:bodyPr>
          <a:lstStyle/>
          <a:p>
            <a:r>
              <a:rPr lang="en-US" dirty="0"/>
              <a:t>Expected value = 2,50,000*0.2-50,000*0.8=10,000</a:t>
            </a:r>
            <a:endParaRPr lang="en-IN" dirty="0"/>
          </a:p>
        </p:txBody>
      </p:sp>
    </p:spTree>
    <p:extLst>
      <p:ext uri="{BB962C8B-B14F-4D97-AF65-F5344CB8AC3E}">
        <p14:creationId xmlns:p14="http://schemas.microsoft.com/office/powerpoint/2010/main" val="2984241575"/>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Slide Number Placeholder 3"/>
          <p:cNvSpPr>
            <a:spLocks noGrp="1"/>
          </p:cNvSpPr>
          <p:nvPr>
            <p:ph type="sldNum" sz="quarter" idx="10"/>
          </p:nvPr>
        </p:nvSpPr>
        <p:spPr>
          <a:noFill/>
        </p:spPr>
        <p:txBody>
          <a:bodyPr/>
          <a:lstStyle>
            <a:lvl1pPr>
              <a:spcBef>
                <a:spcPct val="20000"/>
              </a:spcBef>
              <a:buChar char="•"/>
              <a:defRPr sz="3200">
                <a:solidFill>
                  <a:schemeClr val="bg2"/>
                </a:solidFill>
                <a:latin typeface="Tahoma" panose="020B0604030504040204" pitchFamily="34" charset="0"/>
              </a:defRPr>
            </a:lvl1pPr>
            <a:lvl2pPr marL="742950" indent="-285750">
              <a:spcBef>
                <a:spcPct val="20000"/>
              </a:spcBef>
              <a:buChar char="–"/>
              <a:defRPr sz="2800">
                <a:solidFill>
                  <a:schemeClr val="bg2"/>
                </a:solidFill>
                <a:latin typeface="Tahoma" panose="020B0604030504040204" pitchFamily="34" charset="0"/>
              </a:defRPr>
            </a:lvl2pPr>
            <a:lvl3pPr marL="1143000" indent="-228600">
              <a:spcBef>
                <a:spcPct val="20000"/>
              </a:spcBef>
              <a:buChar char="•"/>
              <a:defRPr sz="2400">
                <a:solidFill>
                  <a:schemeClr val="bg2"/>
                </a:solidFill>
                <a:latin typeface="Tahoma" panose="020B0604030504040204" pitchFamily="34" charset="0"/>
              </a:defRPr>
            </a:lvl3pPr>
            <a:lvl4pPr marL="1600200" indent="-228600">
              <a:spcBef>
                <a:spcPct val="20000"/>
              </a:spcBef>
              <a:buChar char="–"/>
              <a:defRPr sz="2000">
                <a:solidFill>
                  <a:schemeClr val="bg2"/>
                </a:solidFill>
                <a:latin typeface="Tahoma" panose="020B0604030504040204" pitchFamily="34" charset="0"/>
              </a:defRPr>
            </a:lvl4pPr>
            <a:lvl5pPr marL="2057400" indent="-228600">
              <a:spcBef>
                <a:spcPct val="20000"/>
              </a:spcBef>
              <a:buChar char="»"/>
              <a:defRPr sz="2000">
                <a:solidFill>
                  <a:schemeClr val="bg2"/>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bg2"/>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bg2"/>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bg2"/>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bg2"/>
                </a:solidFill>
                <a:latin typeface="Tahoma" panose="020B0604030504040204" pitchFamily="34" charset="0"/>
              </a:defRPr>
            </a:lvl9pPr>
          </a:lstStyle>
          <a:p>
            <a:pPr>
              <a:spcBef>
                <a:spcPct val="0"/>
              </a:spcBef>
              <a:buFontTx/>
              <a:buNone/>
            </a:pPr>
            <a:fld id="{00AA5B4B-046C-4377-B34B-B851D5A4A68A}" type="slidenum">
              <a:rPr lang="en-US" altLang="en-US" sz="1400">
                <a:solidFill>
                  <a:schemeClr val="tx1"/>
                </a:solidFill>
                <a:latin typeface="Times New Roman" panose="02020603050405020304" pitchFamily="18" charset="0"/>
              </a:rPr>
              <a:pPr>
                <a:spcBef>
                  <a:spcPct val="0"/>
                </a:spcBef>
                <a:buFontTx/>
                <a:buNone/>
              </a:pPr>
              <a:t>68</a:t>
            </a:fld>
            <a:endParaRPr lang="en-US" altLang="en-US" sz="1400">
              <a:solidFill>
                <a:schemeClr val="tx1"/>
              </a:solidFill>
              <a:latin typeface="Times New Roman" panose="02020603050405020304" pitchFamily="18" charset="0"/>
            </a:endParaRPr>
          </a:p>
        </p:txBody>
      </p:sp>
      <p:sp>
        <p:nvSpPr>
          <p:cNvPr id="7171" name="Rectangle 2"/>
          <p:cNvSpPr>
            <a:spLocks noGrp="1" noChangeArrowheads="1"/>
          </p:cNvSpPr>
          <p:nvPr>
            <p:ph type="title"/>
          </p:nvPr>
        </p:nvSpPr>
        <p:spPr/>
        <p:txBody>
          <a:bodyPr/>
          <a:lstStyle/>
          <a:p>
            <a:pPr eaLnBrk="1" hangingPunct="1"/>
            <a:r>
              <a:rPr lang="en-GB" altLang="en-US" b="1"/>
              <a:t>Programme management</a:t>
            </a:r>
          </a:p>
        </p:txBody>
      </p:sp>
      <p:sp>
        <p:nvSpPr>
          <p:cNvPr id="7172" name="Rectangle 3"/>
          <p:cNvSpPr>
            <a:spLocks noGrp="1" noChangeArrowheads="1"/>
          </p:cNvSpPr>
          <p:nvPr>
            <p:ph type="body" idx="1"/>
          </p:nvPr>
        </p:nvSpPr>
        <p:spPr>
          <a:xfrm>
            <a:off x="2208213" y="2060575"/>
            <a:ext cx="7772400" cy="4114800"/>
          </a:xfrm>
        </p:spPr>
        <p:txBody>
          <a:bodyPr/>
          <a:lstStyle/>
          <a:p>
            <a:pPr eaLnBrk="1" hangingPunct="1"/>
            <a:r>
              <a:rPr lang="en-GB" altLang="en-US"/>
              <a:t>One definition:</a:t>
            </a:r>
          </a:p>
          <a:p>
            <a:pPr eaLnBrk="1" hangingPunct="1">
              <a:buFontTx/>
              <a:buNone/>
            </a:pPr>
            <a:r>
              <a:rPr lang="en-GB" altLang="en-US"/>
              <a:t>	</a:t>
            </a:r>
            <a:r>
              <a:rPr lang="en-GB" altLang="en-US" i="1"/>
              <a:t>‘a group of projects that are managed in a co-ordinated way to gain benefits that would not be possible were the projects to be managed independently’</a:t>
            </a:r>
            <a:r>
              <a:rPr lang="en-GB" altLang="en-US"/>
              <a:t>  Ferns</a:t>
            </a:r>
          </a:p>
        </p:txBody>
      </p:sp>
      <p:sp>
        <p:nvSpPr>
          <p:cNvPr id="2" name="Date Placeholder 1"/>
          <p:cNvSpPr>
            <a:spLocks noGrp="1"/>
          </p:cNvSpPr>
          <p:nvPr>
            <p:ph type="dt" sz="half" idx="10"/>
          </p:nvPr>
        </p:nvSpPr>
        <p:spPr/>
        <p:txBody>
          <a:bodyPr/>
          <a:lstStyle/>
          <a:p>
            <a:fld id="{A78F7C0C-30FA-4D48-B98C-C0558B48B814}" type="datetime3">
              <a:rPr lang="en-US" smtClean="0"/>
              <a:t>28 November 2023</a:t>
            </a:fld>
            <a:endParaRPr lang="en-US" dirty="0"/>
          </a:p>
        </p:txBody>
      </p:sp>
      <p:sp>
        <p:nvSpPr>
          <p:cNvPr id="3" name="Footer Placeholder 2"/>
          <p:cNvSpPr>
            <a:spLocks noGrp="1"/>
          </p:cNvSpPr>
          <p:nvPr>
            <p:ph type="ftr" sz="quarter" idx="11"/>
          </p:nvPr>
        </p:nvSpPr>
        <p:spPr/>
        <p:txBody>
          <a:bodyPr/>
          <a:lstStyle/>
          <a:p>
            <a:r>
              <a:rPr lang="en-US"/>
              <a:t>Software Project Management       Dr. D Evangelin Geetha    Dept. of MCA     RIT</a:t>
            </a:r>
            <a:endParaRPr lang="en-US" dirty="0"/>
          </a:p>
        </p:txBody>
      </p:sp>
    </p:spTree>
    <p:extLst>
      <p:ext uri="{BB962C8B-B14F-4D97-AF65-F5344CB8AC3E}">
        <p14:creationId xmlns:p14="http://schemas.microsoft.com/office/powerpoint/2010/main" val="450217013"/>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Slide Number Placeholder 3"/>
          <p:cNvSpPr>
            <a:spLocks noGrp="1"/>
          </p:cNvSpPr>
          <p:nvPr>
            <p:ph type="sldNum" sz="quarter" idx="10"/>
          </p:nvPr>
        </p:nvSpPr>
        <p:spPr>
          <a:noFill/>
        </p:spPr>
        <p:txBody>
          <a:bodyPr/>
          <a:lstStyle>
            <a:lvl1pPr>
              <a:spcBef>
                <a:spcPct val="20000"/>
              </a:spcBef>
              <a:buChar char="•"/>
              <a:defRPr sz="3200">
                <a:solidFill>
                  <a:schemeClr val="bg2"/>
                </a:solidFill>
                <a:latin typeface="Tahoma" panose="020B0604030504040204" pitchFamily="34" charset="0"/>
              </a:defRPr>
            </a:lvl1pPr>
            <a:lvl2pPr marL="742950" indent="-285750">
              <a:spcBef>
                <a:spcPct val="20000"/>
              </a:spcBef>
              <a:buChar char="–"/>
              <a:defRPr sz="2800">
                <a:solidFill>
                  <a:schemeClr val="bg2"/>
                </a:solidFill>
                <a:latin typeface="Tahoma" panose="020B0604030504040204" pitchFamily="34" charset="0"/>
              </a:defRPr>
            </a:lvl2pPr>
            <a:lvl3pPr marL="1143000" indent="-228600">
              <a:spcBef>
                <a:spcPct val="20000"/>
              </a:spcBef>
              <a:buChar char="•"/>
              <a:defRPr sz="2400">
                <a:solidFill>
                  <a:schemeClr val="bg2"/>
                </a:solidFill>
                <a:latin typeface="Tahoma" panose="020B0604030504040204" pitchFamily="34" charset="0"/>
              </a:defRPr>
            </a:lvl3pPr>
            <a:lvl4pPr marL="1600200" indent="-228600">
              <a:spcBef>
                <a:spcPct val="20000"/>
              </a:spcBef>
              <a:buChar char="–"/>
              <a:defRPr sz="2000">
                <a:solidFill>
                  <a:schemeClr val="bg2"/>
                </a:solidFill>
                <a:latin typeface="Tahoma" panose="020B0604030504040204" pitchFamily="34" charset="0"/>
              </a:defRPr>
            </a:lvl4pPr>
            <a:lvl5pPr marL="2057400" indent="-228600">
              <a:spcBef>
                <a:spcPct val="20000"/>
              </a:spcBef>
              <a:buChar char="»"/>
              <a:defRPr sz="2000">
                <a:solidFill>
                  <a:schemeClr val="bg2"/>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bg2"/>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bg2"/>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bg2"/>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bg2"/>
                </a:solidFill>
                <a:latin typeface="Tahoma" panose="020B0604030504040204" pitchFamily="34" charset="0"/>
              </a:defRPr>
            </a:lvl9pPr>
          </a:lstStyle>
          <a:p>
            <a:pPr>
              <a:spcBef>
                <a:spcPct val="0"/>
              </a:spcBef>
              <a:buFontTx/>
              <a:buNone/>
            </a:pPr>
            <a:fld id="{AFE4D24D-9FD1-41B2-902D-0C7EA58B82D3}" type="slidenum">
              <a:rPr lang="en-US" altLang="en-US" sz="1400">
                <a:solidFill>
                  <a:schemeClr val="tx1"/>
                </a:solidFill>
                <a:latin typeface="Times New Roman" panose="02020603050405020304" pitchFamily="18" charset="0"/>
              </a:rPr>
              <a:pPr>
                <a:spcBef>
                  <a:spcPct val="0"/>
                </a:spcBef>
                <a:buFontTx/>
                <a:buNone/>
              </a:pPr>
              <a:t>69</a:t>
            </a:fld>
            <a:endParaRPr lang="en-US" altLang="en-US" sz="1400">
              <a:solidFill>
                <a:schemeClr val="tx1"/>
              </a:solidFill>
              <a:latin typeface="Times New Roman" panose="02020603050405020304" pitchFamily="18" charset="0"/>
            </a:endParaRPr>
          </a:p>
        </p:txBody>
      </p:sp>
      <p:sp>
        <p:nvSpPr>
          <p:cNvPr id="9219" name="Rectangle 2"/>
          <p:cNvSpPr>
            <a:spLocks noGrp="1" noChangeArrowheads="1"/>
          </p:cNvSpPr>
          <p:nvPr>
            <p:ph type="title"/>
          </p:nvPr>
        </p:nvSpPr>
        <p:spPr>
          <a:xfrm>
            <a:off x="2208213" y="476250"/>
            <a:ext cx="7772400" cy="1143000"/>
          </a:xfrm>
        </p:spPr>
        <p:txBody>
          <a:bodyPr/>
          <a:lstStyle/>
          <a:p>
            <a:pPr eaLnBrk="1" hangingPunct="1"/>
            <a:r>
              <a:rPr lang="en-GB" altLang="en-US"/>
              <a:t>Programmes may be</a:t>
            </a:r>
          </a:p>
        </p:txBody>
      </p:sp>
      <p:sp>
        <p:nvSpPr>
          <p:cNvPr id="9220" name="Rectangle 3"/>
          <p:cNvSpPr>
            <a:spLocks noGrp="1" noChangeArrowheads="1"/>
          </p:cNvSpPr>
          <p:nvPr>
            <p:ph type="body" idx="1"/>
          </p:nvPr>
        </p:nvSpPr>
        <p:spPr>
          <a:xfrm>
            <a:off x="3216276" y="1916113"/>
            <a:ext cx="5973763" cy="4114800"/>
          </a:xfrm>
        </p:spPr>
        <p:txBody>
          <a:bodyPr/>
          <a:lstStyle/>
          <a:p>
            <a:pPr eaLnBrk="1" hangingPunct="1"/>
            <a:r>
              <a:rPr lang="en-GB" altLang="en-US"/>
              <a:t>Strategic</a:t>
            </a:r>
          </a:p>
          <a:p>
            <a:pPr eaLnBrk="1" hangingPunct="1"/>
            <a:r>
              <a:rPr lang="en-GB" altLang="en-US"/>
              <a:t>Business cycle programmes</a:t>
            </a:r>
          </a:p>
          <a:p>
            <a:pPr eaLnBrk="1" hangingPunct="1"/>
            <a:r>
              <a:rPr lang="en-GB" altLang="en-US"/>
              <a:t>Infrastructure programmes</a:t>
            </a:r>
          </a:p>
          <a:p>
            <a:pPr eaLnBrk="1" hangingPunct="1"/>
            <a:r>
              <a:rPr lang="en-GB" altLang="en-US"/>
              <a:t>Research and development programmes</a:t>
            </a:r>
          </a:p>
          <a:p>
            <a:pPr eaLnBrk="1" hangingPunct="1"/>
            <a:r>
              <a:rPr lang="en-GB" altLang="en-US"/>
              <a:t>Innovative partnerships</a:t>
            </a:r>
          </a:p>
        </p:txBody>
      </p:sp>
      <p:sp>
        <p:nvSpPr>
          <p:cNvPr id="2" name="Date Placeholder 1"/>
          <p:cNvSpPr>
            <a:spLocks noGrp="1"/>
          </p:cNvSpPr>
          <p:nvPr>
            <p:ph type="dt" sz="half" idx="10"/>
          </p:nvPr>
        </p:nvSpPr>
        <p:spPr/>
        <p:txBody>
          <a:bodyPr/>
          <a:lstStyle/>
          <a:p>
            <a:fld id="{8921F524-7546-4CA0-B381-8A8349C2C909}" type="datetime3">
              <a:rPr lang="en-US" smtClean="0"/>
              <a:t>28 November 2023</a:t>
            </a:fld>
            <a:endParaRPr lang="en-US" dirty="0"/>
          </a:p>
        </p:txBody>
      </p:sp>
      <p:sp>
        <p:nvSpPr>
          <p:cNvPr id="3" name="Footer Placeholder 2"/>
          <p:cNvSpPr>
            <a:spLocks noGrp="1"/>
          </p:cNvSpPr>
          <p:nvPr>
            <p:ph type="ftr" sz="quarter" idx="11"/>
          </p:nvPr>
        </p:nvSpPr>
        <p:spPr/>
        <p:txBody>
          <a:bodyPr/>
          <a:lstStyle/>
          <a:p>
            <a:r>
              <a:rPr lang="en-US"/>
              <a:t>Software Project Management       Dr. D Evangelin Geetha    Dept. of MCA     RIT</a:t>
            </a:r>
            <a:endParaRPr lang="en-US" dirty="0"/>
          </a:p>
        </p:txBody>
      </p:sp>
    </p:spTree>
    <p:extLst>
      <p:ext uri="{BB962C8B-B14F-4D97-AF65-F5344CB8AC3E}">
        <p14:creationId xmlns:p14="http://schemas.microsoft.com/office/powerpoint/2010/main" val="2294841648"/>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Slide Number Placeholder 4"/>
          <p:cNvSpPr>
            <a:spLocks noGrp="1"/>
          </p:cNvSpPr>
          <p:nvPr>
            <p:ph type="sldNum" sz="quarter" idx="10"/>
          </p:nvPr>
        </p:nvSpPr>
        <p:spPr>
          <a:noFill/>
        </p:spPr>
        <p:txBody>
          <a:bodyPr/>
          <a:lstStyle>
            <a:lvl1pPr>
              <a:spcBef>
                <a:spcPct val="20000"/>
              </a:spcBef>
              <a:buChar char="•"/>
              <a:defRPr sz="3200">
                <a:solidFill>
                  <a:schemeClr val="bg2"/>
                </a:solidFill>
                <a:latin typeface="Tahoma" panose="020B0604030504040204" pitchFamily="34" charset="0"/>
              </a:defRPr>
            </a:lvl1pPr>
            <a:lvl2pPr marL="742950" indent="-285750">
              <a:spcBef>
                <a:spcPct val="20000"/>
              </a:spcBef>
              <a:buChar char="–"/>
              <a:defRPr sz="2800">
                <a:solidFill>
                  <a:schemeClr val="bg2"/>
                </a:solidFill>
                <a:latin typeface="Tahoma" panose="020B0604030504040204" pitchFamily="34" charset="0"/>
              </a:defRPr>
            </a:lvl2pPr>
            <a:lvl3pPr marL="1143000" indent="-228600">
              <a:spcBef>
                <a:spcPct val="20000"/>
              </a:spcBef>
              <a:buChar char="•"/>
              <a:defRPr sz="2400">
                <a:solidFill>
                  <a:schemeClr val="bg2"/>
                </a:solidFill>
                <a:latin typeface="Tahoma" panose="020B0604030504040204" pitchFamily="34" charset="0"/>
              </a:defRPr>
            </a:lvl3pPr>
            <a:lvl4pPr marL="1600200" indent="-228600">
              <a:spcBef>
                <a:spcPct val="20000"/>
              </a:spcBef>
              <a:buChar char="–"/>
              <a:defRPr sz="2000">
                <a:solidFill>
                  <a:schemeClr val="bg2"/>
                </a:solidFill>
                <a:latin typeface="Tahoma" panose="020B0604030504040204" pitchFamily="34" charset="0"/>
              </a:defRPr>
            </a:lvl4pPr>
            <a:lvl5pPr marL="2057400" indent="-228600">
              <a:spcBef>
                <a:spcPct val="20000"/>
              </a:spcBef>
              <a:buChar char="»"/>
              <a:defRPr sz="2000">
                <a:solidFill>
                  <a:schemeClr val="bg2"/>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bg2"/>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bg2"/>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bg2"/>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bg2"/>
                </a:solidFill>
                <a:latin typeface="Tahoma" panose="020B0604030504040204" pitchFamily="34" charset="0"/>
              </a:defRPr>
            </a:lvl9pPr>
          </a:lstStyle>
          <a:p>
            <a:pPr>
              <a:spcBef>
                <a:spcPct val="0"/>
              </a:spcBef>
              <a:buFontTx/>
              <a:buNone/>
            </a:pPr>
            <a:fld id="{49C6F27C-9D03-43D1-B244-FFA7CBEA41F9}" type="slidenum">
              <a:rPr lang="en-US" altLang="en-US" sz="1400">
                <a:solidFill>
                  <a:schemeClr val="tx1"/>
                </a:solidFill>
                <a:latin typeface="Times New Roman" panose="02020603050405020304" pitchFamily="18" charset="0"/>
              </a:rPr>
              <a:pPr>
                <a:spcBef>
                  <a:spcPct val="0"/>
                </a:spcBef>
                <a:buFontTx/>
                <a:buNone/>
              </a:pPr>
              <a:t>70</a:t>
            </a:fld>
            <a:endParaRPr lang="en-US" altLang="en-US" sz="1400">
              <a:solidFill>
                <a:schemeClr val="tx1"/>
              </a:solidFill>
              <a:latin typeface="Times New Roman" panose="02020603050405020304" pitchFamily="18" charset="0"/>
            </a:endParaRPr>
          </a:p>
        </p:txBody>
      </p:sp>
      <p:sp>
        <p:nvSpPr>
          <p:cNvPr id="11267" name="Rectangle 2"/>
          <p:cNvSpPr>
            <a:spLocks noGrp="1" noChangeArrowheads="1"/>
          </p:cNvSpPr>
          <p:nvPr>
            <p:ph type="title"/>
          </p:nvPr>
        </p:nvSpPr>
        <p:spPr/>
        <p:txBody>
          <a:bodyPr>
            <a:normAutofit fontScale="90000"/>
          </a:bodyPr>
          <a:lstStyle/>
          <a:p>
            <a:pPr eaLnBrk="1" hangingPunct="1"/>
            <a:r>
              <a:rPr lang="en-GB" altLang="en-US" sz="4000" b="1"/>
              <a:t>Programme managers versus project managers</a:t>
            </a:r>
          </a:p>
        </p:txBody>
      </p:sp>
      <p:sp>
        <p:nvSpPr>
          <p:cNvPr id="11268" name="Rectangle 4"/>
          <p:cNvSpPr>
            <a:spLocks noGrp="1" noChangeArrowheads="1"/>
          </p:cNvSpPr>
          <p:nvPr>
            <p:ph type="body" sz="half" idx="1"/>
          </p:nvPr>
        </p:nvSpPr>
        <p:spPr>
          <a:xfrm>
            <a:off x="2209801" y="1981200"/>
            <a:ext cx="3814763" cy="4114800"/>
          </a:xfrm>
        </p:spPr>
        <p:txBody>
          <a:bodyPr>
            <a:normAutofit lnSpcReduction="10000"/>
          </a:bodyPr>
          <a:lstStyle/>
          <a:p>
            <a:pPr eaLnBrk="1" hangingPunct="1">
              <a:buFontTx/>
              <a:buNone/>
            </a:pPr>
            <a:r>
              <a:rPr lang="en-GB" altLang="en-US" u="sng"/>
              <a:t>Programme manager</a:t>
            </a:r>
          </a:p>
          <a:p>
            <a:pPr lvl="1" eaLnBrk="1" hangingPunct="1"/>
            <a:r>
              <a:rPr lang="en-GB" altLang="en-US"/>
              <a:t>Many simultaneous projects</a:t>
            </a:r>
          </a:p>
          <a:p>
            <a:pPr lvl="1" eaLnBrk="1" hangingPunct="1"/>
            <a:r>
              <a:rPr lang="en-GB" altLang="en-US"/>
              <a:t>Personal relationship with skilled resources</a:t>
            </a:r>
          </a:p>
          <a:p>
            <a:pPr lvl="1" eaLnBrk="1" hangingPunct="1"/>
            <a:r>
              <a:rPr lang="en-GB" altLang="en-US"/>
              <a:t>Optimization of resource use</a:t>
            </a:r>
          </a:p>
          <a:p>
            <a:pPr lvl="1" eaLnBrk="1" hangingPunct="1"/>
            <a:r>
              <a:rPr lang="en-GB" altLang="en-US"/>
              <a:t>Projects tend to be seen as similar</a:t>
            </a:r>
          </a:p>
          <a:p>
            <a:pPr lvl="1" eaLnBrk="1" hangingPunct="1"/>
            <a:endParaRPr lang="en-GB" altLang="en-US"/>
          </a:p>
        </p:txBody>
      </p:sp>
      <p:sp>
        <p:nvSpPr>
          <p:cNvPr id="11269" name="Rectangle 5"/>
          <p:cNvSpPr>
            <a:spLocks noGrp="1" noChangeArrowheads="1"/>
          </p:cNvSpPr>
          <p:nvPr>
            <p:ph type="body" sz="half" idx="2"/>
          </p:nvPr>
        </p:nvSpPr>
        <p:spPr>
          <a:xfrm>
            <a:off x="6167438" y="1981200"/>
            <a:ext cx="3814762" cy="4114800"/>
          </a:xfrm>
        </p:spPr>
        <p:txBody>
          <a:bodyPr/>
          <a:lstStyle/>
          <a:p>
            <a:pPr eaLnBrk="1" hangingPunct="1">
              <a:buFontTx/>
              <a:buNone/>
            </a:pPr>
            <a:r>
              <a:rPr lang="en-GB" altLang="en-US" u="sng"/>
              <a:t>Project manager</a:t>
            </a:r>
          </a:p>
          <a:p>
            <a:pPr lvl="1" eaLnBrk="1" hangingPunct="1"/>
            <a:r>
              <a:rPr lang="en-GB" altLang="en-US"/>
              <a:t>One project at a time</a:t>
            </a:r>
          </a:p>
          <a:p>
            <a:pPr lvl="1" eaLnBrk="1" hangingPunct="1"/>
            <a:r>
              <a:rPr lang="en-GB" altLang="en-US"/>
              <a:t>Impersonal relationship with resources</a:t>
            </a:r>
          </a:p>
          <a:p>
            <a:pPr lvl="1" eaLnBrk="1" hangingPunct="1"/>
            <a:r>
              <a:rPr lang="en-GB" altLang="en-US"/>
              <a:t>Minimization of demand for resources</a:t>
            </a:r>
          </a:p>
          <a:p>
            <a:pPr lvl="1" eaLnBrk="1" hangingPunct="1"/>
            <a:r>
              <a:rPr lang="en-GB" altLang="en-US"/>
              <a:t>Projects tend to be seen as unique</a:t>
            </a:r>
          </a:p>
        </p:txBody>
      </p:sp>
      <p:sp>
        <p:nvSpPr>
          <p:cNvPr id="2" name="Date Placeholder 1"/>
          <p:cNvSpPr>
            <a:spLocks noGrp="1"/>
          </p:cNvSpPr>
          <p:nvPr>
            <p:ph type="dt" sz="half" idx="10"/>
          </p:nvPr>
        </p:nvSpPr>
        <p:spPr/>
        <p:txBody>
          <a:bodyPr/>
          <a:lstStyle/>
          <a:p>
            <a:fld id="{305ECBFF-10BB-4FE8-821A-DE1F4826B29F}" type="datetime3">
              <a:rPr lang="en-US" smtClean="0"/>
              <a:t>28 November 2023</a:t>
            </a:fld>
            <a:endParaRPr lang="en-US" dirty="0"/>
          </a:p>
        </p:txBody>
      </p:sp>
      <p:sp>
        <p:nvSpPr>
          <p:cNvPr id="3" name="Footer Placeholder 2"/>
          <p:cNvSpPr>
            <a:spLocks noGrp="1"/>
          </p:cNvSpPr>
          <p:nvPr>
            <p:ph type="ftr" sz="quarter" idx="11"/>
          </p:nvPr>
        </p:nvSpPr>
        <p:spPr/>
        <p:txBody>
          <a:bodyPr/>
          <a:lstStyle/>
          <a:p>
            <a:r>
              <a:rPr lang="en-US"/>
              <a:t>Software Project Management       Dr. D Evangelin Geetha    Dept. of MCA     RIT</a:t>
            </a:r>
            <a:endParaRPr lang="en-US" dirty="0"/>
          </a:p>
        </p:txBody>
      </p:sp>
    </p:spTree>
    <p:extLst>
      <p:ext uri="{BB962C8B-B14F-4D97-AF65-F5344CB8AC3E}">
        <p14:creationId xmlns:p14="http://schemas.microsoft.com/office/powerpoint/2010/main" val="3076959178"/>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1636D828-2D0B-4013-B12C-201B777FFED7}"/>
              </a:ext>
            </a:extLst>
          </p:cNvPr>
          <p:cNvSpPr>
            <a:spLocks noGrp="1"/>
          </p:cNvSpPr>
          <p:nvPr>
            <p:ph type="title"/>
          </p:nvPr>
        </p:nvSpPr>
        <p:spPr/>
        <p:txBody>
          <a:bodyPr/>
          <a:lstStyle/>
          <a:p>
            <a:endParaRPr lang="en-IN"/>
          </a:p>
        </p:txBody>
      </p:sp>
      <p:sp>
        <p:nvSpPr>
          <p:cNvPr id="9" name="Content Placeholder 8">
            <a:extLst>
              <a:ext uri="{FF2B5EF4-FFF2-40B4-BE49-F238E27FC236}">
                <a16:creationId xmlns:a16="http://schemas.microsoft.com/office/drawing/2014/main" id="{731B5F68-3B88-48EE-A758-608424A96F29}"/>
              </a:ext>
            </a:extLst>
          </p:cNvPr>
          <p:cNvSpPr>
            <a:spLocks noGrp="1"/>
          </p:cNvSpPr>
          <p:nvPr>
            <p:ph idx="1"/>
          </p:nvPr>
        </p:nvSpPr>
        <p:spPr/>
        <p:txBody>
          <a:bodyPr/>
          <a:lstStyle/>
          <a:p>
            <a:r>
              <a:rPr lang="en-US" dirty="0"/>
              <a:t>Average profit/investment*100</a:t>
            </a:r>
          </a:p>
          <a:p>
            <a:r>
              <a:rPr lang="en-US" dirty="0"/>
              <a:t>Cost = 1,50,000</a:t>
            </a:r>
          </a:p>
          <a:p>
            <a:r>
              <a:rPr lang="en-US" dirty="0"/>
              <a:t>Average profit = 15000</a:t>
            </a:r>
          </a:p>
          <a:p>
            <a:r>
              <a:rPr lang="en-US" dirty="0"/>
              <a:t>ROI = 15000/1,50,000*100=1500/150=10%</a:t>
            </a:r>
            <a:endParaRPr lang="en-IN" dirty="0"/>
          </a:p>
        </p:txBody>
      </p:sp>
      <p:sp>
        <p:nvSpPr>
          <p:cNvPr id="5" name="Date Placeholder 4">
            <a:extLst>
              <a:ext uri="{FF2B5EF4-FFF2-40B4-BE49-F238E27FC236}">
                <a16:creationId xmlns:a16="http://schemas.microsoft.com/office/drawing/2014/main" id="{0F071291-DE24-413D-87D1-546FC16A1DB5}"/>
              </a:ext>
            </a:extLst>
          </p:cNvPr>
          <p:cNvSpPr>
            <a:spLocks noGrp="1"/>
          </p:cNvSpPr>
          <p:nvPr>
            <p:ph type="dt" sz="half" idx="10"/>
          </p:nvPr>
        </p:nvSpPr>
        <p:spPr/>
        <p:txBody>
          <a:bodyPr/>
          <a:lstStyle/>
          <a:p>
            <a:fld id="{CB7C6265-89CA-4295-AB72-9817D3FFB07B}" type="datetime3">
              <a:rPr lang="en-US" smtClean="0"/>
              <a:t>28 November 2023</a:t>
            </a:fld>
            <a:endParaRPr lang="en-US" dirty="0"/>
          </a:p>
        </p:txBody>
      </p:sp>
      <p:sp>
        <p:nvSpPr>
          <p:cNvPr id="6" name="Footer Placeholder 5">
            <a:extLst>
              <a:ext uri="{FF2B5EF4-FFF2-40B4-BE49-F238E27FC236}">
                <a16:creationId xmlns:a16="http://schemas.microsoft.com/office/drawing/2014/main" id="{543D572E-CB59-44DD-A3D9-024C5943C501}"/>
              </a:ext>
            </a:extLst>
          </p:cNvPr>
          <p:cNvSpPr>
            <a:spLocks noGrp="1"/>
          </p:cNvSpPr>
          <p:nvPr>
            <p:ph type="ftr" sz="quarter" idx="11"/>
          </p:nvPr>
        </p:nvSpPr>
        <p:spPr/>
        <p:txBody>
          <a:bodyPr/>
          <a:lstStyle/>
          <a:p>
            <a:r>
              <a:rPr lang="en-US"/>
              <a:t>Software Project Management       Dr. D Evangelin Geetha    Dept. of MCA     RIT</a:t>
            </a:r>
            <a:endParaRPr lang="en-US" dirty="0"/>
          </a:p>
        </p:txBody>
      </p:sp>
      <p:sp>
        <p:nvSpPr>
          <p:cNvPr id="7" name="Slide Number Placeholder 6">
            <a:extLst>
              <a:ext uri="{FF2B5EF4-FFF2-40B4-BE49-F238E27FC236}">
                <a16:creationId xmlns:a16="http://schemas.microsoft.com/office/drawing/2014/main" id="{962FFCB7-AFDF-420D-BB28-CCB71D8D58CE}"/>
              </a:ext>
            </a:extLst>
          </p:cNvPr>
          <p:cNvSpPr>
            <a:spLocks noGrp="1"/>
          </p:cNvSpPr>
          <p:nvPr>
            <p:ph type="sldNum" sz="quarter" idx="12"/>
          </p:nvPr>
        </p:nvSpPr>
        <p:spPr/>
        <p:txBody>
          <a:bodyPr/>
          <a:lstStyle/>
          <a:p>
            <a:fld id="{6D22F896-40B5-4ADD-8801-0D06FADFA095}" type="slidenum">
              <a:rPr lang="en-US" smtClean="0"/>
              <a:t>71</a:t>
            </a:fld>
            <a:endParaRPr lang="en-US" dirty="0"/>
          </a:p>
        </p:txBody>
      </p:sp>
    </p:spTree>
    <p:extLst>
      <p:ext uri="{BB962C8B-B14F-4D97-AF65-F5344CB8AC3E}">
        <p14:creationId xmlns:p14="http://schemas.microsoft.com/office/powerpoint/2010/main" val="20203884"/>
      </p:ext>
    </p:extLst>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TM10001114[[fn=Gallery]]</Template>
  <TotalTime>3084</TotalTime>
  <Words>3805</Words>
  <Application>Microsoft Office PowerPoint</Application>
  <PresentationFormat>Widescreen</PresentationFormat>
  <Paragraphs>1251</Paragraphs>
  <Slides>71</Slides>
  <Notes>9</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71</vt:i4>
      </vt:variant>
    </vt:vector>
  </HeadingPairs>
  <TitlesOfParts>
    <vt:vector size="78" baseType="lpstr">
      <vt:lpstr>Arial</vt:lpstr>
      <vt:lpstr>Calibri</vt:lpstr>
      <vt:lpstr>Cambria Math</vt:lpstr>
      <vt:lpstr>Gill Sans MT</vt:lpstr>
      <vt:lpstr>Tahoma</vt:lpstr>
      <vt:lpstr>Times New Roman</vt:lpstr>
      <vt:lpstr>Gallery</vt:lpstr>
      <vt:lpstr>Software Project Management  Project Evaluation and programme management</vt:lpstr>
      <vt:lpstr>Introduction</vt:lpstr>
      <vt:lpstr>Business case</vt:lpstr>
      <vt:lpstr>Business case</vt:lpstr>
      <vt:lpstr>Project portfolio management</vt:lpstr>
      <vt:lpstr>Project portfolio management</vt:lpstr>
      <vt:lpstr>Project portfolio management</vt:lpstr>
      <vt:lpstr>Project portfolio management</vt:lpstr>
      <vt:lpstr>Project portfolio management</vt:lpstr>
      <vt:lpstr>Project portfolio management</vt:lpstr>
      <vt:lpstr>Project portfolio management</vt:lpstr>
      <vt:lpstr>Evaluation of individual projects</vt:lpstr>
      <vt:lpstr>Evaluation of individual projects</vt:lpstr>
      <vt:lpstr>Evaluation of individual projects</vt:lpstr>
      <vt:lpstr>Evaluation of individual projects</vt:lpstr>
      <vt:lpstr>Evaluation of individual projects</vt:lpstr>
      <vt:lpstr>Cost-benefit evaluation techniques</vt:lpstr>
      <vt:lpstr>Net Profit</vt:lpstr>
      <vt:lpstr>Net Profit</vt:lpstr>
      <vt:lpstr>Payback period</vt:lpstr>
      <vt:lpstr>Payback period</vt:lpstr>
      <vt:lpstr>Payback period</vt:lpstr>
      <vt:lpstr>Payback period</vt:lpstr>
      <vt:lpstr>Payback period</vt:lpstr>
      <vt:lpstr>Cost-benefit evaluation techniques</vt:lpstr>
      <vt:lpstr>Payback period</vt:lpstr>
      <vt:lpstr>Payback period</vt:lpstr>
      <vt:lpstr>Return on investment (ROI)</vt:lpstr>
      <vt:lpstr>Return on investment (ROI)</vt:lpstr>
      <vt:lpstr>Return on investment (ROI)</vt:lpstr>
      <vt:lpstr>Net present value</vt:lpstr>
      <vt:lpstr>Discount factor</vt:lpstr>
      <vt:lpstr>Discount factor</vt:lpstr>
      <vt:lpstr>Discount factor</vt:lpstr>
      <vt:lpstr>Discount factor</vt:lpstr>
      <vt:lpstr>Applying discount factors</vt:lpstr>
      <vt:lpstr>Net present value</vt:lpstr>
      <vt:lpstr>Net present value</vt:lpstr>
      <vt:lpstr>Net present value</vt:lpstr>
      <vt:lpstr>Net present value</vt:lpstr>
      <vt:lpstr>Net present value</vt:lpstr>
      <vt:lpstr>Net present value</vt:lpstr>
      <vt:lpstr>Net present value</vt:lpstr>
      <vt:lpstr>Discount factor</vt:lpstr>
      <vt:lpstr>Discount factor</vt:lpstr>
      <vt:lpstr>Discount factor</vt:lpstr>
      <vt:lpstr>Discount factor</vt:lpstr>
      <vt:lpstr>Applying discount factors</vt:lpstr>
      <vt:lpstr>Net present value</vt:lpstr>
      <vt:lpstr>Net present value</vt:lpstr>
      <vt:lpstr>Net present value</vt:lpstr>
      <vt:lpstr>Net present value</vt:lpstr>
      <vt:lpstr>Net present value</vt:lpstr>
      <vt:lpstr>Net present value</vt:lpstr>
      <vt:lpstr>Risk evaluation</vt:lpstr>
      <vt:lpstr>Risk identification and ranking</vt:lpstr>
      <vt:lpstr>Risk identification and ranking</vt:lpstr>
      <vt:lpstr>Risk and net present value</vt:lpstr>
      <vt:lpstr>Cost-benefit analysis – Another approach</vt:lpstr>
      <vt:lpstr>Cost-benefit analysis</vt:lpstr>
      <vt:lpstr>PowerPoint Presentation</vt:lpstr>
      <vt:lpstr>BuyRight’s income forecasts</vt:lpstr>
      <vt:lpstr>BuyRight’s income forecasts</vt:lpstr>
      <vt:lpstr>Risk profile analysis</vt:lpstr>
      <vt:lpstr>Using decision trees </vt:lpstr>
      <vt:lpstr>PowerPoint Presentation</vt:lpstr>
      <vt:lpstr>PowerPoint Presentation</vt:lpstr>
      <vt:lpstr>Programme management</vt:lpstr>
      <vt:lpstr>Programmes may be</vt:lpstr>
      <vt:lpstr>Programme managers versus project managers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Software Project Management</dc:title>
  <dc:creator>Evangelin D</dc:creator>
  <cp:lastModifiedBy>4mca</cp:lastModifiedBy>
  <cp:revision>305</cp:revision>
  <dcterms:created xsi:type="dcterms:W3CDTF">2019-08-23T04:10:40Z</dcterms:created>
  <dcterms:modified xsi:type="dcterms:W3CDTF">2023-11-28T08:13:10Z</dcterms:modified>
</cp:coreProperties>
</file>