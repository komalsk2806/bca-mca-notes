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81" r:id="rId13"/>
    <p:sldId id="267" r:id="rId14"/>
    <p:sldId id="282" r:id="rId15"/>
    <p:sldId id="268" r:id="rId16"/>
    <p:sldId id="269" r:id="rId17"/>
    <p:sldId id="271" r:id="rId18"/>
    <p:sldId id="272" r:id="rId19"/>
    <p:sldId id="273" r:id="rId20"/>
    <p:sldId id="274" r:id="rId21"/>
    <p:sldId id="275" r:id="rId22"/>
    <p:sldId id="276" r:id="rId23"/>
    <p:sldId id="277" r:id="rId24"/>
    <p:sldId id="278" r:id="rId25"/>
    <p:sldId id="279" r:id="rId26"/>
    <p:sldId id="283" r:id="rId27"/>
    <p:sldId id="285" r:id="rId28"/>
    <p:sldId id="286" r:id="rId29"/>
    <p:sldId id="287" r:id="rId30"/>
    <p:sldId id="284" r:id="rId31"/>
    <p:sldId id="270" r:id="rId32"/>
    <p:sldId id="280"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695" autoAdjust="0"/>
    <p:restoredTop sz="94660"/>
  </p:normalViewPr>
  <p:slideViewPr>
    <p:cSldViewPr snapToGrid="0">
      <p:cViewPr varScale="1">
        <p:scale>
          <a:sx n="91" d="100"/>
          <a:sy n="91" d="100"/>
        </p:scale>
        <p:origin x="486" y="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6B3128-46BE-4F05-B90D-E0A81F2C74CE}" type="datetimeFigureOut">
              <a:rPr lang="en-IN" smtClean="0"/>
              <a:t>07-08-2021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91995B-7B11-49A8-9854-153F0D049CDE}" type="slidenum">
              <a:rPr lang="en-IN" smtClean="0"/>
              <a:t>‹#›</a:t>
            </a:fld>
            <a:endParaRPr lang="en-IN"/>
          </a:p>
        </p:txBody>
      </p:sp>
    </p:spTree>
    <p:extLst>
      <p:ext uri="{BB962C8B-B14F-4D97-AF65-F5344CB8AC3E}">
        <p14:creationId xmlns:p14="http://schemas.microsoft.com/office/powerpoint/2010/main" val="3293280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dirty="0" smtClean="0"/>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613" y="188914"/>
            <a:ext cx="9603275" cy="1049235"/>
          </a:xfr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1306613" y="1357810"/>
            <a:ext cx="9603275" cy="4719605"/>
          </a:xfrm>
        </p:spPr>
        <p:txBody>
          <a:bodyPr anchor="t"/>
          <a:lstStyle>
            <a:lvl1pPr>
              <a:defRPr sz="2800"/>
            </a:lvl1pPr>
            <a:lvl2pPr>
              <a:defRPr sz="2400"/>
            </a:lvl2pPr>
            <a:lvl3pPr>
              <a:defRPr sz="2000"/>
            </a:lvl3pPr>
            <a:lvl4pPr>
              <a:defRPr sz="2000"/>
            </a:lvl4pPr>
            <a:lvl5pPr>
              <a:defRPr sz="2000"/>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a:xfrm>
            <a:off x="9779620" y="6540535"/>
            <a:ext cx="1531711" cy="309201"/>
          </a:xfrm>
        </p:spPr>
        <p:txBody>
          <a:bodyPr/>
          <a:lstStyle>
            <a:lvl1pPr>
              <a:defRPr>
                <a:solidFill>
                  <a:srgbClr val="FFFF99"/>
                </a:solidFill>
              </a:defRPr>
            </a:lvl1p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a:xfrm>
            <a:off x="0" y="6540536"/>
            <a:ext cx="9709970" cy="309201"/>
          </a:xfrm>
        </p:spPr>
        <p:txBody>
          <a:bodyPr/>
          <a:lstStyle>
            <a:lvl1pPr>
              <a:defRPr>
                <a:solidFill>
                  <a:srgbClr val="FFFF99"/>
                </a:solidFill>
              </a:defRPr>
            </a:lvl1pPr>
          </a:lstStyle>
          <a:p>
            <a:r>
              <a:rPr lang="en-US" dirty="0" smtClean="0"/>
              <a:t>Software Project Management     			Dr. D Evangelin </a:t>
            </a:r>
            <a:r>
              <a:rPr lang="en-US" dirty="0" err="1" smtClean="0"/>
              <a:t>Geetha</a:t>
            </a:r>
            <a:r>
              <a:rPr lang="en-US" dirty="0" smtClean="0"/>
              <a:t>      			Dept. of MCA       			RIT</a:t>
            </a:r>
            <a:endParaRPr lang="en-US" dirty="0"/>
          </a:p>
        </p:txBody>
      </p:sp>
      <p:sp>
        <p:nvSpPr>
          <p:cNvPr id="6" name="Slide Number Placeholder 5"/>
          <p:cNvSpPr>
            <a:spLocks noGrp="1"/>
          </p:cNvSpPr>
          <p:nvPr>
            <p:ph type="sldNum" sz="quarter" idx="12"/>
          </p:nvPr>
        </p:nvSpPr>
        <p:spPr>
          <a:xfrm>
            <a:off x="11380981" y="6354422"/>
            <a:ext cx="811019" cy="503578"/>
          </a:xfrm>
        </p:spPr>
        <p:txBody>
          <a:bodyPr/>
          <a:lstStyle>
            <a:lvl1pPr>
              <a:defRPr>
                <a:solidFill>
                  <a:srgbClr val="FFFF99"/>
                </a:solidFill>
              </a:defRPr>
            </a:lvl1pPr>
          </a:lstStyle>
          <a:p>
            <a:fld id="{6D22F896-40B5-4ADD-8801-0D06FADFA095}" type="slidenum">
              <a:rPr lang="en-US" smtClean="0"/>
              <a:pPr/>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F8055B9-FA51-4411-87D8-44ACED93EF72}"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89A8FB8-F6B0-41B0-A3F4-07F1FC2B943D}" type="datetime3">
              <a:rPr lang="en-US" smtClean="0"/>
              <a:t>7 August 2021</a:t>
            </a:fld>
            <a:endParaRPr lang="en-US" dirty="0"/>
          </a:p>
        </p:txBody>
      </p:sp>
      <p:sp>
        <p:nvSpPr>
          <p:cNvPr id="6" name="Footer Placeholder 5"/>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6BD7D40-E4FA-43D7-A9DE-7674D2FC2A01}" type="datetime3">
              <a:rPr lang="en-US" smtClean="0"/>
              <a:t>7 August 2021</a:t>
            </a:fld>
            <a:endParaRPr lang="en-US" dirty="0"/>
          </a:p>
        </p:txBody>
      </p:sp>
      <p:sp>
        <p:nvSpPr>
          <p:cNvPr id="8" name="Footer Placeholder 7"/>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897A70B-796A-49AD-954D-B8764ECDAEE2}" type="datetime3">
              <a:rPr lang="en-US" smtClean="0"/>
              <a:t>7 August 2021</a:t>
            </a:fld>
            <a:endParaRPr lang="en-US" dirty="0"/>
          </a:p>
        </p:txBody>
      </p:sp>
      <p:sp>
        <p:nvSpPr>
          <p:cNvPr id="4" name="Footer Placeholder 3"/>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D855BC-680C-49FE-8E89-3D35E893DBD2}" type="datetime3">
              <a:rPr lang="en-US" smtClean="0"/>
              <a:t>7 August 2021</a:t>
            </a:fld>
            <a:endParaRPr lang="en-US" dirty="0"/>
          </a:p>
        </p:txBody>
      </p:sp>
      <p:sp>
        <p:nvSpPr>
          <p:cNvPr id="3" name="Footer Placeholder 2"/>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smtClean="0"/>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7739E84-D0BA-40A4-A461-BD469FDC55D3}" type="datetime3">
              <a:rPr lang="en-US" smtClean="0"/>
              <a:t>7 August 2021</a:t>
            </a:fld>
            <a:endParaRPr lang="en-US" dirty="0"/>
          </a:p>
        </p:txBody>
      </p:sp>
      <p:sp>
        <p:nvSpPr>
          <p:cNvPr id="6" name="Footer Placeholder 5"/>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9CD90FD9-1396-41D1-B86E-62856B689DD8}" type="datetime3">
              <a:rPr lang="en-US" smtClean="0"/>
              <a:t>7 August 2021</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r>
              <a:rPr lang="en-US" smtClean="0"/>
              <a:t>Software Project Management     Dr. D Evangelin Geetha      Dept. of MCA       RIT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09F304D-F6A7-4648-AF13-2FB84F99A0E0}"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E65F86E-1564-4047-93C0-85590B14E86A}"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EAB29CA3-CF9D-4FAE-9096-333EC8E1C0D6}" type="datetime3">
              <a:rPr lang="en-US" smtClean="0"/>
              <a:t>7 August 2021</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17780" y="0"/>
            <a:ext cx="8637073" cy="2541431"/>
          </a:xfrm>
        </p:spPr>
        <p:txBody>
          <a:bodyPr>
            <a:normAutofit fontScale="90000"/>
          </a:bodyPr>
          <a:lstStyle/>
          <a:p>
            <a:r>
              <a:rPr lang="en-IN" dirty="0" smtClean="0"/>
              <a:t>Software Project Management </a:t>
            </a:r>
            <a:br>
              <a:rPr lang="en-IN" dirty="0" smtClean="0"/>
            </a:br>
            <a:r>
              <a:rPr lang="en-IN" sz="6000" dirty="0" smtClean="0">
                <a:solidFill>
                  <a:srgbClr val="0000CC"/>
                </a:solidFill>
              </a:rPr>
              <a:t>Risk management</a:t>
            </a:r>
            <a:endParaRPr lang="en-IN" sz="6000" dirty="0">
              <a:solidFill>
                <a:srgbClr val="0000CC"/>
              </a:solidFill>
            </a:endParaRPr>
          </a:p>
        </p:txBody>
      </p:sp>
      <p:sp>
        <p:nvSpPr>
          <p:cNvPr id="3" name="Subtitle 2"/>
          <p:cNvSpPr>
            <a:spLocks noGrp="1"/>
          </p:cNvSpPr>
          <p:nvPr>
            <p:ph type="subTitle" idx="1"/>
          </p:nvPr>
        </p:nvSpPr>
        <p:spPr>
          <a:xfrm>
            <a:off x="2417780" y="3531204"/>
            <a:ext cx="8637072" cy="1944438"/>
          </a:xfrm>
        </p:spPr>
        <p:txBody>
          <a:bodyPr>
            <a:normAutofit fontScale="85000" lnSpcReduction="20000"/>
          </a:bodyPr>
          <a:lstStyle/>
          <a:p>
            <a:r>
              <a:rPr lang="en-IN" dirty="0" err="1" smtClean="0"/>
              <a:t>Dr.</a:t>
            </a:r>
            <a:r>
              <a:rPr lang="en-IN" dirty="0" smtClean="0"/>
              <a:t> D Evangelin </a:t>
            </a:r>
            <a:r>
              <a:rPr lang="en-IN" dirty="0" err="1" smtClean="0"/>
              <a:t>geetha</a:t>
            </a:r>
            <a:endParaRPr lang="en-IN" dirty="0" smtClean="0"/>
          </a:p>
          <a:p>
            <a:r>
              <a:rPr lang="en-IN" dirty="0" smtClean="0"/>
              <a:t>Associate professor</a:t>
            </a:r>
          </a:p>
          <a:p>
            <a:r>
              <a:rPr lang="en-IN" dirty="0" smtClean="0"/>
              <a:t>Department of master of computer applications</a:t>
            </a:r>
          </a:p>
          <a:p>
            <a:r>
              <a:rPr lang="en-IN" dirty="0" err="1" smtClean="0"/>
              <a:t>Ramaiak</a:t>
            </a:r>
            <a:r>
              <a:rPr lang="en-IN" dirty="0" smtClean="0"/>
              <a:t> institute of technology</a:t>
            </a:r>
          </a:p>
          <a:p>
            <a:r>
              <a:rPr lang="en-IN" dirty="0" smtClean="0"/>
              <a:t>Bangalore - 560054</a:t>
            </a:r>
            <a:endParaRPr lang="en-IN" dirty="0"/>
          </a:p>
        </p:txBody>
      </p:sp>
    </p:spTree>
    <p:extLst>
      <p:ext uri="{BB962C8B-B14F-4D97-AF65-F5344CB8AC3E}">
        <p14:creationId xmlns:p14="http://schemas.microsoft.com/office/powerpoint/2010/main" val="3517004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6613" y="188914"/>
            <a:ext cx="9603275" cy="591671"/>
          </a:xfrm>
        </p:spPr>
        <p:txBody>
          <a:bodyPr/>
          <a:lstStyle/>
          <a:p>
            <a:r>
              <a:rPr lang="en-IN" dirty="0" smtClean="0"/>
              <a:t>Learning objectives</a:t>
            </a:r>
            <a:endParaRPr lang="en-IN" dirty="0"/>
          </a:p>
        </p:txBody>
      </p:sp>
      <p:sp>
        <p:nvSpPr>
          <p:cNvPr id="3" name="Content Placeholder 2"/>
          <p:cNvSpPr>
            <a:spLocks noGrp="1"/>
          </p:cNvSpPr>
          <p:nvPr>
            <p:ph idx="1"/>
          </p:nvPr>
        </p:nvSpPr>
        <p:spPr>
          <a:xfrm>
            <a:off x="1306613" y="1773044"/>
            <a:ext cx="9603275" cy="4304371"/>
          </a:xfrm>
        </p:spPr>
        <p:txBody>
          <a:bodyPr/>
          <a:lstStyle/>
          <a:p>
            <a:r>
              <a:rPr lang="en-IN" dirty="0" smtClean="0"/>
              <a:t>Identify the factors putting a project at risk</a:t>
            </a:r>
          </a:p>
          <a:p>
            <a:r>
              <a:rPr lang="en-IN" dirty="0" smtClean="0"/>
              <a:t>Categorize and prioritize actions for risk elimination or containment</a:t>
            </a:r>
          </a:p>
          <a:p>
            <a:r>
              <a:rPr lang="en-IN" dirty="0" smtClean="0"/>
              <a:t>Quantify the likely effects of risk on project timescales</a:t>
            </a:r>
            <a:endParaRPr lang="en-IN" dirty="0"/>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2</a:t>
            </a:fld>
            <a:endParaRPr lang="en-US" dirty="0"/>
          </a:p>
        </p:txBody>
      </p:sp>
    </p:spTree>
    <p:extLst>
      <p:ext uri="{BB962C8B-B14F-4D97-AF65-F5344CB8AC3E}">
        <p14:creationId xmlns:p14="http://schemas.microsoft.com/office/powerpoint/2010/main" val="2178396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937" y="188915"/>
            <a:ext cx="9660951" cy="580519"/>
          </a:xfrm>
        </p:spPr>
        <p:txBody>
          <a:bodyPr/>
          <a:lstStyle/>
          <a:p>
            <a:r>
              <a:rPr lang="en-IN" dirty="0" smtClean="0"/>
              <a:t>risk</a:t>
            </a:r>
            <a:endParaRPr lang="en-IN" dirty="0"/>
          </a:p>
        </p:txBody>
      </p:sp>
      <p:sp>
        <p:nvSpPr>
          <p:cNvPr id="3" name="Content Placeholder 2"/>
          <p:cNvSpPr>
            <a:spLocks noGrp="1"/>
          </p:cNvSpPr>
          <p:nvPr>
            <p:ph idx="1"/>
          </p:nvPr>
        </p:nvSpPr>
        <p:spPr>
          <a:xfrm>
            <a:off x="1306613" y="1248937"/>
            <a:ext cx="9777699" cy="4828478"/>
          </a:xfrm>
        </p:spPr>
        <p:txBody>
          <a:bodyPr/>
          <a:lstStyle/>
          <a:p>
            <a:r>
              <a:rPr lang="en-IN" dirty="0" smtClean="0"/>
              <a:t>Definition</a:t>
            </a:r>
          </a:p>
          <a:p>
            <a:pPr lvl="1"/>
            <a:r>
              <a:rPr lang="en-IN" dirty="0" smtClean="0"/>
              <a:t>“an uncertain event or condition that, if it occurs, has a positive or negative effect on a project’s objectives”</a:t>
            </a:r>
          </a:p>
          <a:p>
            <a:pPr lvl="1"/>
            <a:r>
              <a:rPr lang="en-IN" dirty="0" smtClean="0"/>
              <a:t>“the chance of exposure to the adverse consequences of future events”</a:t>
            </a:r>
          </a:p>
          <a:p>
            <a:r>
              <a:rPr lang="en-IN" dirty="0" smtClean="0"/>
              <a:t>Key elements</a:t>
            </a:r>
          </a:p>
          <a:p>
            <a:pPr lvl="1"/>
            <a:r>
              <a:rPr lang="en-IN" dirty="0" smtClean="0"/>
              <a:t>It relates to the future</a:t>
            </a:r>
          </a:p>
          <a:p>
            <a:pPr lvl="1"/>
            <a:r>
              <a:rPr lang="en-IN" dirty="0" smtClean="0"/>
              <a:t>It involves cause and effect </a:t>
            </a:r>
            <a:endParaRPr lang="en-IN" dirty="0"/>
          </a:p>
        </p:txBody>
      </p:sp>
      <p:sp>
        <p:nvSpPr>
          <p:cNvPr id="4" name="Date Placeholder 3"/>
          <p:cNvSpPr>
            <a:spLocks noGrp="1"/>
          </p:cNvSpPr>
          <p:nvPr>
            <p:ph type="dt" sz="half" idx="10"/>
          </p:nvPr>
        </p:nvSpPr>
        <p:spPr>
          <a:xfrm>
            <a:off x="7973122" y="6540535"/>
            <a:ext cx="3338209" cy="309201"/>
          </a:xfrm>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a:xfrm>
            <a:off x="0" y="6540536"/>
            <a:ext cx="9690410" cy="309201"/>
          </a:xfrm>
        </p:spPr>
        <p:txBody>
          <a:bodyPr/>
          <a:lstStyle/>
          <a:p>
            <a:r>
              <a:rPr lang="en-US" dirty="0" smtClean="0"/>
              <a:t>Software Project Management     					Dr. D Evangelin </a:t>
            </a:r>
            <a:r>
              <a:rPr lang="en-US" dirty="0" err="1" smtClean="0"/>
              <a:t>Geetha</a:t>
            </a:r>
            <a:r>
              <a:rPr lang="en-US" dirty="0" smtClean="0"/>
              <a:t>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3</a:t>
            </a:fld>
            <a:endParaRPr lang="en-US" dirty="0"/>
          </a:p>
        </p:txBody>
      </p:sp>
    </p:spTree>
    <p:extLst>
      <p:ext uri="{BB962C8B-B14F-4D97-AF65-F5344CB8AC3E}">
        <p14:creationId xmlns:p14="http://schemas.microsoft.com/office/powerpoint/2010/main" val="933308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6613" y="188914"/>
            <a:ext cx="9603275" cy="705775"/>
          </a:xfrm>
        </p:spPr>
        <p:txBody>
          <a:bodyPr/>
          <a:lstStyle/>
          <a:p>
            <a:r>
              <a:rPr lang="en-IN" dirty="0" smtClean="0"/>
              <a:t>Categories of risk</a:t>
            </a:r>
            <a:endParaRPr lang="en-IN" dirty="0"/>
          </a:p>
        </p:txBody>
      </p:sp>
      <p:sp>
        <p:nvSpPr>
          <p:cNvPr id="3" name="Content Placeholder 2"/>
          <p:cNvSpPr>
            <a:spLocks noGrp="1"/>
          </p:cNvSpPr>
          <p:nvPr>
            <p:ph idx="1"/>
          </p:nvPr>
        </p:nvSpPr>
        <p:spPr>
          <a:xfrm>
            <a:off x="1306613" y="1282390"/>
            <a:ext cx="9603275" cy="1851103"/>
          </a:xfrm>
        </p:spPr>
        <p:txBody>
          <a:bodyPr>
            <a:normAutofit/>
          </a:bodyPr>
          <a:lstStyle/>
          <a:p>
            <a:r>
              <a:rPr lang="en-IN" dirty="0" smtClean="0"/>
              <a:t>Project risk</a:t>
            </a:r>
          </a:p>
          <a:p>
            <a:r>
              <a:rPr lang="en-IN" dirty="0" smtClean="0"/>
              <a:t>Business risk</a:t>
            </a:r>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4</a:t>
            </a:fld>
            <a:endParaRPr lang="en-US" dirty="0"/>
          </a:p>
        </p:txBody>
      </p:sp>
    </p:spTree>
    <p:extLst>
      <p:ext uri="{BB962C8B-B14F-4D97-AF65-F5344CB8AC3E}">
        <p14:creationId xmlns:p14="http://schemas.microsoft.com/office/powerpoint/2010/main" val="1517714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6612" y="-26427"/>
            <a:ext cx="9603275" cy="705775"/>
          </a:xfrm>
        </p:spPr>
        <p:txBody>
          <a:bodyPr/>
          <a:lstStyle/>
          <a:p>
            <a:r>
              <a:rPr lang="en-IN" dirty="0" smtClean="0"/>
              <a:t>Categories of risk</a:t>
            </a:r>
            <a:endParaRPr lang="en-IN" dirty="0"/>
          </a:p>
        </p:txBody>
      </p:sp>
      <p:sp>
        <p:nvSpPr>
          <p:cNvPr id="3" name="Content Placeholder 2"/>
          <p:cNvSpPr>
            <a:spLocks noGrp="1"/>
          </p:cNvSpPr>
          <p:nvPr>
            <p:ph idx="1"/>
          </p:nvPr>
        </p:nvSpPr>
        <p:spPr>
          <a:xfrm>
            <a:off x="1306612" y="537668"/>
            <a:ext cx="9603275" cy="646747"/>
          </a:xfrm>
        </p:spPr>
        <p:txBody>
          <a:bodyPr>
            <a:normAutofit/>
          </a:bodyPr>
          <a:lstStyle/>
          <a:p>
            <a:r>
              <a:rPr lang="en-IN" dirty="0" smtClean="0"/>
              <a:t>Sociotechnical model </a:t>
            </a:r>
            <a:r>
              <a:rPr lang="en-IN" dirty="0" err="1" smtClean="0"/>
              <a:t>model</a:t>
            </a:r>
            <a:r>
              <a:rPr lang="en-IN" dirty="0" smtClean="0"/>
              <a:t> of risk</a:t>
            </a:r>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5</a:t>
            </a:fld>
            <a:endParaRPr lang="en-US" dirty="0"/>
          </a:p>
        </p:txBody>
      </p:sp>
      <p:grpSp>
        <p:nvGrpSpPr>
          <p:cNvPr id="11" name="Group 10"/>
          <p:cNvGrpSpPr/>
          <p:nvPr/>
        </p:nvGrpSpPr>
        <p:grpSpPr>
          <a:xfrm>
            <a:off x="0" y="2289129"/>
            <a:ext cx="5833439" cy="2511983"/>
            <a:chOff x="927579" y="3245005"/>
            <a:chExt cx="9751572" cy="2511983"/>
          </a:xfrm>
        </p:grpSpPr>
        <p:sp>
          <p:nvSpPr>
            <p:cNvPr id="7" name="Rectangle 6"/>
            <p:cNvSpPr/>
            <p:nvPr/>
          </p:nvSpPr>
          <p:spPr>
            <a:xfrm>
              <a:off x="4404732" y="3245005"/>
              <a:ext cx="2620536" cy="5018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Actors</a:t>
              </a:r>
              <a:endParaRPr lang="en-IN" dirty="0"/>
            </a:p>
          </p:txBody>
        </p:sp>
        <p:sp>
          <p:nvSpPr>
            <p:cNvPr id="8" name="Rectangle 7"/>
            <p:cNvSpPr/>
            <p:nvPr/>
          </p:nvSpPr>
          <p:spPr>
            <a:xfrm>
              <a:off x="8058615" y="4301732"/>
              <a:ext cx="2620536" cy="5018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Technology </a:t>
              </a:r>
              <a:endParaRPr lang="en-IN" dirty="0"/>
            </a:p>
          </p:txBody>
        </p:sp>
        <p:sp>
          <p:nvSpPr>
            <p:cNvPr id="9" name="Rectangle 8"/>
            <p:cNvSpPr/>
            <p:nvPr/>
          </p:nvSpPr>
          <p:spPr>
            <a:xfrm>
              <a:off x="4404732" y="5255183"/>
              <a:ext cx="2620536" cy="5018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Tasks </a:t>
              </a:r>
              <a:endParaRPr lang="en-IN" dirty="0"/>
            </a:p>
          </p:txBody>
        </p:sp>
        <p:sp>
          <p:nvSpPr>
            <p:cNvPr id="10" name="Rectangle 9"/>
            <p:cNvSpPr/>
            <p:nvPr/>
          </p:nvSpPr>
          <p:spPr>
            <a:xfrm>
              <a:off x="927579" y="4301732"/>
              <a:ext cx="2620536" cy="5018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Structure </a:t>
              </a:r>
              <a:endParaRPr lang="en-IN" dirty="0"/>
            </a:p>
          </p:txBody>
        </p:sp>
        <p:cxnSp>
          <p:nvCxnSpPr>
            <p:cNvPr id="12" name="Elbow Connector 11"/>
            <p:cNvCxnSpPr>
              <a:stCxn id="7" idx="1"/>
              <a:endCxn id="10" idx="0"/>
            </p:cNvCxnSpPr>
            <p:nvPr/>
          </p:nvCxnSpPr>
          <p:spPr>
            <a:xfrm rot="10800000" flipV="1">
              <a:off x="2237848" y="3495908"/>
              <a:ext cx="2166885" cy="805824"/>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Elbow Connector 14"/>
            <p:cNvCxnSpPr>
              <a:stCxn id="8" idx="2"/>
              <a:endCxn id="9" idx="3"/>
            </p:cNvCxnSpPr>
            <p:nvPr/>
          </p:nvCxnSpPr>
          <p:spPr>
            <a:xfrm rot="5400000">
              <a:off x="7845802" y="3983004"/>
              <a:ext cx="702549" cy="2343615"/>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p:cNvCxnSpPr>
              <a:stCxn id="7" idx="3"/>
              <a:endCxn id="8" idx="0"/>
            </p:cNvCxnSpPr>
            <p:nvPr/>
          </p:nvCxnSpPr>
          <p:spPr>
            <a:xfrm>
              <a:off x="7025268" y="3495908"/>
              <a:ext cx="2343615" cy="805824"/>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Elbow Connector 30"/>
            <p:cNvCxnSpPr>
              <a:stCxn id="9" idx="1"/>
              <a:endCxn id="10" idx="2"/>
            </p:cNvCxnSpPr>
            <p:nvPr/>
          </p:nvCxnSpPr>
          <p:spPr>
            <a:xfrm rot="10800000">
              <a:off x="2237848" y="4803538"/>
              <a:ext cx="2166885" cy="702549"/>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7" idx="2"/>
              <a:endCxn id="9" idx="0"/>
            </p:cNvCxnSpPr>
            <p:nvPr/>
          </p:nvCxnSpPr>
          <p:spPr>
            <a:xfrm>
              <a:off x="5715000" y="3746810"/>
              <a:ext cx="0" cy="150837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0" idx="3"/>
              <a:endCxn id="8" idx="1"/>
            </p:cNvCxnSpPr>
            <p:nvPr/>
          </p:nvCxnSpPr>
          <p:spPr>
            <a:xfrm>
              <a:off x="3548115" y="4552635"/>
              <a:ext cx="45105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18" name="Content Placeholder 2"/>
          <p:cNvSpPr txBox="1">
            <a:spLocks/>
          </p:cNvSpPr>
          <p:nvPr/>
        </p:nvSpPr>
        <p:spPr>
          <a:xfrm>
            <a:off x="5859458" y="1243443"/>
            <a:ext cx="6235560" cy="4792025"/>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0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IN" dirty="0" smtClean="0"/>
              <a:t>Actors</a:t>
            </a:r>
          </a:p>
          <a:p>
            <a:pPr lvl="1"/>
            <a:r>
              <a:rPr lang="en-IN" dirty="0" smtClean="0"/>
              <a:t>People - High staff turn over</a:t>
            </a:r>
          </a:p>
          <a:p>
            <a:r>
              <a:rPr lang="en-IN" dirty="0" smtClean="0"/>
              <a:t>Technology</a:t>
            </a:r>
          </a:p>
          <a:p>
            <a:pPr lvl="1"/>
            <a:r>
              <a:rPr lang="en-IN" dirty="0" smtClean="0"/>
              <a:t>Appropriateness of technology</a:t>
            </a:r>
          </a:p>
          <a:p>
            <a:r>
              <a:rPr lang="en-IN" dirty="0" smtClean="0"/>
              <a:t>Structure</a:t>
            </a:r>
          </a:p>
          <a:p>
            <a:pPr lvl="1"/>
            <a:r>
              <a:rPr lang="en-IN" dirty="0" smtClean="0"/>
              <a:t>Needs user participation</a:t>
            </a:r>
          </a:p>
          <a:p>
            <a:r>
              <a:rPr lang="en-IN" dirty="0" smtClean="0"/>
              <a:t>Tasks</a:t>
            </a:r>
          </a:p>
          <a:p>
            <a:pPr lvl="1"/>
            <a:r>
              <a:rPr lang="en-IN" dirty="0" smtClean="0"/>
              <a:t>The complexity of work leads to delays  </a:t>
            </a:r>
          </a:p>
          <a:p>
            <a:endParaRPr lang="en-IN" dirty="0" smtClean="0"/>
          </a:p>
          <a:p>
            <a:endParaRPr lang="en-IN" dirty="0" smtClean="0"/>
          </a:p>
          <a:p>
            <a:endParaRPr lang="en-IN" dirty="0" smtClean="0"/>
          </a:p>
        </p:txBody>
      </p:sp>
    </p:spTree>
    <p:extLst>
      <p:ext uri="{BB962C8B-B14F-4D97-AF65-F5344CB8AC3E}">
        <p14:creationId xmlns:p14="http://schemas.microsoft.com/office/powerpoint/2010/main" val="152760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6613" y="188914"/>
            <a:ext cx="9603275" cy="535915"/>
          </a:xfrm>
        </p:spPr>
        <p:txBody>
          <a:bodyPr/>
          <a:lstStyle/>
          <a:p>
            <a:r>
              <a:rPr lang="en-IN" dirty="0" smtClean="0"/>
              <a:t>Risk management approaches</a:t>
            </a:r>
            <a:endParaRPr lang="en-IN" dirty="0"/>
          </a:p>
        </p:txBody>
      </p:sp>
      <p:sp>
        <p:nvSpPr>
          <p:cNvPr id="3" name="Content Placeholder 2"/>
          <p:cNvSpPr>
            <a:spLocks noGrp="1"/>
          </p:cNvSpPr>
          <p:nvPr>
            <p:ph idx="1"/>
          </p:nvPr>
        </p:nvSpPr>
        <p:spPr>
          <a:xfrm>
            <a:off x="1306613" y="914400"/>
            <a:ext cx="9603275" cy="5163015"/>
          </a:xfrm>
        </p:spPr>
        <p:txBody>
          <a:bodyPr/>
          <a:lstStyle/>
          <a:p>
            <a:r>
              <a:rPr lang="en-IN" dirty="0" smtClean="0"/>
              <a:t>Reactive approaches</a:t>
            </a:r>
          </a:p>
          <a:p>
            <a:pPr lvl="1"/>
            <a:r>
              <a:rPr lang="en-IN" dirty="0" smtClean="0"/>
              <a:t>Take no action until an unfavourable event occurs</a:t>
            </a:r>
          </a:p>
          <a:p>
            <a:pPr lvl="1"/>
            <a:r>
              <a:rPr lang="en-IN" dirty="0" smtClean="0"/>
              <a:t>E.g. server hosting the project data </a:t>
            </a:r>
          </a:p>
          <a:p>
            <a:pPr marL="0" indent="0">
              <a:buNone/>
            </a:pPr>
            <a:endParaRPr lang="en-IN" dirty="0" smtClean="0"/>
          </a:p>
          <a:p>
            <a:r>
              <a:rPr lang="en-IN" dirty="0" smtClean="0"/>
              <a:t>Proactive approaches</a:t>
            </a:r>
          </a:p>
          <a:p>
            <a:pPr lvl="1"/>
            <a:r>
              <a:rPr lang="en-IN" dirty="0" smtClean="0"/>
              <a:t>Try to anticipate the possible risks that the project is susceptible to</a:t>
            </a:r>
          </a:p>
          <a:p>
            <a:pPr lvl="1"/>
            <a:r>
              <a:rPr lang="en-IN" dirty="0" smtClean="0"/>
              <a:t>E.g. some personnel may leave the project</a:t>
            </a:r>
            <a:endParaRPr lang="en-IN" dirty="0"/>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6</a:t>
            </a:fld>
            <a:endParaRPr lang="en-US" dirty="0"/>
          </a:p>
        </p:txBody>
      </p:sp>
    </p:spTree>
    <p:extLst>
      <p:ext uri="{BB962C8B-B14F-4D97-AF65-F5344CB8AC3E}">
        <p14:creationId xmlns:p14="http://schemas.microsoft.com/office/powerpoint/2010/main" val="3428570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1669" y="188915"/>
            <a:ext cx="9828219" cy="613974"/>
          </a:xfrm>
        </p:spPr>
        <p:txBody>
          <a:bodyPr/>
          <a:lstStyle/>
          <a:p>
            <a:r>
              <a:rPr lang="en-IN" dirty="0" smtClean="0"/>
              <a:t>Framework for dealing with risk</a:t>
            </a:r>
            <a:endParaRPr lang="en-IN" dirty="0"/>
          </a:p>
        </p:txBody>
      </p:sp>
      <p:sp>
        <p:nvSpPr>
          <p:cNvPr id="3" name="Content Placeholder 2"/>
          <p:cNvSpPr>
            <a:spLocks noGrp="1"/>
          </p:cNvSpPr>
          <p:nvPr>
            <p:ph idx="1"/>
          </p:nvPr>
        </p:nvSpPr>
        <p:spPr>
          <a:xfrm>
            <a:off x="1081669" y="1293540"/>
            <a:ext cx="9828220" cy="4839631"/>
          </a:xfrm>
        </p:spPr>
        <p:txBody>
          <a:bodyPr/>
          <a:lstStyle/>
          <a:p>
            <a:r>
              <a:rPr lang="en-IN" dirty="0" smtClean="0"/>
              <a:t>Planning for risk includes these steps</a:t>
            </a:r>
          </a:p>
          <a:p>
            <a:pPr marL="914400" lvl="1" indent="-457200">
              <a:buFont typeface="+mj-lt"/>
              <a:buAutoNum type="arabicPeriod"/>
            </a:pPr>
            <a:r>
              <a:rPr lang="en-IN" dirty="0" smtClean="0"/>
              <a:t>Risk identification</a:t>
            </a:r>
          </a:p>
          <a:p>
            <a:pPr marL="914400" lvl="1" indent="-457200">
              <a:buFont typeface="+mj-lt"/>
              <a:buAutoNum type="arabicPeriod"/>
            </a:pPr>
            <a:r>
              <a:rPr lang="en-IN" dirty="0" smtClean="0"/>
              <a:t>Risk analysis and prioritization</a:t>
            </a:r>
          </a:p>
          <a:p>
            <a:pPr marL="914400" lvl="1" indent="-457200">
              <a:buFont typeface="+mj-lt"/>
              <a:buAutoNum type="arabicPeriod"/>
            </a:pPr>
            <a:r>
              <a:rPr lang="en-IN" dirty="0" smtClean="0"/>
              <a:t>Risk planning</a:t>
            </a:r>
          </a:p>
          <a:p>
            <a:pPr marL="914400" lvl="1" indent="-457200">
              <a:buFont typeface="+mj-lt"/>
              <a:buAutoNum type="arabicPeriod"/>
            </a:pPr>
            <a:r>
              <a:rPr lang="en-IN" dirty="0" smtClean="0"/>
              <a:t>Risk monitoring</a:t>
            </a:r>
          </a:p>
          <a:p>
            <a:pPr lvl="1"/>
            <a:endParaRPr lang="en-IN" dirty="0"/>
          </a:p>
          <a:p>
            <a:pPr lvl="1"/>
            <a:r>
              <a:rPr lang="en-IN" dirty="0" smtClean="0"/>
              <a:t>1 to 3 can be probably repeated</a:t>
            </a:r>
          </a:p>
          <a:p>
            <a:pPr lvl="1"/>
            <a:r>
              <a:rPr lang="en-IN" dirty="0" smtClean="0"/>
              <a:t>E.g. staff inexperience with new technology</a:t>
            </a:r>
            <a:endParaRPr lang="en-IN" dirty="0"/>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7</a:t>
            </a:fld>
            <a:endParaRPr lang="en-US" dirty="0"/>
          </a:p>
        </p:txBody>
      </p:sp>
    </p:spTree>
    <p:extLst>
      <p:ext uri="{BB962C8B-B14F-4D97-AF65-F5344CB8AC3E}">
        <p14:creationId xmlns:p14="http://schemas.microsoft.com/office/powerpoint/2010/main" val="778218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6613" y="188914"/>
            <a:ext cx="9603275" cy="705775"/>
          </a:xfrm>
        </p:spPr>
        <p:txBody>
          <a:bodyPr/>
          <a:lstStyle/>
          <a:p>
            <a:r>
              <a:rPr lang="en-IN" dirty="0"/>
              <a:t>Risk </a:t>
            </a:r>
            <a:r>
              <a:rPr lang="en-IN" dirty="0" smtClean="0"/>
              <a:t>identification</a:t>
            </a:r>
            <a:endParaRPr lang="en-IN" dirty="0"/>
          </a:p>
        </p:txBody>
      </p:sp>
      <p:sp>
        <p:nvSpPr>
          <p:cNvPr id="3" name="Content Placeholder 2"/>
          <p:cNvSpPr>
            <a:spLocks noGrp="1"/>
          </p:cNvSpPr>
          <p:nvPr>
            <p:ph idx="1"/>
          </p:nvPr>
        </p:nvSpPr>
        <p:spPr>
          <a:xfrm>
            <a:off x="1306613" y="2118732"/>
            <a:ext cx="9603275" cy="3958683"/>
          </a:xfrm>
        </p:spPr>
        <p:txBody>
          <a:bodyPr/>
          <a:lstStyle/>
          <a:p>
            <a:r>
              <a:rPr lang="en-IN" dirty="0" smtClean="0"/>
              <a:t>Two main approaches </a:t>
            </a:r>
          </a:p>
          <a:p>
            <a:pPr lvl="1"/>
            <a:r>
              <a:rPr lang="en-IN" dirty="0" smtClean="0"/>
              <a:t>Checklist</a:t>
            </a:r>
          </a:p>
          <a:p>
            <a:pPr lvl="1"/>
            <a:r>
              <a:rPr lang="en-IN" dirty="0" smtClean="0"/>
              <a:t>Brainstorming</a:t>
            </a:r>
          </a:p>
          <a:p>
            <a:pPr lvl="1"/>
            <a:endParaRPr lang="en-IN" dirty="0"/>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8</a:t>
            </a:fld>
            <a:endParaRPr lang="en-US" dirty="0"/>
          </a:p>
        </p:txBody>
      </p:sp>
    </p:spTree>
    <p:extLst>
      <p:ext uri="{BB962C8B-B14F-4D97-AF65-F5344CB8AC3E}">
        <p14:creationId xmlns:p14="http://schemas.microsoft.com/office/powerpoint/2010/main" val="4026493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22153"/>
            <a:ext cx="9603275" cy="1049235"/>
          </a:xfrm>
        </p:spPr>
        <p:txBody>
          <a:bodyPr>
            <a:normAutofit/>
          </a:bodyPr>
          <a:lstStyle/>
          <a:p>
            <a:r>
              <a:rPr lang="en-IN" dirty="0"/>
              <a:t>Risk identification</a:t>
            </a:r>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82430" y="-289931"/>
            <a:ext cx="6423102" cy="6830466"/>
          </a:xfrm>
        </p:spPr>
      </p:pic>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9</a:t>
            </a:fld>
            <a:endParaRPr lang="en-US" dirty="0"/>
          </a:p>
        </p:txBody>
      </p:sp>
      <p:sp>
        <p:nvSpPr>
          <p:cNvPr id="9" name="TextBox 8"/>
          <p:cNvSpPr txBox="1"/>
          <p:nvPr/>
        </p:nvSpPr>
        <p:spPr>
          <a:xfrm>
            <a:off x="273013" y="1171388"/>
            <a:ext cx="4025591" cy="4555093"/>
          </a:xfrm>
          <a:prstGeom prst="rect">
            <a:avLst/>
          </a:prstGeom>
          <a:noFill/>
        </p:spPr>
        <p:txBody>
          <a:bodyPr wrap="square" rtlCol="0">
            <a:spAutoFit/>
          </a:bodyPr>
          <a:lstStyle/>
          <a:p>
            <a:pPr marL="0" lvl="1"/>
            <a:r>
              <a:rPr lang="en-IN" sz="2800" dirty="0" smtClean="0"/>
              <a:t>Checklist</a:t>
            </a:r>
          </a:p>
          <a:p>
            <a:pPr marL="0" lvl="1"/>
            <a:endParaRPr lang="en-IN" sz="2800" dirty="0" smtClean="0"/>
          </a:p>
          <a:p>
            <a:pPr lvl="1" indent="-457200">
              <a:buFont typeface="Arial" panose="020B0604020202020204" pitchFamily="34" charset="0"/>
              <a:buChar char="•"/>
            </a:pPr>
            <a:r>
              <a:rPr lang="en-IN" dirty="0">
                <a:solidFill>
                  <a:srgbClr val="0000CC"/>
                </a:solidFill>
              </a:rPr>
              <a:t>Gold plating: </a:t>
            </a:r>
            <a:r>
              <a:rPr lang="en-IN" dirty="0" err="1" smtClean="0"/>
              <a:t>Eg</a:t>
            </a:r>
            <a:r>
              <a:rPr lang="en-IN" dirty="0" smtClean="0"/>
              <a:t>. </a:t>
            </a:r>
            <a:r>
              <a:rPr lang="en-US" dirty="0"/>
              <a:t>after having met the requirements, the project manager or the developer works on further enhancing the product, thinking the customer will be delighted to see additional or more polished features, rather than what was asked for or expected</a:t>
            </a:r>
            <a:endParaRPr lang="en-US" dirty="0" smtClean="0">
              <a:solidFill>
                <a:srgbClr val="0000CC"/>
              </a:solidFill>
            </a:endParaRPr>
          </a:p>
          <a:p>
            <a:pPr lvl="1" indent="-457200">
              <a:buFont typeface="Arial" panose="020B0604020202020204" pitchFamily="34" charset="0"/>
              <a:buChar char="•"/>
            </a:pPr>
            <a:r>
              <a:rPr lang="en-US" dirty="0" smtClean="0">
                <a:solidFill>
                  <a:srgbClr val="0000CC"/>
                </a:solidFill>
              </a:rPr>
              <a:t>Requirements Scrubbing </a:t>
            </a:r>
            <a:r>
              <a:rPr lang="en-US" dirty="0"/>
              <a:t>is a </a:t>
            </a:r>
            <a:r>
              <a:rPr lang="en-US" b="1" dirty="0"/>
              <a:t>practice in which a product specification is carefully examined for unnecessary or overly complex requirements</a:t>
            </a:r>
            <a:endParaRPr lang="en-IN" sz="2800" dirty="0"/>
          </a:p>
        </p:txBody>
      </p:sp>
    </p:spTree>
    <p:extLst>
      <p:ext uri="{BB962C8B-B14F-4D97-AF65-F5344CB8AC3E}">
        <p14:creationId xmlns:p14="http://schemas.microsoft.com/office/powerpoint/2010/main" val="2772134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Risk identification</a:t>
            </a:r>
          </a:p>
        </p:txBody>
      </p:sp>
      <p:sp>
        <p:nvSpPr>
          <p:cNvPr id="3" name="Content Placeholder 2"/>
          <p:cNvSpPr>
            <a:spLocks noGrp="1"/>
          </p:cNvSpPr>
          <p:nvPr>
            <p:ph idx="1"/>
          </p:nvPr>
        </p:nvSpPr>
        <p:spPr>
          <a:xfrm>
            <a:off x="1306613" y="791738"/>
            <a:ext cx="9603275" cy="5285678"/>
          </a:xfrm>
        </p:spPr>
        <p:txBody>
          <a:bodyPr/>
          <a:lstStyle/>
          <a:p>
            <a:r>
              <a:rPr lang="en-IN" dirty="0" smtClean="0"/>
              <a:t>Brainstorming</a:t>
            </a:r>
          </a:p>
          <a:p>
            <a:pPr lvl="1"/>
            <a:r>
              <a:rPr lang="en-IN" dirty="0" smtClean="0"/>
              <a:t>Representatives of the main stakeholders</a:t>
            </a:r>
          </a:p>
          <a:p>
            <a:pPr lvl="1"/>
            <a:endParaRPr lang="en-IN" dirty="0"/>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10</a:t>
            </a:fld>
            <a:endParaRPr lang="en-US" dirty="0"/>
          </a:p>
        </p:txBody>
      </p:sp>
    </p:spTree>
    <p:extLst>
      <p:ext uri="{BB962C8B-B14F-4D97-AF65-F5344CB8AC3E}">
        <p14:creationId xmlns:p14="http://schemas.microsoft.com/office/powerpoint/2010/main" val="3375831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IN" dirty="0" smtClean="0"/>
                  <a:t>To distinguish the damaging and likely risks</a:t>
                </a:r>
              </a:p>
              <a:p>
                <a:r>
                  <a:rPr lang="en-IN" dirty="0" smtClean="0"/>
                  <a:t>Estimating risk exposure</a:t>
                </a:r>
              </a:p>
              <a:p>
                <a:pPr marL="0" indent="0">
                  <a:buNone/>
                </a:pPr>
                <a14:m>
                  <m:oMathPara xmlns:m="http://schemas.openxmlformats.org/officeDocument/2006/math">
                    <m:oMathParaPr>
                      <m:jc m:val="centerGroup"/>
                    </m:oMathParaPr>
                    <m:oMath xmlns:m="http://schemas.openxmlformats.org/officeDocument/2006/math">
                      <m:r>
                        <a:rPr lang="en-IN" sz="2400" b="0" i="1" smtClean="0">
                          <a:latin typeface="Cambria Math" panose="02040503050406030204" pitchFamily="18" charset="0"/>
                        </a:rPr>
                        <m:t>𝑟𝑖𝑠𝑘</m:t>
                      </m:r>
                      <m:r>
                        <a:rPr lang="en-IN" sz="2400" b="0" i="1" smtClean="0">
                          <a:latin typeface="Cambria Math" panose="02040503050406030204" pitchFamily="18" charset="0"/>
                        </a:rPr>
                        <m:t> </m:t>
                      </m:r>
                      <m:r>
                        <a:rPr lang="en-IN" sz="2400" b="0" i="1" smtClean="0">
                          <a:latin typeface="Cambria Math" panose="02040503050406030204" pitchFamily="18" charset="0"/>
                        </a:rPr>
                        <m:t>𝑒𝑥𝑝𝑜𝑠𝑢𝑟𝑒</m:t>
                      </m:r>
                      <m:r>
                        <a:rPr lang="en-IN" sz="2400" b="0" i="1" smtClean="0">
                          <a:latin typeface="Cambria Math" panose="02040503050406030204" pitchFamily="18" charset="0"/>
                        </a:rPr>
                        <m:t>=</m:t>
                      </m:r>
                      <m:r>
                        <a:rPr lang="en-IN" sz="2400" b="0" i="1" smtClean="0">
                          <a:latin typeface="Cambria Math" panose="02040503050406030204" pitchFamily="18" charset="0"/>
                        </a:rPr>
                        <m:t>𝑝𝑜𝑡𝑒𝑛𝑡𝑖𝑎𝑙</m:t>
                      </m:r>
                      <m:r>
                        <a:rPr lang="en-IN" sz="2400" b="0" i="1" smtClean="0">
                          <a:latin typeface="Cambria Math" panose="02040503050406030204" pitchFamily="18" charset="0"/>
                        </a:rPr>
                        <m:t> </m:t>
                      </m:r>
                      <m:r>
                        <a:rPr lang="en-IN" sz="2400" b="0" i="1" smtClean="0">
                          <a:latin typeface="Cambria Math" panose="02040503050406030204" pitchFamily="18" charset="0"/>
                        </a:rPr>
                        <m:t>𝑑𝑎𝑚𝑎𝑔𝑒</m:t>
                      </m:r>
                      <m:r>
                        <a:rPr lang="en-IN" sz="2400" b="0" i="1" smtClean="0">
                          <a:latin typeface="Cambria Math" panose="02040503050406030204" pitchFamily="18" charset="0"/>
                          <a:ea typeface="Cambria Math" panose="02040503050406030204" pitchFamily="18" charset="0"/>
                        </a:rPr>
                        <m:t>×</m:t>
                      </m:r>
                      <m:r>
                        <a:rPr lang="en-IN" sz="2400" b="0" i="1" smtClean="0">
                          <a:latin typeface="Cambria Math" panose="02040503050406030204" pitchFamily="18" charset="0"/>
                          <a:ea typeface="Cambria Math" panose="02040503050406030204" pitchFamily="18" charset="0"/>
                        </a:rPr>
                        <m:t>𝑝𝑟𝑜𝑏𝑎𝑏𝑖𝑙𝑖𝑡𝑦</m:t>
                      </m:r>
                      <m:r>
                        <a:rPr lang="en-IN" sz="2400" b="0" i="1" smtClean="0">
                          <a:latin typeface="Cambria Math" panose="02040503050406030204" pitchFamily="18" charset="0"/>
                          <a:ea typeface="Cambria Math" panose="02040503050406030204" pitchFamily="18" charset="0"/>
                        </a:rPr>
                        <m:t> </m:t>
                      </m:r>
                      <m:r>
                        <a:rPr lang="en-IN" sz="2400" b="0" i="1" smtClean="0">
                          <a:latin typeface="Cambria Math" panose="02040503050406030204" pitchFamily="18" charset="0"/>
                          <a:ea typeface="Cambria Math" panose="02040503050406030204" pitchFamily="18" charset="0"/>
                        </a:rPr>
                        <m:t>𝑜𝑓</m:t>
                      </m:r>
                      <m:r>
                        <a:rPr lang="en-IN" sz="2400" b="0" i="1" smtClean="0">
                          <a:latin typeface="Cambria Math" panose="02040503050406030204" pitchFamily="18" charset="0"/>
                          <a:ea typeface="Cambria Math" panose="02040503050406030204" pitchFamily="18" charset="0"/>
                        </a:rPr>
                        <m:t> </m:t>
                      </m:r>
                      <m:r>
                        <a:rPr lang="en-IN" sz="2400" b="0" i="1" smtClean="0">
                          <a:latin typeface="Cambria Math" panose="02040503050406030204" pitchFamily="18" charset="0"/>
                          <a:ea typeface="Cambria Math" panose="02040503050406030204" pitchFamily="18" charset="0"/>
                        </a:rPr>
                        <m:t>𝑜𝑐𝑐𝑢𝑟𝑟𝑒𝑛𝑐𝑒</m:t>
                      </m:r>
                    </m:oMath>
                  </m:oMathPara>
                </a14:m>
                <a:endParaRPr lang="en-IN" sz="2400" dirty="0" smtClean="0"/>
              </a:p>
              <a:p>
                <a:r>
                  <a:rPr lang="en-IN" sz="2400" dirty="0" smtClean="0"/>
                  <a:t>Potential damage assessed as a money value</a:t>
                </a:r>
              </a:p>
              <a:p>
                <a:pPr lvl="1"/>
                <a:r>
                  <a:rPr lang="en-IN" sz="2000" dirty="0" smtClean="0"/>
                  <a:t>E.g. project depended on a data centre vulnerable to fire</a:t>
                </a:r>
              </a:p>
              <a:p>
                <a:pPr lvl="1"/>
                <a:r>
                  <a:rPr lang="en-IN" sz="2000" dirty="0" err="1" smtClean="0"/>
                  <a:t>Rs</a:t>
                </a:r>
                <a:r>
                  <a:rPr lang="en-IN" sz="2000" dirty="0" smtClean="0"/>
                  <a:t>. 5,00,00,000</a:t>
                </a:r>
              </a:p>
              <a:p>
                <a:pPr lvl="1"/>
                <a:r>
                  <a:rPr lang="en-IN" sz="2000" dirty="0" smtClean="0"/>
                  <a:t>Probability is 1 in 1000 – 0.001</a:t>
                </a:r>
              </a:p>
              <a:p>
                <a:pPr lvl="1"/>
                <a:r>
                  <a:rPr lang="en-IN" sz="2000" dirty="0" smtClean="0"/>
                  <a:t>Risk exposure = 5,00,00,000 x 0.001 </a:t>
                </a:r>
              </a:p>
              <a:p>
                <a:pPr marL="457200" lvl="1" indent="0">
                  <a:buNone/>
                </a:pPr>
                <a:r>
                  <a:rPr lang="en-IN" sz="2000" dirty="0"/>
                  <a:t> </a:t>
                </a:r>
                <a:r>
                  <a:rPr lang="en-IN" sz="2000" dirty="0" smtClean="0"/>
                  <a:t>                         = </a:t>
                </a:r>
                <a:r>
                  <a:rPr lang="en-IN" sz="2000" dirty="0" err="1" smtClean="0"/>
                  <a:t>Rs</a:t>
                </a:r>
                <a:r>
                  <a:rPr lang="en-IN" sz="2000" dirty="0" smtClean="0"/>
                  <a:t>. 50,000</a:t>
                </a:r>
                <a:endParaRPr lang="en-IN"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142" t="-517"/>
                </a:stretch>
              </a:blipFill>
            </p:spPr>
            <p:txBody>
              <a:bodyPr/>
              <a:lstStyle/>
              <a:p>
                <a:r>
                  <a:rPr lang="en-IN">
                    <a:noFill/>
                  </a:rPr>
                  <a:t> </a:t>
                </a:r>
              </a:p>
            </p:txBody>
          </p:sp>
        </mc:Fallback>
      </mc:AlternateContent>
      <p:sp>
        <p:nvSpPr>
          <p:cNvPr id="2" name="Title 1"/>
          <p:cNvSpPr>
            <a:spLocks noGrp="1"/>
          </p:cNvSpPr>
          <p:nvPr>
            <p:ph type="title"/>
          </p:nvPr>
        </p:nvSpPr>
        <p:spPr/>
        <p:txBody>
          <a:bodyPr/>
          <a:lstStyle/>
          <a:p>
            <a:r>
              <a:rPr lang="en-IN" dirty="0" smtClean="0"/>
              <a:t>Risk assessment</a:t>
            </a:r>
            <a:endParaRPr lang="en-IN" dirty="0"/>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11</a:t>
            </a:fld>
            <a:endParaRPr lang="en-US" dirty="0"/>
          </a:p>
        </p:txBody>
      </p:sp>
    </p:spTree>
    <p:extLst>
      <p:ext uri="{BB962C8B-B14F-4D97-AF65-F5344CB8AC3E}">
        <p14:creationId xmlns:p14="http://schemas.microsoft.com/office/powerpoint/2010/main" val="113644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Risk assessment</a:t>
            </a:r>
            <a:endParaRPr lang="en-IN" dirty="0"/>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12</a:t>
            </a:fld>
            <a:endParaRPr lang="en-US" dirty="0"/>
          </a:p>
        </p:txBody>
      </p:sp>
      <p:sp>
        <p:nvSpPr>
          <p:cNvPr id="3" name="Content Placeholder 2"/>
          <p:cNvSpPr>
            <a:spLocks noGrp="1"/>
          </p:cNvSpPr>
          <p:nvPr>
            <p:ph idx="1"/>
          </p:nvPr>
        </p:nvSpPr>
        <p:spPr/>
        <p:txBody>
          <a:bodyPr/>
          <a:lstStyle/>
          <a:p>
            <a:r>
              <a:rPr lang="en-IN" sz="2400" dirty="0" smtClean="0"/>
              <a:t>Sometimes gain also</a:t>
            </a:r>
          </a:p>
          <a:p>
            <a:pPr lvl="1"/>
            <a:r>
              <a:rPr lang="en-IN" sz="2000" dirty="0" smtClean="0"/>
              <a:t>Testing of a software component done in 3 days instead of 6 days</a:t>
            </a:r>
          </a:p>
          <a:p>
            <a:pPr lvl="1"/>
            <a:r>
              <a:rPr lang="en-IN" sz="2000" dirty="0" smtClean="0"/>
              <a:t>Probability of completion of a task in 4 days – 5%</a:t>
            </a:r>
          </a:p>
          <a:p>
            <a:pPr lvl="1"/>
            <a:r>
              <a:rPr lang="en-IN" sz="2000" dirty="0"/>
              <a:t>Probability of completion of a task in</a:t>
            </a:r>
            <a:r>
              <a:rPr lang="en-IN" sz="2000" dirty="0" smtClean="0"/>
              <a:t> 5 days – 10% </a:t>
            </a:r>
          </a:p>
          <a:p>
            <a:pPr lvl="1"/>
            <a:r>
              <a:rPr lang="en-IN" sz="2000" dirty="0" smtClean="0"/>
              <a:t>Accumulated probability for 7 days – 65%</a:t>
            </a:r>
            <a:endParaRPr lang="en-IN" sz="2000" dirty="0"/>
          </a:p>
        </p:txBody>
      </p:sp>
    </p:spTree>
    <p:extLst>
      <p:ext uri="{BB962C8B-B14F-4D97-AF65-F5344CB8AC3E}">
        <p14:creationId xmlns:p14="http://schemas.microsoft.com/office/powerpoint/2010/main" val="2737812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6613" y="188915"/>
            <a:ext cx="9603275" cy="580520"/>
          </a:xfrm>
        </p:spPr>
        <p:txBody>
          <a:bodyPr/>
          <a:lstStyle/>
          <a:p>
            <a:r>
              <a:rPr lang="en-IN" dirty="0"/>
              <a:t>Risk assessment</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65699" y="1357313"/>
            <a:ext cx="9084414" cy="4719637"/>
          </a:xfrm>
        </p:spPr>
      </p:pic>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13</a:t>
            </a:fld>
            <a:endParaRPr lang="en-US" dirty="0"/>
          </a:p>
        </p:txBody>
      </p:sp>
    </p:spTree>
    <p:extLst>
      <p:ext uri="{BB962C8B-B14F-4D97-AF65-F5344CB8AC3E}">
        <p14:creationId xmlns:p14="http://schemas.microsoft.com/office/powerpoint/2010/main" val="1519776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14</a:t>
            </a:fld>
            <a:endParaRPr lang="en-US" dirty="0"/>
          </a:p>
        </p:txBody>
      </p:sp>
    </p:spTree>
    <p:extLst>
      <p:ext uri="{BB962C8B-B14F-4D97-AF65-F5344CB8AC3E}">
        <p14:creationId xmlns:p14="http://schemas.microsoft.com/office/powerpoint/2010/main" val="2106802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0517" y="289933"/>
            <a:ext cx="9924585" cy="5787018"/>
          </a:xfrm>
        </p:spPr>
      </p:pic>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15</a:t>
            </a:fld>
            <a:endParaRPr lang="en-US" dirty="0"/>
          </a:p>
        </p:txBody>
      </p:sp>
    </p:spTree>
    <p:extLst>
      <p:ext uri="{BB962C8B-B14F-4D97-AF65-F5344CB8AC3E}">
        <p14:creationId xmlns:p14="http://schemas.microsoft.com/office/powerpoint/2010/main" val="2270206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20898" y="188915"/>
            <a:ext cx="7515922" cy="5888036"/>
          </a:xfrm>
        </p:spPr>
      </p:pic>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16</a:t>
            </a:fld>
            <a:endParaRPr lang="en-US" dirty="0"/>
          </a:p>
        </p:txBody>
      </p:sp>
    </p:spTree>
    <p:extLst>
      <p:ext uri="{BB962C8B-B14F-4D97-AF65-F5344CB8AC3E}">
        <p14:creationId xmlns:p14="http://schemas.microsoft.com/office/powerpoint/2010/main" val="262513182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Risk planning</a:t>
            </a:r>
            <a:endParaRPr lang="en-IN" dirty="0"/>
          </a:p>
        </p:txBody>
      </p:sp>
      <p:sp>
        <p:nvSpPr>
          <p:cNvPr id="3" name="Content Placeholder 2"/>
          <p:cNvSpPr>
            <a:spLocks noGrp="1"/>
          </p:cNvSpPr>
          <p:nvPr>
            <p:ph idx="1"/>
          </p:nvPr>
        </p:nvSpPr>
        <p:spPr/>
        <p:txBody>
          <a:bodyPr/>
          <a:lstStyle/>
          <a:p>
            <a:r>
              <a:rPr lang="en-IN" dirty="0" smtClean="0"/>
              <a:t>Risk acceptance</a:t>
            </a:r>
          </a:p>
          <a:p>
            <a:r>
              <a:rPr lang="en-IN" dirty="0" smtClean="0"/>
              <a:t>Risk avoidance</a:t>
            </a:r>
          </a:p>
          <a:p>
            <a:r>
              <a:rPr lang="en-IN" dirty="0" smtClean="0"/>
              <a:t>Risk reduction and mitigation</a:t>
            </a:r>
          </a:p>
          <a:p>
            <a:r>
              <a:rPr lang="en-IN" dirty="0" smtClean="0"/>
              <a:t>Risk transfer</a:t>
            </a:r>
            <a:endParaRPr lang="en-IN" dirty="0"/>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17</a:t>
            </a:fld>
            <a:endParaRPr lang="en-US" dirty="0"/>
          </a:p>
        </p:txBody>
      </p:sp>
    </p:spTree>
    <p:extLst>
      <p:ext uri="{BB962C8B-B14F-4D97-AF65-F5344CB8AC3E}">
        <p14:creationId xmlns:p14="http://schemas.microsoft.com/office/powerpoint/2010/main" val="901647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Risk planning</a:t>
            </a:r>
            <a:endParaRPr lang="en-IN" dirty="0"/>
          </a:p>
        </p:txBody>
      </p:sp>
      <p:sp>
        <p:nvSpPr>
          <p:cNvPr id="3" name="Content Placeholder 2"/>
          <p:cNvSpPr>
            <a:spLocks noGrp="1"/>
          </p:cNvSpPr>
          <p:nvPr>
            <p:ph idx="1"/>
          </p:nvPr>
        </p:nvSpPr>
        <p:spPr/>
        <p:txBody>
          <a:bodyPr/>
          <a:lstStyle/>
          <a:p>
            <a:r>
              <a:rPr lang="en-IN" dirty="0" smtClean="0"/>
              <a:t>Risk acceptance</a:t>
            </a:r>
          </a:p>
          <a:p>
            <a:pPr lvl="1"/>
            <a:r>
              <a:rPr lang="en-IN" dirty="0" smtClean="0"/>
              <a:t>Damage of risk would be less than costs of action to reduce risk</a:t>
            </a:r>
          </a:p>
          <a:p>
            <a:r>
              <a:rPr lang="en-IN" dirty="0"/>
              <a:t>Risk </a:t>
            </a:r>
            <a:r>
              <a:rPr lang="en-IN" dirty="0" smtClean="0"/>
              <a:t>avoidance</a:t>
            </a:r>
          </a:p>
          <a:p>
            <a:pPr lvl="1"/>
            <a:r>
              <a:rPr lang="en-IN" dirty="0" smtClean="0"/>
              <a:t>Problems identified with developing software solutions</a:t>
            </a:r>
          </a:p>
          <a:p>
            <a:pPr lvl="2"/>
            <a:r>
              <a:rPr lang="en-IN" dirty="0" smtClean="0"/>
              <a:t>Retain existing clerical methods </a:t>
            </a:r>
          </a:p>
          <a:p>
            <a:pPr lvl="2"/>
            <a:r>
              <a:rPr lang="en-IN" dirty="0" smtClean="0"/>
              <a:t>Buy an off-the-shelf solution</a:t>
            </a:r>
          </a:p>
          <a:p>
            <a:endParaRPr lang="en-IN" dirty="0"/>
          </a:p>
          <a:p>
            <a:pPr lvl="1"/>
            <a:endParaRPr lang="en-IN" dirty="0" smtClean="0"/>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18</a:t>
            </a:fld>
            <a:endParaRPr lang="en-US" dirty="0"/>
          </a:p>
        </p:txBody>
      </p:sp>
    </p:spTree>
    <p:extLst>
      <p:ext uri="{BB962C8B-B14F-4D97-AF65-F5344CB8AC3E}">
        <p14:creationId xmlns:p14="http://schemas.microsoft.com/office/powerpoint/2010/main" val="18767985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Risk planning</a:t>
            </a:r>
            <a:endParaRPr lang="en-IN" dirty="0"/>
          </a:p>
        </p:txBody>
      </p:sp>
      <p:sp>
        <p:nvSpPr>
          <p:cNvPr id="3" name="Content Placeholder 2"/>
          <p:cNvSpPr>
            <a:spLocks noGrp="1"/>
          </p:cNvSpPr>
          <p:nvPr>
            <p:ph sz="half" idx="1"/>
          </p:nvPr>
        </p:nvSpPr>
        <p:spPr>
          <a:xfrm>
            <a:off x="480060" y="1610060"/>
            <a:ext cx="4645152" cy="3448595"/>
          </a:xfrm>
        </p:spPr>
        <p:txBody>
          <a:bodyPr>
            <a:normAutofit fontScale="92500" lnSpcReduction="10000"/>
          </a:bodyPr>
          <a:lstStyle/>
          <a:p>
            <a:r>
              <a:rPr lang="en-IN" dirty="0" smtClean="0"/>
              <a:t>Risk reduction and mitigation</a:t>
            </a:r>
          </a:p>
          <a:p>
            <a:pPr lvl="1"/>
            <a:r>
              <a:rPr lang="en-IN" dirty="0" smtClean="0"/>
              <a:t>Take precautions</a:t>
            </a:r>
          </a:p>
          <a:p>
            <a:pPr lvl="1"/>
            <a:r>
              <a:rPr lang="en-IN" dirty="0" smtClean="0"/>
              <a:t>E.g. 1 - two of the staff departed for other jobs</a:t>
            </a:r>
          </a:p>
          <a:p>
            <a:pPr lvl="1"/>
            <a:r>
              <a:rPr lang="en-IN" dirty="0" smtClean="0"/>
              <a:t>Precaution: Announcing bonus on completion</a:t>
            </a:r>
          </a:p>
          <a:p>
            <a:pPr lvl="1"/>
            <a:r>
              <a:rPr lang="en-IN" dirty="0"/>
              <a:t>E.g. </a:t>
            </a:r>
            <a:r>
              <a:rPr lang="en-IN" dirty="0" smtClean="0"/>
              <a:t>2 – payroll database to be accessed by another application</a:t>
            </a:r>
          </a:p>
          <a:p>
            <a:pPr lvl="1"/>
            <a:endParaRPr lang="en-IN" dirty="0" smtClean="0"/>
          </a:p>
          <a:p>
            <a:pPr marL="457200" lvl="1" indent="0">
              <a:buNone/>
            </a:pPr>
            <a:endParaRPr lang="en-IN" dirty="0" smtClean="0"/>
          </a:p>
        </p:txBody>
      </p:sp>
      <p:pic>
        <p:nvPicPr>
          <p:cNvPr id="8" name="Content Placeholder 7"/>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rot="5400000">
            <a:off x="6430504" y="169236"/>
            <a:ext cx="4300085" cy="7066789"/>
          </a:xfrm>
        </p:spPr>
      </p:pic>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19</a:t>
            </a:fld>
            <a:endParaRPr lang="en-US" dirty="0"/>
          </a:p>
        </p:txBody>
      </p:sp>
    </p:spTree>
    <p:extLst>
      <p:ext uri="{BB962C8B-B14F-4D97-AF65-F5344CB8AC3E}">
        <p14:creationId xmlns:p14="http://schemas.microsoft.com/office/powerpoint/2010/main" val="13901054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Risk planning</a:t>
            </a:r>
            <a:endParaRPr lang="en-IN" dirty="0"/>
          </a:p>
        </p:txBody>
      </p:sp>
      <p:sp>
        <p:nvSpPr>
          <p:cNvPr id="3" name="Content Placeholder 2"/>
          <p:cNvSpPr>
            <a:spLocks noGrp="1"/>
          </p:cNvSpPr>
          <p:nvPr>
            <p:ph idx="1"/>
          </p:nvPr>
        </p:nvSpPr>
        <p:spPr/>
        <p:txBody>
          <a:bodyPr/>
          <a:lstStyle/>
          <a:p>
            <a:r>
              <a:rPr lang="en-IN" dirty="0" smtClean="0"/>
              <a:t>Risk reduction and mitigation</a:t>
            </a:r>
          </a:p>
          <a:p>
            <a:r>
              <a:rPr lang="en-IN" dirty="0"/>
              <a:t>Risk </a:t>
            </a:r>
            <a:r>
              <a:rPr lang="en-IN" dirty="0" smtClean="0"/>
              <a:t>reduction – to reduce the likelihood of occurrence</a:t>
            </a:r>
          </a:p>
          <a:p>
            <a:r>
              <a:rPr lang="en-IN" dirty="0"/>
              <a:t>Risk </a:t>
            </a:r>
            <a:r>
              <a:rPr lang="en-IN" dirty="0" smtClean="0"/>
              <a:t>mitigation – action taken to ensure that the impact of the risk is lessened</a:t>
            </a:r>
          </a:p>
          <a:p>
            <a:pPr lvl="1"/>
            <a:r>
              <a:rPr lang="en-IN" dirty="0" smtClean="0"/>
              <a:t>E.g. – data corruption – back-ups</a:t>
            </a:r>
            <a:endParaRPr lang="en-IN" dirty="0"/>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20</a:t>
            </a:fld>
            <a:endParaRPr lang="en-US" dirty="0"/>
          </a:p>
        </p:txBody>
      </p:sp>
    </p:spTree>
    <p:extLst>
      <p:ext uri="{BB962C8B-B14F-4D97-AF65-F5344CB8AC3E}">
        <p14:creationId xmlns:p14="http://schemas.microsoft.com/office/powerpoint/2010/main" val="136386957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Risk planning</a:t>
            </a:r>
            <a:endParaRPr lang="en-IN" dirty="0"/>
          </a:p>
        </p:txBody>
      </p:sp>
      <p:sp>
        <p:nvSpPr>
          <p:cNvPr id="3" name="Content Placeholder 2"/>
          <p:cNvSpPr>
            <a:spLocks noGrp="1"/>
          </p:cNvSpPr>
          <p:nvPr>
            <p:ph idx="1"/>
          </p:nvPr>
        </p:nvSpPr>
        <p:spPr/>
        <p:txBody>
          <a:bodyPr/>
          <a:lstStyle/>
          <a:p>
            <a:r>
              <a:rPr lang="en-IN" dirty="0" smtClean="0"/>
              <a:t>Risk transfer</a:t>
            </a:r>
          </a:p>
          <a:p>
            <a:pPr lvl="1"/>
            <a:r>
              <a:rPr lang="en-IN" dirty="0" smtClean="0"/>
              <a:t>Software development task is outsourced to an outside agency for a fixed fee</a:t>
            </a:r>
          </a:p>
          <a:p>
            <a:pPr lvl="1"/>
            <a:endParaRPr lang="en-IN" dirty="0"/>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21</a:t>
            </a:fld>
            <a:endParaRPr lang="en-US" dirty="0"/>
          </a:p>
        </p:txBody>
      </p:sp>
    </p:spTree>
    <p:extLst>
      <p:ext uri="{BB962C8B-B14F-4D97-AF65-F5344CB8AC3E}">
        <p14:creationId xmlns:p14="http://schemas.microsoft.com/office/powerpoint/2010/main" val="151752627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Risk Management</a:t>
            </a:r>
            <a:endParaRPr lang="en-IN" dirty="0"/>
          </a:p>
        </p:txBody>
      </p:sp>
      <p:sp>
        <p:nvSpPr>
          <p:cNvPr id="3" name="Content Placeholder 2"/>
          <p:cNvSpPr>
            <a:spLocks noGrp="1"/>
          </p:cNvSpPr>
          <p:nvPr>
            <p:ph idx="1"/>
          </p:nvPr>
        </p:nvSpPr>
        <p:spPr/>
        <p:txBody>
          <a:bodyPr/>
          <a:lstStyle/>
          <a:p>
            <a:r>
              <a:rPr lang="en-IN" dirty="0" smtClean="0"/>
              <a:t>Contingency</a:t>
            </a:r>
          </a:p>
          <a:p>
            <a:r>
              <a:rPr lang="en-IN" dirty="0" smtClean="0"/>
              <a:t>Deciding on the risk actions</a:t>
            </a:r>
          </a:p>
          <a:p>
            <a:pPr lvl="1"/>
            <a:r>
              <a:rPr lang="en-IN" dirty="0" smtClean="0"/>
              <a:t>Value of damage x prob. Of occurrence</a:t>
            </a:r>
          </a:p>
          <a:p>
            <a:pPr lvl="1"/>
            <a:r>
              <a:rPr lang="en-IN" dirty="0" smtClean="0"/>
              <a:t>Risk reduction leverage = (RE</a:t>
            </a:r>
            <a:r>
              <a:rPr lang="en-IN" baseline="-25000" dirty="0" smtClean="0"/>
              <a:t>before</a:t>
            </a:r>
            <a:r>
              <a:rPr lang="en-IN" dirty="0" smtClean="0"/>
              <a:t> – RE</a:t>
            </a:r>
            <a:r>
              <a:rPr lang="en-IN" baseline="-25000" dirty="0" smtClean="0"/>
              <a:t>after</a:t>
            </a:r>
            <a:r>
              <a:rPr lang="en-IN" dirty="0" smtClean="0"/>
              <a:t>)/(cost of risk reduction)</a:t>
            </a:r>
          </a:p>
          <a:p>
            <a:pPr lvl="1"/>
            <a:r>
              <a:rPr lang="en-IN" dirty="0" smtClean="0"/>
              <a:t>E.g. to replace a hardware configuration – </a:t>
            </a:r>
            <a:r>
              <a:rPr lang="en-IN" dirty="0" err="1" smtClean="0"/>
              <a:t>Rs</a:t>
            </a:r>
            <a:r>
              <a:rPr lang="en-IN" dirty="0" smtClean="0"/>
              <a:t>. 2,00,00,000 </a:t>
            </a:r>
          </a:p>
          <a:p>
            <a:pPr lvl="1"/>
            <a:r>
              <a:rPr lang="en-IN" dirty="0" smtClean="0"/>
              <a:t>Prob. of occurrence – 1%</a:t>
            </a:r>
            <a:endParaRPr lang="en-IN" dirty="0"/>
          </a:p>
          <a:p>
            <a:r>
              <a:rPr lang="en-IN" dirty="0" smtClean="0"/>
              <a:t>Creating and maintaining the risk register</a:t>
            </a:r>
            <a:endParaRPr lang="en-IN" dirty="0"/>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22</a:t>
            </a:fld>
            <a:endParaRPr lang="en-US" dirty="0"/>
          </a:p>
        </p:txBody>
      </p:sp>
    </p:spTree>
    <p:extLst>
      <p:ext uri="{BB962C8B-B14F-4D97-AF65-F5344CB8AC3E}">
        <p14:creationId xmlns:p14="http://schemas.microsoft.com/office/powerpoint/2010/main" val="37128443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6613" y="188915"/>
            <a:ext cx="9603275" cy="580520"/>
          </a:xfrm>
        </p:spPr>
        <p:txBody>
          <a:bodyPr/>
          <a:lstStyle/>
          <a:p>
            <a:r>
              <a:rPr lang="en-IN" dirty="0" smtClean="0"/>
              <a:t>Boehm’s top 10 risks and counter measures</a:t>
            </a:r>
            <a:endParaRPr lang="en-IN" dirty="0"/>
          </a:p>
        </p:txBody>
      </p:sp>
      <p:sp>
        <p:nvSpPr>
          <p:cNvPr id="3" name="Content Placeholder 2"/>
          <p:cNvSpPr>
            <a:spLocks noGrp="1"/>
          </p:cNvSpPr>
          <p:nvPr>
            <p:ph idx="1"/>
          </p:nvPr>
        </p:nvSpPr>
        <p:spPr>
          <a:xfrm>
            <a:off x="1182029" y="947854"/>
            <a:ext cx="9846527" cy="5129562"/>
          </a:xfrm>
        </p:spPr>
        <p:txBody>
          <a:bodyPr>
            <a:normAutofit fontScale="85000" lnSpcReduction="20000"/>
          </a:bodyPr>
          <a:lstStyle/>
          <a:p>
            <a:r>
              <a:rPr lang="en-IN" dirty="0" smtClean="0"/>
              <a:t>Personnel shortfall</a:t>
            </a:r>
          </a:p>
          <a:p>
            <a:r>
              <a:rPr lang="en-IN" dirty="0" smtClean="0"/>
              <a:t>Unrealistic schedules and budgets</a:t>
            </a:r>
          </a:p>
          <a:p>
            <a:r>
              <a:rPr lang="en-IN" dirty="0" smtClean="0"/>
              <a:t>Developing the wrong functions</a:t>
            </a:r>
          </a:p>
          <a:p>
            <a:r>
              <a:rPr lang="en-IN" dirty="0" smtClean="0"/>
              <a:t>Developing the wrong user interface</a:t>
            </a:r>
          </a:p>
          <a:p>
            <a:r>
              <a:rPr lang="en-IN" dirty="0" smtClean="0"/>
              <a:t>Gold-plating</a:t>
            </a:r>
          </a:p>
          <a:p>
            <a:r>
              <a:rPr lang="en-IN" dirty="0" smtClean="0"/>
              <a:t>Continuing stream of requirements changes</a:t>
            </a:r>
          </a:p>
          <a:p>
            <a:r>
              <a:rPr lang="en-IN" dirty="0" smtClean="0"/>
              <a:t>Shortfalls in externally-furnished components</a:t>
            </a:r>
          </a:p>
          <a:p>
            <a:r>
              <a:rPr lang="en-IN" dirty="0" smtClean="0"/>
              <a:t>Shortfalls in externally performed tasks</a:t>
            </a:r>
          </a:p>
          <a:p>
            <a:r>
              <a:rPr lang="en-IN" dirty="0" smtClean="0"/>
              <a:t>Real-time performance shortfalls</a:t>
            </a:r>
          </a:p>
          <a:p>
            <a:r>
              <a:rPr lang="en-IN" dirty="0" smtClean="0"/>
              <a:t>Straining computer science capabilities</a:t>
            </a:r>
            <a:endParaRPr lang="en-IN" dirty="0"/>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23</a:t>
            </a:fld>
            <a:endParaRPr lang="en-US" dirty="0"/>
          </a:p>
        </p:txBody>
      </p:sp>
    </p:spTree>
    <p:extLst>
      <p:ext uri="{BB962C8B-B14F-4D97-AF65-F5344CB8AC3E}">
        <p14:creationId xmlns:p14="http://schemas.microsoft.com/office/powerpoint/2010/main" val="321875280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Risk mitigation, monitoring, and management </a:t>
            </a:r>
            <a:r>
              <a:rPr lang="en-IN" dirty="0"/>
              <a:t>(</a:t>
            </a:r>
            <a:r>
              <a:rPr lang="en-IN" dirty="0" err="1"/>
              <a:t>rmmm</a:t>
            </a:r>
            <a:r>
              <a:rPr lang="en-IN" dirty="0"/>
              <a:t>) </a:t>
            </a:r>
            <a:r>
              <a:rPr lang="en-IN" dirty="0" smtClean="0"/>
              <a:t>plan</a:t>
            </a:r>
            <a:endParaRPr lang="en-IN" dirty="0"/>
          </a:p>
        </p:txBody>
      </p:sp>
      <p:sp>
        <p:nvSpPr>
          <p:cNvPr id="3" name="Content Placeholder 2"/>
          <p:cNvSpPr>
            <a:spLocks noGrp="1"/>
          </p:cNvSpPr>
          <p:nvPr>
            <p:ph idx="1"/>
          </p:nvPr>
        </p:nvSpPr>
        <p:spPr/>
        <p:txBody>
          <a:bodyPr/>
          <a:lstStyle/>
          <a:p>
            <a:r>
              <a:rPr lang="en-IN" dirty="0" smtClean="0"/>
              <a:t>Risk table</a:t>
            </a:r>
          </a:p>
          <a:p>
            <a:r>
              <a:rPr lang="en-IN" dirty="0" smtClean="0"/>
              <a:t>Each row</a:t>
            </a:r>
          </a:p>
          <a:p>
            <a:pPr lvl="1"/>
            <a:r>
              <a:rPr lang="en-IN" dirty="0" smtClean="0"/>
              <a:t>Name of the risk</a:t>
            </a:r>
          </a:p>
          <a:p>
            <a:pPr lvl="1"/>
            <a:r>
              <a:rPr lang="en-IN" dirty="0" smtClean="0"/>
              <a:t>Probability</a:t>
            </a:r>
          </a:p>
          <a:p>
            <a:pPr lvl="1"/>
            <a:r>
              <a:rPr lang="en-IN" dirty="0" smtClean="0"/>
              <a:t>Impact</a:t>
            </a:r>
          </a:p>
          <a:p>
            <a:pPr lvl="1"/>
            <a:r>
              <a:rPr lang="en-IN" dirty="0" smtClean="0"/>
              <a:t>Specific conditions or events that to be monitored</a:t>
            </a:r>
          </a:p>
          <a:p>
            <a:pPr lvl="1"/>
            <a:r>
              <a:rPr lang="en-IN" dirty="0" smtClean="0"/>
              <a:t>Possible ways to avoid the risk</a:t>
            </a:r>
          </a:p>
          <a:p>
            <a:pPr lvl="1"/>
            <a:r>
              <a:rPr lang="en-IN" dirty="0" smtClean="0"/>
              <a:t>Contingency plan</a:t>
            </a:r>
            <a:endParaRPr lang="en-IN" dirty="0"/>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24</a:t>
            </a:fld>
            <a:endParaRPr lang="en-US" dirty="0"/>
          </a:p>
        </p:txBody>
      </p:sp>
    </p:spTree>
    <p:extLst>
      <p:ext uri="{BB962C8B-B14F-4D97-AF65-F5344CB8AC3E}">
        <p14:creationId xmlns:p14="http://schemas.microsoft.com/office/powerpoint/2010/main" val="110374144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PERT (</a:t>
            </a:r>
            <a:r>
              <a:rPr lang="en-US" dirty="0"/>
              <a:t>Program Evaluation and Review </a:t>
            </a:r>
            <a:r>
              <a:rPr lang="en-US" dirty="0" smtClean="0"/>
              <a:t>Technique)</a:t>
            </a:r>
            <a:endParaRPr lang="en-IN"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306614" y="1357810"/>
                <a:ext cx="4927932" cy="4719605"/>
              </a:xfrm>
            </p:spPr>
            <p:txBody>
              <a:bodyPr/>
              <a:lstStyle/>
              <a:p>
                <a:r>
                  <a:rPr lang="en-IN" dirty="0" smtClean="0"/>
                  <a:t>Most likely time – m</a:t>
                </a:r>
              </a:p>
              <a:p>
                <a:r>
                  <a:rPr lang="en-IN" dirty="0" smtClean="0"/>
                  <a:t>Optimistic time – a</a:t>
                </a:r>
              </a:p>
              <a:p>
                <a:r>
                  <a:rPr lang="en-IN" dirty="0" smtClean="0"/>
                  <a:t>Pessimistic time – b</a:t>
                </a:r>
              </a:p>
              <a:p>
                <a14:m>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𝑡</m:t>
                        </m:r>
                      </m:e>
                      <m:sub>
                        <m:r>
                          <a:rPr lang="en-IN" b="0" i="1" smtClean="0">
                            <a:latin typeface="Cambria Math" panose="02040503050406030204" pitchFamily="18" charset="0"/>
                          </a:rPr>
                          <m:t>𝑒</m:t>
                        </m:r>
                      </m:sub>
                    </m:sSub>
                    <m:r>
                      <a:rPr lang="en-IN" b="0" i="1" smtClean="0">
                        <a:latin typeface="Cambria Math" panose="02040503050406030204" pitchFamily="18" charset="0"/>
                      </a:rPr>
                      <m:t>=</m:t>
                    </m:r>
                    <m:f>
                      <m:fPr>
                        <m:type m:val="skw"/>
                        <m:ctrlPr>
                          <a:rPr lang="en-IN" b="0" i="1" smtClean="0">
                            <a:latin typeface="Cambria Math" panose="02040503050406030204" pitchFamily="18" charset="0"/>
                          </a:rPr>
                        </m:ctrlPr>
                      </m:fPr>
                      <m:num>
                        <m:d>
                          <m:dPr>
                            <m:ctrlPr>
                              <a:rPr lang="en-IN" b="0" i="1" smtClean="0">
                                <a:latin typeface="Cambria Math" panose="02040503050406030204" pitchFamily="18" charset="0"/>
                              </a:rPr>
                            </m:ctrlPr>
                          </m:dPr>
                          <m:e>
                            <m:r>
                              <a:rPr lang="en-IN" b="0" i="1" smtClean="0">
                                <a:latin typeface="Cambria Math" panose="02040503050406030204" pitchFamily="18" charset="0"/>
                              </a:rPr>
                              <m:t>𝑎</m:t>
                            </m:r>
                            <m:r>
                              <a:rPr lang="en-IN" b="0" i="1" smtClean="0">
                                <a:latin typeface="Cambria Math" panose="02040503050406030204" pitchFamily="18" charset="0"/>
                              </a:rPr>
                              <m:t>+4</m:t>
                            </m:r>
                            <m:r>
                              <a:rPr lang="en-IN" b="0" i="1" smtClean="0">
                                <a:latin typeface="Cambria Math" panose="02040503050406030204" pitchFamily="18" charset="0"/>
                              </a:rPr>
                              <m:t>𝑚</m:t>
                            </m:r>
                            <m:r>
                              <a:rPr lang="en-IN" b="0" i="1" smtClean="0">
                                <a:latin typeface="Cambria Math" panose="02040503050406030204" pitchFamily="18" charset="0"/>
                              </a:rPr>
                              <m:t>+</m:t>
                            </m:r>
                            <m:r>
                              <a:rPr lang="en-IN" b="0" i="1" smtClean="0">
                                <a:latin typeface="Cambria Math" panose="02040503050406030204" pitchFamily="18" charset="0"/>
                              </a:rPr>
                              <m:t>𝑏</m:t>
                            </m:r>
                          </m:e>
                        </m:d>
                      </m:num>
                      <m:den>
                        <m:r>
                          <a:rPr lang="en-IN" b="0" i="1" smtClean="0">
                            <a:latin typeface="Cambria Math" panose="02040503050406030204" pitchFamily="18" charset="0"/>
                          </a:rPr>
                          <m:t>6</m:t>
                        </m:r>
                      </m:den>
                    </m:f>
                  </m:oMath>
                </a14:m>
                <a:endParaRPr lang="en-IN" dirty="0" smtClean="0"/>
              </a:p>
              <a:p>
                <a14:m>
                  <m:oMath xmlns:m="http://schemas.openxmlformats.org/officeDocument/2006/math">
                    <m:r>
                      <a:rPr lang="en-IN" b="0" i="1" smtClean="0">
                        <a:latin typeface="Cambria Math" panose="02040503050406030204" pitchFamily="18" charset="0"/>
                      </a:rPr>
                      <m:t>𝑠</m:t>
                    </m:r>
                    <m:r>
                      <a:rPr lang="en-IN" b="0" i="1" smtClean="0">
                        <a:latin typeface="Cambria Math" panose="02040503050406030204" pitchFamily="18" charset="0"/>
                      </a:rPr>
                      <m:t>=</m:t>
                    </m:r>
                    <m:f>
                      <m:fPr>
                        <m:type m:val="skw"/>
                        <m:ctrlPr>
                          <a:rPr lang="en-IN" b="0" i="1" smtClean="0">
                            <a:latin typeface="Cambria Math" panose="02040503050406030204" pitchFamily="18" charset="0"/>
                          </a:rPr>
                        </m:ctrlPr>
                      </m:fPr>
                      <m:num>
                        <m:d>
                          <m:dPr>
                            <m:ctrlPr>
                              <a:rPr lang="en-IN" b="0" i="1" smtClean="0">
                                <a:latin typeface="Cambria Math" panose="02040503050406030204" pitchFamily="18" charset="0"/>
                              </a:rPr>
                            </m:ctrlPr>
                          </m:dPr>
                          <m:e>
                            <m:r>
                              <a:rPr lang="en-IN" b="0" i="1" smtClean="0">
                                <a:latin typeface="Cambria Math" panose="02040503050406030204" pitchFamily="18" charset="0"/>
                              </a:rPr>
                              <m:t>𝑏</m:t>
                            </m:r>
                            <m:r>
                              <a:rPr lang="en-IN" b="0" i="1" smtClean="0">
                                <a:latin typeface="Cambria Math" panose="02040503050406030204" pitchFamily="18" charset="0"/>
                              </a:rPr>
                              <m:t>−</m:t>
                            </m:r>
                            <m:r>
                              <a:rPr lang="en-IN" b="0" i="1" smtClean="0">
                                <a:latin typeface="Cambria Math" panose="02040503050406030204" pitchFamily="18" charset="0"/>
                              </a:rPr>
                              <m:t>𝑎</m:t>
                            </m:r>
                          </m:e>
                        </m:d>
                      </m:num>
                      <m:den>
                        <m:r>
                          <a:rPr lang="en-IN" b="0" i="1" smtClean="0">
                            <a:latin typeface="Cambria Math" panose="02040503050406030204" pitchFamily="18" charset="0"/>
                          </a:rPr>
                          <m:t>6</m:t>
                        </m:r>
                      </m:den>
                    </m:f>
                  </m:oMath>
                </a14:m>
                <a:endParaRPr lang="en-IN" dirty="0" smtClean="0"/>
              </a:p>
              <a:p>
                <a:endParaRPr lang="en-IN" dirty="0" smtClean="0"/>
              </a:p>
              <a:p>
                <a:endParaRPr lang="en-IN"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306614" y="1357810"/>
                <a:ext cx="4927932" cy="4719605"/>
              </a:xfrm>
              <a:blipFill>
                <a:blip r:embed="rId2"/>
                <a:stretch>
                  <a:fillRect l="-2225" t="-517"/>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25</a:t>
            </a:fld>
            <a:endParaRPr lang="en-US" dirty="0"/>
          </a:p>
        </p:txBody>
      </p:sp>
    </p:spTree>
    <p:extLst>
      <p:ext uri="{BB962C8B-B14F-4D97-AF65-F5344CB8AC3E}">
        <p14:creationId xmlns:p14="http://schemas.microsoft.com/office/powerpoint/2010/main" val="195400190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6613" y="188914"/>
            <a:ext cx="9603275" cy="378645"/>
          </a:xfrm>
        </p:spPr>
        <p:txBody>
          <a:bodyPr>
            <a:normAutofit fontScale="90000"/>
          </a:bodyPr>
          <a:lstStyle/>
          <a:p>
            <a:endParaRPr lang="en-IN"/>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912926223"/>
              </p:ext>
            </p:extLst>
          </p:nvPr>
        </p:nvGraphicFramePr>
        <p:xfrm>
          <a:off x="791506" y="1294251"/>
          <a:ext cx="8236880" cy="4480560"/>
        </p:xfrm>
        <a:graphic>
          <a:graphicData uri="http://schemas.openxmlformats.org/drawingml/2006/table">
            <a:tbl>
              <a:tblPr firstRow="1" bandRow="1">
                <a:tableStyleId>{5C22544A-7EE6-4342-B048-85BDC9FD1C3A}</a:tableStyleId>
              </a:tblPr>
              <a:tblGrid>
                <a:gridCol w="1647376">
                  <a:extLst>
                    <a:ext uri="{9D8B030D-6E8A-4147-A177-3AD203B41FA5}">
                      <a16:colId xmlns:a16="http://schemas.microsoft.com/office/drawing/2014/main" val="2586919454"/>
                    </a:ext>
                  </a:extLst>
                </a:gridCol>
                <a:gridCol w="1647376">
                  <a:extLst>
                    <a:ext uri="{9D8B030D-6E8A-4147-A177-3AD203B41FA5}">
                      <a16:colId xmlns:a16="http://schemas.microsoft.com/office/drawing/2014/main" val="553372397"/>
                    </a:ext>
                  </a:extLst>
                </a:gridCol>
                <a:gridCol w="1647376">
                  <a:extLst>
                    <a:ext uri="{9D8B030D-6E8A-4147-A177-3AD203B41FA5}">
                      <a16:colId xmlns:a16="http://schemas.microsoft.com/office/drawing/2014/main" val="1419495926"/>
                    </a:ext>
                  </a:extLst>
                </a:gridCol>
                <a:gridCol w="1647376">
                  <a:extLst>
                    <a:ext uri="{9D8B030D-6E8A-4147-A177-3AD203B41FA5}">
                      <a16:colId xmlns:a16="http://schemas.microsoft.com/office/drawing/2014/main" val="1498623410"/>
                    </a:ext>
                  </a:extLst>
                </a:gridCol>
                <a:gridCol w="1647376">
                  <a:extLst>
                    <a:ext uri="{9D8B030D-6E8A-4147-A177-3AD203B41FA5}">
                      <a16:colId xmlns:a16="http://schemas.microsoft.com/office/drawing/2014/main" val="3130760019"/>
                    </a:ext>
                  </a:extLst>
                </a:gridCol>
              </a:tblGrid>
              <a:tr h="696629">
                <a:tc>
                  <a:txBody>
                    <a:bodyPr/>
                    <a:lstStyle/>
                    <a:p>
                      <a:pPr algn="ctr"/>
                      <a:r>
                        <a:rPr lang="en-IN" sz="2400" dirty="0" smtClean="0"/>
                        <a:t>Activity</a:t>
                      </a:r>
                      <a:endParaRPr lang="en-IN" sz="2400" dirty="0"/>
                    </a:p>
                  </a:txBody>
                  <a:tcPr/>
                </a:tc>
                <a:tc>
                  <a:txBody>
                    <a:bodyPr/>
                    <a:lstStyle/>
                    <a:p>
                      <a:pPr algn="ctr"/>
                      <a:r>
                        <a:rPr lang="en-IN" sz="2400" dirty="0" smtClean="0"/>
                        <a:t>Optimistic</a:t>
                      </a:r>
                      <a:r>
                        <a:rPr lang="en-IN" sz="2400" baseline="0" dirty="0" smtClean="0"/>
                        <a:t> (a)</a:t>
                      </a:r>
                      <a:endParaRPr lang="en-IN" sz="2400" dirty="0"/>
                    </a:p>
                  </a:txBody>
                  <a:tcPr/>
                </a:tc>
                <a:tc>
                  <a:txBody>
                    <a:bodyPr/>
                    <a:lstStyle/>
                    <a:p>
                      <a:pPr algn="ctr"/>
                      <a:r>
                        <a:rPr lang="en-IN" sz="2400" dirty="0" smtClean="0"/>
                        <a:t>Most likely (m)</a:t>
                      </a:r>
                      <a:endParaRPr lang="en-IN" sz="2400" dirty="0"/>
                    </a:p>
                  </a:txBody>
                  <a:tcPr/>
                </a:tc>
                <a:tc>
                  <a:txBody>
                    <a:bodyPr/>
                    <a:lstStyle/>
                    <a:p>
                      <a:pPr algn="ctr"/>
                      <a:r>
                        <a:rPr lang="en-IN" sz="2400" dirty="0" smtClean="0"/>
                        <a:t>Pessimistic (b)</a:t>
                      </a:r>
                      <a:endParaRPr lang="en-IN" sz="2400" dirty="0"/>
                    </a:p>
                  </a:txBody>
                  <a:tcPr/>
                </a:tc>
                <a:tc>
                  <a:txBody>
                    <a:bodyPr/>
                    <a:lstStyle/>
                    <a:p>
                      <a:pPr algn="ctr"/>
                      <a:r>
                        <a:rPr lang="en-IN" sz="2400" dirty="0" smtClean="0"/>
                        <a:t>Expected (t</a:t>
                      </a:r>
                      <a:r>
                        <a:rPr lang="en-IN" sz="2400" baseline="-25000" dirty="0" smtClean="0"/>
                        <a:t>e</a:t>
                      </a:r>
                      <a:r>
                        <a:rPr lang="en-IN" sz="2400" dirty="0" smtClean="0"/>
                        <a:t>)</a:t>
                      </a:r>
                      <a:endParaRPr lang="en-IN" sz="2400" dirty="0"/>
                    </a:p>
                  </a:txBody>
                  <a:tcPr/>
                </a:tc>
                <a:extLst>
                  <a:ext uri="{0D108BD9-81ED-4DB2-BD59-A6C34878D82A}">
                    <a16:rowId xmlns:a16="http://schemas.microsoft.com/office/drawing/2014/main" val="852910597"/>
                  </a:ext>
                </a:extLst>
              </a:tr>
              <a:tr h="387016">
                <a:tc>
                  <a:txBody>
                    <a:bodyPr/>
                    <a:lstStyle/>
                    <a:p>
                      <a:pPr algn="ctr"/>
                      <a:r>
                        <a:rPr lang="en-IN" sz="2400" dirty="0" smtClean="0"/>
                        <a:t>A</a:t>
                      </a:r>
                      <a:endParaRPr lang="en-IN" sz="2400" dirty="0"/>
                    </a:p>
                  </a:txBody>
                  <a:tcPr/>
                </a:tc>
                <a:tc>
                  <a:txBody>
                    <a:bodyPr/>
                    <a:lstStyle/>
                    <a:p>
                      <a:pPr algn="ctr"/>
                      <a:r>
                        <a:rPr lang="en-IN" sz="2400" dirty="0" smtClean="0"/>
                        <a:t>5</a:t>
                      </a:r>
                      <a:endParaRPr lang="en-IN" sz="2400" dirty="0"/>
                    </a:p>
                  </a:txBody>
                  <a:tcPr/>
                </a:tc>
                <a:tc>
                  <a:txBody>
                    <a:bodyPr/>
                    <a:lstStyle/>
                    <a:p>
                      <a:pPr algn="ctr"/>
                      <a:r>
                        <a:rPr lang="en-IN" sz="2400" dirty="0" smtClean="0"/>
                        <a:t>6</a:t>
                      </a:r>
                      <a:endParaRPr lang="en-IN" sz="2400" dirty="0"/>
                    </a:p>
                  </a:txBody>
                  <a:tcPr/>
                </a:tc>
                <a:tc>
                  <a:txBody>
                    <a:bodyPr/>
                    <a:lstStyle/>
                    <a:p>
                      <a:pPr algn="ctr"/>
                      <a:r>
                        <a:rPr lang="en-IN" sz="2400" dirty="0" smtClean="0"/>
                        <a:t>8</a:t>
                      </a:r>
                      <a:endParaRPr lang="en-IN" sz="2400" dirty="0"/>
                    </a:p>
                  </a:txBody>
                  <a:tcPr/>
                </a:tc>
                <a:tc>
                  <a:txBody>
                    <a:bodyPr/>
                    <a:lstStyle/>
                    <a:p>
                      <a:pPr algn="ctr"/>
                      <a:endParaRPr lang="en-IN" sz="2400" dirty="0"/>
                    </a:p>
                  </a:txBody>
                  <a:tcPr/>
                </a:tc>
                <a:extLst>
                  <a:ext uri="{0D108BD9-81ED-4DB2-BD59-A6C34878D82A}">
                    <a16:rowId xmlns:a16="http://schemas.microsoft.com/office/drawing/2014/main" val="4262673671"/>
                  </a:ext>
                </a:extLst>
              </a:tr>
              <a:tr h="387016">
                <a:tc>
                  <a:txBody>
                    <a:bodyPr/>
                    <a:lstStyle/>
                    <a:p>
                      <a:pPr algn="ctr"/>
                      <a:r>
                        <a:rPr lang="en-IN" sz="2400" dirty="0" smtClean="0"/>
                        <a:t>B</a:t>
                      </a:r>
                      <a:endParaRPr lang="en-IN" sz="2400" dirty="0"/>
                    </a:p>
                  </a:txBody>
                  <a:tcPr/>
                </a:tc>
                <a:tc>
                  <a:txBody>
                    <a:bodyPr/>
                    <a:lstStyle/>
                    <a:p>
                      <a:pPr algn="ctr"/>
                      <a:r>
                        <a:rPr lang="en-IN" sz="2400" dirty="0" smtClean="0"/>
                        <a:t>3</a:t>
                      </a:r>
                      <a:endParaRPr lang="en-IN" sz="2400" dirty="0"/>
                    </a:p>
                  </a:txBody>
                  <a:tcPr/>
                </a:tc>
                <a:tc>
                  <a:txBody>
                    <a:bodyPr/>
                    <a:lstStyle/>
                    <a:p>
                      <a:pPr algn="ctr"/>
                      <a:r>
                        <a:rPr lang="en-IN" sz="2400" dirty="0" smtClean="0"/>
                        <a:t>4</a:t>
                      </a:r>
                      <a:endParaRPr lang="en-IN" sz="2400" dirty="0"/>
                    </a:p>
                  </a:txBody>
                  <a:tcPr/>
                </a:tc>
                <a:tc>
                  <a:txBody>
                    <a:bodyPr/>
                    <a:lstStyle/>
                    <a:p>
                      <a:pPr algn="ctr"/>
                      <a:r>
                        <a:rPr lang="en-IN" sz="2400" dirty="0" smtClean="0"/>
                        <a:t>5</a:t>
                      </a:r>
                      <a:endParaRPr lang="en-IN" sz="2400" dirty="0"/>
                    </a:p>
                  </a:txBody>
                  <a:tcPr/>
                </a:tc>
                <a:tc>
                  <a:txBody>
                    <a:bodyPr/>
                    <a:lstStyle/>
                    <a:p>
                      <a:pPr algn="ctr"/>
                      <a:endParaRPr lang="en-IN" sz="2400" dirty="0"/>
                    </a:p>
                  </a:txBody>
                  <a:tcPr/>
                </a:tc>
                <a:extLst>
                  <a:ext uri="{0D108BD9-81ED-4DB2-BD59-A6C34878D82A}">
                    <a16:rowId xmlns:a16="http://schemas.microsoft.com/office/drawing/2014/main" val="1179651734"/>
                  </a:ext>
                </a:extLst>
              </a:tr>
              <a:tr h="387016">
                <a:tc>
                  <a:txBody>
                    <a:bodyPr/>
                    <a:lstStyle/>
                    <a:p>
                      <a:pPr algn="ctr"/>
                      <a:r>
                        <a:rPr lang="en-IN" sz="2400" dirty="0" smtClean="0"/>
                        <a:t>C</a:t>
                      </a:r>
                      <a:endParaRPr lang="en-IN" sz="2400" dirty="0"/>
                    </a:p>
                  </a:txBody>
                  <a:tcPr/>
                </a:tc>
                <a:tc>
                  <a:txBody>
                    <a:bodyPr/>
                    <a:lstStyle/>
                    <a:p>
                      <a:pPr algn="ctr"/>
                      <a:r>
                        <a:rPr lang="en-IN" sz="2400" dirty="0" smtClean="0"/>
                        <a:t>2</a:t>
                      </a:r>
                      <a:endParaRPr lang="en-IN" sz="2400" dirty="0"/>
                    </a:p>
                  </a:txBody>
                  <a:tcPr/>
                </a:tc>
                <a:tc>
                  <a:txBody>
                    <a:bodyPr/>
                    <a:lstStyle/>
                    <a:p>
                      <a:pPr algn="ctr"/>
                      <a:r>
                        <a:rPr lang="en-IN" sz="2400" dirty="0" smtClean="0"/>
                        <a:t>3</a:t>
                      </a:r>
                      <a:endParaRPr lang="en-IN" sz="2400" dirty="0"/>
                    </a:p>
                  </a:txBody>
                  <a:tcPr/>
                </a:tc>
                <a:tc>
                  <a:txBody>
                    <a:bodyPr/>
                    <a:lstStyle/>
                    <a:p>
                      <a:pPr algn="ctr"/>
                      <a:r>
                        <a:rPr lang="en-IN" sz="2400" dirty="0" smtClean="0"/>
                        <a:t>3</a:t>
                      </a:r>
                      <a:endParaRPr lang="en-IN" sz="2400" dirty="0"/>
                    </a:p>
                  </a:txBody>
                  <a:tcPr/>
                </a:tc>
                <a:tc>
                  <a:txBody>
                    <a:bodyPr/>
                    <a:lstStyle/>
                    <a:p>
                      <a:pPr algn="ctr"/>
                      <a:endParaRPr lang="en-IN" sz="2400" dirty="0"/>
                    </a:p>
                  </a:txBody>
                  <a:tcPr/>
                </a:tc>
                <a:extLst>
                  <a:ext uri="{0D108BD9-81ED-4DB2-BD59-A6C34878D82A}">
                    <a16:rowId xmlns:a16="http://schemas.microsoft.com/office/drawing/2014/main" val="1684514231"/>
                  </a:ext>
                </a:extLst>
              </a:tr>
              <a:tr h="387016">
                <a:tc>
                  <a:txBody>
                    <a:bodyPr/>
                    <a:lstStyle/>
                    <a:p>
                      <a:pPr algn="ctr"/>
                      <a:r>
                        <a:rPr lang="en-IN" sz="2400" dirty="0" smtClean="0"/>
                        <a:t>D</a:t>
                      </a:r>
                      <a:endParaRPr lang="en-IN" sz="2400" dirty="0"/>
                    </a:p>
                  </a:txBody>
                  <a:tcPr/>
                </a:tc>
                <a:tc>
                  <a:txBody>
                    <a:bodyPr/>
                    <a:lstStyle/>
                    <a:p>
                      <a:pPr algn="ctr"/>
                      <a:r>
                        <a:rPr lang="en-IN" sz="2400" dirty="0" smtClean="0"/>
                        <a:t>3.5</a:t>
                      </a:r>
                      <a:endParaRPr lang="en-IN" sz="2400" dirty="0"/>
                    </a:p>
                  </a:txBody>
                  <a:tcPr/>
                </a:tc>
                <a:tc>
                  <a:txBody>
                    <a:bodyPr/>
                    <a:lstStyle/>
                    <a:p>
                      <a:pPr algn="ctr"/>
                      <a:r>
                        <a:rPr lang="en-IN" sz="2400" dirty="0" smtClean="0"/>
                        <a:t>4</a:t>
                      </a:r>
                      <a:endParaRPr lang="en-IN" sz="2400" dirty="0"/>
                    </a:p>
                  </a:txBody>
                  <a:tcPr/>
                </a:tc>
                <a:tc>
                  <a:txBody>
                    <a:bodyPr/>
                    <a:lstStyle/>
                    <a:p>
                      <a:pPr algn="ctr"/>
                      <a:r>
                        <a:rPr lang="en-IN" sz="2400" dirty="0" smtClean="0"/>
                        <a:t>5</a:t>
                      </a:r>
                      <a:endParaRPr lang="en-IN" sz="2400" dirty="0"/>
                    </a:p>
                  </a:txBody>
                  <a:tcPr/>
                </a:tc>
                <a:tc>
                  <a:txBody>
                    <a:bodyPr/>
                    <a:lstStyle/>
                    <a:p>
                      <a:pPr algn="ctr"/>
                      <a:endParaRPr lang="en-IN" sz="2400" dirty="0"/>
                    </a:p>
                  </a:txBody>
                  <a:tcPr/>
                </a:tc>
                <a:extLst>
                  <a:ext uri="{0D108BD9-81ED-4DB2-BD59-A6C34878D82A}">
                    <a16:rowId xmlns:a16="http://schemas.microsoft.com/office/drawing/2014/main" val="2118043799"/>
                  </a:ext>
                </a:extLst>
              </a:tr>
              <a:tr h="387016">
                <a:tc>
                  <a:txBody>
                    <a:bodyPr/>
                    <a:lstStyle/>
                    <a:p>
                      <a:pPr algn="ctr"/>
                      <a:r>
                        <a:rPr lang="en-IN" sz="2400" dirty="0" smtClean="0"/>
                        <a:t>E</a:t>
                      </a:r>
                      <a:endParaRPr lang="en-IN" sz="2400" dirty="0"/>
                    </a:p>
                  </a:txBody>
                  <a:tcPr/>
                </a:tc>
                <a:tc>
                  <a:txBody>
                    <a:bodyPr/>
                    <a:lstStyle/>
                    <a:p>
                      <a:pPr algn="ctr"/>
                      <a:r>
                        <a:rPr lang="en-IN" sz="2400" dirty="0" smtClean="0"/>
                        <a:t>1</a:t>
                      </a:r>
                      <a:endParaRPr lang="en-IN" sz="2400" dirty="0"/>
                    </a:p>
                  </a:txBody>
                  <a:tcPr/>
                </a:tc>
                <a:tc>
                  <a:txBody>
                    <a:bodyPr/>
                    <a:lstStyle/>
                    <a:p>
                      <a:pPr algn="ctr"/>
                      <a:r>
                        <a:rPr lang="en-IN" sz="2400" dirty="0" smtClean="0"/>
                        <a:t>3</a:t>
                      </a:r>
                      <a:endParaRPr lang="en-IN" sz="2400" dirty="0"/>
                    </a:p>
                  </a:txBody>
                  <a:tcPr/>
                </a:tc>
                <a:tc>
                  <a:txBody>
                    <a:bodyPr/>
                    <a:lstStyle/>
                    <a:p>
                      <a:pPr algn="ctr"/>
                      <a:r>
                        <a:rPr lang="en-IN" sz="2400" dirty="0" smtClean="0"/>
                        <a:t>4</a:t>
                      </a:r>
                      <a:endParaRPr lang="en-IN" sz="2400" dirty="0"/>
                    </a:p>
                  </a:txBody>
                  <a:tcPr/>
                </a:tc>
                <a:tc>
                  <a:txBody>
                    <a:bodyPr/>
                    <a:lstStyle/>
                    <a:p>
                      <a:pPr algn="ctr"/>
                      <a:endParaRPr lang="en-IN" sz="2400" dirty="0"/>
                    </a:p>
                  </a:txBody>
                  <a:tcPr/>
                </a:tc>
                <a:extLst>
                  <a:ext uri="{0D108BD9-81ED-4DB2-BD59-A6C34878D82A}">
                    <a16:rowId xmlns:a16="http://schemas.microsoft.com/office/drawing/2014/main" val="3353370527"/>
                  </a:ext>
                </a:extLst>
              </a:tr>
              <a:tr h="387016">
                <a:tc>
                  <a:txBody>
                    <a:bodyPr/>
                    <a:lstStyle/>
                    <a:p>
                      <a:pPr algn="ctr"/>
                      <a:r>
                        <a:rPr lang="en-IN" sz="2400" dirty="0" smtClean="0"/>
                        <a:t>F</a:t>
                      </a:r>
                      <a:endParaRPr lang="en-IN" sz="2400" dirty="0"/>
                    </a:p>
                  </a:txBody>
                  <a:tcPr/>
                </a:tc>
                <a:tc>
                  <a:txBody>
                    <a:bodyPr/>
                    <a:lstStyle/>
                    <a:p>
                      <a:pPr algn="ctr"/>
                      <a:r>
                        <a:rPr lang="en-IN" sz="2400" dirty="0" smtClean="0"/>
                        <a:t>8</a:t>
                      </a:r>
                      <a:endParaRPr lang="en-IN" sz="2400" dirty="0"/>
                    </a:p>
                  </a:txBody>
                  <a:tcPr/>
                </a:tc>
                <a:tc>
                  <a:txBody>
                    <a:bodyPr/>
                    <a:lstStyle/>
                    <a:p>
                      <a:pPr algn="ctr"/>
                      <a:r>
                        <a:rPr lang="en-IN" sz="2400" dirty="0" smtClean="0"/>
                        <a:t>10</a:t>
                      </a:r>
                      <a:endParaRPr lang="en-IN" sz="2400" dirty="0"/>
                    </a:p>
                  </a:txBody>
                  <a:tcPr/>
                </a:tc>
                <a:tc>
                  <a:txBody>
                    <a:bodyPr/>
                    <a:lstStyle/>
                    <a:p>
                      <a:pPr algn="ctr"/>
                      <a:r>
                        <a:rPr lang="en-IN" sz="2400" dirty="0" smtClean="0"/>
                        <a:t>15</a:t>
                      </a:r>
                      <a:endParaRPr lang="en-IN" sz="2400" dirty="0"/>
                    </a:p>
                  </a:txBody>
                  <a:tcPr/>
                </a:tc>
                <a:tc>
                  <a:txBody>
                    <a:bodyPr/>
                    <a:lstStyle/>
                    <a:p>
                      <a:pPr algn="ctr"/>
                      <a:endParaRPr lang="en-IN" sz="2400" dirty="0"/>
                    </a:p>
                  </a:txBody>
                  <a:tcPr/>
                </a:tc>
                <a:extLst>
                  <a:ext uri="{0D108BD9-81ED-4DB2-BD59-A6C34878D82A}">
                    <a16:rowId xmlns:a16="http://schemas.microsoft.com/office/drawing/2014/main" val="1116356648"/>
                  </a:ext>
                </a:extLst>
              </a:tr>
              <a:tr h="387016">
                <a:tc>
                  <a:txBody>
                    <a:bodyPr/>
                    <a:lstStyle/>
                    <a:p>
                      <a:pPr algn="ctr"/>
                      <a:r>
                        <a:rPr lang="en-IN" sz="2400" dirty="0" smtClean="0"/>
                        <a:t>G</a:t>
                      </a:r>
                      <a:endParaRPr lang="en-IN" sz="2400" dirty="0"/>
                    </a:p>
                  </a:txBody>
                  <a:tcPr/>
                </a:tc>
                <a:tc>
                  <a:txBody>
                    <a:bodyPr/>
                    <a:lstStyle/>
                    <a:p>
                      <a:pPr algn="ctr"/>
                      <a:r>
                        <a:rPr lang="en-IN" sz="2400" dirty="0" smtClean="0"/>
                        <a:t>2</a:t>
                      </a:r>
                      <a:endParaRPr lang="en-IN" sz="2400" dirty="0"/>
                    </a:p>
                  </a:txBody>
                  <a:tcPr/>
                </a:tc>
                <a:tc>
                  <a:txBody>
                    <a:bodyPr/>
                    <a:lstStyle/>
                    <a:p>
                      <a:pPr algn="ctr"/>
                      <a:r>
                        <a:rPr lang="en-IN" sz="2400" dirty="0" smtClean="0"/>
                        <a:t>3</a:t>
                      </a:r>
                      <a:endParaRPr lang="en-IN" sz="2400" dirty="0"/>
                    </a:p>
                  </a:txBody>
                  <a:tcPr/>
                </a:tc>
                <a:tc>
                  <a:txBody>
                    <a:bodyPr/>
                    <a:lstStyle/>
                    <a:p>
                      <a:pPr algn="ctr"/>
                      <a:r>
                        <a:rPr lang="en-IN" sz="2400" dirty="0" smtClean="0"/>
                        <a:t>4</a:t>
                      </a:r>
                      <a:endParaRPr lang="en-IN" sz="2400" dirty="0"/>
                    </a:p>
                  </a:txBody>
                  <a:tcPr/>
                </a:tc>
                <a:tc>
                  <a:txBody>
                    <a:bodyPr/>
                    <a:lstStyle/>
                    <a:p>
                      <a:pPr algn="ctr"/>
                      <a:endParaRPr lang="en-IN" sz="2400" dirty="0"/>
                    </a:p>
                  </a:txBody>
                  <a:tcPr/>
                </a:tc>
                <a:extLst>
                  <a:ext uri="{0D108BD9-81ED-4DB2-BD59-A6C34878D82A}">
                    <a16:rowId xmlns:a16="http://schemas.microsoft.com/office/drawing/2014/main" val="2517544475"/>
                  </a:ext>
                </a:extLst>
              </a:tr>
              <a:tr h="387016">
                <a:tc>
                  <a:txBody>
                    <a:bodyPr/>
                    <a:lstStyle/>
                    <a:p>
                      <a:pPr algn="ctr"/>
                      <a:r>
                        <a:rPr lang="en-IN" sz="2400" dirty="0" smtClean="0"/>
                        <a:t>H</a:t>
                      </a:r>
                      <a:endParaRPr lang="en-IN" sz="2400" dirty="0"/>
                    </a:p>
                  </a:txBody>
                  <a:tcPr/>
                </a:tc>
                <a:tc>
                  <a:txBody>
                    <a:bodyPr/>
                    <a:lstStyle/>
                    <a:p>
                      <a:pPr algn="ctr"/>
                      <a:r>
                        <a:rPr lang="en-IN" sz="2400" dirty="0" smtClean="0"/>
                        <a:t>2</a:t>
                      </a:r>
                      <a:endParaRPr lang="en-IN" sz="2400" dirty="0"/>
                    </a:p>
                  </a:txBody>
                  <a:tcPr/>
                </a:tc>
                <a:tc>
                  <a:txBody>
                    <a:bodyPr/>
                    <a:lstStyle/>
                    <a:p>
                      <a:pPr algn="ctr"/>
                      <a:r>
                        <a:rPr lang="en-IN" sz="2400" dirty="0" smtClean="0"/>
                        <a:t>2</a:t>
                      </a:r>
                      <a:endParaRPr lang="en-IN" sz="2400" dirty="0"/>
                    </a:p>
                  </a:txBody>
                  <a:tcPr/>
                </a:tc>
                <a:tc>
                  <a:txBody>
                    <a:bodyPr/>
                    <a:lstStyle/>
                    <a:p>
                      <a:pPr algn="ctr"/>
                      <a:r>
                        <a:rPr lang="en-IN" sz="2400" dirty="0" smtClean="0"/>
                        <a:t>2.5</a:t>
                      </a:r>
                      <a:endParaRPr lang="en-IN" sz="2400" dirty="0"/>
                    </a:p>
                  </a:txBody>
                  <a:tcPr/>
                </a:tc>
                <a:tc>
                  <a:txBody>
                    <a:bodyPr/>
                    <a:lstStyle/>
                    <a:p>
                      <a:pPr algn="ctr"/>
                      <a:endParaRPr lang="en-IN" sz="2400" dirty="0"/>
                    </a:p>
                  </a:txBody>
                  <a:tcPr/>
                </a:tc>
                <a:extLst>
                  <a:ext uri="{0D108BD9-81ED-4DB2-BD59-A6C34878D82A}">
                    <a16:rowId xmlns:a16="http://schemas.microsoft.com/office/drawing/2014/main" val="10109580"/>
                  </a:ext>
                </a:extLst>
              </a:tr>
            </a:tbl>
          </a:graphicData>
        </a:graphic>
      </p:graphicFrame>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26</a:t>
            </a:fld>
            <a:endParaRPr lang="en-US" dirty="0"/>
          </a:p>
        </p:txBody>
      </p:sp>
    </p:spTree>
    <p:extLst>
      <p:ext uri="{BB962C8B-B14F-4D97-AF65-F5344CB8AC3E}">
        <p14:creationId xmlns:p14="http://schemas.microsoft.com/office/powerpoint/2010/main" val="3574808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Activity standard deviation</a:t>
            </a:r>
            <a:endParaRPr lang="en-IN"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306614" y="1357810"/>
                <a:ext cx="4927932" cy="4719605"/>
              </a:xfrm>
            </p:spPr>
            <p:txBody>
              <a:bodyPr/>
              <a:lstStyle/>
              <a:p>
                <a:r>
                  <a:rPr lang="en-IN" dirty="0" smtClean="0"/>
                  <a:t>Most likely time – m</a:t>
                </a:r>
              </a:p>
              <a:p>
                <a:r>
                  <a:rPr lang="en-IN" dirty="0" smtClean="0"/>
                  <a:t>Optimistic time – a</a:t>
                </a:r>
              </a:p>
              <a:p>
                <a:r>
                  <a:rPr lang="en-IN" dirty="0" smtClean="0"/>
                  <a:t>Pessimistic time – b</a:t>
                </a:r>
              </a:p>
              <a:p>
                <a:endParaRPr lang="en-IN" dirty="0" smtClean="0"/>
              </a:p>
              <a:p>
                <a14:m>
                  <m:oMath xmlns:m="http://schemas.openxmlformats.org/officeDocument/2006/math">
                    <m:r>
                      <a:rPr lang="en-IN" b="0" i="1" smtClean="0">
                        <a:latin typeface="Cambria Math" panose="02040503050406030204" pitchFamily="18" charset="0"/>
                      </a:rPr>
                      <m:t>𝑠</m:t>
                    </m:r>
                    <m:r>
                      <a:rPr lang="en-IN" b="0" i="1" smtClean="0">
                        <a:latin typeface="Cambria Math" panose="02040503050406030204" pitchFamily="18" charset="0"/>
                      </a:rPr>
                      <m:t>=</m:t>
                    </m:r>
                    <m:f>
                      <m:fPr>
                        <m:type m:val="skw"/>
                        <m:ctrlPr>
                          <a:rPr lang="en-IN" b="0" i="1" smtClean="0">
                            <a:latin typeface="Cambria Math" panose="02040503050406030204" pitchFamily="18" charset="0"/>
                          </a:rPr>
                        </m:ctrlPr>
                      </m:fPr>
                      <m:num>
                        <m:d>
                          <m:dPr>
                            <m:ctrlPr>
                              <a:rPr lang="en-IN" b="0" i="1" smtClean="0">
                                <a:latin typeface="Cambria Math" panose="02040503050406030204" pitchFamily="18" charset="0"/>
                              </a:rPr>
                            </m:ctrlPr>
                          </m:dPr>
                          <m:e>
                            <m:r>
                              <a:rPr lang="en-IN" b="0" i="1" smtClean="0">
                                <a:latin typeface="Cambria Math" panose="02040503050406030204" pitchFamily="18" charset="0"/>
                              </a:rPr>
                              <m:t>𝑏</m:t>
                            </m:r>
                            <m:r>
                              <a:rPr lang="en-IN" b="0" i="1" smtClean="0">
                                <a:latin typeface="Cambria Math" panose="02040503050406030204" pitchFamily="18" charset="0"/>
                              </a:rPr>
                              <m:t>−</m:t>
                            </m:r>
                            <m:r>
                              <a:rPr lang="en-IN" b="0" i="1" smtClean="0">
                                <a:latin typeface="Cambria Math" panose="02040503050406030204" pitchFamily="18" charset="0"/>
                              </a:rPr>
                              <m:t>𝑎</m:t>
                            </m:r>
                          </m:e>
                        </m:d>
                      </m:num>
                      <m:den>
                        <m:r>
                          <a:rPr lang="en-IN" b="0" i="1" smtClean="0">
                            <a:latin typeface="Cambria Math" panose="02040503050406030204" pitchFamily="18" charset="0"/>
                          </a:rPr>
                          <m:t>6</m:t>
                        </m:r>
                      </m:den>
                    </m:f>
                  </m:oMath>
                </a14:m>
                <a:endParaRPr lang="en-IN" dirty="0" smtClean="0"/>
              </a:p>
              <a:p>
                <a:endParaRPr lang="en-IN"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306614" y="1357810"/>
                <a:ext cx="4927932" cy="4719605"/>
              </a:xfrm>
              <a:blipFill>
                <a:blip r:embed="rId2"/>
                <a:stretch>
                  <a:fillRect l="-2225" t="-517"/>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27</a:t>
            </a:fld>
            <a:endParaRPr lang="en-US" dirty="0"/>
          </a:p>
        </p:txBody>
      </p:sp>
    </p:spTree>
    <p:extLst>
      <p:ext uri="{BB962C8B-B14F-4D97-AF65-F5344CB8AC3E}">
        <p14:creationId xmlns:p14="http://schemas.microsoft.com/office/powerpoint/2010/main" val="364001866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Likelihood of meeting targets</a:t>
            </a:r>
            <a:endParaRPr lang="en-IN" dirty="0"/>
          </a:p>
        </p:txBody>
      </p:sp>
      <p:sp>
        <p:nvSpPr>
          <p:cNvPr id="3" name="Content Placeholder 2"/>
          <p:cNvSpPr>
            <a:spLocks noGrp="1"/>
          </p:cNvSpPr>
          <p:nvPr>
            <p:ph idx="1"/>
          </p:nvPr>
        </p:nvSpPr>
        <p:spPr/>
        <p:txBody>
          <a:bodyPr/>
          <a:lstStyle/>
          <a:p>
            <a:r>
              <a:rPr lang="en-IN" dirty="0" smtClean="0"/>
              <a:t>Three-step method for calculating the probability of meeting or missing a target date</a:t>
            </a:r>
          </a:p>
          <a:p>
            <a:pPr lvl="1"/>
            <a:r>
              <a:rPr lang="en-IN" dirty="0" smtClean="0"/>
              <a:t>Calculate the standard deviation of each project event</a:t>
            </a:r>
          </a:p>
          <a:p>
            <a:pPr lvl="1"/>
            <a:r>
              <a:rPr lang="en-IN" dirty="0" smtClean="0"/>
              <a:t>Calculate the z value for each event that has a target date</a:t>
            </a:r>
          </a:p>
          <a:p>
            <a:pPr lvl="1"/>
            <a:r>
              <a:rPr lang="en-IN" dirty="0" smtClean="0"/>
              <a:t>Convert z values to a probabilities</a:t>
            </a:r>
            <a:endParaRPr lang="en-IN" dirty="0"/>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28</a:t>
            </a:fld>
            <a:endParaRPr lang="en-US" dirty="0"/>
          </a:p>
        </p:txBody>
      </p:sp>
    </p:spTree>
    <p:extLst>
      <p:ext uri="{BB962C8B-B14F-4D97-AF65-F5344CB8AC3E}">
        <p14:creationId xmlns:p14="http://schemas.microsoft.com/office/powerpoint/2010/main" val="42348676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Calculating the standard deviation of each project event</a:t>
            </a:r>
            <a:endParaRPr lang="en-IN" dirty="0"/>
          </a:p>
        </p:txBody>
      </p:sp>
      <p:sp>
        <p:nvSpPr>
          <p:cNvPr id="3" name="Content Placeholder 2"/>
          <p:cNvSpPr>
            <a:spLocks noGrp="1"/>
          </p:cNvSpPr>
          <p:nvPr>
            <p:ph idx="1"/>
          </p:nvPr>
        </p:nvSpPr>
        <p:spPr/>
        <p:txBody>
          <a:bodyPr/>
          <a:lstStyle/>
          <a:p>
            <a:r>
              <a:rPr lang="en-IN" dirty="0" smtClean="0"/>
              <a:t>Add SD of the activities in the path</a:t>
            </a:r>
          </a:p>
          <a:p>
            <a:pPr lvl="1"/>
            <a:r>
              <a:rPr lang="en-IN" dirty="0" smtClean="0"/>
              <a:t>Add their squares and find the square root of the sum</a:t>
            </a:r>
            <a:endParaRPr lang="en-IN" dirty="0"/>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29</a:t>
            </a:fld>
            <a:endParaRPr lang="en-US" dirty="0"/>
          </a:p>
        </p:txBody>
      </p:sp>
    </p:spTree>
    <p:extLst>
      <p:ext uri="{BB962C8B-B14F-4D97-AF65-F5344CB8AC3E}">
        <p14:creationId xmlns:p14="http://schemas.microsoft.com/office/powerpoint/2010/main" val="31138893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Calculating </a:t>
            </a:r>
            <a:r>
              <a:rPr lang="en-IN" cap="none" dirty="0" smtClean="0"/>
              <a:t>z</a:t>
            </a:r>
            <a:r>
              <a:rPr lang="en-IN" dirty="0" smtClean="0"/>
              <a:t> value</a:t>
            </a:r>
            <a:endParaRPr lang="en-IN"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306614" y="1357810"/>
                <a:ext cx="4927932" cy="4719605"/>
              </a:xfrm>
            </p:spPr>
            <p:txBody>
              <a:bodyPr/>
              <a:lstStyle/>
              <a:p>
                <a14:m>
                  <m:oMath xmlns:m="http://schemas.openxmlformats.org/officeDocument/2006/math">
                    <m:r>
                      <a:rPr lang="en-IN" b="0" i="1" smtClean="0">
                        <a:latin typeface="Cambria Math" panose="02040503050406030204" pitchFamily="18" charset="0"/>
                      </a:rPr>
                      <m:t>𝑧</m:t>
                    </m:r>
                    <m:r>
                      <a:rPr lang="en-IN" b="0" i="1" smtClean="0">
                        <a:latin typeface="Cambria Math" panose="02040503050406030204" pitchFamily="18" charset="0"/>
                      </a:rPr>
                      <m:t>=</m:t>
                    </m:r>
                    <m:f>
                      <m:fPr>
                        <m:type m:val="skw"/>
                        <m:ctrlPr>
                          <a:rPr lang="en-IN" b="0" i="1" smtClean="0">
                            <a:latin typeface="Cambria Math" panose="02040503050406030204" pitchFamily="18" charset="0"/>
                          </a:rPr>
                        </m:ctrlPr>
                      </m:fPr>
                      <m:num>
                        <m:d>
                          <m:dPr>
                            <m:ctrlPr>
                              <a:rPr lang="en-IN" b="0" i="1" smtClean="0">
                                <a:latin typeface="Cambria Math" panose="02040503050406030204" pitchFamily="18" charset="0"/>
                              </a:rPr>
                            </m:ctrlPr>
                          </m:dPr>
                          <m:e>
                            <m:r>
                              <a:rPr lang="en-IN" b="0" i="1" smtClean="0">
                                <a:latin typeface="Cambria Math" panose="02040503050406030204" pitchFamily="18" charset="0"/>
                              </a:rPr>
                              <m:t>𝑇</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𝑡</m:t>
                                </m:r>
                              </m:e>
                              <m:sub>
                                <m:r>
                                  <a:rPr lang="en-IN" b="0" i="1" smtClean="0">
                                    <a:latin typeface="Cambria Math" panose="02040503050406030204" pitchFamily="18" charset="0"/>
                                  </a:rPr>
                                  <m:t>𝑒</m:t>
                                </m:r>
                              </m:sub>
                            </m:sSub>
                          </m:e>
                        </m:d>
                      </m:num>
                      <m:den>
                        <m:r>
                          <a:rPr lang="en-IN" b="0" i="1" smtClean="0">
                            <a:latin typeface="Cambria Math" panose="02040503050406030204" pitchFamily="18" charset="0"/>
                          </a:rPr>
                          <m:t>𝑠</m:t>
                        </m:r>
                      </m:den>
                    </m:f>
                  </m:oMath>
                </a14:m>
                <a:endParaRPr lang="en-IN" dirty="0" smtClean="0"/>
              </a:p>
              <a:p>
                <a:r>
                  <a:rPr lang="en-IN" dirty="0" smtClean="0"/>
                  <a:t>T=40</a:t>
                </a:r>
              </a:p>
              <a:p>
                <a:endParaRPr lang="en-IN"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306614" y="1357810"/>
                <a:ext cx="4927932" cy="4719605"/>
              </a:xfrm>
              <a:blipFill>
                <a:blip r:embed="rId2"/>
                <a:stretch>
                  <a:fillRect l="-2225"/>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30</a:t>
            </a:fld>
            <a:endParaRPr lang="en-US" dirty="0"/>
          </a:p>
        </p:txBody>
      </p:sp>
      <p:sp>
        <p:nvSpPr>
          <p:cNvPr id="7" name="TextBox 6"/>
          <p:cNvSpPr txBox="1"/>
          <p:nvPr/>
        </p:nvSpPr>
        <p:spPr>
          <a:xfrm>
            <a:off x="6108250" y="984439"/>
            <a:ext cx="5167745" cy="5324535"/>
          </a:xfrm>
          <a:prstGeom prst="rect">
            <a:avLst/>
          </a:prstGeom>
          <a:noFill/>
        </p:spPr>
        <p:txBody>
          <a:bodyPr wrap="square" rtlCol="0">
            <a:spAutoFit/>
          </a:bodyPr>
          <a:lstStyle/>
          <a:p>
            <a:r>
              <a:rPr lang="en-IN" sz="2400" dirty="0" smtClean="0"/>
              <a:t>(40-36.1)/2.2</a:t>
            </a:r>
          </a:p>
          <a:p>
            <a:r>
              <a:rPr lang="en-IN" sz="2400" dirty="0" smtClean="0"/>
              <a:t>3.9/2.2</a:t>
            </a:r>
          </a:p>
          <a:p>
            <a:r>
              <a:rPr lang="en-IN" sz="2400" dirty="0" smtClean="0"/>
              <a:t>z=1.77</a:t>
            </a:r>
          </a:p>
          <a:p>
            <a:endParaRPr lang="en-IN" sz="2400" dirty="0"/>
          </a:p>
          <a:p>
            <a:r>
              <a:rPr lang="en-IN" sz="2400" dirty="0" smtClean="0"/>
              <a:t>T=39</a:t>
            </a:r>
          </a:p>
          <a:p>
            <a:r>
              <a:rPr lang="en-IN" sz="2400" dirty="0" smtClean="0"/>
              <a:t>Z=(39-36.1)/2.2</a:t>
            </a:r>
          </a:p>
          <a:p>
            <a:r>
              <a:rPr lang="en-IN" sz="2400" dirty="0" smtClean="0"/>
              <a:t>=2.9/2.2</a:t>
            </a:r>
          </a:p>
          <a:p>
            <a:r>
              <a:rPr lang="en-IN" sz="2400" dirty="0" smtClean="0"/>
              <a:t>=1.32</a:t>
            </a:r>
          </a:p>
          <a:p>
            <a:r>
              <a:rPr lang="en-IN" sz="2400" dirty="0" smtClean="0"/>
              <a:t>91%</a:t>
            </a:r>
          </a:p>
          <a:p>
            <a:r>
              <a:rPr lang="en-IN" sz="2400" dirty="0" smtClean="0"/>
              <a:t>9%</a:t>
            </a:r>
          </a:p>
          <a:p>
            <a:endParaRPr lang="en-IN" sz="2400" dirty="0"/>
          </a:p>
          <a:p>
            <a:r>
              <a:rPr lang="en-IN" sz="2400" dirty="0" smtClean="0"/>
              <a:t>96%</a:t>
            </a:r>
          </a:p>
          <a:p>
            <a:r>
              <a:rPr lang="en-IN" sz="2400" dirty="0" smtClean="0"/>
              <a:t>4%</a:t>
            </a:r>
          </a:p>
          <a:p>
            <a:endParaRPr lang="en-IN" sz="2800" dirty="0"/>
          </a:p>
        </p:txBody>
      </p:sp>
    </p:spTree>
    <p:extLst>
      <p:ext uri="{BB962C8B-B14F-4D97-AF65-F5344CB8AC3E}">
        <p14:creationId xmlns:p14="http://schemas.microsoft.com/office/powerpoint/2010/main" val="90105682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001363" cy="6655505"/>
          </a:xfrm>
        </p:spPr>
      </p:pic>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31</a:t>
            </a:fld>
            <a:endParaRPr lang="en-US" dirty="0"/>
          </a:p>
        </p:txBody>
      </p:sp>
    </p:spTree>
    <p:extLst>
      <p:ext uri="{BB962C8B-B14F-4D97-AF65-F5344CB8AC3E}">
        <p14:creationId xmlns:p14="http://schemas.microsoft.com/office/powerpoint/2010/main" val="251393720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Advantages of PERT</a:t>
            </a:r>
            <a:endParaRPr lang="en-IN" dirty="0"/>
          </a:p>
        </p:txBody>
      </p:sp>
      <p:sp>
        <p:nvSpPr>
          <p:cNvPr id="3" name="Content Placeholder 2"/>
          <p:cNvSpPr>
            <a:spLocks noGrp="1"/>
          </p:cNvSpPr>
          <p:nvPr>
            <p:ph idx="1"/>
          </p:nvPr>
        </p:nvSpPr>
        <p:spPr>
          <a:xfrm>
            <a:off x="1416204" y="1238149"/>
            <a:ext cx="9712712" cy="4719605"/>
          </a:xfrm>
        </p:spPr>
        <p:txBody>
          <a:bodyPr/>
          <a:lstStyle/>
          <a:p>
            <a:r>
              <a:rPr lang="en-IN" dirty="0" smtClean="0"/>
              <a:t>Focuses attention on the uncertainty of forecasting</a:t>
            </a:r>
          </a:p>
          <a:p>
            <a:r>
              <a:rPr lang="en-IN" dirty="0" smtClean="0"/>
              <a:t>To calculate standard deviation, to rank the activity</a:t>
            </a:r>
          </a:p>
          <a:p>
            <a:r>
              <a:rPr lang="en-IN" dirty="0" smtClean="0"/>
              <a:t> </a:t>
            </a:r>
            <a:endParaRPr lang="en-IN" dirty="0"/>
          </a:p>
        </p:txBody>
      </p:sp>
      <p:sp>
        <p:nvSpPr>
          <p:cNvPr id="4" name="Date Placeholder 3"/>
          <p:cNvSpPr>
            <a:spLocks noGrp="1"/>
          </p:cNvSpPr>
          <p:nvPr>
            <p:ph type="dt" sz="half" idx="10"/>
          </p:nvPr>
        </p:nvSpPr>
        <p:spPr/>
        <p:txBody>
          <a:bodyPr/>
          <a:lstStyle/>
          <a:p>
            <a:fld id="{4DA3D7ED-4D6F-441B-A7AA-E3D1E9A9B49C}" type="datetime3">
              <a:rPr lang="en-US" smtClean="0"/>
              <a:t>7 August 2021</a:t>
            </a:fld>
            <a:endParaRPr lang="en-US" dirty="0"/>
          </a:p>
        </p:txBody>
      </p:sp>
      <p:sp>
        <p:nvSpPr>
          <p:cNvPr id="5" name="Footer Placeholder 4"/>
          <p:cNvSpPr>
            <a:spLocks noGrp="1"/>
          </p:cNvSpPr>
          <p:nvPr>
            <p:ph type="ftr" sz="quarter" idx="11"/>
          </p:nvPr>
        </p:nvSpPr>
        <p:spPr/>
        <p:txBody>
          <a:bodyPr/>
          <a:lstStyle/>
          <a:p>
            <a:r>
              <a:rPr lang="en-US" smtClean="0"/>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32</a:t>
            </a:fld>
            <a:endParaRPr lang="en-US" dirty="0"/>
          </a:p>
        </p:txBody>
      </p:sp>
    </p:spTree>
    <p:extLst>
      <p:ext uri="{BB962C8B-B14F-4D97-AF65-F5344CB8AC3E}">
        <p14:creationId xmlns:p14="http://schemas.microsoft.com/office/powerpoint/2010/main" val="213146867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2282</TotalTime>
  <Words>1006</Words>
  <Application>Microsoft Office PowerPoint</Application>
  <PresentationFormat>Widescreen</PresentationFormat>
  <Paragraphs>305</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Cambria Math</vt:lpstr>
      <vt:lpstr>Gill Sans MT</vt:lpstr>
      <vt:lpstr>Gallery</vt:lpstr>
      <vt:lpstr>Software Project Management  Risk management</vt:lpstr>
      <vt:lpstr>Learning objectives</vt:lpstr>
      <vt:lpstr>risk</vt:lpstr>
      <vt:lpstr>Categories of risk</vt:lpstr>
      <vt:lpstr>Categories of risk</vt:lpstr>
      <vt:lpstr>Risk management approaches</vt:lpstr>
      <vt:lpstr>Framework for dealing with risk</vt:lpstr>
      <vt:lpstr>Risk identification</vt:lpstr>
      <vt:lpstr>Risk identification</vt:lpstr>
      <vt:lpstr>Risk identification</vt:lpstr>
      <vt:lpstr>Risk assessment</vt:lpstr>
      <vt:lpstr>Risk assessment</vt:lpstr>
      <vt:lpstr>Risk assessment</vt:lpstr>
      <vt:lpstr>PowerPoint Presentation</vt:lpstr>
      <vt:lpstr>PowerPoint Presentation</vt:lpstr>
      <vt:lpstr>PowerPoint Presentation</vt:lpstr>
      <vt:lpstr>Risk planning</vt:lpstr>
      <vt:lpstr>Risk planning</vt:lpstr>
      <vt:lpstr>Risk planning</vt:lpstr>
      <vt:lpstr>Risk planning</vt:lpstr>
      <vt:lpstr>Risk planning</vt:lpstr>
      <vt:lpstr>Risk Management</vt:lpstr>
      <vt:lpstr>Boehm’s top 10 risks and counter measures</vt:lpstr>
      <vt:lpstr>Risk mitigation, monitoring, and management (rmmm) plan</vt:lpstr>
      <vt:lpstr>PERT (Program Evaluation and Review Technique)</vt:lpstr>
      <vt:lpstr>PowerPoint Presentation</vt:lpstr>
      <vt:lpstr>Activity standard deviation</vt:lpstr>
      <vt:lpstr>Likelihood of meeting targets</vt:lpstr>
      <vt:lpstr>Calculating the standard deviation of each project event</vt:lpstr>
      <vt:lpstr>Calculating z value</vt:lpstr>
      <vt:lpstr>PowerPoint Presentation</vt:lpstr>
      <vt:lpstr>Advantages of PERT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Project Management</dc:title>
  <dc:creator>Evangelin D</dc:creator>
  <cp:lastModifiedBy>Evangelin D</cp:lastModifiedBy>
  <cp:revision>257</cp:revision>
  <dcterms:created xsi:type="dcterms:W3CDTF">2019-08-23T04:10:40Z</dcterms:created>
  <dcterms:modified xsi:type="dcterms:W3CDTF">2021-08-07T04:14:52Z</dcterms:modified>
</cp:coreProperties>
</file>