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3" r:id="rId20"/>
    <p:sldId id="275" r:id="rId21"/>
    <p:sldId id="276" r:id="rId22"/>
    <p:sldId id="286" r:id="rId23"/>
    <p:sldId id="277" r:id="rId24"/>
    <p:sldId id="278" r:id="rId25"/>
    <p:sldId id="279" r:id="rId26"/>
    <p:sldId id="311" r:id="rId27"/>
    <p:sldId id="312" r:id="rId28"/>
    <p:sldId id="314" r:id="rId29"/>
    <p:sldId id="280" r:id="rId30"/>
    <p:sldId id="313" r:id="rId31"/>
    <p:sldId id="315" r:id="rId32"/>
    <p:sldId id="283" r:id="rId33"/>
    <p:sldId id="351" r:id="rId34"/>
    <p:sldId id="304" r:id="rId35"/>
    <p:sldId id="338" r:id="rId36"/>
    <p:sldId id="287" r:id="rId37"/>
    <p:sldId id="339" r:id="rId38"/>
    <p:sldId id="285" r:id="rId39"/>
    <p:sldId id="341" r:id="rId40"/>
    <p:sldId id="340" r:id="rId41"/>
    <p:sldId id="342" r:id="rId42"/>
    <p:sldId id="343" r:id="rId43"/>
    <p:sldId id="288" r:id="rId44"/>
    <p:sldId id="344" r:id="rId45"/>
    <p:sldId id="289" r:id="rId46"/>
    <p:sldId id="290" r:id="rId47"/>
    <p:sldId id="291" r:id="rId48"/>
    <p:sldId id="292" r:id="rId49"/>
    <p:sldId id="316" r:id="rId50"/>
    <p:sldId id="345" r:id="rId51"/>
    <p:sldId id="318" r:id="rId52"/>
    <p:sldId id="319" r:id="rId53"/>
    <p:sldId id="320" r:id="rId54"/>
    <p:sldId id="322" r:id="rId55"/>
    <p:sldId id="323" r:id="rId56"/>
    <p:sldId id="324" r:id="rId57"/>
    <p:sldId id="325" r:id="rId58"/>
    <p:sldId id="326" r:id="rId59"/>
    <p:sldId id="327" r:id="rId60"/>
    <p:sldId id="321" r:id="rId61"/>
    <p:sldId id="352" r:id="rId62"/>
    <p:sldId id="353" r:id="rId63"/>
    <p:sldId id="328" r:id="rId64"/>
    <p:sldId id="329" r:id="rId65"/>
    <p:sldId id="330" r:id="rId66"/>
    <p:sldId id="331" r:id="rId67"/>
    <p:sldId id="332" r:id="rId68"/>
    <p:sldId id="333" r:id="rId69"/>
    <p:sldId id="334" r:id="rId70"/>
    <p:sldId id="335" r:id="rId71"/>
    <p:sldId id="336" r:id="rId72"/>
    <p:sldId id="337" r:id="rId73"/>
    <p:sldId id="346" r:id="rId74"/>
    <p:sldId id="347" r:id="rId75"/>
    <p:sldId id="348" r:id="rId76"/>
    <p:sldId id="349" r:id="rId77"/>
    <p:sldId id="350"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721" autoAdjust="0"/>
  </p:normalViewPr>
  <p:slideViewPr>
    <p:cSldViewPr snapToGrid="0">
      <p:cViewPr varScale="1">
        <p:scale>
          <a:sx n="86" d="100"/>
          <a:sy n="86" d="100"/>
        </p:scale>
        <p:origin x="114"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B3128-46BE-4F05-B90D-E0A81F2C74CE}" type="datetimeFigureOut">
              <a:rPr lang="en-IN" smtClean="0"/>
              <a:t>17-08-2021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1995B-7B11-49A8-9854-153F0D049CDE}" type="slidenum">
              <a:rPr lang="en-IN" smtClean="0"/>
              <a:t>‹#›</a:t>
            </a:fld>
            <a:endParaRPr lang="en-IN"/>
          </a:p>
        </p:txBody>
      </p:sp>
    </p:spTree>
    <p:extLst>
      <p:ext uri="{BB962C8B-B14F-4D97-AF65-F5344CB8AC3E}">
        <p14:creationId xmlns:p14="http://schemas.microsoft.com/office/powerpoint/2010/main" val="329328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nchor="t"/>
          <a:lstStyle>
            <a:lvl1pPr>
              <a:defRPr sz="2800"/>
            </a:lvl1pPr>
            <a:lvl2pPr>
              <a:defRPr sz="2800"/>
            </a:lvl2pPr>
            <a:lvl3pPr>
              <a:defRPr sz="2800"/>
            </a:lvl3pPr>
            <a:lvl4pPr>
              <a:defRPr sz="2800"/>
            </a:lvl4pPr>
            <a:lvl5pPr>
              <a:defRPr sz="2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8/17/2021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8/17/2021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016000" y="2784475"/>
            <a:ext cx="10208683"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83BEC5BD-6AA0-7640-B441-610D18D92DC0}" type="datetimeFigureOut">
              <a:rPr lang="en-US" smtClean="0"/>
              <a:pPr/>
              <a:t>8/17/2021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1EC08E-654A-E94C-BF4A-761FAF808069}" type="slidenum">
              <a:rPr lang="en-US" smtClean="0"/>
              <a:pPr/>
              <a:t>‹#›</a:t>
            </a:fld>
            <a:endParaRPr lang="en-US"/>
          </a:p>
        </p:txBody>
      </p:sp>
      <p:sp>
        <p:nvSpPr>
          <p:cNvPr id="8" name="Content Placeholder 2"/>
          <p:cNvSpPr>
            <a:spLocks noGrp="1"/>
          </p:cNvSpPr>
          <p:nvPr>
            <p:ph sz="half" idx="13"/>
          </p:nvPr>
        </p:nvSpPr>
        <p:spPr>
          <a:xfrm>
            <a:off x="1016000" y="4497070"/>
            <a:ext cx="10208683" cy="155448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extLst>
      <p:ext uri="{BB962C8B-B14F-4D97-AF65-F5344CB8AC3E}">
        <p14:creationId xmlns:p14="http://schemas.microsoft.com/office/powerpoint/2010/main" val="4201415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8/17/2021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80" y="0"/>
            <a:ext cx="8637073" cy="3181082"/>
          </a:xfrm>
        </p:spPr>
        <p:txBody>
          <a:bodyPr>
            <a:normAutofit/>
          </a:bodyPr>
          <a:lstStyle/>
          <a:p>
            <a:r>
              <a:rPr lang="en-IN" sz="4800" dirty="0" smtClean="0"/>
              <a:t>Software Project Management </a:t>
            </a:r>
            <a:br>
              <a:rPr lang="en-IN" sz="4800" dirty="0" smtClean="0"/>
            </a:br>
            <a:r>
              <a:rPr lang="en-IN" sz="4800" dirty="0" smtClean="0">
                <a:solidFill>
                  <a:srgbClr val="0000CC"/>
                </a:solidFill>
              </a:rPr>
              <a:t>activity planning</a:t>
            </a:r>
            <a:endParaRPr lang="en-IN" sz="4800" dirty="0">
              <a:solidFill>
                <a:srgbClr val="0000CC"/>
              </a:solidFill>
            </a:endParaRPr>
          </a:p>
        </p:txBody>
      </p:sp>
      <p:sp>
        <p:nvSpPr>
          <p:cNvPr id="3" name="Subtitle 2"/>
          <p:cNvSpPr>
            <a:spLocks noGrp="1"/>
          </p:cNvSpPr>
          <p:nvPr>
            <p:ph type="subTitle" idx="1"/>
          </p:nvPr>
        </p:nvSpPr>
        <p:spPr>
          <a:xfrm>
            <a:off x="2417780" y="3531204"/>
            <a:ext cx="8637072" cy="1944438"/>
          </a:xfrm>
        </p:spPr>
        <p:txBody>
          <a:bodyPr>
            <a:normAutofit fontScale="85000" lnSpcReduction="20000"/>
          </a:bodyPr>
          <a:lstStyle/>
          <a:p>
            <a:r>
              <a:rPr lang="en-IN" dirty="0" err="1" smtClean="0"/>
              <a:t>Dr.</a:t>
            </a:r>
            <a:r>
              <a:rPr lang="en-IN" dirty="0" smtClean="0"/>
              <a:t> D Evangelin </a:t>
            </a:r>
            <a:r>
              <a:rPr lang="en-IN" dirty="0" err="1" smtClean="0"/>
              <a:t>geetha</a:t>
            </a:r>
            <a:endParaRPr lang="en-IN" dirty="0" smtClean="0"/>
          </a:p>
          <a:p>
            <a:r>
              <a:rPr lang="en-IN" dirty="0" smtClean="0"/>
              <a:t>Associate professor</a:t>
            </a:r>
          </a:p>
          <a:p>
            <a:r>
              <a:rPr lang="en-IN" dirty="0" smtClean="0"/>
              <a:t>Department of master of computer applications</a:t>
            </a:r>
          </a:p>
          <a:p>
            <a:r>
              <a:rPr lang="en-IN" dirty="0" smtClean="0"/>
              <a:t>Ramaiah institute of technology</a:t>
            </a:r>
          </a:p>
          <a:p>
            <a:r>
              <a:rPr lang="en-IN" dirty="0" smtClean="0"/>
              <a:t>Bangalore - 560054</a:t>
            </a:r>
            <a:endParaRPr lang="en-IN" dirty="0"/>
          </a:p>
        </p:txBody>
      </p:sp>
    </p:spTree>
    <p:extLst>
      <p:ext uri="{BB962C8B-B14F-4D97-AF65-F5344CB8AC3E}">
        <p14:creationId xmlns:p14="http://schemas.microsoft.com/office/powerpoint/2010/main" val="35170040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309" y="113143"/>
            <a:ext cx="9603275" cy="600535"/>
          </a:xfrm>
        </p:spPr>
        <p:txBody>
          <a:bodyPr/>
          <a:lstStyle/>
          <a:p>
            <a:r>
              <a:rPr lang="en-IN" dirty="0" smtClean="0"/>
              <a:t>Activity planning</a:t>
            </a:r>
            <a:endParaRPr lang="en-IN" dirty="0"/>
          </a:p>
        </p:txBody>
      </p:sp>
      <p:sp>
        <p:nvSpPr>
          <p:cNvPr id="3" name="Content Placeholder 2"/>
          <p:cNvSpPr>
            <a:spLocks noGrp="1"/>
          </p:cNvSpPr>
          <p:nvPr>
            <p:ph idx="1"/>
          </p:nvPr>
        </p:nvSpPr>
        <p:spPr>
          <a:xfrm>
            <a:off x="1284309" y="825190"/>
            <a:ext cx="9603275" cy="5051503"/>
          </a:xfrm>
        </p:spPr>
        <p:txBody>
          <a:bodyPr/>
          <a:lstStyle/>
          <a:p>
            <a:r>
              <a:rPr lang="en-IN" dirty="0" smtClean="0"/>
              <a:t>Learning Objectives</a:t>
            </a:r>
          </a:p>
          <a:p>
            <a:pPr lvl="1"/>
            <a:r>
              <a:rPr lang="en-IN" dirty="0" smtClean="0"/>
              <a:t>Produce an activity plan </a:t>
            </a:r>
          </a:p>
          <a:p>
            <a:pPr lvl="1"/>
            <a:r>
              <a:rPr lang="en-US" dirty="0" smtClean="0"/>
              <a:t>Estimate </a:t>
            </a:r>
            <a:r>
              <a:rPr lang="en-US" dirty="0"/>
              <a:t>the overall duration of a project</a:t>
            </a:r>
            <a:r>
              <a:rPr lang="en-US" dirty="0" smtClean="0"/>
              <a:t>.</a:t>
            </a:r>
          </a:p>
          <a:p>
            <a:pPr lvl="1"/>
            <a:r>
              <a:rPr lang="en-US" dirty="0" smtClean="0"/>
              <a:t>Be </a:t>
            </a:r>
            <a:r>
              <a:rPr lang="en-US" dirty="0"/>
              <a:t>able to use different scheduling </a:t>
            </a:r>
            <a:r>
              <a:rPr lang="en-US" dirty="0" smtClean="0"/>
              <a:t>techniques.</a:t>
            </a:r>
          </a:p>
          <a:p>
            <a:pPr lvl="1"/>
            <a:r>
              <a:rPr lang="en-US" dirty="0" smtClean="0"/>
              <a:t>Determine </a:t>
            </a:r>
            <a:r>
              <a:rPr lang="en-US" dirty="0"/>
              <a:t>the critical path and critical activities for a project.</a:t>
            </a:r>
            <a:endParaRPr lang="en-IN" dirty="0"/>
          </a:p>
        </p:txBody>
      </p:sp>
    </p:spTree>
    <p:extLst>
      <p:ext uri="{BB962C8B-B14F-4D97-AF65-F5344CB8AC3E}">
        <p14:creationId xmlns:p14="http://schemas.microsoft.com/office/powerpoint/2010/main" val="2271824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Plan</a:t>
            </a:r>
          </a:p>
        </p:txBody>
      </p:sp>
      <p:sp>
        <p:nvSpPr>
          <p:cNvPr id="3" name="Content Placeholder 2"/>
          <p:cNvSpPr>
            <a:spLocks noGrp="1"/>
          </p:cNvSpPr>
          <p:nvPr>
            <p:ph idx="1"/>
          </p:nvPr>
        </p:nvSpPr>
        <p:spPr/>
        <p:txBody>
          <a:bodyPr>
            <a:normAutofit fontScale="92500" lnSpcReduction="20000"/>
          </a:bodyPr>
          <a:lstStyle/>
          <a:p>
            <a:r>
              <a:rPr lang="en-US" dirty="0"/>
              <a:t>A detailed plan for a project should include: </a:t>
            </a:r>
            <a:endParaRPr lang="en-US" dirty="0" smtClean="0"/>
          </a:p>
          <a:p>
            <a:pPr lvl="1"/>
            <a:r>
              <a:rPr lang="en-US" dirty="0" smtClean="0"/>
              <a:t>Estimate </a:t>
            </a:r>
            <a:r>
              <a:rPr lang="en-US" dirty="0"/>
              <a:t>of </a:t>
            </a:r>
            <a:r>
              <a:rPr lang="en-US" dirty="0" smtClean="0"/>
              <a:t>effort.</a:t>
            </a:r>
          </a:p>
          <a:p>
            <a:pPr lvl="2"/>
            <a:r>
              <a:rPr lang="en-US" dirty="0" smtClean="0"/>
              <a:t>For </a:t>
            </a:r>
            <a:r>
              <a:rPr lang="en-US" dirty="0"/>
              <a:t>the project as a whole. </a:t>
            </a:r>
            <a:endParaRPr lang="en-US" dirty="0" smtClean="0"/>
          </a:p>
          <a:p>
            <a:pPr lvl="2"/>
            <a:r>
              <a:rPr lang="en-US" dirty="0" smtClean="0"/>
              <a:t>For </a:t>
            </a:r>
            <a:r>
              <a:rPr lang="en-US" dirty="0"/>
              <a:t>each </a:t>
            </a:r>
            <a:r>
              <a:rPr lang="en-US" dirty="0" smtClean="0"/>
              <a:t>activity.</a:t>
            </a:r>
          </a:p>
          <a:p>
            <a:pPr lvl="1"/>
            <a:r>
              <a:rPr lang="en-US" dirty="0" smtClean="0"/>
              <a:t>Estimate </a:t>
            </a:r>
            <a:r>
              <a:rPr lang="en-US" dirty="0"/>
              <a:t>of </a:t>
            </a:r>
            <a:r>
              <a:rPr lang="en-US" dirty="0" smtClean="0"/>
              <a:t>schedule. </a:t>
            </a:r>
          </a:p>
          <a:p>
            <a:pPr lvl="2"/>
            <a:r>
              <a:rPr lang="en-US" dirty="0" smtClean="0"/>
              <a:t>For </a:t>
            </a:r>
            <a:r>
              <a:rPr lang="en-US" dirty="0"/>
              <a:t>the project as a whole. </a:t>
            </a:r>
          </a:p>
          <a:p>
            <a:pPr lvl="2"/>
            <a:r>
              <a:rPr lang="en-US" dirty="0" smtClean="0"/>
              <a:t>For </a:t>
            </a:r>
            <a:r>
              <a:rPr lang="en-US" dirty="0"/>
              <a:t>each activity.</a:t>
            </a:r>
            <a:endParaRPr lang="en-IN" dirty="0"/>
          </a:p>
        </p:txBody>
      </p:sp>
    </p:spTree>
    <p:extLst>
      <p:ext uri="{BB962C8B-B14F-4D97-AF65-F5344CB8AC3E}">
        <p14:creationId xmlns:p14="http://schemas.microsoft.com/office/powerpoint/2010/main" val="11988442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567" y="0"/>
            <a:ext cx="9603275" cy="773269"/>
          </a:xfrm>
        </p:spPr>
        <p:txBody>
          <a:bodyPr/>
          <a:lstStyle/>
          <a:p>
            <a:r>
              <a:rPr lang="en-IN" dirty="0"/>
              <a:t>Project Plan</a:t>
            </a:r>
          </a:p>
        </p:txBody>
      </p:sp>
      <p:sp>
        <p:nvSpPr>
          <p:cNvPr id="3" name="Content Placeholder 2"/>
          <p:cNvSpPr>
            <a:spLocks noGrp="1"/>
          </p:cNvSpPr>
          <p:nvPr>
            <p:ph idx="1"/>
          </p:nvPr>
        </p:nvSpPr>
        <p:spPr>
          <a:xfrm>
            <a:off x="1200567" y="773270"/>
            <a:ext cx="9854287" cy="4693076"/>
          </a:xfrm>
        </p:spPr>
        <p:txBody>
          <a:bodyPr>
            <a:normAutofit fontScale="92500" lnSpcReduction="20000"/>
          </a:bodyPr>
          <a:lstStyle/>
          <a:p>
            <a:r>
              <a:rPr lang="en-US" dirty="0"/>
              <a:t> Planning will enable us to: </a:t>
            </a:r>
            <a:endParaRPr lang="en-US" dirty="0" smtClean="0"/>
          </a:p>
          <a:p>
            <a:pPr lvl="1"/>
            <a:r>
              <a:rPr lang="en-US" dirty="0" smtClean="0"/>
              <a:t>Ensure </a:t>
            </a:r>
            <a:r>
              <a:rPr lang="en-US" dirty="0"/>
              <a:t>availability of resources when required. </a:t>
            </a:r>
            <a:endParaRPr lang="en-US" dirty="0" smtClean="0"/>
          </a:p>
          <a:p>
            <a:pPr lvl="1"/>
            <a:r>
              <a:rPr lang="en-US" dirty="0" smtClean="0"/>
              <a:t>Produce </a:t>
            </a:r>
            <a:r>
              <a:rPr lang="en-US" dirty="0"/>
              <a:t>a detailed schedule showing which staff carry out each activity. </a:t>
            </a:r>
            <a:endParaRPr lang="en-US" dirty="0" smtClean="0"/>
          </a:p>
          <a:p>
            <a:pPr lvl="1"/>
            <a:r>
              <a:rPr lang="en-US" dirty="0" smtClean="0"/>
              <a:t>Avoid </a:t>
            </a:r>
            <a:r>
              <a:rPr lang="en-US" dirty="0"/>
              <a:t>different activities competing for the same resources at the same time. </a:t>
            </a:r>
            <a:endParaRPr lang="en-US" dirty="0" smtClean="0"/>
          </a:p>
          <a:p>
            <a:pPr lvl="1"/>
            <a:r>
              <a:rPr lang="en-US" dirty="0" smtClean="0"/>
              <a:t>Produce </a:t>
            </a:r>
            <a:r>
              <a:rPr lang="en-US" dirty="0"/>
              <a:t>a detailed plan against which actual achievement may be </a:t>
            </a:r>
            <a:r>
              <a:rPr lang="en-US" dirty="0" smtClean="0"/>
              <a:t>measured.</a:t>
            </a:r>
          </a:p>
          <a:p>
            <a:pPr lvl="1"/>
            <a:r>
              <a:rPr lang="en-US" dirty="0" smtClean="0"/>
              <a:t>Produce </a:t>
            </a:r>
            <a:r>
              <a:rPr lang="en-US" dirty="0"/>
              <a:t>a </a:t>
            </a:r>
            <a:r>
              <a:rPr lang="en-US" dirty="0" smtClean="0"/>
              <a:t>timed </a:t>
            </a:r>
            <a:r>
              <a:rPr lang="en-US" dirty="0"/>
              <a:t>“cash flow forecast”. </a:t>
            </a:r>
          </a:p>
          <a:p>
            <a:pPr lvl="1"/>
            <a:r>
              <a:rPr lang="en-US" dirty="0" smtClean="0"/>
              <a:t>Re-plan </a:t>
            </a:r>
            <a:r>
              <a:rPr lang="en-US" dirty="0"/>
              <a:t>the project during its life to correct drift from target.</a:t>
            </a:r>
            <a:endParaRPr lang="en-IN" dirty="0"/>
          </a:p>
        </p:txBody>
      </p:sp>
    </p:spTree>
    <p:extLst>
      <p:ext uri="{BB962C8B-B14F-4D97-AF65-F5344CB8AC3E}">
        <p14:creationId xmlns:p14="http://schemas.microsoft.com/office/powerpoint/2010/main" val="2104631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567" y="0"/>
            <a:ext cx="9603275" cy="773269"/>
          </a:xfrm>
        </p:spPr>
        <p:txBody>
          <a:bodyPr/>
          <a:lstStyle/>
          <a:p>
            <a:r>
              <a:rPr lang="en-IN" dirty="0"/>
              <a:t>Project Plan</a:t>
            </a:r>
          </a:p>
        </p:txBody>
      </p:sp>
      <p:sp>
        <p:nvSpPr>
          <p:cNvPr id="3" name="Content Placeholder 2"/>
          <p:cNvSpPr>
            <a:spLocks noGrp="1"/>
          </p:cNvSpPr>
          <p:nvPr>
            <p:ph idx="1"/>
          </p:nvPr>
        </p:nvSpPr>
        <p:spPr>
          <a:xfrm>
            <a:off x="1200567" y="773270"/>
            <a:ext cx="9854287" cy="4693076"/>
          </a:xfrm>
        </p:spPr>
        <p:txBody>
          <a:bodyPr/>
          <a:lstStyle/>
          <a:p>
            <a:r>
              <a:rPr lang="en-US" dirty="0"/>
              <a:t>  A plan must be stated as a set of targets. </a:t>
            </a:r>
            <a:endParaRPr lang="en-US" dirty="0" smtClean="0"/>
          </a:p>
          <a:p>
            <a:pPr lvl="1"/>
            <a:r>
              <a:rPr lang="en-US" dirty="0" smtClean="0"/>
              <a:t>The </a:t>
            </a:r>
            <a:r>
              <a:rPr lang="en-US" dirty="0"/>
              <a:t>activity plan provides a target start and a target completion date for each activity. </a:t>
            </a:r>
          </a:p>
          <a:p>
            <a:pPr lvl="1"/>
            <a:r>
              <a:rPr lang="en-US" dirty="0" smtClean="0"/>
              <a:t>Ensuring </a:t>
            </a:r>
            <a:r>
              <a:rPr lang="en-US" dirty="0"/>
              <a:t>that each activity produces a tangible product or deliverable will make monitoring the project’s progress easy. </a:t>
            </a:r>
            <a:r>
              <a:rPr lang="en-US" dirty="0" smtClean="0"/>
              <a:t> Why </a:t>
            </a:r>
            <a:r>
              <a:rPr lang="en-US" dirty="0"/>
              <a:t>? </a:t>
            </a:r>
            <a:endParaRPr lang="en-US" dirty="0" smtClean="0"/>
          </a:p>
          <a:p>
            <a:pPr lvl="1"/>
            <a:r>
              <a:rPr lang="en-US" dirty="0" smtClean="0"/>
              <a:t>As </a:t>
            </a:r>
            <a:r>
              <a:rPr lang="en-US" dirty="0"/>
              <a:t>the project progresses it is unlikely that everything will go according to plan.</a:t>
            </a:r>
            <a:endParaRPr lang="en-IN" dirty="0"/>
          </a:p>
        </p:txBody>
      </p:sp>
    </p:spTree>
    <p:extLst>
      <p:ext uri="{BB962C8B-B14F-4D97-AF65-F5344CB8AC3E}">
        <p14:creationId xmlns:p14="http://schemas.microsoft.com/office/powerpoint/2010/main" val="24904231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567" y="0"/>
            <a:ext cx="9603275" cy="773269"/>
          </a:xfrm>
        </p:spPr>
        <p:txBody>
          <a:bodyPr/>
          <a:lstStyle/>
          <a:p>
            <a:r>
              <a:rPr lang="en-IN" dirty="0"/>
              <a:t>Project Plan</a:t>
            </a:r>
          </a:p>
        </p:txBody>
      </p:sp>
      <p:sp>
        <p:nvSpPr>
          <p:cNvPr id="3" name="Content Placeholder 2"/>
          <p:cNvSpPr>
            <a:spLocks noGrp="1"/>
          </p:cNvSpPr>
          <p:nvPr>
            <p:ph idx="1"/>
          </p:nvPr>
        </p:nvSpPr>
        <p:spPr>
          <a:xfrm>
            <a:off x="1200567" y="773270"/>
            <a:ext cx="9854287" cy="4693076"/>
          </a:xfrm>
        </p:spPr>
        <p:txBody>
          <a:bodyPr/>
          <a:lstStyle/>
          <a:p>
            <a:r>
              <a:rPr lang="en-US" dirty="0" smtClean="0"/>
              <a:t>Most </a:t>
            </a:r>
            <a:r>
              <a:rPr lang="en-US" dirty="0"/>
              <a:t>of the project management job will be to: </a:t>
            </a:r>
            <a:endParaRPr lang="en-US" dirty="0" smtClean="0"/>
          </a:p>
          <a:p>
            <a:pPr lvl="1"/>
            <a:r>
              <a:rPr lang="en-US" dirty="0" smtClean="0"/>
              <a:t>Recognize </a:t>
            </a:r>
            <a:r>
              <a:rPr lang="en-US" dirty="0"/>
              <a:t>when something </a:t>
            </a:r>
            <a:r>
              <a:rPr lang="en-US" dirty="0" smtClean="0"/>
              <a:t>goes </a:t>
            </a:r>
            <a:r>
              <a:rPr lang="en-US" dirty="0"/>
              <a:t>wrong. </a:t>
            </a:r>
            <a:endParaRPr lang="en-US" dirty="0" smtClean="0"/>
          </a:p>
          <a:p>
            <a:pPr lvl="1"/>
            <a:r>
              <a:rPr lang="en-US" dirty="0" smtClean="0"/>
              <a:t>Identify </a:t>
            </a:r>
            <a:r>
              <a:rPr lang="en-US" dirty="0"/>
              <a:t>its causes. </a:t>
            </a:r>
            <a:endParaRPr lang="en-US" dirty="0" smtClean="0"/>
          </a:p>
          <a:p>
            <a:pPr lvl="1"/>
            <a:r>
              <a:rPr lang="en-US" dirty="0" smtClean="0"/>
              <a:t>Revise </a:t>
            </a:r>
            <a:r>
              <a:rPr lang="en-US" dirty="0"/>
              <a:t>the plan to mitigate its effect.</a:t>
            </a:r>
            <a:endParaRPr lang="en-IN" dirty="0"/>
          </a:p>
        </p:txBody>
      </p:sp>
    </p:spTree>
    <p:extLst>
      <p:ext uri="{BB962C8B-B14F-4D97-AF65-F5344CB8AC3E}">
        <p14:creationId xmlns:p14="http://schemas.microsoft.com/office/powerpoint/2010/main" val="5950145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8144" y="141132"/>
            <a:ext cx="9603275" cy="737410"/>
          </a:xfrm>
        </p:spPr>
        <p:txBody>
          <a:bodyPr/>
          <a:lstStyle/>
          <a:p>
            <a:r>
              <a:rPr lang="en-US" dirty="0"/>
              <a:t>Objectives of Activity planning</a:t>
            </a:r>
            <a:endParaRPr lang="en-IN" dirty="0"/>
          </a:p>
        </p:txBody>
      </p:sp>
      <p:sp>
        <p:nvSpPr>
          <p:cNvPr id="3" name="Content Placeholder 2"/>
          <p:cNvSpPr>
            <a:spLocks noGrp="1"/>
          </p:cNvSpPr>
          <p:nvPr>
            <p:ph idx="1"/>
          </p:nvPr>
        </p:nvSpPr>
        <p:spPr>
          <a:xfrm>
            <a:off x="1451579" y="1179625"/>
            <a:ext cx="9603275" cy="4587803"/>
          </a:xfrm>
        </p:spPr>
        <p:txBody>
          <a:bodyPr/>
          <a:lstStyle/>
          <a:p>
            <a:r>
              <a:rPr lang="en-US" dirty="0" smtClean="0"/>
              <a:t>In </a:t>
            </a:r>
            <a:r>
              <a:rPr lang="en-US" dirty="0"/>
              <a:t>addition to providing project and </a:t>
            </a:r>
            <a:r>
              <a:rPr lang="en-US" dirty="0" smtClean="0"/>
              <a:t>resource </a:t>
            </a:r>
            <a:r>
              <a:rPr lang="en-US" dirty="0"/>
              <a:t>schedules. </a:t>
            </a:r>
            <a:endParaRPr lang="en-US" dirty="0" smtClean="0"/>
          </a:p>
          <a:p>
            <a:pPr lvl="1"/>
            <a:r>
              <a:rPr lang="en-US" sz="2800" dirty="0" smtClean="0"/>
              <a:t>Feasibility </a:t>
            </a:r>
            <a:r>
              <a:rPr lang="en-US" sz="2800" dirty="0"/>
              <a:t>assessment</a:t>
            </a:r>
            <a:r>
              <a:rPr lang="en-US" dirty="0"/>
              <a:t>. </a:t>
            </a:r>
            <a:endParaRPr lang="en-US" dirty="0" smtClean="0"/>
          </a:p>
          <a:p>
            <a:pPr lvl="2"/>
            <a:r>
              <a:rPr lang="en-US" sz="2400" dirty="0" smtClean="0"/>
              <a:t>Is </a:t>
            </a:r>
            <a:r>
              <a:rPr lang="en-US" sz="2400" dirty="0"/>
              <a:t>the project possible within </a:t>
            </a:r>
            <a:endParaRPr lang="en-US" sz="2400" dirty="0" smtClean="0"/>
          </a:p>
          <a:p>
            <a:pPr lvl="3"/>
            <a:r>
              <a:rPr lang="en-US" sz="2400" dirty="0" smtClean="0"/>
              <a:t>The </a:t>
            </a:r>
            <a:r>
              <a:rPr lang="en-US" sz="2400" dirty="0"/>
              <a:t>required timescale </a:t>
            </a:r>
            <a:r>
              <a:rPr lang="en-US" sz="2400" dirty="0" smtClean="0"/>
              <a:t>and</a:t>
            </a:r>
          </a:p>
          <a:p>
            <a:pPr lvl="3"/>
            <a:r>
              <a:rPr lang="en-US" sz="2400" dirty="0" smtClean="0"/>
              <a:t>Resource </a:t>
            </a:r>
            <a:r>
              <a:rPr lang="en-US" sz="2400" dirty="0"/>
              <a:t>constraints.</a:t>
            </a:r>
            <a:endParaRPr lang="en-IN" sz="2400" dirty="0"/>
          </a:p>
        </p:txBody>
      </p:sp>
    </p:spTree>
    <p:extLst>
      <p:ext uri="{BB962C8B-B14F-4D97-AF65-F5344CB8AC3E}">
        <p14:creationId xmlns:p14="http://schemas.microsoft.com/office/powerpoint/2010/main" val="2937816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8144" y="141132"/>
            <a:ext cx="9603275" cy="737410"/>
          </a:xfrm>
        </p:spPr>
        <p:txBody>
          <a:bodyPr/>
          <a:lstStyle/>
          <a:p>
            <a:r>
              <a:rPr lang="en-US" dirty="0"/>
              <a:t>Objectives of Activity planning</a:t>
            </a:r>
            <a:endParaRPr lang="en-IN" dirty="0"/>
          </a:p>
        </p:txBody>
      </p:sp>
      <p:sp>
        <p:nvSpPr>
          <p:cNvPr id="3" name="Content Placeholder 2"/>
          <p:cNvSpPr>
            <a:spLocks noGrp="1"/>
          </p:cNvSpPr>
          <p:nvPr>
            <p:ph idx="1"/>
          </p:nvPr>
        </p:nvSpPr>
        <p:spPr>
          <a:xfrm>
            <a:off x="1451579" y="878542"/>
            <a:ext cx="9603275" cy="4587803"/>
          </a:xfrm>
        </p:spPr>
        <p:txBody>
          <a:bodyPr/>
          <a:lstStyle/>
          <a:p>
            <a:r>
              <a:rPr lang="en-US" dirty="0"/>
              <a:t> For a project that has been estimated to require one person working 2 years (24 months), is it feasible to complete it within 3 months if 8 people (24/3) work on it </a:t>
            </a:r>
            <a:r>
              <a:rPr lang="en-US" dirty="0" smtClean="0"/>
              <a:t>?</a:t>
            </a:r>
          </a:p>
          <a:p>
            <a:r>
              <a:rPr lang="en-US" dirty="0" smtClean="0"/>
              <a:t>It </a:t>
            </a:r>
            <a:r>
              <a:rPr lang="en-US" dirty="0"/>
              <a:t>depends on the availability of staff. Degree of which activities can be done in parallel.</a:t>
            </a:r>
            <a:endParaRPr lang="en-IN" sz="2400" dirty="0"/>
          </a:p>
        </p:txBody>
      </p:sp>
    </p:spTree>
    <p:extLst>
      <p:ext uri="{BB962C8B-B14F-4D97-AF65-F5344CB8AC3E}">
        <p14:creationId xmlns:p14="http://schemas.microsoft.com/office/powerpoint/2010/main" val="23731386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Activity planning</a:t>
            </a:r>
            <a:endParaRPr lang="en-IN" dirty="0"/>
          </a:p>
        </p:txBody>
      </p:sp>
      <p:sp>
        <p:nvSpPr>
          <p:cNvPr id="3" name="Content Placeholder 2"/>
          <p:cNvSpPr>
            <a:spLocks noGrp="1"/>
          </p:cNvSpPr>
          <p:nvPr>
            <p:ph idx="1"/>
          </p:nvPr>
        </p:nvSpPr>
        <p:spPr/>
        <p:txBody>
          <a:bodyPr>
            <a:normAutofit lnSpcReduction="10000"/>
          </a:bodyPr>
          <a:lstStyle/>
          <a:p>
            <a:r>
              <a:rPr lang="en-US" dirty="0" smtClean="0"/>
              <a:t>Resource </a:t>
            </a:r>
            <a:r>
              <a:rPr lang="en-US" dirty="0"/>
              <a:t>allocation. </a:t>
            </a:r>
          </a:p>
          <a:p>
            <a:pPr lvl="1"/>
            <a:r>
              <a:rPr lang="en-US" dirty="0" smtClean="0"/>
              <a:t>What </a:t>
            </a:r>
            <a:r>
              <a:rPr lang="en-US" dirty="0"/>
              <a:t>are the most effective ways of allocating resources? </a:t>
            </a:r>
            <a:endParaRPr lang="en-US" dirty="0" smtClean="0"/>
          </a:p>
          <a:p>
            <a:pPr lvl="1"/>
            <a:r>
              <a:rPr lang="en-US" dirty="0" smtClean="0"/>
              <a:t>When </a:t>
            </a:r>
            <a:r>
              <a:rPr lang="en-US" dirty="0"/>
              <a:t>should the resources be available? </a:t>
            </a:r>
            <a:endParaRPr lang="en-US" dirty="0" smtClean="0"/>
          </a:p>
          <a:p>
            <a:r>
              <a:rPr lang="en-US" dirty="0" smtClean="0"/>
              <a:t>Detailed </a:t>
            </a:r>
            <a:r>
              <a:rPr lang="en-US" dirty="0"/>
              <a:t>costing. </a:t>
            </a:r>
            <a:endParaRPr lang="en-US" dirty="0" smtClean="0"/>
          </a:p>
          <a:p>
            <a:pPr lvl="1"/>
            <a:r>
              <a:rPr lang="en-US" dirty="0" smtClean="0"/>
              <a:t>How </a:t>
            </a:r>
            <a:r>
              <a:rPr lang="en-US" dirty="0"/>
              <a:t>much will the project cost? </a:t>
            </a:r>
            <a:endParaRPr lang="en-US" dirty="0" smtClean="0"/>
          </a:p>
          <a:p>
            <a:pPr lvl="1"/>
            <a:r>
              <a:rPr lang="en-US" dirty="0" smtClean="0"/>
              <a:t>When </a:t>
            </a:r>
            <a:r>
              <a:rPr lang="en-US" dirty="0"/>
              <a:t>is expenditure likely to take place?</a:t>
            </a:r>
            <a:endParaRPr lang="en-IN" dirty="0"/>
          </a:p>
        </p:txBody>
      </p:sp>
    </p:spTree>
    <p:extLst>
      <p:ext uri="{BB962C8B-B14F-4D97-AF65-F5344CB8AC3E}">
        <p14:creationId xmlns:p14="http://schemas.microsoft.com/office/powerpoint/2010/main" val="1952334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2" y="124295"/>
            <a:ext cx="9603275" cy="1049235"/>
          </a:xfrm>
        </p:spPr>
        <p:txBody>
          <a:bodyPr/>
          <a:lstStyle/>
          <a:p>
            <a:r>
              <a:rPr lang="en-US" dirty="0"/>
              <a:t>Objectives of Activity planning</a:t>
            </a:r>
            <a:endParaRPr lang="en-IN" dirty="0"/>
          </a:p>
        </p:txBody>
      </p:sp>
      <p:sp>
        <p:nvSpPr>
          <p:cNvPr id="3" name="Content Placeholder 2"/>
          <p:cNvSpPr>
            <a:spLocks noGrp="1"/>
          </p:cNvSpPr>
          <p:nvPr>
            <p:ph idx="1"/>
          </p:nvPr>
        </p:nvSpPr>
        <p:spPr>
          <a:xfrm>
            <a:off x="1451579" y="892098"/>
            <a:ext cx="9603275" cy="4873082"/>
          </a:xfrm>
        </p:spPr>
        <p:txBody>
          <a:bodyPr>
            <a:normAutofit lnSpcReduction="10000"/>
          </a:bodyPr>
          <a:lstStyle/>
          <a:p>
            <a:r>
              <a:rPr lang="en-US" dirty="0" smtClean="0"/>
              <a:t>Motivation</a:t>
            </a:r>
          </a:p>
          <a:p>
            <a:pPr lvl="1"/>
            <a:r>
              <a:rPr lang="en-US" dirty="0" smtClean="0"/>
              <a:t>Providing </a:t>
            </a:r>
            <a:r>
              <a:rPr lang="en-US" dirty="0"/>
              <a:t>targets. </a:t>
            </a:r>
          </a:p>
          <a:p>
            <a:pPr lvl="1"/>
            <a:r>
              <a:rPr lang="en-US" dirty="0" smtClean="0"/>
              <a:t>Measuring </a:t>
            </a:r>
            <a:r>
              <a:rPr lang="en-US" dirty="0"/>
              <a:t>achievements against targets is a good way of motivating staff. </a:t>
            </a:r>
          </a:p>
          <a:p>
            <a:pPr lvl="1"/>
            <a:r>
              <a:rPr lang="en-US" dirty="0" smtClean="0"/>
              <a:t>It </a:t>
            </a:r>
            <a:r>
              <a:rPr lang="en-US" dirty="0"/>
              <a:t>is also useful to involve the staff in setting targets. </a:t>
            </a:r>
            <a:endParaRPr lang="en-US" dirty="0" smtClean="0"/>
          </a:p>
          <a:p>
            <a:r>
              <a:rPr lang="en-US" dirty="0" smtClean="0"/>
              <a:t>Coordination</a:t>
            </a:r>
            <a:r>
              <a:rPr lang="en-US" dirty="0"/>
              <a:t>. </a:t>
            </a:r>
          </a:p>
          <a:p>
            <a:pPr lvl="1"/>
            <a:r>
              <a:rPr lang="en-US" dirty="0" smtClean="0"/>
              <a:t>When </a:t>
            </a:r>
            <a:r>
              <a:rPr lang="en-US" dirty="0"/>
              <a:t>do staff in different departments need to be available to work on a particular project? </a:t>
            </a:r>
          </a:p>
          <a:p>
            <a:pPr lvl="1"/>
            <a:r>
              <a:rPr lang="en-US" dirty="0" smtClean="0"/>
              <a:t>When </a:t>
            </a:r>
            <a:r>
              <a:rPr lang="en-US" dirty="0"/>
              <a:t>do staff need to be transferred between projects?</a:t>
            </a:r>
            <a:endParaRPr lang="en-IN" dirty="0"/>
          </a:p>
        </p:txBody>
      </p:sp>
    </p:spTree>
    <p:extLst>
      <p:ext uri="{BB962C8B-B14F-4D97-AF65-F5344CB8AC3E}">
        <p14:creationId xmlns:p14="http://schemas.microsoft.com/office/powerpoint/2010/main" val="19292703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Duration Versus Quality </a:t>
            </a:r>
          </a:p>
        </p:txBody>
      </p:sp>
      <p:sp>
        <p:nvSpPr>
          <p:cNvPr id="3" name="Content Placeholder 2"/>
          <p:cNvSpPr>
            <a:spLocks noGrp="1"/>
          </p:cNvSpPr>
          <p:nvPr>
            <p:ph idx="1"/>
          </p:nvPr>
        </p:nvSpPr>
        <p:spPr/>
        <p:txBody>
          <a:bodyPr/>
          <a:lstStyle/>
          <a:p>
            <a:r>
              <a:rPr lang="en-US" dirty="0"/>
              <a:t>One effective way of shortening project duration is: </a:t>
            </a:r>
            <a:endParaRPr lang="en-US" dirty="0" smtClean="0"/>
          </a:p>
          <a:p>
            <a:pPr lvl="1"/>
            <a:r>
              <a:rPr lang="en-US" dirty="0" smtClean="0"/>
              <a:t>Carrying </a:t>
            </a:r>
            <a:r>
              <a:rPr lang="en-US" dirty="0"/>
              <a:t>out activities in parallel. </a:t>
            </a:r>
            <a:endParaRPr lang="en-US" dirty="0" smtClean="0"/>
          </a:p>
          <a:p>
            <a:pPr lvl="1"/>
            <a:r>
              <a:rPr lang="en-US" dirty="0" smtClean="0"/>
              <a:t>It </a:t>
            </a:r>
            <a:r>
              <a:rPr lang="en-US" dirty="0"/>
              <a:t>is not possible to undertake all activities at the same time. Why ? </a:t>
            </a:r>
            <a:endParaRPr lang="en-US" dirty="0" smtClean="0"/>
          </a:p>
          <a:p>
            <a:pPr lvl="1"/>
            <a:r>
              <a:rPr lang="en-US" dirty="0" smtClean="0"/>
              <a:t>Precedence </a:t>
            </a:r>
            <a:r>
              <a:rPr lang="en-US" dirty="0"/>
              <a:t>requirements. (</a:t>
            </a:r>
            <a:r>
              <a:rPr lang="en-US" dirty="0" smtClean="0"/>
              <a:t>activities)and </a:t>
            </a:r>
          </a:p>
          <a:p>
            <a:pPr lvl="1"/>
            <a:r>
              <a:rPr lang="en-US" dirty="0" smtClean="0"/>
              <a:t>Resources constraints</a:t>
            </a:r>
            <a:endParaRPr lang="en-IN" dirty="0"/>
          </a:p>
        </p:txBody>
      </p:sp>
    </p:spTree>
    <p:extLst>
      <p:ext uri="{BB962C8B-B14F-4D97-AF65-F5344CB8AC3E}">
        <p14:creationId xmlns:p14="http://schemas.microsoft.com/office/powerpoint/2010/main" val="5043518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Duration Versus Quality </a:t>
            </a:r>
          </a:p>
        </p:txBody>
      </p:sp>
      <p:sp>
        <p:nvSpPr>
          <p:cNvPr id="3" name="Content Placeholder 2"/>
          <p:cNvSpPr>
            <a:spLocks noGrp="1"/>
          </p:cNvSpPr>
          <p:nvPr>
            <p:ph idx="1"/>
          </p:nvPr>
        </p:nvSpPr>
        <p:spPr/>
        <p:txBody>
          <a:bodyPr/>
          <a:lstStyle/>
          <a:p>
            <a:r>
              <a:rPr lang="en-US" dirty="0"/>
              <a:t>One effective way of shortening project duration is: </a:t>
            </a:r>
            <a:endParaRPr lang="en-US" dirty="0" smtClean="0"/>
          </a:p>
          <a:p>
            <a:pPr lvl="1"/>
            <a:r>
              <a:rPr lang="en-US" sz="2800" dirty="0"/>
              <a:t>If we try to relax precedence constraints it is up to us to take care of the potential effects on the product quality. </a:t>
            </a:r>
          </a:p>
          <a:p>
            <a:pPr lvl="2"/>
            <a:r>
              <a:rPr lang="en-US" sz="2800" dirty="0" smtClean="0"/>
              <a:t>e.g</a:t>
            </a:r>
            <a:r>
              <a:rPr lang="en-US" sz="2800" dirty="0"/>
              <a:t>. allow a coding activity to commence before a design activity is completed</a:t>
            </a:r>
            <a:r>
              <a:rPr lang="en-US" dirty="0"/>
              <a:t>.</a:t>
            </a:r>
            <a:endParaRPr lang="en-IN" dirty="0"/>
          </a:p>
        </p:txBody>
      </p:sp>
    </p:spTree>
    <p:extLst>
      <p:ext uri="{BB962C8B-B14F-4D97-AF65-F5344CB8AC3E}">
        <p14:creationId xmlns:p14="http://schemas.microsoft.com/office/powerpoint/2010/main" val="20869492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230778"/>
            <a:ext cx="9603275" cy="1049235"/>
          </a:xfrm>
        </p:spPr>
        <p:txBody>
          <a:bodyPr/>
          <a:lstStyle/>
          <a:p>
            <a:r>
              <a:rPr lang="en-IN" dirty="0"/>
              <a:t>When to Plan </a:t>
            </a:r>
          </a:p>
        </p:txBody>
      </p:sp>
      <p:sp>
        <p:nvSpPr>
          <p:cNvPr id="3" name="Content Placeholder 2"/>
          <p:cNvSpPr>
            <a:spLocks noGrp="1"/>
          </p:cNvSpPr>
          <p:nvPr>
            <p:ph idx="1"/>
          </p:nvPr>
        </p:nvSpPr>
        <p:spPr>
          <a:xfrm>
            <a:off x="1272285" y="1280013"/>
            <a:ext cx="9603275" cy="3450613"/>
          </a:xfrm>
        </p:spPr>
        <p:txBody>
          <a:bodyPr>
            <a:noAutofit/>
          </a:bodyPr>
          <a:lstStyle/>
          <a:p>
            <a:r>
              <a:rPr lang="en-US" dirty="0"/>
              <a:t>Planning is an on-going process of refinement </a:t>
            </a:r>
            <a:endParaRPr lang="en-US" dirty="0" smtClean="0"/>
          </a:p>
          <a:p>
            <a:r>
              <a:rPr lang="en-US" dirty="0" smtClean="0"/>
              <a:t>Feasibility </a:t>
            </a:r>
            <a:r>
              <a:rPr lang="en-US" dirty="0"/>
              <a:t>study and project start-up</a:t>
            </a:r>
            <a:r>
              <a:rPr lang="en-US" dirty="0" smtClean="0"/>
              <a:t>:</a:t>
            </a:r>
          </a:p>
          <a:p>
            <a:pPr lvl="1"/>
            <a:r>
              <a:rPr lang="en-US" sz="2800" dirty="0" smtClean="0"/>
              <a:t>Estimate </a:t>
            </a:r>
            <a:r>
              <a:rPr lang="en-US" sz="2800" dirty="0"/>
              <a:t>time and the risks of </a:t>
            </a:r>
            <a:r>
              <a:rPr lang="en-US" sz="2800" dirty="0" smtClean="0"/>
              <a:t>not </a:t>
            </a:r>
            <a:r>
              <a:rPr lang="en-US" sz="2800" dirty="0"/>
              <a:t>achieving the target </a:t>
            </a:r>
            <a:r>
              <a:rPr lang="en-US" sz="2800" dirty="0" smtClean="0"/>
              <a:t>nor </a:t>
            </a:r>
            <a:r>
              <a:rPr lang="en-US" sz="2800" dirty="0"/>
              <a:t>keeping it within budget </a:t>
            </a:r>
            <a:endParaRPr lang="en-US" sz="2800" dirty="0" smtClean="0"/>
          </a:p>
          <a:p>
            <a:r>
              <a:rPr lang="en-US" dirty="0" smtClean="0"/>
              <a:t>After </a:t>
            </a:r>
            <a:r>
              <a:rPr lang="en-US" dirty="0"/>
              <a:t>the feasibility study: </a:t>
            </a:r>
            <a:endParaRPr lang="en-US" dirty="0" smtClean="0"/>
          </a:p>
          <a:p>
            <a:pPr lvl="1"/>
            <a:r>
              <a:rPr lang="en-US" sz="2800" dirty="0" smtClean="0"/>
              <a:t>Produce </a:t>
            </a:r>
            <a:r>
              <a:rPr lang="en-US" sz="2800" dirty="0"/>
              <a:t>activity plans for ensuring </a:t>
            </a:r>
            <a:r>
              <a:rPr lang="en-US" sz="2800" dirty="0" smtClean="0"/>
              <a:t>resource </a:t>
            </a:r>
            <a:r>
              <a:rPr lang="en-US" sz="2800" dirty="0"/>
              <a:t>availability and </a:t>
            </a:r>
            <a:r>
              <a:rPr lang="en-US" sz="2800" dirty="0" smtClean="0"/>
              <a:t>cash </a:t>
            </a:r>
            <a:r>
              <a:rPr lang="en-US" sz="2800" dirty="0"/>
              <a:t>flow control.</a:t>
            </a:r>
            <a:endParaRPr lang="en-IN" sz="2800" dirty="0"/>
          </a:p>
        </p:txBody>
      </p:sp>
    </p:spTree>
    <p:extLst>
      <p:ext uri="{BB962C8B-B14F-4D97-AF65-F5344CB8AC3E}">
        <p14:creationId xmlns:p14="http://schemas.microsoft.com/office/powerpoint/2010/main" val="2706084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230778"/>
            <a:ext cx="9603275" cy="1049235"/>
          </a:xfrm>
        </p:spPr>
        <p:txBody>
          <a:bodyPr/>
          <a:lstStyle/>
          <a:p>
            <a:r>
              <a:rPr lang="en-IN" dirty="0"/>
              <a:t>When to Plan </a:t>
            </a:r>
          </a:p>
        </p:txBody>
      </p:sp>
      <p:sp>
        <p:nvSpPr>
          <p:cNvPr id="3" name="Content Placeholder 2"/>
          <p:cNvSpPr>
            <a:spLocks noGrp="1"/>
          </p:cNvSpPr>
          <p:nvPr>
            <p:ph idx="1"/>
          </p:nvPr>
        </p:nvSpPr>
        <p:spPr>
          <a:xfrm>
            <a:off x="1272285" y="1280013"/>
            <a:ext cx="9603275" cy="3450613"/>
          </a:xfrm>
        </p:spPr>
        <p:txBody>
          <a:bodyPr>
            <a:noAutofit/>
          </a:bodyPr>
          <a:lstStyle/>
          <a:p>
            <a:r>
              <a:rPr lang="en-US" dirty="0"/>
              <a:t> Throughout the whole project: </a:t>
            </a:r>
            <a:endParaRPr lang="en-US" dirty="0" smtClean="0"/>
          </a:p>
          <a:p>
            <a:pPr lvl="1"/>
            <a:r>
              <a:rPr lang="en-US" sz="2800" dirty="0" smtClean="0"/>
              <a:t>we </a:t>
            </a:r>
            <a:r>
              <a:rPr lang="en-US" sz="2800" dirty="0"/>
              <a:t>need to monitor the project and </a:t>
            </a:r>
            <a:r>
              <a:rPr lang="en-US" sz="2800" dirty="0" smtClean="0"/>
              <a:t>revise </a:t>
            </a:r>
            <a:r>
              <a:rPr lang="en-US" sz="2800" dirty="0"/>
              <a:t>our plan, if there is any drift that prevents the project from being completed on time and within budget.</a:t>
            </a:r>
            <a:endParaRPr lang="en-IN" sz="2800" dirty="0"/>
          </a:p>
        </p:txBody>
      </p:sp>
    </p:spTree>
    <p:extLst>
      <p:ext uri="{BB962C8B-B14F-4D97-AF65-F5344CB8AC3E}">
        <p14:creationId xmlns:p14="http://schemas.microsoft.com/office/powerpoint/2010/main" val="8417075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426" y="176990"/>
            <a:ext cx="9603275" cy="647763"/>
          </a:xfrm>
        </p:spPr>
        <p:txBody>
          <a:bodyPr/>
          <a:lstStyle/>
          <a:p>
            <a:r>
              <a:rPr lang="en-US" dirty="0"/>
              <a:t>Project Schedule</a:t>
            </a:r>
            <a:endParaRPr lang="en-IN" dirty="0"/>
          </a:p>
        </p:txBody>
      </p:sp>
      <p:sp>
        <p:nvSpPr>
          <p:cNvPr id="3" name="Content Placeholder 2"/>
          <p:cNvSpPr>
            <a:spLocks noGrp="1"/>
          </p:cNvSpPr>
          <p:nvPr>
            <p:ph idx="1"/>
          </p:nvPr>
        </p:nvSpPr>
        <p:spPr>
          <a:xfrm>
            <a:off x="1236426" y="1226838"/>
            <a:ext cx="9603275" cy="3450613"/>
          </a:xfrm>
        </p:spPr>
        <p:txBody>
          <a:bodyPr/>
          <a:lstStyle/>
          <a:p>
            <a:r>
              <a:rPr lang="en-US" dirty="0" smtClean="0"/>
              <a:t>Creating </a:t>
            </a:r>
            <a:r>
              <a:rPr lang="en-US" dirty="0"/>
              <a:t>a project schedule comprises four steps: </a:t>
            </a:r>
            <a:endParaRPr lang="en-US" dirty="0" smtClean="0"/>
          </a:p>
          <a:p>
            <a:pPr lvl="1"/>
            <a:r>
              <a:rPr lang="en-US" sz="2800" dirty="0" smtClean="0"/>
              <a:t>Step </a:t>
            </a:r>
            <a:r>
              <a:rPr lang="en-US" sz="2800" dirty="0"/>
              <a:t>1: </a:t>
            </a:r>
            <a:r>
              <a:rPr lang="en-US" sz="2800" dirty="0" smtClean="0"/>
              <a:t>Decide </a:t>
            </a:r>
            <a:r>
              <a:rPr lang="en-US" sz="2800" dirty="0"/>
              <a:t>what activities to be </a:t>
            </a:r>
            <a:r>
              <a:rPr lang="en-US" sz="2800" dirty="0" smtClean="0"/>
              <a:t>carried</a:t>
            </a:r>
            <a:r>
              <a:rPr lang="en-US" sz="2800" dirty="0"/>
              <a:t> </a:t>
            </a:r>
            <a:r>
              <a:rPr lang="en-US" sz="2800" dirty="0" smtClean="0"/>
              <a:t>and in what </a:t>
            </a:r>
            <a:r>
              <a:rPr lang="en-US" sz="2800" dirty="0"/>
              <a:t>order. </a:t>
            </a:r>
          </a:p>
          <a:p>
            <a:pPr lvl="2"/>
            <a:r>
              <a:rPr lang="en-US" sz="2800" dirty="0" smtClean="0"/>
              <a:t>Based </a:t>
            </a:r>
            <a:r>
              <a:rPr lang="en-US" sz="2800" dirty="0"/>
              <a:t>on that, we construct an ideal activity plan. </a:t>
            </a:r>
            <a:endParaRPr lang="en-US" sz="2800" dirty="0" smtClean="0"/>
          </a:p>
          <a:p>
            <a:pPr lvl="2"/>
            <a:r>
              <a:rPr lang="en-US" sz="2800" dirty="0" smtClean="0"/>
              <a:t>An </a:t>
            </a:r>
            <a:r>
              <a:rPr lang="en-US" sz="2800" dirty="0"/>
              <a:t>ideal activity plan is a plan where there are no constraints on the resources.</a:t>
            </a:r>
            <a:endParaRPr lang="en-IN" sz="2800" dirty="0"/>
          </a:p>
        </p:txBody>
      </p:sp>
    </p:spTree>
    <p:extLst>
      <p:ext uri="{BB962C8B-B14F-4D97-AF65-F5344CB8AC3E}">
        <p14:creationId xmlns:p14="http://schemas.microsoft.com/office/powerpoint/2010/main" val="39816447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426" y="176990"/>
            <a:ext cx="9603275" cy="647763"/>
          </a:xfrm>
        </p:spPr>
        <p:txBody>
          <a:bodyPr/>
          <a:lstStyle/>
          <a:p>
            <a:r>
              <a:rPr lang="en-US" dirty="0"/>
              <a:t>Project Schedule</a:t>
            </a:r>
            <a:endParaRPr lang="en-IN" dirty="0"/>
          </a:p>
        </p:txBody>
      </p:sp>
      <p:sp>
        <p:nvSpPr>
          <p:cNvPr id="3" name="Content Placeholder 2"/>
          <p:cNvSpPr>
            <a:spLocks noGrp="1"/>
          </p:cNvSpPr>
          <p:nvPr>
            <p:ph idx="1"/>
          </p:nvPr>
        </p:nvSpPr>
        <p:spPr>
          <a:xfrm>
            <a:off x="1236426" y="1226838"/>
            <a:ext cx="9603275" cy="3450613"/>
          </a:xfrm>
        </p:spPr>
        <p:txBody>
          <a:bodyPr>
            <a:normAutofit fontScale="92500" lnSpcReduction="20000"/>
          </a:bodyPr>
          <a:lstStyle/>
          <a:p>
            <a:r>
              <a:rPr lang="en-US" dirty="0" smtClean="0"/>
              <a:t>Step </a:t>
            </a:r>
            <a:r>
              <a:rPr lang="en-US" dirty="0"/>
              <a:t>2: </a:t>
            </a:r>
            <a:r>
              <a:rPr lang="en-US" dirty="0" smtClean="0"/>
              <a:t> </a:t>
            </a:r>
            <a:r>
              <a:rPr lang="en-US" dirty="0"/>
              <a:t>Activity risk analysis. </a:t>
            </a:r>
            <a:endParaRPr lang="en-US" dirty="0" smtClean="0"/>
          </a:p>
          <a:p>
            <a:pPr lvl="1"/>
            <a:r>
              <a:rPr lang="en-US" dirty="0" smtClean="0"/>
              <a:t>This </a:t>
            </a:r>
            <a:r>
              <a:rPr lang="en-US" dirty="0"/>
              <a:t>might suggest alterations to the ideal activity plan and implications on resource allocation. </a:t>
            </a:r>
            <a:endParaRPr lang="en-US" dirty="0" smtClean="0"/>
          </a:p>
          <a:p>
            <a:r>
              <a:rPr lang="en-US" dirty="0" smtClean="0"/>
              <a:t>Step </a:t>
            </a:r>
            <a:r>
              <a:rPr lang="en-US" dirty="0"/>
              <a:t>3: </a:t>
            </a:r>
            <a:r>
              <a:rPr lang="en-US" dirty="0" smtClean="0"/>
              <a:t>Resource </a:t>
            </a:r>
            <a:r>
              <a:rPr lang="en-US" dirty="0"/>
              <a:t>allocation. </a:t>
            </a:r>
            <a:endParaRPr lang="en-US" dirty="0" smtClean="0"/>
          </a:p>
          <a:p>
            <a:pPr lvl="1"/>
            <a:r>
              <a:rPr lang="en-US" dirty="0" smtClean="0"/>
              <a:t>The </a:t>
            </a:r>
            <a:r>
              <a:rPr lang="en-US" dirty="0"/>
              <a:t>availability of resources may place constraints on when certain activities can be carried out. </a:t>
            </a:r>
          </a:p>
          <a:p>
            <a:pPr lvl="1"/>
            <a:r>
              <a:rPr lang="en-US" dirty="0" smtClean="0"/>
              <a:t>The </a:t>
            </a:r>
            <a:r>
              <a:rPr lang="en-US" dirty="0"/>
              <a:t>ideal plan might need to be adapted accordingly.</a:t>
            </a:r>
            <a:endParaRPr lang="en-IN" sz="2800" dirty="0"/>
          </a:p>
        </p:txBody>
      </p:sp>
    </p:spTree>
    <p:extLst>
      <p:ext uri="{BB962C8B-B14F-4D97-AF65-F5344CB8AC3E}">
        <p14:creationId xmlns:p14="http://schemas.microsoft.com/office/powerpoint/2010/main" val="6802794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426" y="176990"/>
            <a:ext cx="9603275" cy="647763"/>
          </a:xfrm>
        </p:spPr>
        <p:txBody>
          <a:bodyPr/>
          <a:lstStyle/>
          <a:p>
            <a:r>
              <a:rPr lang="en-US" dirty="0"/>
              <a:t>Project Schedule</a:t>
            </a:r>
            <a:endParaRPr lang="en-IN" dirty="0"/>
          </a:p>
        </p:txBody>
      </p:sp>
      <p:sp>
        <p:nvSpPr>
          <p:cNvPr id="3" name="Content Placeholder 2"/>
          <p:cNvSpPr>
            <a:spLocks noGrp="1"/>
          </p:cNvSpPr>
          <p:nvPr>
            <p:ph idx="1"/>
          </p:nvPr>
        </p:nvSpPr>
        <p:spPr>
          <a:xfrm>
            <a:off x="1236426" y="1226838"/>
            <a:ext cx="9603275" cy="3450613"/>
          </a:xfrm>
        </p:spPr>
        <p:txBody>
          <a:bodyPr>
            <a:normAutofit/>
          </a:bodyPr>
          <a:lstStyle/>
          <a:p>
            <a:r>
              <a:rPr lang="en-US" dirty="0" smtClean="0"/>
              <a:t>Step </a:t>
            </a:r>
            <a:r>
              <a:rPr lang="en-US" dirty="0"/>
              <a:t>4</a:t>
            </a:r>
            <a:r>
              <a:rPr lang="en-US" dirty="0" smtClean="0"/>
              <a:t>:  </a:t>
            </a:r>
            <a:r>
              <a:rPr lang="en-US" dirty="0"/>
              <a:t>Schedule production which contains: </a:t>
            </a:r>
            <a:endParaRPr lang="en-US" dirty="0" smtClean="0"/>
          </a:p>
          <a:p>
            <a:pPr lvl="1"/>
            <a:r>
              <a:rPr lang="en-US" sz="2800" dirty="0" smtClean="0"/>
              <a:t>Start </a:t>
            </a:r>
            <a:r>
              <a:rPr lang="en-US" sz="2800" dirty="0"/>
              <a:t>date for each activity. </a:t>
            </a:r>
            <a:endParaRPr lang="en-US" sz="2800" dirty="0" smtClean="0"/>
          </a:p>
          <a:p>
            <a:pPr lvl="1"/>
            <a:r>
              <a:rPr lang="en-US" sz="2800" dirty="0" smtClean="0"/>
              <a:t>End </a:t>
            </a:r>
            <a:r>
              <a:rPr lang="en-US" sz="2800" dirty="0"/>
              <a:t>date for each activity. </a:t>
            </a:r>
          </a:p>
          <a:p>
            <a:pPr lvl="1"/>
            <a:r>
              <a:rPr lang="en-US" sz="2800" dirty="0" smtClean="0"/>
              <a:t>Resource </a:t>
            </a:r>
            <a:r>
              <a:rPr lang="en-US" sz="2800" dirty="0"/>
              <a:t>requirement statement for each activity.</a:t>
            </a:r>
            <a:endParaRPr lang="en-IN" sz="2800" dirty="0"/>
          </a:p>
        </p:txBody>
      </p:sp>
    </p:spTree>
    <p:extLst>
      <p:ext uri="{BB962C8B-B14F-4D97-AF65-F5344CB8AC3E}">
        <p14:creationId xmlns:p14="http://schemas.microsoft.com/office/powerpoint/2010/main" val="41804810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85" y="141131"/>
            <a:ext cx="9603275" cy="773269"/>
          </a:xfrm>
        </p:spPr>
        <p:txBody>
          <a:bodyPr/>
          <a:lstStyle/>
          <a:p>
            <a:r>
              <a:rPr lang="en-US" dirty="0"/>
              <a:t>Projects Versus Activities</a:t>
            </a:r>
            <a:endParaRPr lang="en-IN" dirty="0"/>
          </a:p>
        </p:txBody>
      </p:sp>
      <p:sp>
        <p:nvSpPr>
          <p:cNvPr id="3" name="Content Placeholder 2"/>
          <p:cNvSpPr>
            <a:spLocks noGrp="1"/>
          </p:cNvSpPr>
          <p:nvPr>
            <p:ph idx="1"/>
          </p:nvPr>
        </p:nvSpPr>
        <p:spPr>
          <a:xfrm>
            <a:off x="1272285" y="2051590"/>
            <a:ext cx="9603275" cy="3450613"/>
          </a:xfrm>
        </p:spPr>
        <p:txBody>
          <a:bodyPr>
            <a:noAutofit/>
          </a:bodyPr>
          <a:lstStyle/>
          <a:p>
            <a:r>
              <a:rPr lang="en-US" dirty="0" smtClean="0"/>
              <a:t>A </a:t>
            </a:r>
            <a:r>
              <a:rPr lang="en-US" dirty="0"/>
              <a:t>project: </a:t>
            </a:r>
            <a:endParaRPr lang="en-US" dirty="0" smtClean="0"/>
          </a:p>
          <a:p>
            <a:pPr lvl="1"/>
            <a:r>
              <a:rPr lang="en-US" sz="2800" dirty="0" smtClean="0"/>
              <a:t>is </a:t>
            </a:r>
            <a:r>
              <a:rPr lang="en-US" sz="2800" dirty="0"/>
              <a:t>composed of a number of related activities. </a:t>
            </a:r>
            <a:endParaRPr lang="en-US" sz="2800" dirty="0" smtClean="0"/>
          </a:p>
          <a:p>
            <a:pPr lvl="1"/>
            <a:r>
              <a:rPr lang="en-US" sz="2800" dirty="0" smtClean="0"/>
              <a:t>may </a:t>
            </a:r>
            <a:r>
              <a:rPr lang="en-US" sz="2800" dirty="0"/>
              <a:t>start when at least one of its activities is ready to </a:t>
            </a:r>
            <a:r>
              <a:rPr lang="en-US" sz="2800" dirty="0" smtClean="0"/>
              <a:t>start.</a:t>
            </a:r>
          </a:p>
          <a:p>
            <a:pPr lvl="1"/>
            <a:r>
              <a:rPr lang="en-US" sz="2800" dirty="0" smtClean="0"/>
              <a:t>will </a:t>
            </a:r>
            <a:r>
              <a:rPr lang="en-US" sz="2800" dirty="0"/>
              <a:t>be completed when all of its activities have been completed. </a:t>
            </a:r>
            <a:endParaRPr lang="en-US" sz="2800" dirty="0" smtClean="0"/>
          </a:p>
        </p:txBody>
      </p:sp>
    </p:spTree>
    <p:extLst>
      <p:ext uri="{BB962C8B-B14F-4D97-AF65-F5344CB8AC3E}">
        <p14:creationId xmlns:p14="http://schemas.microsoft.com/office/powerpoint/2010/main" val="30137553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85" y="141131"/>
            <a:ext cx="9603275" cy="773269"/>
          </a:xfrm>
        </p:spPr>
        <p:txBody>
          <a:bodyPr/>
          <a:lstStyle/>
          <a:p>
            <a:r>
              <a:rPr lang="en-US" dirty="0"/>
              <a:t>Projects Versus Activities</a:t>
            </a:r>
            <a:endParaRPr lang="en-IN" dirty="0"/>
          </a:p>
        </p:txBody>
      </p:sp>
      <p:sp>
        <p:nvSpPr>
          <p:cNvPr id="3" name="Content Placeholder 2"/>
          <p:cNvSpPr>
            <a:spLocks noGrp="1"/>
          </p:cNvSpPr>
          <p:nvPr>
            <p:ph idx="1"/>
          </p:nvPr>
        </p:nvSpPr>
        <p:spPr>
          <a:xfrm>
            <a:off x="1272284" y="2159167"/>
            <a:ext cx="9603275" cy="3450613"/>
          </a:xfrm>
        </p:spPr>
        <p:txBody>
          <a:bodyPr>
            <a:noAutofit/>
          </a:bodyPr>
          <a:lstStyle/>
          <a:p>
            <a:r>
              <a:rPr lang="en-US" dirty="0" smtClean="0"/>
              <a:t>An </a:t>
            </a:r>
            <a:r>
              <a:rPr lang="en-US" dirty="0"/>
              <a:t>activity: </a:t>
            </a:r>
            <a:endParaRPr lang="en-US" dirty="0" smtClean="0"/>
          </a:p>
          <a:p>
            <a:pPr lvl="1"/>
            <a:r>
              <a:rPr lang="en-US" sz="2800" dirty="0" smtClean="0"/>
              <a:t>must </a:t>
            </a:r>
            <a:r>
              <a:rPr lang="en-US" sz="2800" dirty="0"/>
              <a:t>have a clear start and a clear stop </a:t>
            </a:r>
            <a:endParaRPr lang="en-US" sz="2800" dirty="0" smtClean="0"/>
          </a:p>
          <a:p>
            <a:pPr lvl="1"/>
            <a:r>
              <a:rPr lang="en-US" sz="2800" dirty="0" smtClean="0"/>
              <a:t>resources </a:t>
            </a:r>
            <a:r>
              <a:rPr lang="en-US" sz="2800" dirty="0"/>
              <a:t>must be for exactable. </a:t>
            </a:r>
            <a:endParaRPr lang="en-US" sz="2800" dirty="0" smtClean="0"/>
          </a:p>
          <a:p>
            <a:pPr lvl="1"/>
            <a:r>
              <a:rPr lang="en-US" sz="2800" dirty="0" smtClean="0"/>
              <a:t>should </a:t>
            </a:r>
            <a:r>
              <a:rPr lang="en-US" sz="2800" dirty="0"/>
              <a:t>have a duration that can be forecasted. </a:t>
            </a:r>
            <a:endParaRPr lang="en-US" sz="2800" dirty="0" smtClean="0"/>
          </a:p>
          <a:p>
            <a:pPr lvl="1"/>
            <a:r>
              <a:rPr lang="en-US" sz="2800" dirty="0" smtClean="0"/>
              <a:t>may </a:t>
            </a:r>
            <a:r>
              <a:rPr lang="en-US" sz="2800" dirty="0"/>
              <a:t>require that other activities be completed before they can begin.</a:t>
            </a:r>
            <a:endParaRPr lang="en-IN" sz="2800" dirty="0"/>
          </a:p>
        </p:txBody>
      </p:sp>
    </p:spTree>
    <p:extLst>
      <p:ext uri="{BB962C8B-B14F-4D97-AF65-F5344CB8AC3E}">
        <p14:creationId xmlns:p14="http://schemas.microsoft.com/office/powerpoint/2010/main" val="38750415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0"/>
            <a:ext cx="9603275" cy="591671"/>
          </a:xfrm>
        </p:spPr>
        <p:txBody>
          <a:bodyPr/>
          <a:lstStyle/>
          <a:p>
            <a:r>
              <a:rPr lang="en-US" dirty="0"/>
              <a:t> Identifying Activities </a:t>
            </a:r>
            <a:endParaRPr lang="en-IN" dirty="0"/>
          </a:p>
        </p:txBody>
      </p:sp>
      <p:sp>
        <p:nvSpPr>
          <p:cNvPr id="3" name="Content Placeholder 2"/>
          <p:cNvSpPr>
            <a:spLocks noGrp="1"/>
          </p:cNvSpPr>
          <p:nvPr>
            <p:ph idx="1"/>
          </p:nvPr>
        </p:nvSpPr>
        <p:spPr>
          <a:xfrm>
            <a:off x="1451577" y="1119262"/>
            <a:ext cx="9603275" cy="3450613"/>
          </a:xfrm>
        </p:spPr>
        <p:txBody>
          <a:bodyPr/>
          <a:lstStyle/>
          <a:p>
            <a:r>
              <a:rPr lang="en-US" dirty="0" smtClean="0"/>
              <a:t>There </a:t>
            </a:r>
            <a:r>
              <a:rPr lang="en-US" dirty="0"/>
              <a:t>are three approaches to identify the activities or tasks that will make up the project: </a:t>
            </a:r>
          </a:p>
          <a:p>
            <a:pPr lvl="1"/>
            <a:r>
              <a:rPr lang="en-US" dirty="0" smtClean="0"/>
              <a:t>The </a:t>
            </a:r>
            <a:r>
              <a:rPr lang="en-US" dirty="0"/>
              <a:t>activity-based approach. </a:t>
            </a:r>
            <a:endParaRPr lang="en-US" dirty="0" smtClean="0"/>
          </a:p>
          <a:p>
            <a:pPr lvl="1"/>
            <a:r>
              <a:rPr lang="en-US" dirty="0" smtClean="0"/>
              <a:t>The </a:t>
            </a:r>
            <a:r>
              <a:rPr lang="en-US" dirty="0"/>
              <a:t>product-based approach. </a:t>
            </a:r>
            <a:endParaRPr lang="en-US" dirty="0" smtClean="0"/>
          </a:p>
          <a:p>
            <a:pPr lvl="1"/>
            <a:r>
              <a:rPr lang="en-US" dirty="0" smtClean="0"/>
              <a:t>The </a:t>
            </a:r>
            <a:r>
              <a:rPr lang="en-US" dirty="0"/>
              <a:t>hybrid-based approach.</a:t>
            </a:r>
            <a:endParaRPr lang="en-IN" dirty="0"/>
          </a:p>
        </p:txBody>
      </p:sp>
    </p:spTree>
    <p:extLst>
      <p:ext uri="{BB962C8B-B14F-4D97-AF65-F5344CB8AC3E}">
        <p14:creationId xmlns:p14="http://schemas.microsoft.com/office/powerpoint/2010/main" val="30862599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725" y="407768"/>
            <a:ext cx="9603275" cy="647763"/>
          </a:xfrm>
        </p:spPr>
        <p:txBody>
          <a:bodyPr/>
          <a:lstStyle/>
          <a:p>
            <a:r>
              <a:rPr lang="en-US" dirty="0"/>
              <a:t>The activity-based approach</a:t>
            </a:r>
            <a:endParaRPr lang="en-IN" dirty="0"/>
          </a:p>
        </p:txBody>
      </p:sp>
      <p:sp>
        <p:nvSpPr>
          <p:cNvPr id="3" name="Content Placeholder 2"/>
          <p:cNvSpPr>
            <a:spLocks noGrp="1"/>
          </p:cNvSpPr>
          <p:nvPr>
            <p:ph idx="1"/>
          </p:nvPr>
        </p:nvSpPr>
        <p:spPr>
          <a:xfrm>
            <a:off x="1254357" y="1165412"/>
            <a:ext cx="9800498" cy="4356847"/>
          </a:xfrm>
        </p:spPr>
        <p:txBody>
          <a:bodyPr>
            <a:normAutofit fontScale="92500" lnSpcReduction="10000"/>
          </a:bodyPr>
          <a:lstStyle/>
          <a:p>
            <a:r>
              <a:rPr lang="en-US" dirty="0" smtClean="0"/>
              <a:t>The </a:t>
            </a:r>
            <a:r>
              <a:rPr lang="en-US" dirty="0"/>
              <a:t>activity based approach consists of creating a list of all activities that the project is thought to involve. </a:t>
            </a:r>
            <a:endParaRPr lang="en-US" dirty="0" smtClean="0"/>
          </a:p>
          <a:p>
            <a:pPr lvl="1"/>
            <a:r>
              <a:rPr lang="en-US" dirty="0" smtClean="0"/>
              <a:t>How</a:t>
            </a:r>
            <a:r>
              <a:rPr lang="en-US" dirty="0"/>
              <a:t>? </a:t>
            </a:r>
            <a:endParaRPr lang="en-US" dirty="0" smtClean="0"/>
          </a:p>
          <a:p>
            <a:pPr lvl="2"/>
            <a:r>
              <a:rPr lang="en-US" dirty="0" smtClean="0"/>
              <a:t>Brainstorming </a:t>
            </a:r>
            <a:r>
              <a:rPr lang="en-US" dirty="0"/>
              <a:t>session involving the whole project team </a:t>
            </a:r>
            <a:endParaRPr lang="en-US" dirty="0" smtClean="0"/>
          </a:p>
          <a:p>
            <a:pPr lvl="2"/>
            <a:r>
              <a:rPr lang="en-US" dirty="0" smtClean="0"/>
              <a:t>The </a:t>
            </a:r>
            <a:r>
              <a:rPr lang="en-US" dirty="0"/>
              <a:t>analysis of similar past projects. </a:t>
            </a:r>
          </a:p>
          <a:p>
            <a:pPr lvl="2"/>
            <a:r>
              <a:rPr lang="en-US" dirty="0" smtClean="0"/>
              <a:t>One </a:t>
            </a:r>
            <a:r>
              <a:rPr lang="en-US" dirty="0"/>
              <a:t>useful way is to divide </a:t>
            </a:r>
            <a:r>
              <a:rPr lang="en-US" dirty="0" smtClean="0"/>
              <a:t>the projects </a:t>
            </a:r>
            <a:r>
              <a:rPr lang="en-US" dirty="0"/>
              <a:t>into stages and think what activities might be required at each stage. </a:t>
            </a:r>
            <a:endParaRPr lang="en-US" dirty="0" smtClean="0"/>
          </a:p>
          <a:p>
            <a:pPr lvl="2"/>
            <a:r>
              <a:rPr lang="en-US" dirty="0" smtClean="0"/>
              <a:t>One way </a:t>
            </a:r>
            <a:r>
              <a:rPr lang="en-US" dirty="0"/>
              <a:t>of creating the activity or task list is to create WBS ( Work Breakdown Structure).</a:t>
            </a:r>
            <a:endParaRPr lang="en-IN" dirty="0"/>
          </a:p>
        </p:txBody>
      </p:sp>
    </p:spTree>
    <p:extLst>
      <p:ext uri="{BB962C8B-B14F-4D97-AF65-F5344CB8AC3E}">
        <p14:creationId xmlns:p14="http://schemas.microsoft.com/office/powerpoint/2010/main" val="3328583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215" y="0"/>
            <a:ext cx="9603275" cy="593975"/>
          </a:xfrm>
        </p:spPr>
        <p:txBody>
          <a:bodyPr/>
          <a:lstStyle/>
          <a:p>
            <a:r>
              <a:rPr lang="en-US" dirty="0"/>
              <a:t>The activity-based approach</a:t>
            </a:r>
            <a:endParaRPr lang="en-IN" dirty="0"/>
          </a:p>
        </p:txBody>
      </p:sp>
      <p:pic>
        <p:nvPicPr>
          <p:cNvPr id="5" name="Picture 2"/>
          <p:cNvPicPr>
            <a:picLocks noGrp="1" noChangeAspect="1" noChangeArrowheads="1"/>
          </p:cNvPicPr>
          <p:nvPr>
            <p:ph idx="1"/>
          </p:nvPr>
        </p:nvPicPr>
        <p:blipFill>
          <a:blip r:embed="rId2"/>
          <a:stretch>
            <a:fillRect/>
          </a:stretch>
        </p:blipFill>
        <p:spPr bwMode="auto">
          <a:xfrm>
            <a:off x="1184855" y="1384556"/>
            <a:ext cx="10632225" cy="4097901"/>
          </a:xfrm>
          <a:prstGeom prst="rect">
            <a:avLst/>
          </a:prstGeom>
          <a:noFill/>
          <a:ln w="9525">
            <a:noFill/>
            <a:miter lim="800000"/>
            <a:headEnd/>
            <a:tailEnd/>
          </a:ln>
          <a:effectLst/>
        </p:spPr>
      </p:pic>
    </p:spTree>
    <p:extLst>
      <p:ext uri="{BB962C8B-B14F-4D97-AF65-F5344CB8AC3E}">
        <p14:creationId xmlns:p14="http://schemas.microsoft.com/office/powerpoint/2010/main" val="10552558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4357" y="0"/>
            <a:ext cx="9603275" cy="647763"/>
          </a:xfrm>
        </p:spPr>
        <p:txBody>
          <a:bodyPr/>
          <a:lstStyle/>
          <a:p>
            <a:r>
              <a:rPr lang="en-US" dirty="0"/>
              <a:t>The activity-based approach</a:t>
            </a:r>
            <a:endParaRPr lang="en-IN" dirty="0"/>
          </a:p>
        </p:txBody>
      </p:sp>
      <p:sp>
        <p:nvSpPr>
          <p:cNvPr id="3" name="Content Placeholder 2"/>
          <p:cNvSpPr>
            <a:spLocks noGrp="1"/>
          </p:cNvSpPr>
          <p:nvPr>
            <p:ph idx="1"/>
          </p:nvPr>
        </p:nvSpPr>
        <p:spPr>
          <a:xfrm>
            <a:off x="1254357" y="397903"/>
            <a:ext cx="9800498" cy="4356847"/>
          </a:xfrm>
        </p:spPr>
        <p:txBody>
          <a:bodyPr>
            <a:noAutofit/>
          </a:bodyPr>
          <a:lstStyle/>
          <a:p>
            <a:r>
              <a:rPr lang="en-US" dirty="0"/>
              <a:t>In WBS we: </a:t>
            </a:r>
            <a:endParaRPr lang="en-US" dirty="0" smtClean="0"/>
          </a:p>
          <a:p>
            <a:pPr lvl="1"/>
            <a:r>
              <a:rPr lang="en-US" sz="2800" dirty="0" smtClean="0"/>
              <a:t>Identify </a:t>
            </a:r>
            <a:r>
              <a:rPr lang="en-US" sz="2800" dirty="0"/>
              <a:t>the main (high level) tasks (activities) required to complete a project. </a:t>
            </a:r>
          </a:p>
          <a:p>
            <a:pPr lvl="1"/>
            <a:r>
              <a:rPr lang="en-US" sz="2800" dirty="0" smtClean="0"/>
              <a:t>Then </a:t>
            </a:r>
            <a:r>
              <a:rPr lang="en-US" sz="2800" dirty="0"/>
              <a:t>break each of these down into a set of lower-level tasks</a:t>
            </a:r>
            <a:r>
              <a:rPr lang="en-US" sz="2800" dirty="0" smtClean="0"/>
              <a:t>.</a:t>
            </a:r>
          </a:p>
          <a:p>
            <a:r>
              <a:rPr lang="en-US" dirty="0"/>
              <a:t>When preparing the WBS: </a:t>
            </a:r>
            <a:endParaRPr lang="en-US" dirty="0" smtClean="0"/>
          </a:p>
          <a:p>
            <a:pPr lvl="1"/>
            <a:r>
              <a:rPr lang="en-US" sz="2800" dirty="0" smtClean="0"/>
              <a:t>Too </a:t>
            </a:r>
            <a:r>
              <a:rPr lang="en-US" sz="2800" dirty="0"/>
              <a:t>great depth should be avoided. Why ? </a:t>
            </a:r>
            <a:endParaRPr lang="en-US" sz="2800" dirty="0" smtClean="0"/>
          </a:p>
          <a:p>
            <a:pPr lvl="2"/>
            <a:r>
              <a:rPr lang="en-US" sz="2800" dirty="0" smtClean="0"/>
              <a:t>Will </a:t>
            </a:r>
            <a:r>
              <a:rPr lang="en-US" sz="2800" dirty="0"/>
              <a:t>result in a large number of tasks that will need to be managed. </a:t>
            </a:r>
            <a:endParaRPr lang="en-US" sz="2800" dirty="0" smtClean="0"/>
          </a:p>
          <a:p>
            <a:pPr lvl="1"/>
            <a:r>
              <a:rPr lang="en-US" sz="2800" dirty="0" smtClean="0"/>
              <a:t>Too </a:t>
            </a:r>
            <a:r>
              <a:rPr lang="en-US" sz="2800" dirty="0"/>
              <a:t>shallow structure should be avoided. Why ? </a:t>
            </a:r>
            <a:endParaRPr lang="en-US" sz="2800" dirty="0" smtClean="0"/>
          </a:p>
          <a:p>
            <a:pPr lvl="2"/>
            <a:r>
              <a:rPr lang="en-US" sz="2800" dirty="0" smtClean="0"/>
              <a:t>This </a:t>
            </a:r>
            <a:r>
              <a:rPr lang="en-US" sz="2800" dirty="0"/>
              <a:t>will provide insufficient detail for project control.</a:t>
            </a:r>
            <a:endParaRPr lang="en-IN" sz="2800" dirty="0"/>
          </a:p>
        </p:txBody>
      </p:sp>
    </p:spTree>
    <p:extLst>
      <p:ext uri="{BB962C8B-B14F-4D97-AF65-F5344CB8AC3E}">
        <p14:creationId xmlns:p14="http://schemas.microsoft.com/office/powerpoint/2010/main" val="31358926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4357" y="0"/>
            <a:ext cx="9603275" cy="647763"/>
          </a:xfrm>
        </p:spPr>
        <p:txBody>
          <a:bodyPr/>
          <a:lstStyle/>
          <a:p>
            <a:r>
              <a:rPr lang="en-US" dirty="0"/>
              <a:t>The activity-based approach</a:t>
            </a:r>
            <a:endParaRPr lang="en-IN" dirty="0"/>
          </a:p>
        </p:txBody>
      </p:sp>
      <p:sp>
        <p:nvSpPr>
          <p:cNvPr id="3" name="Content Placeholder 2"/>
          <p:cNvSpPr>
            <a:spLocks noGrp="1"/>
          </p:cNvSpPr>
          <p:nvPr>
            <p:ph idx="1"/>
          </p:nvPr>
        </p:nvSpPr>
        <p:spPr>
          <a:xfrm>
            <a:off x="1254357" y="810279"/>
            <a:ext cx="9800498" cy="4356847"/>
          </a:xfrm>
        </p:spPr>
        <p:txBody>
          <a:bodyPr>
            <a:noAutofit/>
          </a:bodyPr>
          <a:lstStyle/>
          <a:p>
            <a:r>
              <a:rPr lang="en-US" dirty="0"/>
              <a:t>Advantages (WBS) </a:t>
            </a:r>
            <a:endParaRPr lang="en-US" dirty="0" smtClean="0"/>
          </a:p>
          <a:p>
            <a:pPr lvl="1"/>
            <a:r>
              <a:rPr lang="en-US" dirty="0" smtClean="0"/>
              <a:t>More </a:t>
            </a:r>
            <a:r>
              <a:rPr lang="en-US" dirty="0"/>
              <a:t>likely to obtain a task catalogue that is: </a:t>
            </a:r>
            <a:r>
              <a:rPr lang="en-US" dirty="0" smtClean="0"/>
              <a:t> </a:t>
            </a:r>
          </a:p>
          <a:p>
            <a:pPr lvl="2"/>
            <a:r>
              <a:rPr lang="en-US" dirty="0" smtClean="0"/>
              <a:t>Complete </a:t>
            </a:r>
            <a:r>
              <a:rPr lang="en-US" dirty="0"/>
              <a:t>and </a:t>
            </a:r>
            <a:r>
              <a:rPr lang="en-US" dirty="0" smtClean="0"/>
              <a:t>Composed </a:t>
            </a:r>
            <a:r>
              <a:rPr lang="en-US" dirty="0"/>
              <a:t>of non-overlapping tasks </a:t>
            </a:r>
            <a:endParaRPr lang="en-US" dirty="0" smtClean="0"/>
          </a:p>
          <a:p>
            <a:pPr lvl="2"/>
            <a:r>
              <a:rPr lang="en-US" dirty="0" smtClean="0"/>
              <a:t>WBS </a:t>
            </a:r>
            <a:r>
              <a:rPr lang="en-US" dirty="0"/>
              <a:t>represents a structure that can be refined as the project proceeds. </a:t>
            </a:r>
          </a:p>
          <a:p>
            <a:pPr lvl="2"/>
            <a:r>
              <a:rPr lang="en-US" dirty="0" smtClean="0"/>
              <a:t>Early </a:t>
            </a:r>
            <a:r>
              <a:rPr lang="en-US" dirty="0"/>
              <a:t>in the project, It can start shallow. </a:t>
            </a:r>
            <a:r>
              <a:rPr lang="en-US" dirty="0" smtClean="0"/>
              <a:t> Developed </a:t>
            </a:r>
            <a:r>
              <a:rPr lang="en-US" dirty="0"/>
              <a:t>as information becomes available e.g. during project analysis and specification phases. </a:t>
            </a:r>
            <a:endParaRPr lang="en-US" dirty="0" smtClean="0"/>
          </a:p>
          <a:p>
            <a:pPr lvl="2"/>
            <a:r>
              <a:rPr lang="en-US" dirty="0" smtClean="0"/>
              <a:t>Once </a:t>
            </a:r>
            <a:r>
              <a:rPr lang="en-US" dirty="0"/>
              <a:t>the project activities have been identified (whether using the WBS or not) they will need to be sequenced.</a:t>
            </a:r>
            <a:endParaRPr lang="en-IN" dirty="0"/>
          </a:p>
        </p:txBody>
      </p:sp>
    </p:spTree>
    <p:extLst>
      <p:ext uri="{BB962C8B-B14F-4D97-AF65-F5344CB8AC3E}">
        <p14:creationId xmlns:p14="http://schemas.microsoft.com/office/powerpoint/2010/main" val="237734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991" y="230778"/>
            <a:ext cx="9603275" cy="647763"/>
          </a:xfrm>
        </p:spPr>
        <p:txBody>
          <a:bodyPr/>
          <a:lstStyle/>
          <a:p>
            <a:r>
              <a:rPr lang="en-US" dirty="0"/>
              <a:t>The product-based approach</a:t>
            </a:r>
            <a:endParaRPr lang="en-IN" dirty="0"/>
          </a:p>
        </p:txBody>
      </p:sp>
      <p:sp>
        <p:nvSpPr>
          <p:cNvPr id="3" name="Content Placeholder 2"/>
          <p:cNvSpPr>
            <a:spLocks noGrp="1"/>
          </p:cNvSpPr>
          <p:nvPr>
            <p:ph idx="1"/>
          </p:nvPr>
        </p:nvSpPr>
        <p:spPr>
          <a:xfrm>
            <a:off x="1272285" y="878541"/>
            <a:ext cx="9603275" cy="3450613"/>
          </a:xfrm>
        </p:spPr>
        <p:txBody>
          <a:bodyPr/>
          <a:lstStyle/>
          <a:p>
            <a:r>
              <a:rPr lang="en-US" dirty="0" smtClean="0"/>
              <a:t>It </a:t>
            </a:r>
            <a:r>
              <a:rPr lang="en-US" dirty="0"/>
              <a:t>consists of producing a product breakdown structure PBS, and a product flow diagram PFD. </a:t>
            </a:r>
            <a:endParaRPr lang="en-US" dirty="0" smtClean="0"/>
          </a:p>
          <a:p>
            <a:r>
              <a:rPr lang="en-US" dirty="0" smtClean="0"/>
              <a:t>Product </a:t>
            </a:r>
            <a:r>
              <a:rPr lang="en-US" dirty="0"/>
              <a:t>Breakdown Structure (</a:t>
            </a:r>
            <a:r>
              <a:rPr lang="en-US" dirty="0" smtClean="0"/>
              <a:t>PBS)</a:t>
            </a:r>
          </a:p>
          <a:p>
            <a:pPr lvl="1"/>
            <a:r>
              <a:rPr lang="en-US" dirty="0" smtClean="0"/>
              <a:t>To </a:t>
            </a:r>
            <a:r>
              <a:rPr lang="en-US" dirty="0"/>
              <a:t>show how a system can be broken down into different products for development</a:t>
            </a:r>
            <a:r>
              <a:rPr lang="en-US" dirty="0" smtClean="0"/>
              <a:t>.</a:t>
            </a:r>
          </a:p>
          <a:p>
            <a:pPr lvl="1"/>
            <a:r>
              <a:rPr lang="en-US" dirty="0" smtClean="0"/>
              <a:t> </a:t>
            </a:r>
            <a:r>
              <a:rPr lang="en-US" dirty="0"/>
              <a:t>Advantage: It is less likely to omit a product.</a:t>
            </a:r>
            <a:endParaRPr lang="en-IN" dirty="0"/>
          </a:p>
        </p:txBody>
      </p:sp>
    </p:spTree>
    <p:extLst>
      <p:ext uri="{BB962C8B-B14F-4D97-AF65-F5344CB8AC3E}">
        <p14:creationId xmlns:p14="http://schemas.microsoft.com/office/powerpoint/2010/main" val="41390617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product-based </a:t>
            </a:r>
            <a:r>
              <a:rPr lang="en-US" dirty="0" smtClean="0"/>
              <a:t>approach (cont’d)</a:t>
            </a:r>
            <a:endParaRPr lang="en-US" dirty="0"/>
          </a:p>
        </p:txBody>
      </p:sp>
      <p:sp>
        <p:nvSpPr>
          <p:cNvPr id="3" name="Content Placeholder 2"/>
          <p:cNvSpPr>
            <a:spLocks noGrp="1"/>
          </p:cNvSpPr>
          <p:nvPr>
            <p:ph idx="1"/>
          </p:nvPr>
        </p:nvSpPr>
        <p:spPr>
          <a:xfrm>
            <a:off x="609602" y="2057400"/>
            <a:ext cx="11277599" cy="4572000"/>
          </a:xfrm>
        </p:spPr>
        <p:txBody>
          <a:bodyPr>
            <a:normAutofit/>
          </a:bodyPr>
          <a:lstStyle/>
          <a:p>
            <a:pPr lvl="1"/>
            <a:endParaRPr lang="en-US" sz="2200" dirty="0" smtClean="0"/>
          </a:p>
          <a:p>
            <a:pPr lvl="1"/>
            <a:r>
              <a:rPr lang="en-US" sz="2200" b="1" dirty="0" smtClean="0"/>
              <a:t>Product Flow Diagram (PFD)</a:t>
            </a:r>
          </a:p>
          <a:p>
            <a:pPr lvl="2"/>
            <a:r>
              <a:rPr lang="en-US" sz="2400" dirty="0" smtClean="0"/>
              <a:t>Once a product breakdown structure has been created, work can then begin on creating a product flow diagram which identifies the order of precedence of products and will typically include multiple and complex parallel paths.</a:t>
            </a:r>
            <a:endParaRPr lang="en-US" sz="2588" dirty="0" smtClean="0"/>
          </a:p>
        </p:txBody>
      </p:sp>
    </p:spTree>
    <p:extLst>
      <p:ext uri="{BB962C8B-B14F-4D97-AF65-F5344CB8AC3E}">
        <p14:creationId xmlns:p14="http://schemas.microsoft.com/office/powerpoint/2010/main" val="8883248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PBS</a:t>
            </a:r>
            <a:endParaRPr lang="en-US" dirty="0"/>
          </a:p>
        </p:txBody>
      </p:sp>
      <p:pic>
        <p:nvPicPr>
          <p:cNvPr id="2050" name="Picture 2"/>
          <p:cNvPicPr>
            <a:picLocks noGrp="1" noChangeAspect="1" noChangeArrowheads="1"/>
          </p:cNvPicPr>
          <p:nvPr>
            <p:ph idx="1"/>
          </p:nvPr>
        </p:nvPicPr>
        <p:blipFill>
          <a:blip r:embed="rId2"/>
          <a:stretch>
            <a:fillRect/>
          </a:stretch>
        </p:blipFill>
        <p:spPr bwMode="auto">
          <a:xfrm>
            <a:off x="754816" y="2438401"/>
            <a:ext cx="9778729" cy="3598863"/>
          </a:xfrm>
          <a:prstGeom prst="rect">
            <a:avLst/>
          </a:prstGeom>
          <a:noFill/>
          <a:ln w="9525">
            <a:noFill/>
            <a:miter lim="800000"/>
            <a:headEnd/>
            <a:tailEnd/>
          </a:ln>
          <a:effectLst/>
        </p:spPr>
      </p:pic>
    </p:spTree>
    <p:extLst>
      <p:ext uri="{BB962C8B-B14F-4D97-AF65-F5344CB8AC3E}">
        <p14:creationId xmlns:p14="http://schemas.microsoft.com/office/powerpoint/2010/main" val="38871207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990" y="194920"/>
            <a:ext cx="9603275" cy="522257"/>
          </a:xfrm>
        </p:spPr>
        <p:txBody>
          <a:bodyPr>
            <a:normAutofit fontScale="90000"/>
          </a:bodyPr>
          <a:lstStyle/>
          <a:p>
            <a:r>
              <a:rPr lang="en-US" dirty="0"/>
              <a:t>The product-based approach</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9154" y="717177"/>
            <a:ext cx="8157882" cy="6140824"/>
          </a:xfrm>
        </p:spPr>
      </p:pic>
    </p:spTree>
    <p:extLst>
      <p:ext uri="{BB962C8B-B14F-4D97-AF65-F5344CB8AC3E}">
        <p14:creationId xmlns:p14="http://schemas.microsoft.com/office/powerpoint/2010/main" val="29468944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991" y="230778"/>
            <a:ext cx="9603275" cy="647763"/>
          </a:xfrm>
        </p:spPr>
        <p:txBody>
          <a:bodyPr/>
          <a:lstStyle/>
          <a:p>
            <a:r>
              <a:rPr lang="en-US" dirty="0"/>
              <a:t>The product-based approach</a:t>
            </a:r>
            <a:endParaRPr lang="en-IN" dirty="0"/>
          </a:p>
        </p:txBody>
      </p:sp>
      <p:sp>
        <p:nvSpPr>
          <p:cNvPr id="3" name="Content Placeholder 2"/>
          <p:cNvSpPr>
            <a:spLocks noGrp="1"/>
          </p:cNvSpPr>
          <p:nvPr>
            <p:ph idx="1"/>
          </p:nvPr>
        </p:nvSpPr>
        <p:spPr>
          <a:xfrm>
            <a:off x="1272285" y="878541"/>
            <a:ext cx="9603275" cy="3450613"/>
          </a:xfrm>
        </p:spPr>
        <p:txBody>
          <a:bodyPr>
            <a:normAutofit fontScale="92500" lnSpcReduction="10000"/>
          </a:bodyPr>
          <a:lstStyle/>
          <a:p>
            <a:r>
              <a:rPr lang="en-US" dirty="0"/>
              <a:t>Product Flow Diagram (PFD) </a:t>
            </a:r>
            <a:endParaRPr lang="en-US" dirty="0" smtClean="0"/>
          </a:p>
          <a:p>
            <a:pPr lvl="1"/>
            <a:r>
              <a:rPr lang="en-US" dirty="0" smtClean="0"/>
              <a:t>Indicates </a:t>
            </a:r>
            <a:r>
              <a:rPr lang="en-US" dirty="0"/>
              <a:t>for each product, which products are required as ‘inputs’. </a:t>
            </a:r>
            <a:endParaRPr lang="en-US" dirty="0" smtClean="0"/>
          </a:p>
          <a:p>
            <a:pPr lvl="1"/>
            <a:r>
              <a:rPr lang="en-US" dirty="0" smtClean="0"/>
              <a:t>Advantage</a:t>
            </a:r>
            <a:r>
              <a:rPr lang="en-US" dirty="0"/>
              <a:t>: It is easily transformed into an ordered list of activities. How? </a:t>
            </a:r>
            <a:endParaRPr lang="en-US" dirty="0" smtClean="0"/>
          </a:p>
          <a:p>
            <a:pPr lvl="1"/>
            <a:r>
              <a:rPr lang="en-US" dirty="0" smtClean="0"/>
              <a:t>By </a:t>
            </a:r>
            <a:r>
              <a:rPr lang="en-US" dirty="0"/>
              <a:t>identifying the transformations that turn some products into others.</a:t>
            </a:r>
            <a:endParaRPr lang="en-IN" dirty="0"/>
          </a:p>
        </p:txBody>
      </p:sp>
    </p:spTree>
    <p:extLst>
      <p:ext uri="{BB962C8B-B14F-4D97-AF65-F5344CB8AC3E}">
        <p14:creationId xmlns:p14="http://schemas.microsoft.com/office/powerpoint/2010/main" val="34026282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PFD</a:t>
            </a:r>
            <a:endParaRPr lang="en-US" dirty="0"/>
          </a:p>
        </p:txBody>
      </p:sp>
      <p:pic>
        <p:nvPicPr>
          <p:cNvPr id="3074" name="Picture 2"/>
          <p:cNvPicPr>
            <a:picLocks noGrp="1" noChangeAspect="1" noChangeArrowheads="1"/>
          </p:cNvPicPr>
          <p:nvPr>
            <p:ph idx="1"/>
          </p:nvPr>
        </p:nvPicPr>
        <p:blipFill>
          <a:blip r:embed="rId2"/>
          <a:stretch>
            <a:fillRect/>
          </a:stretch>
        </p:blipFill>
        <p:spPr bwMode="auto">
          <a:xfrm>
            <a:off x="967679" y="1853754"/>
            <a:ext cx="10219079" cy="4132263"/>
          </a:xfrm>
          <a:prstGeom prst="rect">
            <a:avLst/>
          </a:prstGeom>
          <a:noFill/>
          <a:ln w="9525">
            <a:noFill/>
            <a:miter lim="800000"/>
            <a:headEnd/>
            <a:tailEnd/>
          </a:ln>
          <a:effectLst/>
        </p:spPr>
      </p:pic>
    </p:spTree>
    <p:extLst>
      <p:ext uri="{BB962C8B-B14F-4D97-AF65-F5344CB8AC3E}">
        <p14:creationId xmlns:p14="http://schemas.microsoft.com/office/powerpoint/2010/main" val="5646506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94919"/>
            <a:ext cx="9603275" cy="647763"/>
          </a:xfrm>
        </p:spPr>
        <p:txBody>
          <a:bodyPr/>
          <a:lstStyle/>
          <a:p>
            <a:r>
              <a:rPr lang="en-US" dirty="0"/>
              <a:t>The product-based approach</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8188" y="689773"/>
            <a:ext cx="9592236" cy="6168227"/>
          </a:xfrm>
        </p:spPr>
      </p:pic>
    </p:spTree>
    <p:extLst>
      <p:ext uri="{BB962C8B-B14F-4D97-AF65-F5344CB8AC3E}">
        <p14:creationId xmlns:p14="http://schemas.microsoft.com/office/powerpoint/2010/main" val="559832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850" y="141131"/>
            <a:ext cx="9603275" cy="540187"/>
          </a:xfrm>
        </p:spPr>
        <p:txBody>
          <a:bodyPr/>
          <a:lstStyle/>
          <a:p>
            <a:r>
              <a:rPr lang="en-US" dirty="0"/>
              <a:t>The hybrid-based approach</a:t>
            </a:r>
            <a:endParaRPr lang="en-IN" dirty="0"/>
          </a:p>
        </p:txBody>
      </p:sp>
      <p:sp>
        <p:nvSpPr>
          <p:cNvPr id="3" name="Content Placeholder 2"/>
          <p:cNvSpPr>
            <a:spLocks noGrp="1"/>
          </p:cNvSpPr>
          <p:nvPr>
            <p:ph idx="1"/>
          </p:nvPr>
        </p:nvSpPr>
        <p:spPr>
          <a:xfrm>
            <a:off x="1128851" y="1093694"/>
            <a:ext cx="9926004" cy="4697506"/>
          </a:xfrm>
        </p:spPr>
        <p:txBody>
          <a:bodyPr/>
          <a:lstStyle/>
          <a:p>
            <a:r>
              <a:rPr lang="en-US" dirty="0"/>
              <a:t> </a:t>
            </a:r>
            <a:r>
              <a:rPr lang="en-US" dirty="0" smtClean="0"/>
              <a:t>A </a:t>
            </a:r>
            <a:r>
              <a:rPr lang="en-US" dirty="0"/>
              <a:t>mix of the activity-based approach and the product- based approach. </a:t>
            </a:r>
          </a:p>
          <a:p>
            <a:r>
              <a:rPr lang="en-US" dirty="0" smtClean="0"/>
              <a:t>Most </a:t>
            </a:r>
            <a:r>
              <a:rPr lang="en-US" dirty="0"/>
              <a:t>commonly used approach. </a:t>
            </a:r>
            <a:endParaRPr lang="en-US" dirty="0" smtClean="0"/>
          </a:p>
          <a:p>
            <a:r>
              <a:rPr lang="en-US" dirty="0" smtClean="0"/>
              <a:t>The </a:t>
            </a:r>
            <a:r>
              <a:rPr lang="en-US" dirty="0"/>
              <a:t>“ WBS” in the hybrid approach is based on: </a:t>
            </a:r>
            <a:endParaRPr lang="en-US" dirty="0" smtClean="0"/>
          </a:p>
          <a:p>
            <a:pPr lvl="1"/>
            <a:r>
              <a:rPr lang="en-US" sz="2800" dirty="0" smtClean="0"/>
              <a:t>a </a:t>
            </a:r>
            <a:r>
              <a:rPr lang="en-US" sz="2800" dirty="0"/>
              <a:t>list of the deliverable products of the project; and </a:t>
            </a:r>
            <a:endParaRPr lang="en-US" sz="2800" dirty="0" smtClean="0"/>
          </a:p>
          <a:p>
            <a:pPr lvl="1"/>
            <a:r>
              <a:rPr lang="en-US" sz="2800" dirty="0" smtClean="0"/>
              <a:t>a </a:t>
            </a:r>
            <a:r>
              <a:rPr lang="en-US" sz="2800" dirty="0"/>
              <a:t>list of activities for producing each product.</a:t>
            </a:r>
            <a:endParaRPr lang="en-IN" sz="2800" dirty="0"/>
          </a:p>
        </p:txBody>
      </p:sp>
    </p:spTree>
    <p:extLst>
      <p:ext uri="{BB962C8B-B14F-4D97-AF65-F5344CB8AC3E}">
        <p14:creationId xmlns:p14="http://schemas.microsoft.com/office/powerpoint/2010/main" val="6452532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850" y="141131"/>
            <a:ext cx="9603275" cy="540187"/>
          </a:xfrm>
        </p:spPr>
        <p:txBody>
          <a:bodyPr/>
          <a:lstStyle/>
          <a:p>
            <a:r>
              <a:rPr lang="en-US" dirty="0"/>
              <a:t>The hybrid-based approach</a:t>
            </a:r>
            <a:endParaRPr lang="en-IN" dirty="0"/>
          </a:p>
        </p:txBody>
      </p:sp>
      <p:sp>
        <p:nvSpPr>
          <p:cNvPr id="3" name="Content Placeholder 2"/>
          <p:cNvSpPr>
            <a:spLocks noGrp="1"/>
          </p:cNvSpPr>
          <p:nvPr>
            <p:ph idx="1"/>
          </p:nvPr>
        </p:nvSpPr>
        <p:spPr>
          <a:xfrm>
            <a:off x="1128850" y="904123"/>
            <a:ext cx="9926004" cy="4697506"/>
          </a:xfrm>
        </p:spPr>
        <p:txBody>
          <a:bodyPr>
            <a:normAutofit fontScale="92500" lnSpcReduction="20000"/>
          </a:bodyPr>
          <a:lstStyle/>
          <a:p>
            <a:r>
              <a:rPr lang="en-US" dirty="0"/>
              <a:t> </a:t>
            </a:r>
            <a:r>
              <a:rPr lang="en-US" dirty="0" smtClean="0"/>
              <a:t>E.g. IBM</a:t>
            </a:r>
          </a:p>
          <a:p>
            <a:pPr lvl="1"/>
            <a:r>
              <a:rPr lang="en-US" dirty="0" smtClean="0"/>
              <a:t>Level 1: Project</a:t>
            </a:r>
          </a:p>
          <a:p>
            <a:pPr lvl="1"/>
            <a:r>
              <a:rPr lang="en-US" dirty="0" smtClean="0"/>
              <a:t>Level 2: Deliverables such as software, manuals, and training courses</a:t>
            </a:r>
          </a:p>
          <a:p>
            <a:pPr lvl="1"/>
            <a:r>
              <a:rPr lang="en-US" dirty="0" smtClean="0"/>
              <a:t>Level 3: Components, which are the key work items needed to produce deliverables, such as the modules and tests required to produce the system software</a:t>
            </a:r>
          </a:p>
          <a:p>
            <a:pPr lvl="1"/>
            <a:r>
              <a:rPr lang="en-US" dirty="0" smtClean="0"/>
              <a:t>Level 4: Work packages, which are major work items, or collections of related tasks, required to produce a component</a:t>
            </a:r>
          </a:p>
          <a:p>
            <a:pPr lvl="1"/>
            <a:r>
              <a:rPr lang="en-US" dirty="0" smtClean="0"/>
              <a:t>Level 5: Tasks, which are tasks that will normally be the responsibility of a single person.</a:t>
            </a:r>
            <a:endParaRPr lang="en-IN" dirty="0"/>
          </a:p>
        </p:txBody>
      </p:sp>
    </p:spTree>
    <p:extLst>
      <p:ext uri="{BB962C8B-B14F-4D97-AF65-F5344CB8AC3E}">
        <p14:creationId xmlns:p14="http://schemas.microsoft.com/office/powerpoint/2010/main" val="41939391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hybrid-based approach</a:t>
            </a:r>
            <a:br>
              <a:rPr lang="en-US" dirty="0"/>
            </a:br>
            <a:r>
              <a:rPr lang="en-US" dirty="0"/>
              <a:t>(cont’d)</a:t>
            </a:r>
          </a:p>
        </p:txBody>
      </p:sp>
      <p:pic>
        <p:nvPicPr>
          <p:cNvPr id="4098" name="Picture 2"/>
          <p:cNvPicPr>
            <a:picLocks noGrp="1" noChangeAspect="1" noChangeArrowheads="1"/>
          </p:cNvPicPr>
          <p:nvPr>
            <p:ph idx="1"/>
          </p:nvPr>
        </p:nvPicPr>
        <p:blipFill>
          <a:blip r:embed="rId2"/>
          <a:stretch>
            <a:fillRect/>
          </a:stretch>
        </p:blipFill>
        <p:spPr bwMode="auto">
          <a:xfrm>
            <a:off x="1385061" y="1981200"/>
            <a:ext cx="9669793" cy="4071492"/>
          </a:xfrm>
          <a:prstGeom prst="rect">
            <a:avLst/>
          </a:prstGeom>
          <a:noFill/>
          <a:ln w="9525">
            <a:noFill/>
            <a:miter lim="800000"/>
            <a:headEnd/>
            <a:tailEnd/>
          </a:ln>
          <a:effectLst/>
        </p:spPr>
      </p:pic>
    </p:spTree>
    <p:extLst>
      <p:ext uri="{BB962C8B-B14F-4D97-AF65-F5344CB8AC3E}">
        <p14:creationId xmlns:p14="http://schemas.microsoft.com/office/powerpoint/2010/main" val="27742535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008" y="347319"/>
            <a:ext cx="9603275" cy="511325"/>
          </a:xfrm>
        </p:spPr>
        <p:txBody>
          <a:bodyPr>
            <a:normAutofit fontScale="90000"/>
          </a:bodyPr>
          <a:lstStyle/>
          <a:p>
            <a:r>
              <a:rPr lang="en-IN" dirty="0" smtClean="0"/>
              <a:t>Sequencing and Scheduling Activities</a:t>
            </a:r>
            <a:endParaRPr lang="en-IN" dirty="0"/>
          </a:p>
        </p:txBody>
      </p:sp>
      <p:sp>
        <p:nvSpPr>
          <p:cNvPr id="3" name="Content Placeholder 2"/>
          <p:cNvSpPr>
            <a:spLocks noGrp="1"/>
          </p:cNvSpPr>
          <p:nvPr>
            <p:ph idx="1"/>
          </p:nvPr>
        </p:nvSpPr>
        <p:spPr>
          <a:xfrm>
            <a:off x="1262008" y="1357810"/>
            <a:ext cx="9603275" cy="3450613"/>
          </a:xfrm>
        </p:spPr>
        <p:txBody>
          <a:bodyPr/>
          <a:lstStyle/>
          <a:p>
            <a:r>
              <a:rPr lang="en-IN" dirty="0" smtClean="0"/>
              <a:t>Schedule to indicate when each of the project’s activities is planned and what resources it will need</a:t>
            </a:r>
          </a:p>
          <a:p>
            <a:r>
              <a:rPr lang="en-IN" dirty="0" smtClean="0"/>
              <a:t>Based on the availability of the staff and how the activities allocated to them.</a:t>
            </a:r>
          </a:p>
          <a:p>
            <a:endParaRPr lang="en-IN" dirty="0"/>
          </a:p>
        </p:txBody>
      </p:sp>
    </p:spTree>
    <p:extLst>
      <p:ext uri="{BB962C8B-B14F-4D97-AF65-F5344CB8AC3E}">
        <p14:creationId xmlns:p14="http://schemas.microsoft.com/office/powerpoint/2010/main" val="19073561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a:off x="267628" y="86117"/>
            <a:ext cx="11729719" cy="5857483"/>
          </a:xfrm>
        </p:spPr>
      </p:pic>
    </p:spTree>
    <p:extLst>
      <p:ext uri="{BB962C8B-B14F-4D97-AF65-F5344CB8AC3E}">
        <p14:creationId xmlns:p14="http://schemas.microsoft.com/office/powerpoint/2010/main" val="5111180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008" y="347319"/>
            <a:ext cx="9603275" cy="511325"/>
          </a:xfrm>
        </p:spPr>
        <p:txBody>
          <a:bodyPr>
            <a:normAutofit fontScale="90000"/>
          </a:bodyPr>
          <a:lstStyle/>
          <a:p>
            <a:r>
              <a:rPr lang="en-IN" dirty="0" smtClean="0"/>
              <a:t>Sequencing and Scheduling Activities</a:t>
            </a:r>
            <a:endParaRPr lang="en-IN" dirty="0"/>
          </a:p>
        </p:txBody>
      </p:sp>
      <p:sp>
        <p:nvSpPr>
          <p:cNvPr id="3" name="Content Placeholder 2"/>
          <p:cNvSpPr>
            <a:spLocks noGrp="1"/>
          </p:cNvSpPr>
          <p:nvPr>
            <p:ph idx="1"/>
          </p:nvPr>
        </p:nvSpPr>
        <p:spPr>
          <a:xfrm>
            <a:off x="1262008" y="1357810"/>
            <a:ext cx="9603275" cy="3450613"/>
          </a:xfrm>
        </p:spPr>
        <p:txBody>
          <a:bodyPr/>
          <a:lstStyle/>
          <a:p>
            <a:r>
              <a:rPr lang="en-IN" dirty="0" smtClean="0"/>
              <a:t>It is better to separate out the two activities:</a:t>
            </a:r>
          </a:p>
          <a:p>
            <a:pPr lvl="1"/>
            <a:r>
              <a:rPr lang="en-IN" dirty="0" smtClean="0"/>
              <a:t>To sequence the tasks according to their logical relationship</a:t>
            </a:r>
          </a:p>
          <a:p>
            <a:pPr lvl="1"/>
            <a:r>
              <a:rPr lang="en-IN" dirty="0" smtClean="0"/>
              <a:t>To schedule them taking into account resources and other factors</a:t>
            </a:r>
            <a:endParaRPr lang="en-IN" dirty="0"/>
          </a:p>
        </p:txBody>
      </p:sp>
    </p:spTree>
    <p:extLst>
      <p:ext uri="{BB962C8B-B14F-4D97-AF65-F5344CB8AC3E}">
        <p14:creationId xmlns:p14="http://schemas.microsoft.com/office/powerpoint/2010/main" val="36754045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4708" y="392144"/>
            <a:ext cx="9603275" cy="629834"/>
          </a:xfrm>
        </p:spPr>
        <p:txBody>
          <a:bodyPr/>
          <a:lstStyle/>
          <a:p>
            <a:r>
              <a:rPr lang="en-US" dirty="0"/>
              <a:t>Network </a:t>
            </a:r>
            <a:r>
              <a:rPr lang="en-US" dirty="0" smtClean="0"/>
              <a:t>Planning </a:t>
            </a:r>
            <a:r>
              <a:rPr lang="en-US" dirty="0"/>
              <a:t>Models </a:t>
            </a:r>
            <a:endParaRPr lang="en-IN" dirty="0"/>
          </a:p>
        </p:txBody>
      </p:sp>
      <p:sp>
        <p:nvSpPr>
          <p:cNvPr id="3" name="Content Placeholder 2"/>
          <p:cNvSpPr>
            <a:spLocks noGrp="1"/>
          </p:cNvSpPr>
          <p:nvPr>
            <p:ph idx="1"/>
          </p:nvPr>
        </p:nvSpPr>
        <p:spPr>
          <a:xfrm>
            <a:off x="1164708" y="913869"/>
            <a:ext cx="9890146" cy="4811485"/>
          </a:xfrm>
        </p:spPr>
        <p:txBody>
          <a:bodyPr>
            <a:normAutofit lnSpcReduction="10000"/>
          </a:bodyPr>
          <a:lstStyle/>
          <a:p>
            <a:r>
              <a:rPr lang="en-US" dirty="0" smtClean="0"/>
              <a:t>Network </a:t>
            </a:r>
            <a:r>
              <a:rPr lang="en-US" dirty="0"/>
              <a:t>Planning Models: are project scheduling techniques that model project activities and their relationships as a network. </a:t>
            </a:r>
            <a:endParaRPr lang="en-US" dirty="0" smtClean="0"/>
          </a:p>
          <a:p>
            <a:pPr lvl="1"/>
            <a:r>
              <a:rPr lang="en-US" dirty="0" smtClean="0"/>
              <a:t>Activity-on-Arrow </a:t>
            </a:r>
            <a:r>
              <a:rPr lang="en-US" dirty="0"/>
              <a:t>techniques: </a:t>
            </a:r>
            <a:endParaRPr lang="en-US" dirty="0" smtClean="0"/>
          </a:p>
          <a:p>
            <a:pPr lvl="2"/>
            <a:r>
              <a:rPr lang="en-US" dirty="0" smtClean="0"/>
              <a:t>CPM (Critical </a:t>
            </a:r>
            <a:r>
              <a:rPr lang="en-US" dirty="0"/>
              <a:t>P</a:t>
            </a:r>
            <a:r>
              <a:rPr lang="en-US" dirty="0" smtClean="0"/>
              <a:t>ath </a:t>
            </a:r>
            <a:r>
              <a:rPr lang="en-US" dirty="0"/>
              <a:t>M</a:t>
            </a:r>
            <a:r>
              <a:rPr lang="en-US" dirty="0" smtClean="0"/>
              <a:t>ethod</a:t>
            </a:r>
            <a:r>
              <a:rPr lang="en-US" dirty="0"/>
              <a:t>). </a:t>
            </a:r>
            <a:endParaRPr lang="en-US" dirty="0" smtClean="0"/>
          </a:p>
          <a:p>
            <a:pPr lvl="2"/>
            <a:r>
              <a:rPr lang="en-US" dirty="0" smtClean="0"/>
              <a:t>PERT (Program </a:t>
            </a:r>
            <a:r>
              <a:rPr lang="en-US" dirty="0"/>
              <a:t>E</a:t>
            </a:r>
            <a:r>
              <a:rPr lang="en-US" dirty="0" smtClean="0"/>
              <a:t>valuation </a:t>
            </a:r>
            <a:r>
              <a:rPr lang="en-US" dirty="0"/>
              <a:t>R</a:t>
            </a:r>
            <a:r>
              <a:rPr lang="en-US" dirty="0" smtClean="0"/>
              <a:t>eview </a:t>
            </a:r>
            <a:r>
              <a:rPr lang="en-US" dirty="0"/>
              <a:t>T</a:t>
            </a:r>
            <a:r>
              <a:rPr lang="en-US" dirty="0" smtClean="0"/>
              <a:t>echnique</a:t>
            </a:r>
            <a:r>
              <a:rPr lang="en-US" dirty="0"/>
              <a:t>). </a:t>
            </a:r>
            <a:endParaRPr lang="en-US" dirty="0" smtClean="0"/>
          </a:p>
          <a:p>
            <a:pPr lvl="1"/>
            <a:r>
              <a:rPr lang="en-US" dirty="0" smtClean="0"/>
              <a:t>Activity-on-Node </a:t>
            </a:r>
            <a:r>
              <a:rPr lang="en-US" dirty="0"/>
              <a:t>techniques: </a:t>
            </a:r>
            <a:endParaRPr lang="en-US" dirty="0" smtClean="0"/>
          </a:p>
          <a:p>
            <a:pPr lvl="2"/>
            <a:r>
              <a:rPr lang="en-US" dirty="0" smtClean="0"/>
              <a:t>Precedence </a:t>
            </a:r>
            <a:r>
              <a:rPr lang="en-US" dirty="0"/>
              <a:t>Networks. </a:t>
            </a:r>
          </a:p>
          <a:p>
            <a:pPr marL="457200" lvl="1" indent="0">
              <a:buNone/>
            </a:pPr>
            <a:r>
              <a:rPr lang="en-US" dirty="0" smtClean="0"/>
              <a:t>These </a:t>
            </a:r>
            <a:r>
              <a:rPr lang="en-US" dirty="0"/>
              <a:t>three methods are very similar and many people use CPM to refer to all of them.</a:t>
            </a:r>
            <a:endParaRPr lang="en-IN" dirty="0"/>
          </a:p>
        </p:txBody>
      </p:sp>
    </p:spTree>
    <p:extLst>
      <p:ext uri="{BB962C8B-B14F-4D97-AF65-F5344CB8AC3E}">
        <p14:creationId xmlns:p14="http://schemas.microsoft.com/office/powerpoint/2010/main" val="7831009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4708" y="392144"/>
            <a:ext cx="9603275" cy="629834"/>
          </a:xfrm>
        </p:spPr>
        <p:txBody>
          <a:bodyPr/>
          <a:lstStyle/>
          <a:p>
            <a:r>
              <a:rPr lang="en-US" dirty="0"/>
              <a:t>Network </a:t>
            </a:r>
            <a:r>
              <a:rPr lang="en-US" dirty="0" smtClean="0"/>
              <a:t>Planning </a:t>
            </a:r>
            <a:r>
              <a:rPr lang="en-US" dirty="0"/>
              <a:t>Models </a:t>
            </a:r>
            <a:endParaRPr lang="en-IN" dirty="0"/>
          </a:p>
        </p:txBody>
      </p:sp>
      <p:sp>
        <p:nvSpPr>
          <p:cNvPr id="3" name="Content Placeholder 2"/>
          <p:cNvSpPr>
            <a:spLocks noGrp="1"/>
          </p:cNvSpPr>
          <p:nvPr>
            <p:ph idx="1"/>
          </p:nvPr>
        </p:nvSpPr>
        <p:spPr>
          <a:xfrm>
            <a:off x="1164709" y="1182029"/>
            <a:ext cx="9890146" cy="4565627"/>
          </a:xfrm>
        </p:spPr>
        <p:txBody>
          <a:bodyPr>
            <a:normAutofit/>
          </a:bodyPr>
          <a:lstStyle/>
          <a:p>
            <a:r>
              <a:rPr lang="en-US" dirty="0"/>
              <a:t> </a:t>
            </a:r>
            <a:r>
              <a:rPr lang="en-US" dirty="0" smtClean="0"/>
              <a:t>Activity-on-Arrow </a:t>
            </a:r>
            <a:r>
              <a:rPr lang="en-US" dirty="0"/>
              <a:t>techniques: </a:t>
            </a:r>
            <a:endParaRPr lang="en-US" dirty="0" smtClean="0"/>
          </a:p>
          <a:p>
            <a:pPr lvl="1"/>
            <a:r>
              <a:rPr lang="en-US" dirty="0" smtClean="0"/>
              <a:t>Activities – </a:t>
            </a:r>
            <a:r>
              <a:rPr lang="en-US" dirty="0" smtClean="0">
                <a:solidFill>
                  <a:srgbClr val="0000CC"/>
                </a:solidFill>
              </a:rPr>
              <a:t>arrows</a:t>
            </a:r>
            <a:r>
              <a:rPr lang="en-US" dirty="0" smtClean="0"/>
              <a:t> joining circles, or nodes</a:t>
            </a:r>
          </a:p>
          <a:p>
            <a:pPr lvl="1"/>
            <a:r>
              <a:rPr lang="en-US" dirty="0" smtClean="0"/>
              <a:t>Start and completion of an activity / set of activities – circles or nodes</a:t>
            </a:r>
          </a:p>
          <a:p>
            <a:pPr marL="228600" lvl="1">
              <a:spcBef>
                <a:spcPts val="1000"/>
              </a:spcBef>
            </a:pPr>
            <a:r>
              <a:rPr lang="en-US" dirty="0"/>
              <a:t>Activity-on-Node techniques: </a:t>
            </a:r>
          </a:p>
          <a:p>
            <a:pPr lvl="1"/>
            <a:r>
              <a:rPr lang="en-US" dirty="0" smtClean="0"/>
              <a:t>Activities – nodes</a:t>
            </a:r>
          </a:p>
          <a:p>
            <a:pPr lvl="1"/>
            <a:r>
              <a:rPr lang="en-US" dirty="0" smtClean="0"/>
              <a:t>Precedence requirements – links between the nodes</a:t>
            </a:r>
          </a:p>
          <a:p>
            <a:pPr lvl="1"/>
            <a:endParaRPr lang="en-US" dirty="0" smtClean="0"/>
          </a:p>
          <a:p>
            <a:pPr lvl="1"/>
            <a:endParaRPr lang="en-US" dirty="0" smtClean="0"/>
          </a:p>
        </p:txBody>
      </p:sp>
    </p:spTree>
    <p:extLst>
      <p:ext uri="{BB962C8B-B14F-4D97-AF65-F5344CB8AC3E}">
        <p14:creationId xmlns:p14="http://schemas.microsoft.com/office/powerpoint/2010/main" val="7361633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603275" cy="410964"/>
          </a:xfrm>
        </p:spPr>
        <p:txBody>
          <a:bodyPr>
            <a:noAutofit/>
          </a:bodyPr>
          <a:lstStyle/>
          <a:p>
            <a:r>
              <a:rPr lang="en-US" sz="2400" dirty="0"/>
              <a:t>Activity-on-Node</a:t>
            </a:r>
            <a:endParaRPr lang="en-IN" sz="2400" dirty="0"/>
          </a:p>
        </p:txBody>
      </p:sp>
      <p:grpSp>
        <p:nvGrpSpPr>
          <p:cNvPr id="74" name="Group 73"/>
          <p:cNvGrpSpPr/>
          <p:nvPr/>
        </p:nvGrpSpPr>
        <p:grpSpPr>
          <a:xfrm>
            <a:off x="156117" y="911726"/>
            <a:ext cx="11428142" cy="4089370"/>
            <a:chOff x="156117" y="911726"/>
            <a:chExt cx="11428142" cy="4089370"/>
          </a:xfrm>
        </p:grpSpPr>
        <p:sp>
          <p:nvSpPr>
            <p:cNvPr id="4" name="Rectangle 3"/>
            <p:cNvSpPr/>
            <p:nvPr/>
          </p:nvSpPr>
          <p:spPr>
            <a:xfrm>
              <a:off x="2141034" y="911726"/>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Specify module A</a:t>
              </a:r>
              <a:endParaRPr lang="en-IN" sz="1600" dirty="0"/>
            </a:p>
          </p:txBody>
        </p:sp>
        <p:sp>
          <p:nvSpPr>
            <p:cNvPr id="5" name="Rectangle 4"/>
            <p:cNvSpPr/>
            <p:nvPr/>
          </p:nvSpPr>
          <p:spPr>
            <a:xfrm>
              <a:off x="2141034" y="2059259"/>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Specify module B</a:t>
              </a:r>
              <a:endParaRPr lang="en-IN" sz="1600" dirty="0"/>
            </a:p>
          </p:txBody>
        </p:sp>
        <p:sp>
          <p:nvSpPr>
            <p:cNvPr id="6" name="Rectangle 5"/>
            <p:cNvSpPr/>
            <p:nvPr/>
          </p:nvSpPr>
          <p:spPr>
            <a:xfrm>
              <a:off x="2141033" y="3206792"/>
              <a:ext cx="1706137"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Specify module C</a:t>
              </a:r>
              <a:endParaRPr lang="en-IN" sz="1600" dirty="0"/>
            </a:p>
          </p:txBody>
        </p:sp>
        <p:sp>
          <p:nvSpPr>
            <p:cNvPr id="7" name="Rectangle 6"/>
            <p:cNvSpPr/>
            <p:nvPr/>
          </p:nvSpPr>
          <p:spPr>
            <a:xfrm>
              <a:off x="2141034" y="4354325"/>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Specify module D</a:t>
              </a:r>
              <a:endParaRPr lang="en-IN" sz="1600" dirty="0"/>
            </a:p>
          </p:txBody>
        </p:sp>
        <p:sp>
          <p:nvSpPr>
            <p:cNvPr id="8" name="Rectangle 7"/>
            <p:cNvSpPr/>
            <p:nvPr/>
          </p:nvSpPr>
          <p:spPr>
            <a:xfrm>
              <a:off x="156117" y="2706031"/>
              <a:ext cx="1605776" cy="500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Specify overall system</a:t>
              </a:r>
              <a:endParaRPr lang="en-IN" sz="1600" dirty="0"/>
            </a:p>
          </p:txBody>
        </p:sp>
        <p:sp>
          <p:nvSpPr>
            <p:cNvPr id="9" name="Rectangle 8"/>
            <p:cNvSpPr/>
            <p:nvPr/>
          </p:nvSpPr>
          <p:spPr>
            <a:xfrm>
              <a:off x="6017942" y="911726"/>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Design module A</a:t>
              </a:r>
              <a:endParaRPr lang="en-IN" sz="1600" dirty="0"/>
            </a:p>
          </p:txBody>
        </p:sp>
        <p:sp>
          <p:nvSpPr>
            <p:cNvPr id="10" name="Rectangle 9"/>
            <p:cNvSpPr/>
            <p:nvPr/>
          </p:nvSpPr>
          <p:spPr>
            <a:xfrm>
              <a:off x="6017942" y="2059259"/>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Design</a:t>
              </a:r>
              <a:r>
                <a:rPr lang="en-IN" sz="1600" dirty="0" smtClean="0"/>
                <a:t> module B</a:t>
              </a:r>
              <a:endParaRPr lang="en-IN" sz="1600" dirty="0"/>
            </a:p>
          </p:txBody>
        </p:sp>
        <p:sp>
          <p:nvSpPr>
            <p:cNvPr id="11" name="Rectangle 10"/>
            <p:cNvSpPr/>
            <p:nvPr/>
          </p:nvSpPr>
          <p:spPr>
            <a:xfrm>
              <a:off x="6017941" y="3206792"/>
              <a:ext cx="1706137"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Design</a:t>
              </a:r>
              <a:r>
                <a:rPr lang="en-IN" sz="1600" dirty="0" smtClean="0"/>
                <a:t> module C</a:t>
              </a:r>
              <a:endParaRPr lang="en-IN" sz="1600" dirty="0"/>
            </a:p>
          </p:txBody>
        </p:sp>
        <p:sp>
          <p:nvSpPr>
            <p:cNvPr id="12" name="Rectangle 11"/>
            <p:cNvSpPr/>
            <p:nvPr/>
          </p:nvSpPr>
          <p:spPr>
            <a:xfrm>
              <a:off x="6017942" y="4354325"/>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Design</a:t>
              </a:r>
              <a:r>
                <a:rPr lang="en-IN" sz="1600" dirty="0" smtClean="0"/>
                <a:t> module D</a:t>
              </a:r>
              <a:endParaRPr lang="en-IN" sz="1600" dirty="0"/>
            </a:p>
          </p:txBody>
        </p:sp>
        <p:sp>
          <p:nvSpPr>
            <p:cNvPr id="14" name="Rectangle 13"/>
            <p:cNvSpPr/>
            <p:nvPr/>
          </p:nvSpPr>
          <p:spPr>
            <a:xfrm>
              <a:off x="8077201" y="911726"/>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Code/test</a:t>
              </a:r>
            </a:p>
            <a:p>
              <a:pPr algn="ctr"/>
              <a:r>
                <a:rPr lang="en-IN" sz="1600" dirty="0" smtClean="0"/>
                <a:t> module A</a:t>
              </a:r>
              <a:endParaRPr lang="en-IN" sz="1600" dirty="0"/>
            </a:p>
          </p:txBody>
        </p:sp>
        <p:sp>
          <p:nvSpPr>
            <p:cNvPr id="15" name="Rectangle 14"/>
            <p:cNvSpPr/>
            <p:nvPr/>
          </p:nvSpPr>
          <p:spPr>
            <a:xfrm>
              <a:off x="8077201" y="2059259"/>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Code/test</a:t>
              </a:r>
              <a:r>
                <a:rPr lang="en-IN" sz="1600" dirty="0" smtClean="0"/>
                <a:t> </a:t>
              </a:r>
            </a:p>
            <a:p>
              <a:pPr algn="ctr"/>
              <a:r>
                <a:rPr lang="en-IN" sz="1600" dirty="0" smtClean="0"/>
                <a:t>module B</a:t>
              </a:r>
              <a:endParaRPr lang="en-IN" sz="1600" dirty="0"/>
            </a:p>
          </p:txBody>
        </p:sp>
        <p:sp>
          <p:nvSpPr>
            <p:cNvPr id="16" name="Rectangle 15"/>
            <p:cNvSpPr/>
            <p:nvPr/>
          </p:nvSpPr>
          <p:spPr>
            <a:xfrm>
              <a:off x="8077200" y="3206792"/>
              <a:ext cx="1706137"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Code/test</a:t>
              </a:r>
            </a:p>
            <a:p>
              <a:pPr algn="ctr"/>
              <a:r>
                <a:rPr lang="en-IN" sz="1600" dirty="0" smtClean="0"/>
                <a:t>module C</a:t>
              </a:r>
              <a:endParaRPr lang="en-IN" sz="1600" dirty="0"/>
            </a:p>
          </p:txBody>
        </p:sp>
        <p:sp>
          <p:nvSpPr>
            <p:cNvPr id="17" name="Rectangle 16"/>
            <p:cNvSpPr/>
            <p:nvPr/>
          </p:nvSpPr>
          <p:spPr>
            <a:xfrm>
              <a:off x="8077201" y="4354325"/>
              <a:ext cx="1706136" cy="6467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Code/test</a:t>
              </a:r>
              <a:r>
                <a:rPr lang="en-IN" sz="1600" dirty="0" smtClean="0"/>
                <a:t> </a:t>
              </a:r>
            </a:p>
            <a:p>
              <a:pPr algn="ctr"/>
              <a:r>
                <a:rPr lang="en-IN" sz="1600" dirty="0" smtClean="0"/>
                <a:t>module D</a:t>
              </a:r>
              <a:endParaRPr lang="en-IN" sz="1600" dirty="0"/>
            </a:p>
          </p:txBody>
        </p:sp>
        <p:sp>
          <p:nvSpPr>
            <p:cNvPr id="18" name="Rectangle 17"/>
            <p:cNvSpPr/>
            <p:nvPr/>
          </p:nvSpPr>
          <p:spPr>
            <a:xfrm>
              <a:off x="4116658" y="2706031"/>
              <a:ext cx="1605776" cy="500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Check </a:t>
              </a:r>
            </a:p>
            <a:p>
              <a:pPr algn="ctr"/>
              <a:r>
                <a:rPr lang="en-IN" sz="1600" dirty="0" smtClean="0"/>
                <a:t>Specification</a:t>
              </a:r>
              <a:endParaRPr lang="en-IN" sz="1600" dirty="0"/>
            </a:p>
          </p:txBody>
        </p:sp>
        <p:sp>
          <p:nvSpPr>
            <p:cNvPr id="19" name="Rectangle 18"/>
            <p:cNvSpPr/>
            <p:nvPr/>
          </p:nvSpPr>
          <p:spPr>
            <a:xfrm>
              <a:off x="9978483" y="2706030"/>
              <a:ext cx="1605776" cy="500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t>Integrate/test system</a:t>
              </a:r>
              <a:endParaRPr lang="en-IN" sz="1600" dirty="0"/>
            </a:p>
          </p:txBody>
        </p:sp>
        <p:sp>
          <p:nvSpPr>
            <p:cNvPr id="20" name="Oval 19"/>
            <p:cNvSpPr/>
            <p:nvPr/>
          </p:nvSpPr>
          <p:spPr>
            <a:xfrm>
              <a:off x="156117" y="20592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p:cNvSpPr/>
            <p:nvPr/>
          </p:nvSpPr>
          <p:spPr>
            <a:xfrm>
              <a:off x="11193966" y="3519027"/>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p:cNvCxnSpPr>
              <a:stCxn id="8" idx="3"/>
              <a:endCxn id="4" idx="1"/>
            </p:cNvCxnSpPr>
            <p:nvPr/>
          </p:nvCxnSpPr>
          <p:spPr>
            <a:xfrm flipV="1">
              <a:off x="1761893" y="1235112"/>
              <a:ext cx="379141" cy="1721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8" idx="3"/>
              <a:endCxn id="5" idx="1"/>
            </p:cNvCxnSpPr>
            <p:nvPr/>
          </p:nvCxnSpPr>
          <p:spPr>
            <a:xfrm flipV="1">
              <a:off x="1761893" y="2382645"/>
              <a:ext cx="379141" cy="573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8" idx="3"/>
              <a:endCxn id="6" idx="1"/>
            </p:cNvCxnSpPr>
            <p:nvPr/>
          </p:nvCxnSpPr>
          <p:spPr>
            <a:xfrm>
              <a:off x="1761893" y="2956412"/>
              <a:ext cx="379140" cy="573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8" idx="3"/>
              <a:endCxn id="7" idx="1"/>
            </p:cNvCxnSpPr>
            <p:nvPr/>
          </p:nvCxnSpPr>
          <p:spPr>
            <a:xfrm>
              <a:off x="1761893" y="2956412"/>
              <a:ext cx="379141" cy="1721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4" idx="3"/>
            </p:cNvCxnSpPr>
            <p:nvPr/>
          </p:nvCxnSpPr>
          <p:spPr>
            <a:xfrm>
              <a:off x="3847170" y="1235112"/>
              <a:ext cx="269488" cy="14344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5" idx="3"/>
              <a:endCxn id="18" idx="1"/>
            </p:cNvCxnSpPr>
            <p:nvPr/>
          </p:nvCxnSpPr>
          <p:spPr>
            <a:xfrm>
              <a:off x="3847170" y="2382645"/>
              <a:ext cx="269488" cy="573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6" idx="3"/>
              <a:endCxn id="18" idx="1"/>
            </p:cNvCxnSpPr>
            <p:nvPr/>
          </p:nvCxnSpPr>
          <p:spPr>
            <a:xfrm flipV="1">
              <a:off x="3847170" y="2956412"/>
              <a:ext cx="269488" cy="573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7" idx="3"/>
            </p:cNvCxnSpPr>
            <p:nvPr/>
          </p:nvCxnSpPr>
          <p:spPr>
            <a:xfrm flipV="1">
              <a:off x="3847170" y="3243295"/>
              <a:ext cx="269488" cy="14344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8" idx="3"/>
              <a:endCxn id="9" idx="1"/>
            </p:cNvCxnSpPr>
            <p:nvPr/>
          </p:nvCxnSpPr>
          <p:spPr>
            <a:xfrm flipV="1">
              <a:off x="5722434" y="1235112"/>
              <a:ext cx="295508" cy="1721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8" idx="3"/>
              <a:endCxn id="10" idx="1"/>
            </p:cNvCxnSpPr>
            <p:nvPr/>
          </p:nvCxnSpPr>
          <p:spPr>
            <a:xfrm flipV="1">
              <a:off x="5722434" y="2382645"/>
              <a:ext cx="295508" cy="573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8" idx="3"/>
              <a:endCxn id="11" idx="1"/>
            </p:cNvCxnSpPr>
            <p:nvPr/>
          </p:nvCxnSpPr>
          <p:spPr>
            <a:xfrm>
              <a:off x="5722434" y="2956412"/>
              <a:ext cx="295507" cy="573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8" idx="3"/>
              <a:endCxn id="12" idx="1"/>
            </p:cNvCxnSpPr>
            <p:nvPr/>
          </p:nvCxnSpPr>
          <p:spPr>
            <a:xfrm>
              <a:off x="5722434" y="2956412"/>
              <a:ext cx="295508" cy="17212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9" idx="3"/>
              <a:endCxn id="14" idx="1"/>
            </p:cNvCxnSpPr>
            <p:nvPr/>
          </p:nvCxnSpPr>
          <p:spPr>
            <a:xfrm>
              <a:off x="7724078" y="1235112"/>
              <a:ext cx="353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0" idx="3"/>
              <a:endCxn id="15" idx="1"/>
            </p:cNvCxnSpPr>
            <p:nvPr/>
          </p:nvCxnSpPr>
          <p:spPr>
            <a:xfrm>
              <a:off x="7724078" y="2382645"/>
              <a:ext cx="353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1" idx="3"/>
            </p:cNvCxnSpPr>
            <p:nvPr/>
          </p:nvCxnSpPr>
          <p:spPr>
            <a:xfrm flipV="1">
              <a:off x="7724078" y="3530177"/>
              <a:ext cx="46091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2" idx="3"/>
              <a:endCxn id="17" idx="1"/>
            </p:cNvCxnSpPr>
            <p:nvPr/>
          </p:nvCxnSpPr>
          <p:spPr>
            <a:xfrm>
              <a:off x="7724078" y="4677711"/>
              <a:ext cx="353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14" idx="3"/>
            </p:cNvCxnSpPr>
            <p:nvPr/>
          </p:nvCxnSpPr>
          <p:spPr>
            <a:xfrm>
              <a:off x="9783337" y="1235112"/>
              <a:ext cx="195146" cy="1470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15" idx="3"/>
              <a:endCxn id="19" idx="1"/>
            </p:cNvCxnSpPr>
            <p:nvPr/>
          </p:nvCxnSpPr>
          <p:spPr>
            <a:xfrm>
              <a:off x="9783337" y="2382645"/>
              <a:ext cx="195146" cy="573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16" idx="3"/>
              <a:endCxn id="19" idx="1"/>
            </p:cNvCxnSpPr>
            <p:nvPr/>
          </p:nvCxnSpPr>
          <p:spPr>
            <a:xfrm flipV="1">
              <a:off x="9783337" y="2956411"/>
              <a:ext cx="195146" cy="57376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17" idx="3"/>
            </p:cNvCxnSpPr>
            <p:nvPr/>
          </p:nvCxnSpPr>
          <p:spPr>
            <a:xfrm flipV="1">
              <a:off x="9783337" y="3206792"/>
              <a:ext cx="195146" cy="1470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20" idx="5"/>
              <a:endCxn id="8" idx="0"/>
            </p:cNvCxnSpPr>
            <p:nvPr/>
          </p:nvCxnSpPr>
          <p:spPr>
            <a:xfrm>
              <a:off x="489253" y="2344803"/>
              <a:ext cx="469752" cy="36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19" idx="2"/>
              <a:endCxn id="21" idx="1"/>
            </p:cNvCxnSpPr>
            <p:nvPr/>
          </p:nvCxnSpPr>
          <p:spPr>
            <a:xfrm>
              <a:off x="10781371" y="3206792"/>
              <a:ext cx="469752" cy="36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25508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886" y="113143"/>
            <a:ext cx="3287689" cy="477871"/>
          </a:xfrm>
        </p:spPr>
        <p:txBody>
          <a:bodyPr>
            <a:normAutofit fontScale="90000"/>
          </a:bodyPr>
          <a:lstStyle/>
          <a:p>
            <a:r>
              <a:rPr lang="en-US" dirty="0"/>
              <a:t> </a:t>
            </a:r>
            <a:r>
              <a:rPr lang="en-US" sz="2400" dirty="0"/>
              <a:t>Activity-on-Arrow</a:t>
            </a:r>
            <a:r>
              <a:rPr lang="en-US" dirty="0"/>
              <a:t> </a:t>
            </a:r>
            <a:endParaRPr lang="en-IN" dirty="0"/>
          </a:p>
        </p:txBody>
      </p:sp>
      <p:grpSp>
        <p:nvGrpSpPr>
          <p:cNvPr id="124" name="Group 123"/>
          <p:cNvGrpSpPr/>
          <p:nvPr/>
        </p:nvGrpSpPr>
        <p:grpSpPr>
          <a:xfrm>
            <a:off x="815959" y="2354568"/>
            <a:ext cx="10535982" cy="2493526"/>
            <a:chOff x="146886" y="2020031"/>
            <a:chExt cx="10535982" cy="2493526"/>
          </a:xfrm>
        </p:grpSpPr>
        <p:sp>
          <p:nvSpPr>
            <p:cNvPr id="4" name="Oval 3"/>
            <p:cNvSpPr/>
            <p:nvPr/>
          </p:nvSpPr>
          <p:spPr>
            <a:xfrm>
              <a:off x="146886" y="29736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1</a:t>
              </a:r>
              <a:endParaRPr lang="en-IN" dirty="0"/>
            </a:p>
          </p:txBody>
        </p:sp>
        <p:sp>
          <p:nvSpPr>
            <p:cNvPr id="5" name="Oval 4"/>
            <p:cNvSpPr/>
            <p:nvPr/>
          </p:nvSpPr>
          <p:spPr>
            <a:xfrm>
              <a:off x="1780783" y="29736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6" name="Oval 5"/>
            <p:cNvSpPr/>
            <p:nvPr/>
          </p:nvSpPr>
          <p:spPr>
            <a:xfrm>
              <a:off x="3559220" y="29736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7" name="Oval 6"/>
            <p:cNvSpPr/>
            <p:nvPr/>
          </p:nvSpPr>
          <p:spPr>
            <a:xfrm>
              <a:off x="5040534" y="29736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4</a:t>
              </a:r>
              <a:endParaRPr lang="en-IN" dirty="0"/>
            </a:p>
          </p:txBody>
        </p:sp>
        <p:sp>
          <p:nvSpPr>
            <p:cNvPr id="8" name="Oval 7"/>
            <p:cNvSpPr/>
            <p:nvPr/>
          </p:nvSpPr>
          <p:spPr>
            <a:xfrm>
              <a:off x="6549727" y="2796396"/>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6</a:t>
              </a:r>
              <a:endParaRPr lang="en-IN" dirty="0"/>
            </a:p>
          </p:txBody>
        </p:sp>
        <p:sp>
          <p:nvSpPr>
            <p:cNvPr id="9" name="Oval 8"/>
            <p:cNvSpPr/>
            <p:nvPr/>
          </p:nvSpPr>
          <p:spPr>
            <a:xfrm>
              <a:off x="8328164" y="2973659"/>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sp>
          <p:nvSpPr>
            <p:cNvPr id="10" name="Oval 9"/>
            <p:cNvSpPr/>
            <p:nvPr/>
          </p:nvSpPr>
          <p:spPr>
            <a:xfrm>
              <a:off x="10106601" y="2973659"/>
              <a:ext cx="576267"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10</a:t>
              </a:r>
              <a:endParaRPr lang="en-IN" sz="1400" dirty="0"/>
            </a:p>
          </p:txBody>
        </p:sp>
        <p:sp>
          <p:nvSpPr>
            <p:cNvPr id="11" name="TextBox 10"/>
            <p:cNvSpPr txBox="1"/>
            <p:nvPr/>
          </p:nvSpPr>
          <p:spPr>
            <a:xfrm>
              <a:off x="590322" y="2848632"/>
              <a:ext cx="1215484" cy="800219"/>
            </a:xfrm>
            <a:prstGeom prst="rect">
              <a:avLst/>
            </a:prstGeom>
            <a:noFill/>
          </p:spPr>
          <p:txBody>
            <a:bodyPr wrap="square" rtlCol="0">
              <a:spAutoFit/>
            </a:bodyPr>
            <a:lstStyle/>
            <a:p>
              <a:pPr algn="ctr"/>
              <a:r>
                <a:rPr lang="en-IN" sz="1400" dirty="0"/>
                <a:t>Specify overall system</a:t>
              </a:r>
            </a:p>
            <a:p>
              <a:endParaRPr lang="en-IN" dirty="0"/>
            </a:p>
          </p:txBody>
        </p:sp>
        <p:sp>
          <p:nvSpPr>
            <p:cNvPr id="13" name="Rectangle 12"/>
            <p:cNvSpPr/>
            <p:nvPr/>
          </p:nvSpPr>
          <p:spPr>
            <a:xfrm>
              <a:off x="2413186" y="2020031"/>
              <a:ext cx="684803" cy="307777"/>
            </a:xfrm>
            <a:prstGeom prst="rect">
              <a:avLst/>
            </a:prstGeom>
          </p:spPr>
          <p:txBody>
            <a:bodyPr wrap="none">
              <a:spAutoFit/>
            </a:bodyPr>
            <a:lstStyle/>
            <a:p>
              <a:pPr algn="ctr"/>
              <a:r>
                <a:rPr lang="en-IN" sz="1400" dirty="0" smtClean="0"/>
                <a:t>Specify</a:t>
              </a:r>
              <a:endParaRPr lang="en-IN" sz="1400" dirty="0"/>
            </a:p>
          </p:txBody>
        </p:sp>
        <p:sp>
          <p:nvSpPr>
            <p:cNvPr id="14" name="Rectangle 13"/>
            <p:cNvSpPr/>
            <p:nvPr/>
          </p:nvSpPr>
          <p:spPr>
            <a:xfrm>
              <a:off x="2322884" y="2328287"/>
              <a:ext cx="881652" cy="307777"/>
            </a:xfrm>
            <a:prstGeom prst="rect">
              <a:avLst/>
            </a:prstGeom>
          </p:spPr>
          <p:txBody>
            <a:bodyPr wrap="none">
              <a:spAutoFit/>
            </a:bodyPr>
            <a:lstStyle/>
            <a:p>
              <a:pPr algn="ctr"/>
              <a:r>
                <a:rPr lang="en-IN" sz="1400" dirty="0" smtClean="0"/>
                <a:t>module A</a:t>
              </a:r>
              <a:endParaRPr lang="en-IN" sz="1400" dirty="0"/>
            </a:p>
          </p:txBody>
        </p:sp>
        <p:cxnSp>
          <p:nvCxnSpPr>
            <p:cNvPr id="16" name="Straight Arrow Connector 15"/>
            <p:cNvCxnSpPr>
              <a:endCxn id="5" idx="2"/>
            </p:cNvCxnSpPr>
            <p:nvPr/>
          </p:nvCxnSpPr>
          <p:spPr>
            <a:xfrm>
              <a:off x="565299" y="3140927"/>
              <a:ext cx="12154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5" idx="0"/>
            </p:cNvCxnSpPr>
            <p:nvPr/>
          </p:nvCxnSpPr>
          <p:spPr>
            <a:xfrm flipV="1">
              <a:off x="1975930" y="2327328"/>
              <a:ext cx="346954" cy="6463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322884" y="2327328"/>
              <a:ext cx="10636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6" idx="0"/>
            </p:cNvCxnSpPr>
            <p:nvPr/>
          </p:nvCxnSpPr>
          <p:spPr>
            <a:xfrm>
              <a:off x="3386560" y="2327328"/>
              <a:ext cx="367807" cy="646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5" idx="6"/>
            </p:cNvCxnSpPr>
            <p:nvPr/>
          </p:nvCxnSpPr>
          <p:spPr>
            <a:xfrm flipV="1">
              <a:off x="2171076" y="2949164"/>
              <a:ext cx="297123" cy="191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459647" y="2949164"/>
              <a:ext cx="824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6" idx="2"/>
            </p:cNvCxnSpPr>
            <p:nvPr/>
          </p:nvCxnSpPr>
          <p:spPr>
            <a:xfrm>
              <a:off x="3296258" y="2949164"/>
              <a:ext cx="262962" cy="191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2486554" y="2634626"/>
              <a:ext cx="684803" cy="307777"/>
            </a:xfrm>
            <a:prstGeom prst="rect">
              <a:avLst/>
            </a:prstGeom>
          </p:spPr>
          <p:txBody>
            <a:bodyPr wrap="none">
              <a:spAutoFit/>
            </a:bodyPr>
            <a:lstStyle/>
            <a:p>
              <a:pPr algn="ctr"/>
              <a:r>
                <a:rPr lang="en-IN" sz="1400" dirty="0" smtClean="0"/>
                <a:t>Specify</a:t>
              </a:r>
              <a:endParaRPr lang="en-IN" sz="1400" dirty="0"/>
            </a:p>
          </p:txBody>
        </p:sp>
        <p:sp>
          <p:nvSpPr>
            <p:cNvPr id="42" name="Rectangle 41"/>
            <p:cNvSpPr/>
            <p:nvPr/>
          </p:nvSpPr>
          <p:spPr>
            <a:xfrm>
              <a:off x="2396893" y="2942882"/>
              <a:ext cx="880370" cy="307777"/>
            </a:xfrm>
            <a:prstGeom prst="rect">
              <a:avLst/>
            </a:prstGeom>
          </p:spPr>
          <p:txBody>
            <a:bodyPr wrap="none">
              <a:spAutoFit/>
            </a:bodyPr>
            <a:lstStyle/>
            <a:p>
              <a:pPr algn="ctr"/>
              <a:r>
                <a:rPr lang="en-IN" sz="1400" dirty="0" smtClean="0"/>
                <a:t>module B</a:t>
              </a:r>
              <a:endParaRPr lang="en-IN" sz="1400" dirty="0"/>
            </a:p>
          </p:txBody>
        </p:sp>
        <p:cxnSp>
          <p:nvCxnSpPr>
            <p:cNvPr id="43" name="Straight Connector 42"/>
            <p:cNvCxnSpPr/>
            <p:nvPr/>
          </p:nvCxnSpPr>
          <p:spPr>
            <a:xfrm>
              <a:off x="2452326" y="3525310"/>
              <a:ext cx="824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5" idx="5"/>
            </p:cNvCxnSpPr>
            <p:nvPr/>
          </p:nvCxnSpPr>
          <p:spPr>
            <a:xfrm>
              <a:off x="2113919" y="3259203"/>
              <a:ext cx="338407" cy="266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endCxn id="6" idx="3"/>
            </p:cNvCxnSpPr>
            <p:nvPr/>
          </p:nvCxnSpPr>
          <p:spPr>
            <a:xfrm flipV="1">
              <a:off x="3284584" y="3259203"/>
              <a:ext cx="331793" cy="266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2504212" y="3248742"/>
              <a:ext cx="684803" cy="307777"/>
            </a:xfrm>
            <a:prstGeom prst="rect">
              <a:avLst/>
            </a:prstGeom>
          </p:spPr>
          <p:txBody>
            <a:bodyPr wrap="none">
              <a:spAutoFit/>
            </a:bodyPr>
            <a:lstStyle/>
            <a:p>
              <a:pPr algn="ctr"/>
              <a:r>
                <a:rPr lang="en-IN" sz="1400" dirty="0" smtClean="0"/>
                <a:t>Specify</a:t>
              </a:r>
              <a:endParaRPr lang="en-IN" sz="1400" dirty="0"/>
            </a:p>
          </p:txBody>
        </p:sp>
        <p:sp>
          <p:nvSpPr>
            <p:cNvPr id="53" name="Rectangle 52"/>
            <p:cNvSpPr/>
            <p:nvPr/>
          </p:nvSpPr>
          <p:spPr>
            <a:xfrm>
              <a:off x="2401727" y="3556998"/>
              <a:ext cx="906018" cy="307777"/>
            </a:xfrm>
            <a:prstGeom prst="rect">
              <a:avLst/>
            </a:prstGeom>
          </p:spPr>
          <p:txBody>
            <a:bodyPr wrap="none">
              <a:spAutoFit/>
            </a:bodyPr>
            <a:lstStyle/>
            <a:p>
              <a:pPr algn="ctr"/>
              <a:r>
                <a:rPr lang="en-IN" sz="1400" dirty="0" smtClean="0"/>
                <a:t>module C</a:t>
              </a:r>
              <a:endParaRPr lang="en-IN" sz="1400" dirty="0"/>
            </a:p>
          </p:txBody>
        </p:sp>
        <p:cxnSp>
          <p:nvCxnSpPr>
            <p:cNvPr id="54" name="Straight Connector 53"/>
            <p:cNvCxnSpPr/>
            <p:nvPr/>
          </p:nvCxnSpPr>
          <p:spPr>
            <a:xfrm>
              <a:off x="2322884" y="4197016"/>
              <a:ext cx="10636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 idx="4"/>
            </p:cNvCxnSpPr>
            <p:nvPr/>
          </p:nvCxnSpPr>
          <p:spPr>
            <a:xfrm>
              <a:off x="1975930" y="3308195"/>
              <a:ext cx="346954" cy="88882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6" idx="4"/>
            </p:cNvCxnSpPr>
            <p:nvPr/>
          </p:nvCxnSpPr>
          <p:spPr>
            <a:xfrm flipV="1">
              <a:off x="3386560" y="3308195"/>
              <a:ext cx="367807" cy="888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2512958" y="3889239"/>
              <a:ext cx="684803" cy="307777"/>
            </a:xfrm>
            <a:prstGeom prst="rect">
              <a:avLst/>
            </a:prstGeom>
          </p:spPr>
          <p:txBody>
            <a:bodyPr wrap="none">
              <a:spAutoFit/>
            </a:bodyPr>
            <a:lstStyle/>
            <a:p>
              <a:pPr algn="ctr"/>
              <a:r>
                <a:rPr lang="en-IN" sz="1400" dirty="0" smtClean="0"/>
                <a:t>Specify</a:t>
              </a:r>
              <a:endParaRPr lang="en-IN" sz="1400" dirty="0"/>
            </a:p>
          </p:txBody>
        </p:sp>
        <p:sp>
          <p:nvSpPr>
            <p:cNvPr id="60" name="Rectangle 59"/>
            <p:cNvSpPr/>
            <p:nvPr/>
          </p:nvSpPr>
          <p:spPr>
            <a:xfrm>
              <a:off x="2406465" y="4197495"/>
              <a:ext cx="914033" cy="307777"/>
            </a:xfrm>
            <a:prstGeom prst="rect">
              <a:avLst/>
            </a:prstGeom>
          </p:spPr>
          <p:txBody>
            <a:bodyPr wrap="none">
              <a:spAutoFit/>
            </a:bodyPr>
            <a:lstStyle/>
            <a:p>
              <a:pPr algn="ctr"/>
              <a:r>
                <a:rPr lang="en-IN" sz="1400" dirty="0" smtClean="0"/>
                <a:t>module D</a:t>
              </a:r>
              <a:endParaRPr lang="en-IN" sz="1400" dirty="0"/>
            </a:p>
          </p:txBody>
        </p:sp>
        <p:cxnSp>
          <p:nvCxnSpPr>
            <p:cNvPr id="63" name="Straight Arrow Connector 62"/>
            <p:cNvCxnSpPr>
              <a:stCxn id="6" idx="6"/>
              <a:endCxn id="7" idx="2"/>
            </p:cNvCxnSpPr>
            <p:nvPr/>
          </p:nvCxnSpPr>
          <p:spPr>
            <a:xfrm>
              <a:off x="3949513" y="3140927"/>
              <a:ext cx="10910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6549727" y="2157984"/>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5</a:t>
              </a:r>
              <a:endParaRPr lang="en-IN" dirty="0"/>
            </a:p>
          </p:txBody>
        </p:sp>
        <p:sp>
          <p:nvSpPr>
            <p:cNvPr id="65" name="Oval 64"/>
            <p:cNvSpPr/>
            <p:nvPr/>
          </p:nvSpPr>
          <p:spPr>
            <a:xfrm>
              <a:off x="6549726" y="4038033"/>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8</a:t>
              </a:r>
            </a:p>
          </p:txBody>
        </p:sp>
        <p:sp>
          <p:nvSpPr>
            <p:cNvPr id="66" name="Oval 65"/>
            <p:cNvSpPr/>
            <p:nvPr/>
          </p:nvSpPr>
          <p:spPr>
            <a:xfrm>
              <a:off x="6549726" y="3358042"/>
              <a:ext cx="390293" cy="3345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7</a:t>
              </a:r>
              <a:endParaRPr lang="en-IN" dirty="0"/>
            </a:p>
          </p:txBody>
        </p:sp>
        <p:sp>
          <p:nvSpPr>
            <p:cNvPr id="69" name="TextBox 68"/>
            <p:cNvSpPr txBox="1"/>
            <p:nvPr/>
          </p:nvSpPr>
          <p:spPr>
            <a:xfrm>
              <a:off x="3921634" y="2788514"/>
              <a:ext cx="1215484" cy="1015663"/>
            </a:xfrm>
            <a:prstGeom prst="rect">
              <a:avLst/>
            </a:prstGeom>
            <a:noFill/>
          </p:spPr>
          <p:txBody>
            <a:bodyPr wrap="square" rtlCol="0">
              <a:spAutoFit/>
            </a:bodyPr>
            <a:lstStyle/>
            <a:p>
              <a:pPr algn="ctr"/>
              <a:r>
                <a:rPr lang="en-IN" sz="1400" dirty="0" smtClean="0"/>
                <a:t>Check</a:t>
              </a:r>
            </a:p>
            <a:p>
              <a:pPr algn="ctr"/>
              <a:endParaRPr lang="en-IN" sz="1400" dirty="0"/>
            </a:p>
            <a:p>
              <a:pPr algn="ctr"/>
              <a:r>
                <a:rPr lang="en-IN" sz="1400" dirty="0" smtClean="0"/>
                <a:t>Specification</a:t>
              </a:r>
              <a:endParaRPr lang="en-IN" sz="1400" dirty="0"/>
            </a:p>
            <a:p>
              <a:endParaRPr lang="en-IN" dirty="0"/>
            </a:p>
          </p:txBody>
        </p:sp>
        <p:cxnSp>
          <p:nvCxnSpPr>
            <p:cNvPr id="70" name="Straight Connector 69"/>
            <p:cNvCxnSpPr/>
            <p:nvPr/>
          </p:nvCxnSpPr>
          <p:spPr>
            <a:xfrm flipV="1">
              <a:off x="5218578" y="2328037"/>
              <a:ext cx="346954" cy="64633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5413724" y="2949873"/>
              <a:ext cx="297123" cy="191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5356567" y="3259912"/>
              <a:ext cx="338407" cy="266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5218578" y="3308904"/>
              <a:ext cx="346954" cy="88882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64" idx="2"/>
            </p:cNvCxnSpPr>
            <p:nvPr/>
          </p:nvCxnSpPr>
          <p:spPr>
            <a:xfrm>
              <a:off x="5562285" y="2325252"/>
              <a:ext cx="9874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endCxn id="8" idx="2"/>
            </p:cNvCxnSpPr>
            <p:nvPr/>
          </p:nvCxnSpPr>
          <p:spPr>
            <a:xfrm>
              <a:off x="5683823" y="2953554"/>
              <a:ext cx="865904" cy="10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endCxn id="66" idx="2"/>
            </p:cNvCxnSpPr>
            <p:nvPr/>
          </p:nvCxnSpPr>
          <p:spPr>
            <a:xfrm>
              <a:off x="5688700" y="3525310"/>
              <a:ext cx="8610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5562285" y="4197016"/>
              <a:ext cx="9874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8159270" y="2327328"/>
              <a:ext cx="367807" cy="646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8068968" y="2949164"/>
              <a:ext cx="262962" cy="191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flipV="1">
              <a:off x="8057294" y="3259203"/>
              <a:ext cx="331793" cy="266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flipV="1">
              <a:off x="8159270" y="3308195"/>
              <a:ext cx="367807" cy="888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endCxn id="64" idx="6"/>
            </p:cNvCxnSpPr>
            <p:nvPr/>
          </p:nvCxnSpPr>
          <p:spPr>
            <a:xfrm flipH="1">
              <a:off x="6940020" y="2325252"/>
              <a:ext cx="1219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endCxn id="8" idx="6"/>
            </p:cNvCxnSpPr>
            <p:nvPr/>
          </p:nvCxnSpPr>
          <p:spPr>
            <a:xfrm flipH="1">
              <a:off x="6940020" y="2942403"/>
              <a:ext cx="1128948" cy="21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endCxn id="66" idx="6"/>
            </p:cNvCxnSpPr>
            <p:nvPr/>
          </p:nvCxnSpPr>
          <p:spPr>
            <a:xfrm flipH="1">
              <a:off x="6940019" y="3525310"/>
              <a:ext cx="11289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65" idx="6"/>
            </p:cNvCxnSpPr>
            <p:nvPr/>
          </p:nvCxnSpPr>
          <p:spPr>
            <a:xfrm flipH="1">
              <a:off x="6940019" y="4197016"/>
              <a:ext cx="1219251" cy="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9" idx="6"/>
              <a:endCxn id="10" idx="2"/>
            </p:cNvCxnSpPr>
            <p:nvPr/>
          </p:nvCxnSpPr>
          <p:spPr>
            <a:xfrm>
              <a:off x="8718457" y="3140927"/>
              <a:ext cx="13881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Rectangle 106"/>
            <p:cNvSpPr/>
            <p:nvPr/>
          </p:nvSpPr>
          <p:spPr>
            <a:xfrm>
              <a:off x="5727558" y="2024468"/>
              <a:ext cx="681597" cy="307777"/>
            </a:xfrm>
            <a:prstGeom prst="rect">
              <a:avLst/>
            </a:prstGeom>
          </p:spPr>
          <p:txBody>
            <a:bodyPr wrap="none">
              <a:spAutoFit/>
            </a:bodyPr>
            <a:lstStyle/>
            <a:p>
              <a:pPr algn="ctr"/>
              <a:r>
                <a:rPr lang="en-IN" sz="1400" dirty="0" smtClean="0"/>
                <a:t>Design</a:t>
              </a:r>
              <a:endParaRPr lang="en-IN" sz="1400" dirty="0"/>
            </a:p>
          </p:txBody>
        </p:sp>
        <p:sp>
          <p:nvSpPr>
            <p:cNvPr id="108" name="Rectangle 107"/>
            <p:cNvSpPr/>
            <p:nvPr/>
          </p:nvSpPr>
          <p:spPr>
            <a:xfrm>
              <a:off x="5635652" y="2332724"/>
              <a:ext cx="881653" cy="307777"/>
            </a:xfrm>
            <a:prstGeom prst="rect">
              <a:avLst/>
            </a:prstGeom>
          </p:spPr>
          <p:txBody>
            <a:bodyPr wrap="none">
              <a:spAutoFit/>
            </a:bodyPr>
            <a:lstStyle/>
            <a:p>
              <a:pPr algn="ctr"/>
              <a:r>
                <a:rPr lang="en-IN" sz="1400" dirty="0" smtClean="0"/>
                <a:t>module A</a:t>
              </a:r>
              <a:endParaRPr lang="en-IN" sz="1400" dirty="0"/>
            </a:p>
          </p:txBody>
        </p:sp>
        <p:sp>
          <p:nvSpPr>
            <p:cNvPr id="109" name="Rectangle 108"/>
            <p:cNvSpPr/>
            <p:nvPr/>
          </p:nvSpPr>
          <p:spPr>
            <a:xfrm>
              <a:off x="5734426" y="2610797"/>
              <a:ext cx="681597" cy="307777"/>
            </a:xfrm>
            <a:prstGeom prst="rect">
              <a:avLst/>
            </a:prstGeom>
          </p:spPr>
          <p:txBody>
            <a:bodyPr wrap="none">
              <a:spAutoFit/>
            </a:bodyPr>
            <a:lstStyle/>
            <a:p>
              <a:pPr algn="ctr"/>
              <a:r>
                <a:rPr lang="en-IN" sz="1400" dirty="0" smtClean="0"/>
                <a:t>Design</a:t>
              </a:r>
              <a:endParaRPr lang="en-IN" sz="1400" dirty="0"/>
            </a:p>
          </p:txBody>
        </p:sp>
        <p:sp>
          <p:nvSpPr>
            <p:cNvPr id="110" name="Rectangle 109"/>
            <p:cNvSpPr/>
            <p:nvPr/>
          </p:nvSpPr>
          <p:spPr>
            <a:xfrm>
              <a:off x="5643162" y="2919053"/>
              <a:ext cx="880370" cy="307777"/>
            </a:xfrm>
            <a:prstGeom prst="rect">
              <a:avLst/>
            </a:prstGeom>
          </p:spPr>
          <p:txBody>
            <a:bodyPr wrap="none">
              <a:spAutoFit/>
            </a:bodyPr>
            <a:lstStyle/>
            <a:p>
              <a:pPr algn="ctr"/>
              <a:r>
                <a:rPr lang="en-IN" sz="1400" dirty="0" smtClean="0"/>
                <a:t>module B</a:t>
              </a:r>
              <a:endParaRPr lang="en-IN" sz="1400" dirty="0"/>
            </a:p>
          </p:txBody>
        </p:sp>
        <p:sp>
          <p:nvSpPr>
            <p:cNvPr id="111" name="Rectangle 110"/>
            <p:cNvSpPr/>
            <p:nvPr/>
          </p:nvSpPr>
          <p:spPr>
            <a:xfrm>
              <a:off x="5777827" y="3225719"/>
              <a:ext cx="681597" cy="307777"/>
            </a:xfrm>
            <a:prstGeom prst="rect">
              <a:avLst/>
            </a:prstGeom>
          </p:spPr>
          <p:txBody>
            <a:bodyPr wrap="none">
              <a:spAutoFit/>
            </a:bodyPr>
            <a:lstStyle/>
            <a:p>
              <a:pPr algn="ctr"/>
              <a:r>
                <a:rPr lang="en-IN" sz="1400" dirty="0" smtClean="0"/>
                <a:t>Design</a:t>
              </a:r>
              <a:endParaRPr lang="en-IN" sz="1400" dirty="0"/>
            </a:p>
          </p:txBody>
        </p:sp>
        <p:sp>
          <p:nvSpPr>
            <p:cNvPr id="112" name="Rectangle 111"/>
            <p:cNvSpPr/>
            <p:nvPr/>
          </p:nvSpPr>
          <p:spPr>
            <a:xfrm>
              <a:off x="5673739" y="3533975"/>
              <a:ext cx="906018" cy="307777"/>
            </a:xfrm>
            <a:prstGeom prst="rect">
              <a:avLst/>
            </a:prstGeom>
          </p:spPr>
          <p:txBody>
            <a:bodyPr wrap="none">
              <a:spAutoFit/>
            </a:bodyPr>
            <a:lstStyle/>
            <a:p>
              <a:pPr algn="ctr"/>
              <a:r>
                <a:rPr lang="en-IN" sz="1400" dirty="0" smtClean="0"/>
                <a:t>module C</a:t>
              </a:r>
              <a:endParaRPr lang="en-IN" sz="1400" dirty="0"/>
            </a:p>
          </p:txBody>
        </p:sp>
        <p:sp>
          <p:nvSpPr>
            <p:cNvPr id="113" name="Rectangle 112"/>
            <p:cNvSpPr/>
            <p:nvPr/>
          </p:nvSpPr>
          <p:spPr>
            <a:xfrm>
              <a:off x="5745392" y="3897524"/>
              <a:ext cx="681597" cy="307777"/>
            </a:xfrm>
            <a:prstGeom prst="rect">
              <a:avLst/>
            </a:prstGeom>
          </p:spPr>
          <p:txBody>
            <a:bodyPr wrap="none">
              <a:spAutoFit/>
            </a:bodyPr>
            <a:lstStyle/>
            <a:p>
              <a:pPr algn="ctr"/>
              <a:r>
                <a:rPr lang="en-IN" sz="1400" dirty="0" smtClean="0"/>
                <a:t>Design</a:t>
              </a:r>
              <a:endParaRPr lang="en-IN" sz="1400" dirty="0"/>
            </a:p>
          </p:txBody>
        </p:sp>
        <p:sp>
          <p:nvSpPr>
            <p:cNvPr id="114" name="Rectangle 113"/>
            <p:cNvSpPr/>
            <p:nvPr/>
          </p:nvSpPr>
          <p:spPr>
            <a:xfrm>
              <a:off x="5637296" y="4205780"/>
              <a:ext cx="914033" cy="307777"/>
            </a:xfrm>
            <a:prstGeom prst="rect">
              <a:avLst/>
            </a:prstGeom>
          </p:spPr>
          <p:txBody>
            <a:bodyPr wrap="none">
              <a:spAutoFit/>
            </a:bodyPr>
            <a:lstStyle/>
            <a:p>
              <a:pPr algn="ctr"/>
              <a:r>
                <a:rPr lang="en-IN" sz="1400" dirty="0" smtClean="0"/>
                <a:t>module D</a:t>
              </a:r>
              <a:endParaRPr lang="en-IN" sz="1400" dirty="0"/>
            </a:p>
          </p:txBody>
        </p:sp>
        <p:sp>
          <p:nvSpPr>
            <p:cNvPr id="115" name="Rectangle 114"/>
            <p:cNvSpPr/>
            <p:nvPr/>
          </p:nvSpPr>
          <p:spPr>
            <a:xfrm>
              <a:off x="7023830" y="2020031"/>
              <a:ext cx="912429" cy="307777"/>
            </a:xfrm>
            <a:prstGeom prst="rect">
              <a:avLst/>
            </a:prstGeom>
          </p:spPr>
          <p:txBody>
            <a:bodyPr wrap="none">
              <a:spAutoFit/>
            </a:bodyPr>
            <a:lstStyle/>
            <a:p>
              <a:pPr algn="ctr"/>
              <a:r>
                <a:rPr lang="en-IN" sz="1400" dirty="0" smtClean="0"/>
                <a:t>Code/test</a:t>
              </a:r>
              <a:endParaRPr lang="en-IN" sz="1400" dirty="0"/>
            </a:p>
          </p:txBody>
        </p:sp>
        <p:sp>
          <p:nvSpPr>
            <p:cNvPr id="116" name="Rectangle 115"/>
            <p:cNvSpPr/>
            <p:nvPr/>
          </p:nvSpPr>
          <p:spPr>
            <a:xfrm>
              <a:off x="7047340" y="2328287"/>
              <a:ext cx="881653" cy="307777"/>
            </a:xfrm>
            <a:prstGeom prst="rect">
              <a:avLst/>
            </a:prstGeom>
          </p:spPr>
          <p:txBody>
            <a:bodyPr wrap="none">
              <a:spAutoFit/>
            </a:bodyPr>
            <a:lstStyle/>
            <a:p>
              <a:pPr algn="ctr"/>
              <a:r>
                <a:rPr lang="en-IN" sz="1400" dirty="0" smtClean="0"/>
                <a:t>module A</a:t>
              </a:r>
              <a:endParaRPr lang="en-IN" sz="1400" dirty="0"/>
            </a:p>
          </p:txBody>
        </p:sp>
        <p:sp>
          <p:nvSpPr>
            <p:cNvPr id="117" name="Rectangle 116"/>
            <p:cNvSpPr/>
            <p:nvPr/>
          </p:nvSpPr>
          <p:spPr>
            <a:xfrm>
              <a:off x="7030698" y="2606360"/>
              <a:ext cx="912429" cy="307777"/>
            </a:xfrm>
            <a:prstGeom prst="rect">
              <a:avLst/>
            </a:prstGeom>
          </p:spPr>
          <p:txBody>
            <a:bodyPr wrap="none">
              <a:spAutoFit/>
            </a:bodyPr>
            <a:lstStyle/>
            <a:p>
              <a:pPr algn="ctr"/>
              <a:r>
                <a:rPr lang="en-IN" sz="1400" dirty="0"/>
                <a:t>Code/test</a:t>
              </a:r>
            </a:p>
          </p:txBody>
        </p:sp>
        <p:sp>
          <p:nvSpPr>
            <p:cNvPr id="118" name="Rectangle 117"/>
            <p:cNvSpPr/>
            <p:nvPr/>
          </p:nvSpPr>
          <p:spPr>
            <a:xfrm>
              <a:off x="7054850" y="2914616"/>
              <a:ext cx="880370" cy="307777"/>
            </a:xfrm>
            <a:prstGeom prst="rect">
              <a:avLst/>
            </a:prstGeom>
          </p:spPr>
          <p:txBody>
            <a:bodyPr wrap="none">
              <a:spAutoFit/>
            </a:bodyPr>
            <a:lstStyle/>
            <a:p>
              <a:pPr algn="ctr"/>
              <a:r>
                <a:rPr lang="en-IN" sz="1400" dirty="0" smtClean="0"/>
                <a:t>module B</a:t>
              </a:r>
              <a:endParaRPr lang="en-IN" sz="1400" dirty="0"/>
            </a:p>
          </p:txBody>
        </p:sp>
        <p:sp>
          <p:nvSpPr>
            <p:cNvPr id="119" name="Rectangle 118"/>
            <p:cNvSpPr/>
            <p:nvPr/>
          </p:nvSpPr>
          <p:spPr>
            <a:xfrm>
              <a:off x="7074099" y="3221282"/>
              <a:ext cx="912429" cy="307777"/>
            </a:xfrm>
            <a:prstGeom prst="rect">
              <a:avLst/>
            </a:prstGeom>
          </p:spPr>
          <p:txBody>
            <a:bodyPr wrap="none">
              <a:spAutoFit/>
            </a:bodyPr>
            <a:lstStyle/>
            <a:p>
              <a:pPr algn="ctr"/>
              <a:r>
                <a:rPr lang="en-IN" sz="1400" dirty="0"/>
                <a:t>Code/test</a:t>
              </a:r>
            </a:p>
          </p:txBody>
        </p:sp>
        <p:sp>
          <p:nvSpPr>
            <p:cNvPr id="120" name="Rectangle 119"/>
            <p:cNvSpPr/>
            <p:nvPr/>
          </p:nvSpPr>
          <p:spPr>
            <a:xfrm>
              <a:off x="7085427" y="3529538"/>
              <a:ext cx="906018" cy="307777"/>
            </a:xfrm>
            <a:prstGeom prst="rect">
              <a:avLst/>
            </a:prstGeom>
          </p:spPr>
          <p:txBody>
            <a:bodyPr wrap="none">
              <a:spAutoFit/>
            </a:bodyPr>
            <a:lstStyle/>
            <a:p>
              <a:pPr algn="ctr"/>
              <a:r>
                <a:rPr lang="en-IN" sz="1400" dirty="0" smtClean="0"/>
                <a:t>module C</a:t>
              </a:r>
              <a:endParaRPr lang="en-IN" sz="1400" dirty="0"/>
            </a:p>
          </p:txBody>
        </p:sp>
        <p:sp>
          <p:nvSpPr>
            <p:cNvPr id="121" name="Rectangle 120"/>
            <p:cNvSpPr/>
            <p:nvPr/>
          </p:nvSpPr>
          <p:spPr>
            <a:xfrm>
              <a:off x="7041664" y="3893087"/>
              <a:ext cx="912429" cy="307777"/>
            </a:xfrm>
            <a:prstGeom prst="rect">
              <a:avLst/>
            </a:prstGeom>
          </p:spPr>
          <p:txBody>
            <a:bodyPr wrap="none">
              <a:spAutoFit/>
            </a:bodyPr>
            <a:lstStyle/>
            <a:p>
              <a:pPr algn="ctr"/>
              <a:r>
                <a:rPr lang="en-IN" sz="1400" dirty="0"/>
                <a:t>Code/test</a:t>
              </a:r>
            </a:p>
          </p:txBody>
        </p:sp>
        <p:sp>
          <p:nvSpPr>
            <p:cNvPr id="122" name="Rectangle 121"/>
            <p:cNvSpPr/>
            <p:nvPr/>
          </p:nvSpPr>
          <p:spPr>
            <a:xfrm>
              <a:off x="7048984" y="4201343"/>
              <a:ext cx="914033" cy="307777"/>
            </a:xfrm>
            <a:prstGeom prst="rect">
              <a:avLst/>
            </a:prstGeom>
          </p:spPr>
          <p:txBody>
            <a:bodyPr wrap="none">
              <a:spAutoFit/>
            </a:bodyPr>
            <a:lstStyle/>
            <a:p>
              <a:pPr algn="ctr"/>
              <a:r>
                <a:rPr lang="en-IN" sz="1400" dirty="0" smtClean="0"/>
                <a:t>module D</a:t>
              </a:r>
              <a:endParaRPr lang="en-IN" sz="1400" dirty="0"/>
            </a:p>
          </p:txBody>
        </p:sp>
        <p:sp>
          <p:nvSpPr>
            <p:cNvPr id="123" name="TextBox 122"/>
            <p:cNvSpPr txBox="1"/>
            <p:nvPr/>
          </p:nvSpPr>
          <p:spPr>
            <a:xfrm>
              <a:off x="8800541" y="2751371"/>
              <a:ext cx="1215484" cy="1015663"/>
            </a:xfrm>
            <a:prstGeom prst="rect">
              <a:avLst/>
            </a:prstGeom>
            <a:noFill/>
          </p:spPr>
          <p:txBody>
            <a:bodyPr wrap="square" rtlCol="0">
              <a:spAutoFit/>
            </a:bodyPr>
            <a:lstStyle/>
            <a:p>
              <a:pPr algn="ctr"/>
              <a:r>
                <a:rPr lang="en-IN" sz="1400" dirty="0" smtClean="0"/>
                <a:t>Integrate/test</a:t>
              </a:r>
            </a:p>
            <a:p>
              <a:pPr algn="ctr"/>
              <a:endParaRPr lang="en-IN" sz="1400" dirty="0"/>
            </a:p>
            <a:p>
              <a:pPr algn="ctr"/>
              <a:r>
                <a:rPr lang="en-IN" sz="1400" dirty="0" smtClean="0"/>
                <a:t>System</a:t>
              </a:r>
              <a:endParaRPr lang="en-IN" sz="1400" dirty="0"/>
            </a:p>
            <a:p>
              <a:endParaRPr lang="en-IN" dirty="0"/>
            </a:p>
          </p:txBody>
        </p:sp>
      </p:grpSp>
    </p:spTree>
    <p:extLst>
      <p:ext uri="{BB962C8B-B14F-4D97-AF65-F5344CB8AC3E}">
        <p14:creationId xmlns:p14="http://schemas.microsoft.com/office/powerpoint/2010/main" val="31437726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280411"/>
            <a:ext cx="9603275" cy="1049235"/>
          </a:xfrm>
        </p:spPr>
        <p:txBody>
          <a:bodyPr/>
          <a:lstStyle/>
          <a:p>
            <a:r>
              <a:rPr lang="en-IN" dirty="0" smtClean="0"/>
              <a:t>Formulating a Network Model</a:t>
            </a:r>
            <a:endParaRPr lang="en-IN" dirty="0"/>
          </a:p>
        </p:txBody>
      </p:sp>
      <p:sp>
        <p:nvSpPr>
          <p:cNvPr id="3" name="Content Placeholder 2"/>
          <p:cNvSpPr>
            <a:spLocks noGrp="1"/>
          </p:cNvSpPr>
          <p:nvPr>
            <p:ph idx="1"/>
          </p:nvPr>
        </p:nvSpPr>
        <p:spPr/>
        <p:txBody>
          <a:bodyPr/>
          <a:lstStyle/>
          <a:p>
            <a:r>
              <a:rPr lang="en-IN" dirty="0" smtClean="0"/>
              <a:t>The first stage in creating a network model is to represent the activities and their relationships as a graph</a:t>
            </a:r>
            <a:endParaRPr lang="en-IN" dirty="0"/>
          </a:p>
        </p:txBody>
      </p:sp>
    </p:spTree>
    <p:extLst>
      <p:ext uri="{BB962C8B-B14F-4D97-AF65-F5344CB8AC3E}">
        <p14:creationId xmlns:p14="http://schemas.microsoft.com/office/powerpoint/2010/main" val="11933341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154" y="534063"/>
            <a:ext cx="9603275" cy="509126"/>
          </a:xfrm>
        </p:spPr>
        <p:txBody>
          <a:bodyPr>
            <a:normAutofit fontScale="90000"/>
          </a:bodyPr>
          <a:lstStyle/>
          <a:p>
            <a:r>
              <a:rPr lang="en-US" dirty="0"/>
              <a:t>Precedence Networks</a:t>
            </a:r>
          </a:p>
        </p:txBody>
      </p:sp>
      <p:sp>
        <p:nvSpPr>
          <p:cNvPr id="3" name="Content Placeholder 2"/>
          <p:cNvSpPr>
            <a:spLocks noGrp="1"/>
          </p:cNvSpPr>
          <p:nvPr>
            <p:ph idx="1"/>
          </p:nvPr>
        </p:nvSpPr>
        <p:spPr>
          <a:xfrm>
            <a:off x="975061" y="1114211"/>
            <a:ext cx="9603275" cy="3450613"/>
          </a:xfrm>
        </p:spPr>
        <p:txBody>
          <a:bodyPr/>
          <a:lstStyle/>
          <a:p>
            <a:r>
              <a:rPr lang="en-US" dirty="0" smtClean="0"/>
              <a:t>In </a:t>
            </a:r>
            <a:r>
              <a:rPr lang="en-US" dirty="0"/>
              <a:t>the precedence networks: </a:t>
            </a:r>
            <a:endParaRPr lang="en-US" dirty="0" smtClean="0"/>
          </a:p>
          <a:p>
            <a:pPr lvl="1"/>
            <a:r>
              <a:rPr lang="en-US" sz="2800" dirty="0" smtClean="0"/>
              <a:t>The </a:t>
            </a:r>
            <a:r>
              <a:rPr lang="en-US" sz="2800" dirty="0"/>
              <a:t>nodes represent activities. </a:t>
            </a:r>
          </a:p>
          <a:p>
            <a:pPr lvl="1"/>
            <a:r>
              <a:rPr lang="en-US" sz="2800" dirty="0" smtClean="0"/>
              <a:t>The </a:t>
            </a:r>
            <a:r>
              <a:rPr lang="en-US" sz="2800" dirty="0"/>
              <a:t>lines between nodes represent dependencies.</a:t>
            </a:r>
          </a:p>
        </p:txBody>
      </p:sp>
      <p:pic>
        <p:nvPicPr>
          <p:cNvPr id="4" name="Content Placeholder 4" descr="1.png"/>
          <p:cNvPicPr>
            <a:picLocks noChangeAspect="1"/>
          </p:cNvPicPr>
          <p:nvPr/>
        </p:nvPicPr>
        <p:blipFill>
          <a:blip r:embed="rId2"/>
          <a:stretch>
            <a:fillRect/>
          </a:stretch>
        </p:blipFill>
        <p:spPr>
          <a:xfrm>
            <a:off x="1719943" y="3149846"/>
            <a:ext cx="8686800" cy="2544763"/>
          </a:xfrm>
          <a:prstGeom prst="rect">
            <a:avLst/>
          </a:prstGeom>
        </p:spPr>
      </p:pic>
    </p:spTree>
    <p:extLst>
      <p:ext uri="{BB962C8B-B14F-4D97-AF65-F5344CB8AC3E}">
        <p14:creationId xmlns:p14="http://schemas.microsoft.com/office/powerpoint/2010/main" val="3055275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2942" y="0"/>
            <a:ext cx="9603275" cy="509126"/>
          </a:xfrm>
        </p:spPr>
        <p:txBody>
          <a:bodyPr>
            <a:normAutofit fontScale="90000"/>
          </a:bodyPr>
          <a:lstStyle/>
          <a:p>
            <a:r>
              <a:rPr lang="en-US" dirty="0"/>
              <a:t>Precedence </a:t>
            </a:r>
            <a:r>
              <a:rPr lang="en-US" dirty="0" smtClean="0"/>
              <a:t> Networks</a:t>
            </a:r>
            <a:endParaRPr lang="en-US" dirty="0"/>
          </a:p>
        </p:txBody>
      </p:sp>
      <p:sp>
        <p:nvSpPr>
          <p:cNvPr id="3" name="Content Placeholder 2"/>
          <p:cNvSpPr>
            <a:spLocks noGrp="1"/>
          </p:cNvSpPr>
          <p:nvPr>
            <p:ph idx="1"/>
          </p:nvPr>
        </p:nvSpPr>
        <p:spPr>
          <a:xfrm>
            <a:off x="1223371" y="509126"/>
            <a:ext cx="9603275" cy="3650279"/>
          </a:xfrm>
        </p:spPr>
        <p:txBody>
          <a:bodyPr>
            <a:normAutofit fontScale="92500" lnSpcReduction="10000"/>
          </a:bodyPr>
          <a:lstStyle/>
          <a:p>
            <a:pPr marL="0" indent="0" algn="ctr">
              <a:buNone/>
            </a:pPr>
            <a:r>
              <a:rPr lang="en-US" sz="3000" b="1" dirty="0" smtClean="0"/>
              <a:t>Rules </a:t>
            </a:r>
            <a:r>
              <a:rPr lang="en-US" sz="3000" b="1" dirty="0"/>
              <a:t>and Convention</a:t>
            </a:r>
            <a:r>
              <a:rPr lang="en-US" sz="3000" dirty="0"/>
              <a:t>s </a:t>
            </a:r>
            <a:endParaRPr lang="en-US" sz="3000" dirty="0" smtClean="0"/>
          </a:p>
          <a:p>
            <a:r>
              <a:rPr lang="en-US" sz="3000" dirty="0" smtClean="0"/>
              <a:t>A </a:t>
            </a:r>
            <a:r>
              <a:rPr lang="en-US" sz="3000" dirty="0"/>
              <a:t>project network should have only one start node. </a:t>
            </a:r>
            <a:endParaRPr lang="en-US" sz="3000" dirty="0" smtClean="0"/>
          </a:p>
          <a:p>
            <a:r>
              <a:rPr lang="en-US" sz="3000" dirty="0" smtClean="0"/>
              <a:t>A </a:t>
            </a:r>
            <a:r>
              <a:rPr lang="en-US" sz="3000" dirty="0"/>
              <a:t>project network should have only one end node. </a:t>
            </a:r>
            <a:endParaRPr lang="en-US" sz="3000" dirty="0" smtClean="0"/>
          </a:p>
          <a:p>
            <a:r>
              <a:rPr lang="en-US" sz="3000" dirty="0" smtClean="0"/>
              <a:t>A </a:t>
            </a:r>
            <a:r>
              <a:rPr lang="en-US" sz="3000" dirty="0"/>
              <a:t>node has duration. </a:t>
            </a:r>
            <a:endParaRPr lang="en-US" sz="3000" dirty="0" smtClean="0"/>
          </a:p>
          <a:p>
            <a:r>
              <a:rPr lang="en-US" sz="3000" dirty="0" smtClean="0"/>
              <a:t>Links </a:t>
            </a:r>
            <a:r>
              <a:rPr lang="en-US" sz="3000" dirty="0"/>
              <a:t>have no duration. </a:t>
            </a:r>
            <a:endParaRPr lang="en-US" sz="3000" dirty="0" smtClean="0"/>
          </a:p>
          <a:p>
            <a:r>
              <a:rPr lang="en-US" sz="3000" dirty="0"/>
              <a:t>Precedents are referred to the immediate preceding activities.</a:t>
            </a:r>
            <a:endParaRPr lang="en-US" sz="3000" dirty="0" smtClean="0"/>
          </a:p>
          <a:p>
            <a:endParaRPr lang="en-US" sz="3000" dirty="0" smtClean="0"/>
          </a:p>
        </p:txBody>
      </p:sp>
      <p:pic>
        <p:nvPicPr>
          <p:cNvPr id="4" name="Content Placeholder 4" descr="1.png"/>
          <p:cNvPicPr>
            <a:picLocks noChangeAspect="1"/>
          </p:cNvPicPr>
          <p:nvPr/>
        </p:nvPicPr>
        <p:blipFill>
          <a:blip r:embed="rId2"/>
          <a:stretch>
            <a:fillRect/>
          </a:stretch>
        </p:blipFill>
        <p:spPr>
          <a:xfrm>
            <a:off x="2489377" y="4315522"/>
            <a:ext cx="8686800" cy="1813984"/>
          </a:xfrm>
          <a:prstGeom prst="rect">
            <a:avLst/>
          </a:prstGeom>
        </p:spPr>
      </p:pic>
    </p:spTree>
    <p:extLst>
      <p:ext uri="{BB962C8B-B14F-4D97-AF65-F5344CB8AC3E}">
        <p14:creationId xmlns:p14="http://schemas.microsoft.com/office/powerpoint/2010/main" val="3041932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2942" y="534064"/>
            <a:ext cx="9603275" cy="509126"/>
          </a:xfrm>
        </p:spPr>
        <p:txBody>
          <a:bodyPr>
            <a:normAutofit fontScale="90000"/>
          </a:bodyPr>
          <a:lstStyle/>
          <a:p>
            <a:r>
              <a:rPr lang="en-US" dirty="0"/>
              <a:t>Precedence </a:t>
            </a:r>
            <a:r>
              <a:rPr lang="en-US" dirty="0" smtClean="0"/>
              <a:t> Networks</a:t>
            </a:r>
            <a:endParaRPr lang="en-US" dirty="0"/>
          </a:p>
        </p:txBody>
      </p:sp>
      <p:sp>
        <p:nvSpPr>
          <p:cNvPr id="3" name="Content Placeholder 2"/>
          <p:cNvSpPr>
            <a:spLocks noGrp="1"/>
          </p:cNvSpPr>
          <p:nvPr>
            <p:ph idx="1"/>
          </p:nvPr>
        </p:nvSpPr>
        <p:spPr>
          <a:xfrm>
            <a:off x="1412943" y="1217242"/>
            <a:ext cx="9603275" cy="4719919"/>
          </a:xfrm>
        </p:spPr>
        <p:txBody>
          <a:bodyPr>
            <a:normAutofit/>
          </a:bodyPr>
          <a:lstStyle/>
          <a:p>
            <a:pPr marL="0" indent="0" algn="ctr">
              <a:buNone/>
            </a:pPr>
            <a:r>
              <a:rPr lang="en-US" sz="3000" b="1" dirty="0" smtClean="0"/>
              <a:t>Rules </a:t>
            </a:r>
            <a:r>
              <a:rPr lang="en-US" sz="3000" b="1" dirty="0"/>
              <a:t>and Convention</a:t>
            </a:r>
            <a:r>
              <a:rPr lang="en-US" sz="3000" dirty="0"/>
              <a:t>s </a:t>
            </a:r>
            <a:endParaRPr lang="en-US" sz="3000" dirty="0" smtClean="0"/>
          </a:p>
          <a:p>
            <a:r>
              <a:rPr lang="en-US" sz="3000" dirty="0" smtClean="0"/>
              <a:t>Time </a:t>
            </a:r>
            <a:r>
              <a:rPr lang="en-US" sz="3000" dirty="0"/>
              <a:t>moves from left to right. </a:t>
            </a:r>
            <a:endParaRPr lang="en-US" sz="3000" dirty="0" smtClean="0"/>
          </a:p>
          <a:p>
            <a:r>
              <a:rPr lang="en-US" sz="3000" dirty="0" smtClean="0"/>
              <a:t>A </a:t>
            </a:r>
            <a:r>
              <a:rPr lang="en-US" sz="3000" dirty="0"/>
              <a:t>network may not contain loops. </a:t>
            </a:r>
            <a:endParaRPr lang="en-US" sz="3000" dirty="0" smtClean="0"/>
          </a:p>
          <a:p>
            <a:r>
              <a:rPr lang="en-US" sz="3000" dirty="0" smtClean="0"/>
              <a:t>A </a:t>
            </a:r>
            <a:r>
              <a:rPr lang="en-US" sz="3000" dirty="0"/>
              <a:t>network should not contain dangles.</a:t>
            </a:r>
          </a:p>
        </p:txBody>
      </p:sp>
      <p:pic>
        <p:nvPicPr>
          <p:cNvPr id="4" name="Content Placeholder 4" descr="2.png"/>
          <p:cNvPicPr>
            <a:picLocks noChangeAspect="1"/>
          </p:cNvPicPr>
          <p:nvPr/>
        </p:nvPicPr>
        <p:blipFill>
          <a:blip r:embed="rId2"/>
          <a:stretch>
            <a:fillRect/>
          </a:stretch>
        </p:blipFill>
        <p:spPr>
          <a:xfrm>
            <a:off x="2156964" y="3912298"/>
            <a:ext cx="9144000" cy="2198915"/>
          </a:xfrm>
          <a:prstGeom prst="rect">
            <a:avLst/>
          </a:prstGeom>
        </p:spPr>
      </p:pic>
    </p:spTree>
    <p:extLst>
      <p:ext uri="{BB962C8B-B14F-4D97-AF65-F5344CB8AC3E}">
        <p14:creationId xmlns:p14="http://schemas.microsoft.com/office/powerpoint/2010/main" val="736563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759" y="302243"/>
            <a:ext cx="9603275" cy="470489"/>
          </a:xfrm>
        </p:spPr>
        <p:txBody>
          <a:bodyPr>
            <a:normAutofit fontScale="90000"/>
          </a:bodyPr>
          <a:lstStyle/>
          <a:p>
            <a:r>
              <a:rPr lang="en-US" dirty="0"/>
              <a:t>Precedence  Networks</a:t>
            </a:r>
          </a:p>
        </p:txBody>
      </p:sp>
      <p:sp>
        <p:nvSpPr>
          <p:cNvPr id="3" name="Content Placeholder 2"/>
          <p:cNvSpPr>
            <a:spLocks noGrp="1"/>
          </p:cNvSpPr>
          <p:nvPr>
            <p:ph idx="1"/>
          </p:nvPr>
        </p:nvSpPr>
        <p:spPr>
          <a:xfrm>
            <a:off x="1235452" y="3153178"/>
            <a:ext cx="9754088" cy="2921051"/>
          </a:xfrm>
        </p:spPr>
        <p:txBody>
          <a:bodyPr/>
          <a:lstStyle/>
          <a:p>
            <a:r>
              <a:rPr lang="en-US" dirty="0" smtClean="0"/>
              <a:t>Loops </a:t>
            </a:r>
            <a:r>
              <a:rPr lang="en-US" dirty="0"/>
              <a:t>can't be directly represented in a project network. </a:t>
            </a:r>
            <a:endParaRPr lang="en-US" dirty="0" smtClean="0"/>
          </a:p>
          <a:p>
            <a:pPr lvl="1"/>
            <a:r>
              <a:rPr lang="en-US" sz="2800" dirty="0" smtClean="0"/>
              <a:t>If </a:t>
            </a:r>
            <a:r>
              <a:rPr lang="en-US" sz="2800" dirty="0"/>
              <a:t>you know the number of times we expect to repeat a set of activities, then </a:t>
            </a:r>
            <a:endParaRPr lang="en-US" sz="2800" dirty="0" smtClean="0"/>
          </a:p>
          <a:p>
            <a:pPr lvl="1"/>
            <a:r>
              <a:rPr lang="en-US" sz="2800" dirty="0" smtClean="0"/>
              <a:t>we </a:t>
            </a:r>
            <a:r>
              <a:rPr lang="en-US" sz="2800" dirty="0"/>
              <a:t>can draw them in a sequence repeating them for the appropriate number of times.</a:t>
            </a:r>
          </a:p>
        </p:txBody>
      </p:sp>
      <p:pic>
        <p:nvPicPr>
          <p:cNvPr id="4" name="Content Placeholder 4" descr="2.png"/>
          <p:cNvPicPr>
            <a:picLocks noChangeAspect="1"/>
          </p:cNvPicPr>
          <p:nvPr/>
        </p:nvPicPr>
        <p:blipFill>
          <a:blip r:embed="rId2"/>
          <a:stretch>
            <a:fillRect/>
          </a:stretch>
        </p:blipFill>
        <p:spPr>
          <a:xfrm>
            <a:off x="1632857" y="827313"/>
            <a:ext cx="9144000" cy="2198915"/>
          </a:xfrm>
          <a:prstGeom prst="rect">
            <a:avLst/>
          </a:prstGeom>
        </p:spPr>
      </p:pic>
    </p:spTree>
    <p:extLst>
      <p:ext uri="{BB962C8B-B14F-4D97-AF65-F5344CB8AC3E}">
        <p14:creationId xmlns:p14="http://schemas.microsoft.com/office/powerpoint/2010/main" val="29031954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4306" y="392396"/>
            <a:ext cx="9603275" cy="534884"/>
          </a:xfrm>
        </p:spPr>
        <p:txBody>
          <a:bodyPr/>
          <a:lstStyle/>
          <a:p>
            <a:r>
              <a:rPr lang="en-US" dirty="0"/>
              <a:t>Precedence  Networks</a:t>
            </a:r>
          </a:p>
        </p:txBody>
      </p:sp>
      <p:sp>
        <p:nvSpPr>
          <p:cNvPr id="3" name="Content Placeholder 2"/>
          <p:cNvSpPr>
            <a:spLocks noGrp="1"/>
          </p:cNvSpPr>
          <p:nvPr>
            <p:ph idx="1"/>
          </p:nvPr>
        </p:nvSpPr>
        <p:spPr>
          <a:xfrm>
            <a:off x="1233865" y="3358014"/>
            <a:ext cx="9603275" cy="2825071"/>
          </a:xfrm>
        </p:spPr>
        <p:txBody>
          <a:bodyPr/>
          <a:lstStyle/>
          <a:p>
            <a:r>
              <a:rPr lang="en-US" dirty="0"/>
              <a:t>A dangle: </a:t>
            </a:r>
            <a:endParaRPr lang="en-US" dirty="0" smtClean="0"/>
          </a:p>
          <a:p>
            <a:pPr lvl="1"/>
            <a:r>
              <a:rPr lang="en-US" dirty="0" smtClean="0"/>
              <a:t>Here </a:t>
            </a:r>
            <a:r>
              <a:rPr lang="en-US" dirty="0"/>
              <a:t>what is meant by the diagram is: that the project will be finished once we “the program has been installed” and “the user manual is written”. “Write user manual” is a dangling activity.</a:t>
            </a:r>
          </a:p>
        </p:txBody>
      </p:sp>
      <p:pic>
        <p:nvPicPr>
          <p:cNvPr id="4" name="Content Placeholder 4" descr="3.png"/>
          <p:cNvPicPr>
            <a:picLocks noChangeAspect="1"/>
          </p:cNvPicPr>
          <p:nvPr/>
        </p:nvPicPr>
        <p:blipFill>
          <a:blip r:embed="rId2"/>
          <a:stretch>
            <a:fillRect/>
          </a:stretch>
        </p:blipFill>
        <p:spPr>
          <a:xfrm>
            <a:off x="1785257" y="1099457"/>
            <a:ext cx="8860972" cy="2350870"/>
          </a:xfrm>
          <a:prstGeom prst="rect">
            <a:avLst/>
          </a:prstGeom>
        </p:spPr>
      </p:pic>
    </p:spTree>
    <p:extLst>
      <p:ext uri="{BB962C8B-B14F-4D97-AF65-F5344CB8AC3E}">
        <p14:creationId xmlns:p14="http://schemas.microsoft.com/office/powerpoint/2010/main" val="36692058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759" y="328002"/>
            <a:ext cx="9603275" cy="483368"/>
          </a:xfrm>
        </p:spPr>
        <p:txBody>
          <a:bodyPr>
            <a:normAutofit fontScale="90000"/>
          </a:bodyPr>
          <a:lstStyle/>
          <a:p>
            <a:r>
              <a:rPr lang="en-US" dirty="0"/>
              <a:t>Precedence  Networks</a:t>
            </a:r>
          </a:p>
        </p:txBody>
      </p:sp>
      <p:sp>
        <p:nvSpPr>
          <p:cNvPr id="3" name="Content Placeholder 2"/>
          <p:cNvSpPr>
            <a:spLocks noGrp="1"/>
          </p:cNvSpPr>
          <p:nvPr>
            <p:ph idx="1"/>
          </p:nvPr>
        </p:nvSpPr>
        <p:spPr>
          <a:xfrm>
            <a:off x="1352283" y="1030310"/>
            <a:ext cx="9702572" cy="776719"/>
          </a:xfrm>
        </p:spPr>
        <p:txBody>
          <a:bodyPr/>
          <a:lstStyle/>
          <a:p>
            <a:r>
              <a:rPr lang="en-US" dirty="0" smtClean="0"/>
              <a:t>Resolving the </a:t>
            </a:r>
            <a:r>
              <a:rPr lang="en-US" dirty="0"/>
              <a:t>dangle</a:t>
            </a:r>
          </a:p>
        </p:txBody>
      </p:sp>
      <p:pic>
        <p:nvPicPr>
          <p:cNvPr id="4" name="Picture 2"/>
          <p:cNvPicPr>
            <a:picLocks noChangeAspect="1" noChangeArrowheads="1"/>
          </p:cNvPicPr>
          <p:nvPr/>
        </p:nvPicPr>
        <p:blipFill>
          <a:blip r:embed="rId2"/>
          <a:srcRect/>
          <a:stretch>
            <a:fillRect/>
          </a:stretch>
        </p:blipFill>
        <p:spPr bwMode="auto">
          <a:xfrm>
            <a:off x="928914" y="2264227"/>
            <a:ext cx="10363200" cy="3200399"/>
          </a:xfrm>
          <a:prstGeom prst="rect">
            <a:avLst/>
          </a:prstGeom>
          <a:noFill/>
          <a:ln w="9525">
            <a:noFill/>
            <a:miter lim="800000"/>
            <a:headEnd/>
            <a:tailEnd/>
          </a:ln>
          <a:effectLst/>
        </p:spPr>
      </p:pic>
    </p:spTree>
    <p:extLst>
      <p:ext uri="{BB962C8B-B14F-4D97-AF65-F5344CB8AC3E}">
        <p14:creationId xmlns:p14="http://schemas.microsoft.com/office/powerpoint/2010/main" val="6891472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496" y="0"/>
            <a:ext cx="9603275" cy="1049235"/>
          </a:xfrm>
        </p:spPr>
        <p:txBody>
          <a:bodyPr/>
          <a:lstStyle/>
          <a:p>
            <a:r>
              <a:rPr lang="en-US" dirty="0"/>
              <a:t>Representing Lagged Activities</a:t>
            </a:r>
          </a:p>
        </p:txBody>
      </p:sp>
      <p:sp>
        <p:nvSpPr>
          <p:cNvPr id="3" name="Content Placeholder 2"/>
          <p:cNvSpPr>
            <a:spLocks noGrp="1"/>
          </p:cNvSpPr>
          <p:nvPr>
            <p:ph idx="1"/>
          </p:nvPr>
        </p:nvSpPr>
        <p:spPr>
          <a:xfrm>
            <a:off x="1038984" y="423746"/>
            <a:ext cx="10703250" cy="3100040"/>
          </a:xfrm>
        </p:spPr>
        <p:txBody>
          <a:bodyPr>
            <a:normAutofit lnSpcReduction="10000"/>
          </a:bodyPr>
          <a:lstStyle/>
          <a:p>
            <a:r>
              <a:rPr lang="en-US" sz="2588" b="1" dirty="0" smtClean="0"/>
              <a:t>Lag </a:t>
            </a:r>
            <a:r>
              <a:rPr lang="en-US" sz="2588" b="1" dirty="0"/>
              <a:t>activities: </a:t>
            </a:r>
            <a:r>
              <a:rPr lang="en-US" sz="2588" dirty="0"/>
              <a:t>are two activities that will be undertaken </a:t>
            </a:r>
            <a:r>
              <a:rPr lang="en-US" sz="2588" dirty="0" smtClean="0"/>
              <a:t>in parallel </a:t>
            </a:r>
            <a:r>
              <a:rPr lang="en-US" sz="2588" dirty="0"/>
              <a:t>but there is a lag between them</a:t>
            </a:r>
            <a:r>
              <a:rPr lang="en-US" sz="2588" dirty="0" smtClean="0"/>
              <a:t>.</a:t>
            </a:r>
            <a:endParaRPr lang="en-US" dirty="0" smtClean="0"/>
          </a:p>
          <a:p>
            <a:r>
              <a:rPr lang="en-US" sz="2588" dirty="0" smtClean="0"/>
              <a:t>Here two activities will be undertaken at the same time with some lag between them.</a:t>
            </a:r>
            <a:endParaRPr lang="en-US" b="1" dirty="0" smtClean="0"/>
          </a:p>
          <a:p>
            <a:r>
              <a:rPr lang="en-US" sz="2581" dirty="0" smtClean="0"/>
              <a:t> “</a:t>
            </a:r>
            <a:r>
              <a:rPr lang="en-US" sz="2581" dirty="0"/>
              <a:t>Document amendments” will start one day after “</a:t>
            </a:r>
            <a:r>
              <a:rPr lang="en-US" sz="2581" dirty="0" smtClean="0"/>
              <a:t>Test prototype</a:t>
            </a:r>
            <a:r>
              <a:rPr lang="en-US" sz="2581" dirty="0"/>
              <a:t>” starts and finish two days after “Test </a:t>
            </a:r>
            <a:r>
              <a:rPr lang="en-US" sz="2581" dirty="0" smtClean="0"/>
              <a:t>prototype” ends</a:t>
            </a:r>
            <a:r>
              <a:rPr lang="en-US" sz="2581" dirty="0"/>
              <a:t>.</a:t>
            </a:r>
          </a:p>
        </p:txBody>
      </p:sp>
      <p:pic>
        <p:nvPicPr>
          <p:cNvPr id="4" name="Picture 2"/>
          <p:cNvPicPr>
            <a:picLocks noChangeAspect="1" noChangeArrowheads="1"/>
          </p:cNvPicPr>
          <p:nvPr/>
        </p:nvPicPr>
        <p:blipFill>
          <a:blip r:embed="rId2"/>
          <a:stretch>
            <a:fillRect/>
          </a:stretch>
        </p:blipFill>
        <p:spPr bwMode="auto">
          <a:xfrm>
            <a:off x="1038984" y="3523786"/>
            <a:ext cx="10217151" cy="2559712"/>
          </a:xfrm>
          <a:prstGeom prst="rect">
            <a:avLst/>
          </a:prstGeom>
          <a:noFill/>
          <a:ln w="9525">
            <a:noFill/>
            <a:miter lim="800000"/>
            <a:headEnd/>
            <a:tailEnd/>
          </a:ln>
          <a:effectLst/>
        </p:spPr>
      </p:pic>
    </p:spTree>
    <p:extLst>
      <p:ext uri="{BB962C8B-B14F-4D97-AF65-F5344CB8AC3E}">
        <p14:creationId xmlns:p14="http://schemas.microsoft.com/office/powerpoint/2010/main" val="31524813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269261"/>
            <a:ext cx="9603275" cy="700896"/>
          </a:xfrm>
        </p:spPr>
        <p:txBody>
          <a:bodyPr/>
          <a:lstStyle/>
          <a:p>
            <a:r>
              <a:rPr lang="en-IN" dirty="0" smtClean="0"/>
              <a:t>Hammock Activities</a:t>
            </a:r>
            <a:endParaRPr lang="en-IN" dirty="0"/>
          </a:p>
        </p:txBody>
      </p:sp>
      <p:sp>
        <p:nvSpPr>
          <p:cNvPr id="3" name="Content Placeholder 2"/>
          <p:cNvSpPr>
            <a:spLocks noGrp="1"/>
          </p:cNvSpPr>
          <p:nvPr>
            <p:ph idx="1"/>
          </p:nvPr>
        </p:nvSpPr>
        <p:spPr>
          <a:xfrm>
            <a:off x="1143959" y="1204334"/>
            <a:ext cx="9928581" cy="4496188"/>
          </a:xfrm>
        </p:spPr>
        <p:txBody>
          <a:bodyPr/>
          <a:lstStyle/>
          <a:p>
            <a:r>
              <a:rPr lang="en-IN" dirty="0" smtClean="0"/>
              <a:t>Activities, in themselves have zero duration but are assumed to start at the same time as the first ‘</a:t>
            </a:r>
            <a:r>
              <a:rPr lang="en-IN" dirty="0" err="1" smtClean="0"/>
              <a:t>hammocked</a:t>
            </a:r>
            <a:r>
              <a:rPr lang="en-IN" dirty="0" smtClean="0"/>
              <a:t> activity and to end at the same time as the last one</a:t>
            </a:r>
          </a:p>
          <a:p>
            <a:r>
              <a:rPr lang="en-IN" dirty="0" smtClean="0"/>
              <a:t>Used to represent overhead costs or other resources that will be incurred or used at a constant rate over the duration of a set of activities</a:t>
            </a:r>
            <a:endParaRPr lang="en-IN" dirty="0"/>
          </a:p>
        </p:txBody>
      </p:sp>
    </p:spTree>
    <p:extLst>
      <p:ext uri="{BB962C8B-B14F-4D97-AF65-F5344CB8AC3E}">
        <p14:creationId xmlns:p14="http://schemas.microsoft.com/office/powerpoint/2010/main" val="375308381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159" y="168900"/>
            <a:ext cx="9603275" cy="1049235"/>
          </a:xfrm>
        </p:spPr>
        <p:txBody>
          <a:bodyPr/>
          <a:lstStyle/>
          <a:p>
            <a:r>
              <a:rPr lang="en-US" dirty="0"/>
              <a:t>Labeling Conventions</a:t>
            </a:r>
          </a:p>
        </p:txBody>
      </p:sp>
      <p:sp>
        <p:nvSpPr>
          <p:cNvPr id="3" name="Content Placeholder 2"/>
          <p:cNvSpPr>
            <a:spLocks noGrp="1"/>
          </p:cNvSpPr>
          <p:nvPr>
            <p:ph idx="1"/>
          </p:nvPr>
        </p:nvSpPr>
        <p:spPr>
          <a:xfrm>
            <a:off x="1273158" y="1218136"/>
            <a:ext cx="9603275" cy="2305650"/>
          </a:xfrm>
        </p:spPr>
        <p:txBody>
          <a:bodyPr>
            <a:normAutofit/>
          </a:bodyPr>
          <a:lstStyle/>
          <a:p>
            <a:r>
              <a:rPr lang="en-US" sz="2588" dirty="0" smtClean="0"/>
              <a:t>There </a:t>
            </a:r>
            <a:r>
              <a:rPr lang="en-US" sz="2588" dirty="0"/>
              <a:t>are a number of labeling conventions.</a:t>
            </a:r>
            <a:endParaRPr lang="en-US" sz="2588" dirty="0" smtClean="0"/>
          </a:p>
          <a:p>
            <a:r>
              <a:rPr lang="en-US" sz="2588" dirty="0" smtClean="0"/>
              <a:t>Label </a:t>
            </a:r>
            <a:r>
              <a:rPr lang="en-US" sz="2588" dirty="0"/>
              <a:t>convention is a way of entering information on </a:t>
            </a:r>
            <a:r>
              <a:rPr lang="en-US" sz="2588" dirty="0" smtClean="0"/>
              <a:t>an activity-on-node </a:t>
            </a:r>
            <a:r>
              <a:rPr lang="en-US" sz="2588" dirty="0"/>
              <a:t>network.</a:t>
            </a:r>
            <a:endParaRPr lang="en-US" sz="2588" dirty="0" smtClean="0"/>
          </a:p>
          <a:p>
            <a:r>
              <a:rPr lang="en-US" sz="2588" dirty="0" smtClean="0"/>
              <a:t>One </a:t>
            </a:r>
            <a:r>
              <a:rPr lang="en-US" sz="2588" dirty="0"/>
              <a:t>labeling convention is the British Standard 4335</a:t>
            </a:r>
            <a:r>
              <a:rPr lang="en-US" sz="2588" dirty="0" smtClean="0"/>
              <a:t>.</a:t>
            </a:r>
            <a:endParaRPr lang="en-US" sz="2588" dirty="0"/>
          </a:p>
        </p:txBody>
      </p:sp>
      <p:pic>
        <p:nvPicPr>
          <p:cNvPr id="5" name="Content Placeholder 4" descr="Picture 1.png"/>
          <p:cNvPicPr>
            <a:picLocks noGrp="1" noChangeAspect="1"/>
          </p:cNvPicPr>
          <p:nvPr>
            <p:ph sz="half" idx="4294967295"/>
          </p:nvPr>
        </p:nvPicPr>
        <p:blipFill>
          <a:blip r:embed="rId2"/>
          <a:stretch>
            <a:fillRect/>
          </a:stretch>
        </p:blipFill>
        <p:spPr>
          <a:xfrm>
            <a:off x="1273158" y="3780263"/>
            <a:ext cx="9431337" cy="1689178"/>
          </a:xfrm>
        </p:spPr>
      </p:pic>
    </p:spTree>
    <p:extLst>
      <p:ext uri="{BB962C8B-B14F-4D97-AF65-F5344CB8AC3E}">
        <p14:creationId xmlns:p14="http://schemas.microsoft.com/office/powerpoint/2010/main" val="31400143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3160" y="124295"/>
            <a:ext cx="9603275" cy="567081"/>
          </a:xfrm>
        </p:spPr>
        <p:txBody>
          <a:bodyPr/>
          <a:lstStyle/>
          <a:p>
            <a:r>
              <a:rPr lang="en-US" dirty="0"/>
              <a:t>Adding the Time Dimension</a:t>
            </a:r>
          </a:p>
        </p:txBody>
      </p:sp>
      <p:sp>
        <p:nvSpPr>
          <p:cNvPr id="3" name="Content Placeholder 2"/>
          <p:cNvSpPr>
            <a:spLocks noGrp="1"/>
          </p:cNvSpPr>
          <p:nvPr>
            <p:ph idx="1"/>
          </p:nvPr>
        </p:nvSpPr>
        <p:spPr>
          <a:xfrm>
            <a:off x="609600" y="1329136"/>
            <a:ext cx="11582400" cy="4549122"/>
          </a:xfrm>
        </p:spPr>
        <p:txBody>
          <a:bodyPr>
            <a:normAutofit/>
          </a:bodyPr>
          <a:lstStyle/>
          <a:p>
            <a:pPr>
              <a:lnSpc>
                <a:spcPct val="80000"/>
              </a:lnSpc>
              <a:spcBef>
                <a:spcPts val="1200"/>
              </a:spcBef>
            </a:pPr>
            <a:endParaRPr lang="en-US" dirty="0" smtClean="0"/>
          </a:p>
          <a:p>
            <a:pPr>
              <a:lnSpc>
                <a:spcPct val="114000"/>
              </a:lnSpc>
              <a:spcBef>
                <a:spcPts val="1200"/>
              </a:spcBef>
            </a:pPr>
            <a:r>
              <a:rPr lang="en-US" dirty="0" smtClean="0"/>
              <a:t>After we create the logical network model showing the activities and the interrelationships between those activities.  We </a:t>
            </a:r>
            <a:r>
              <a:rPr lang="en-US" dirty="0"/>
              <a:t>should think of when each activity will be undertaken</a:t>
            </a:r>
            <a:r>
              <a:rPr lang="en-US" dirty="0" smtClean="0"/>
              <a:t>.</a:t>
            </a:r>
          </a:p>
          <a:p>
            <a:pPr>
              <a:lnSpc>
                <a:spcPct val="80000"/>
              </a:lnSpc>
              <a:spcBef>
                <a:spcPts val="1200"/>
              </a:spcBef>
            </a:pPr>
            <a:r>
              <a:rPr lang="en-US" dirty="0" smtClean="0"/>
              <a:t>The critical path approach </a:t>
            </a:r>
            <a:r>
              <a:rPr lang="en-US" dirty="0"/>
              <a:t>is concerned with:</a:t>
            </a:r>
            <a:endParaRPr lang="en-US" dirty="0" smtClean="0"/>
          </a:p>
          <a:p>
            <a:pPr lvl="1">
              <a:lnSpc>
                <a:spcPct val="80000"/>
              </a:lnSpc>
              <a:spcBef>
                <a:spcPts val="1200"/>
              </a:spcBef>
            </a:pPr>
            <a:r>
              <a:rPr lang="en-US" sz="2200" dirty="0" smtClean="0"/>
              <a:t>Planning </a:t>
            </a:r>
            <a:r>
              <a:rPr lang="en-US" sz="2200" dirty="0"/>
              <a:t>the project in a way that it will be completed </a:t>
            </a:r>
            <a:r>
              <a:rPr lang="en-US" sz="2200" dirty="0" smtClean="0"/>
              <a:t>as quickly </a:t>
            </a:r>
            <a:r>
              <a:rPr lang="en-US" sz="2200" dirty="0"/>
              <a:t>as possible.</a:t>
            </a:r>
            <a:endParaRPr lang="en-US" sz="2200" dirty="0" smtClean="0"/>
          </a:p>
          <a:p>
            <a:pPr lvl="1">
              <a:lnSpc>
                <a:spcPct val="80000"/>
              </a:lnSpc>
              <a:spcBef>
                <a:spcPts val="1200"/>
              </a:spcBef>
            </a:pPr>
            <a:r>
              <a:rPr lang="en-US" sz="2200" dirty="0" smtClean="0"/>
              <a:t>Identifying </a:t>
            </a:r>
            <a:r>
              <a:rPr lang="en-US" sz="2200" dirty="0"/>
              <a:t>the activities where a delay in their execution </a:t>
            </a:r>
            <a:r>
              <a:rPr lang="en-US" sz="2200" dirty="0" smtClean="0"/>
              <a:t>is likely </a:t>
            </a:r>
            <a:r>
              <a:rPr lang="en-US" sz="2200" dirty="0"/>
              <a:t>to </a:t>
            </a:r>
            <a:r>
              <a:rPr lang="en-US" sz="2200" dirty="0" smtClean="0"/>
              <a:t>affect</a:t>
            </a:r>
          </a:p>
          <a:p>
            <a:pPr lvl="2">
              <a:lnSpc>
                <a:spcPct val="80000"/>
              </a:lnSpc>
              <a:spcBef>
                <a:spcPts val="1200"/>
              </a:spcBef>
            </a:pPr>
            <a:r>
              <a:rPr lang="en-US" sz="2200" dirty="0" smtClean="0"/>
              <a:t>The </a:t>
            </a:r>
            <a:r>
              <a:rPr lang="en-US" sz="2200" dirty="0"/>
              <a:t>overall end date of the project or</a:t>
            </a:r>
            <a:endParaRPr lang="en-US" sz="2200" dirty="0" smtClean="0"/>
          </a:p>
          <a:p>
            <a:pPr lvl="2">
              <a:lnSpc>
                <a:spcPct val="80000"/>
              </a:lnSpc>
              <a:spcBef>
                <a:spcPts val="1200"/>
              </a:spcBef>
            </a:pPr>
            <a:r>
              <a:rPr lang="en-US" sz="2200" dirty="0" smtClean="0"/>
              <a:t>Later </a:t>
            </a:r>
            <a:r>
              <a:rPr lang="en-US" sz="2200" dirty="0"/>
              <a:t>activities start dates.</a:t>
            </a:r>
          </a:p>
        </p:txBody>
      </p:sp>
    </p:spTree>
    <p:extLst>
      <p:ext uri="{BB962C8B-B14F-4D97-AF65-F5344CB8AC3E}">
        <p14:creationId xmlns:p14="http://schemas.microsoft.com/office/powerpoint/2010/main" val="90317189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706" y="124295"/>
            <a:ext cx="9603275" cy="1049235"/>
          </a:xfrm>
        </p:spPr>
        <p:txBody>
          <a:bodyPr>
            <a:normAutofit/>
          </a:bodyPr>
          <a:lstStyle/>
          <a:p>
            <a:r>
              <a:rPr lang="en-US" dirty="0"/>
              <a:t>Adding the Time Dimension (cont’d)</a:t>
            </a:r>
          </a:p>
        </p:txBody>
      </p:sp>
      <p:sp>
        <p:nvSpPr>
          <p:cNvPr id="3" name="Content Placeholder 2"/>
          <p:cNvSpPr>
            <a:spLocks noGrp="1"/>
          </p:cNvSpPr>
          <p:nvPr>
            <p:ph idx="1"/>
          </p:nvPr>
        </p:nvSpPr>
        <p:spPr>
          <a:xfrm>
            <a:off x="609600" y="850144"/>
            <a:ext cx="11582400" cy="4419600"/>
          </a:xfrm>
        </p:spPr>
        <p:txBody>
          <a:bodyPr>
            <a:noAutofit/>
          </a:bodyPr>
          <a:lstStyle/>
          <a:p>
            <a:pPr>
              <a:lnSpc>
                <a:spcPct val="114000"/>
              </a:lnSpc>
              <a:spcBef>
                <a:spcPts val="0"/>
              </a:spcBef>
            </a:pPr>
            <a:r>
              <a:rPr lang="en-US" dirty="0" smtClean="0"/>
              <a:t>For </a:t>
            </a:r>
            <a:r>
              <a:rPr lang="en-US" dirty="0"/>
              <a:t>each activity we will estimate its duration.</a:t>
            </a:r>
            <a:endParaRPr lang="en-US" dirty="0" smtClean="0"/>
          </a:p>
          <a:p>
            <a:pPr>
              <a:lnSpc>
                <a:spcPct val="114000"/>
              </a:lnSpc>
              <a:spcBef>
                <a:spcPts val="0"/>
              </a:spcBef>
            </a:pPr>
            <a:r>
              <a:rPr lang="en-US" dirty="0" smtClean="0"/>
              <a:t>The </a:t>
            </a:r>
            <a:r>
              <a:rPr lang="en-US" dirty="0"/>
              <a:t>network is then analyzed by carrying out the forward </a:t>
            </a:r>
            <a:r>
              <a:rPr lang="en-US" dirty="0" smtClean="0"/>
              <a:t>pass and </a:t>
            </a:r>
            <a:r>
              <a:rPr lang="en-US" dirty="0"/>
              <a:t>a backward pass</a:t>
            </a:r>
            <a:r>
              <a:rPr lang="en-US" dirty="0" smtClean="0"/>
              <a:t>.</a:t>
            </a:r>
          </a:p>
          <a:p>
            <a:pPr>
              <a:lnSpc>
                <a:spcPct val="114000"/>
              </a:lnSpc>
              <a:spcBef>
                <a:spcPts val="0"/>
              </a:spcBef>
            </a:pPr>
            <a:r>
              <a:rPr lang="en-US" b="1" dirty="0" smtClean="0"/>
              <a:t>The </a:t>
            </a:r>
            <a:r>
              <a:rPr lang="en-US" b="1" dirty="0"/>
              <a:t>forward pass:</a:t>
            </a:r>
            <a:endParaRPr lang="en-US" b="1" dirty="0" smtClean="0"/>
          </a:p>
          <a:p>
            <a:pPr lvl="1">
              <a:lnSpc>
                <a:spcPct val="114000"/>
              </a:lnSpc>
              <a:spcBef>
                <a:spcPts val="0"/>
              </a:spcBef>
            </a:pPr>
            <a:r>
              <a:rPr lang="en-US" dirty="0" smtClean="0"/>
              <a:t>Calculates </a:t>
            </a:r>
            <a:r>
              <a:rPr lang="en-US" dirty="0"/>
              <a:t>the earliest dates at which activities may be started</a:t>
            </a:r>
            <a:r>
              <a:rPr lang="en-US" dirty="0" smtClean="0"/>
              <a:t>, finished</a:t>
            </a:r>
          </a:p>
          <a:p>
            <a:pPr lvl="1">
              <a:lnSpc>
                <a:spcPct val="114000"/>
              </a:lnSpc>
              <a:spcBef>
                <a:spcPts val="0"/>
              </a:spcBef>
            </a:pPr>
            <a:r>
              <a:rPr lang="en-US" dirty="0" smtClean="0"/>
              <a:t>Project </a:t>
            </a:r>
            <a:r>
              <a:rPr lang="en-US" dirty="0"/>
              <a:t>completion time</a:t>
            </a:r>
            <a:r>
              <a:rPr lang="en-US" dirty="0" smtClean="0"/>
              <a:t>.</a:t>
            </a:r>
          </a:p>
          <a:p>
            <a:pPr>
              <a:lnSpc>
                <a:spcPct val="114000"/>
              </a:lnSpc>
              <a:spcBef>
                <a:spcPts val="0"/>
              </a:spcBef>
            </a:pPr>
            <a:r>
              <a:rPr lang="en-US" b="1" dirty="0" smtClean="0"/>
              <a:t>The </a:t>
            </a:r>
            <a:r>
              <a:rPr lang="en-US" b="1" dirty="0"/>
              <a:t>backward pass:</a:t>
            </a:r>
            <a:endParaRPr lang="en-US" b="1" dirty="0" smtClean="0"/>
          </a:p>
          <a:p>
            <a:pPr lvl="1">
              <a:lnSpc>
                <a:spcPct val="114000"/>
              </a:lnSpc>
              <a:spcBef>
                <a:spcPts val="0"/>
              </a:spcBef>
            </a:pPr>
            <a:r>
              <a:rPr lang="en-US" dirty="0" smtClean="0"/>
              <a:t>Calculates </a:t>
            </a:r>
            <a:r>
              <a:rPr lang="en-US" dirty="0"/>
              <a:t>the latest dates at which activities may be started</a:t>
            </a:r>
            <a:r>
              <a:rPr lang="en-US" dirty="0" smtClean="0"/>
              <a:t>, finished, the </a:t>
            </a:r>
            <a:r>
              <a:rPr lang="en-US" dirty="0"/>
              <a:t>float and</a:t>
            </a:r>
            <a:endParaRPr lang="en-US" dirty="0" smtClean="0"/>
          </a:p>
          <a:p>
            <a:pPr lvl="1">
              <a:lnSpc>
                <a:spcPct val="114000"/>
              </a:lnSpc>
              <a:spcBef>
                <a:spcPts val="0"/>
              </a:spcBef>
            </a:pPr>
            <a:r>
              <a:rPr lang="en-US" dirty="0" smtClean="0"/>
              <a:t>The </a:t>
            </a:r>
            <a:r>
              <a:rPr lang="en-US" dirty="0"/>
              <a:t>critical path.</a:t>
            </a:r>
          </a:p>
        </p:txBody>
      </p:sp>
    </p:spTree>
    <p:extLst>
      <p:ext uri="{BB962C8B-B14F-4D97-AF65-F5344CB8AC3E}">
        <p14:creationId xmlns:p14="http://schemas.microsoft.com/office/powerpoint/2010/main" val="36377035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600" y="90841"/>
            <a:ext cx="9603275" cy="1049235"/>
          </a:xfrm>
        </p:spPr>
        <p:txBody>
          <a:bodyPr/>
          <a:lstStyle/>
          <a:p>
            <a:r>
              <a:rPr lang="en-US" dirty="0"/>
              <a:t>Example (cont’d)</a:t>
            </a:r>
          </a:p>
        </p:txBody>
      </p:sp>
      <p:pic>
        <p:nvPicPr>
          <p:cNvPr id="12290" name="Picture 2"/>
          <p:cNvPicPr>
            <a:picLocks noGrp="1" noChangeAspect="1" noChangeArrowheads="1"/>
          </p:cNvPicPr>
          <p:nvPr>
            <p:ph idx="1"/>
          </p:nvPr>
        </p:nvPicPr>
        <p:blipFill>
          <a:blip r:embed="rId2"/>
          <a:stretch>
            <a:fillRect/>
          </a:stretch>
        </p:blipFill>
        <p:spPr bwMode="auto">
          <a:xfrm>
            <a:off x="739378" y="501806"/>
            <a:ext cx="11237031" cy="5033654"/>
          </a:xfrm>
          <a:prstGeom prst="rect">
            <a:avLst/>
          </a:prstGeom>
          <a:noFill/>
          <a:ln w="9525">
            <a:noFill/>
            <a:miter lim="800000"/>
            <a:headEnd/>
            <a:tailEnd/>
          </a:ln>
          <a:effectLst/>
        </p:spPr>
      </p:pic>
      <p:sp>
        <p:nvSpPr>
          <p:cNvPr id="5" name="TextBox 4"/>
          <p:cNvSpPr txBox="1"/>
          <p:nvPr/>
        </p:nvSpPr>
        <p:spPr>
          <a:xfrm>
            <a:off x="1117600" y="5601704"/>
            <a:ext cx="7518400" cy="381000"/>
          </a:xfrm>
          <a:prstGeom prst="rect">
            <a:avLst/>
          </a:prstGeom>
          <a:noFill/>
        </p:spPr>
        <p:txBody>
          <a:bodyPr wrap="square" rtlCol="0">
            <a:spAutoFit/>
          </a:bodyPr>
          <a:lstStyle/>
          <a:p>
            <a:r>
              <a:rPr lang="en-US" b="1" dirty="0"/>
              <a:t>The project duration=13 weeks</a:t>
            </a:r>
            <a:endParaRPr lang="en-US" dirty="0"/>
          </a:p>
        </p:txBody>
      </p:sp>
    </p:spTree>
    <p:extLst>
      <p:ext uri="{BB962C8B-B14F-4D97-AF65-F5344CB8AC3E}">
        <p14:creationId xmlns:p14="http://schemas.microsoft.com/office/powerpoint/2010/main" val="134654381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5101" y="113143"/>
            <a:ext cx="9603275" cy="544779"/>
          </a:xfrm>
        </p:spPr>
        <p:txBody>
          <a:bodyPr/>
          <a:lstStyle/>
          <a:p>
            <a:r>
              <a:rPr lang="en-US" dirty="0"/>
              <a:t>The Critical Path</a:t>
            </a:r>
          </a:p>
        </p:txBody>
      </p:sp>
      <p:sp>
        <p:nvSpPr>
          <p:cNvPr id="3" name="Content Placeholder 2"/>
          <p:cNvSpPr>
            <a:spLocks noGrp="1"/>
          </p:cNvSpPr>
          <p:nvPr>
            <p:ph idx="1"/>
          </p:nvPr>
        </p:nvSpPr>
        <p:spPr>
          <a:xfrm>
            <a:off x="609600" y="798127"/>
            <a:ext cx="11582400" cy="4572000"/>
          </a:xfrm>
        </p:spPr>
        <p:txBody>
          <a:bodyPr>
            <a:noAutofit/>
          </a:bodyPr>
          <a:lstStyle/>
          <a:p>
            <a:pPr>
              <a:lnSpc>
                <a:spcPct val="114000"/>
              </a:lnSpc>
              <a:spcBef>
                <a:spcPts val="0"/>
              </a:spcBef>
            </a:pPr>
            <a:r>
              <a:rPr lang="en-US" dirty="0" smtClean="0"/>
              <a:t>There </a:t>
            </a:r>
            <a:r>
              <a:rPr lang="en-US" dirty="0"/>
              <a:t>will be at least one critical path in the network.</a:t>
            </a:r>
            <a:endParaRPr lang="en-US" dirty="0" smtClean="0"/>
          </a:p>
          <a:p>
            <a:pPr>
              <a:lnSpc>
                <a:spcPct val="114000"/>
              </a:lnSpc>
              <a:spcBef>
                <a:spcPts val="0"/>
              </a:spcBef>
            </a:pPr>
            <a:r>
              <a:rPr lang="en-US" dirty="0" smtClean="0"/>
              <a:t>The </a:t>
            </a:r>
            <a:r>
              <a:rPr lang="en-US" dirty="0"/>
              <a:t>critical path defines the duration of the project.</a:t>
            </a:r>
            <a:endParaRPr lang="en-US" dirty="0" smtClean="0"/>
          </a:p>
          <a:p>
            <a:pPr>
              <a:lnSpc>
                <a:spcPct val="114000"/>
              </a:lnSpc>
              <a:spcBef>
                <a:spcPts val="0"/>
              </a:spcBef>
            </a:pPr>
            <a:r>
              <a:rPr lang="en-US" dirty="0" smtClean="0"/>
              <a:t>Any </a:t>
            </a:r>
            <a:r>
              <a:rPr lang="en-US" dirty="0"/>
              <a:t>delay to any of the activities on this critical path </a:t>
            </a:r>
            <a:r>
              <a:rPr lang="en-US" dirty="0" smtClean="0"/>
              <a:t>will result </a:t>
            </a:r>
            <a:r>
              <a:rPr lang="en-US" dirty="0"/>
              <a:t>in a delay of the project completion</a:t>
            </a:r>
            <a:r>
              <a:rPr lang="en-US" dirty="0" smtClean="0"/>
              <a:t>.</a:t>
            </a:r>
          </a:p>
          <a:p>
            <a:pPr>
              <a:lnSpc>
                <a:spcPct val="114000"/>
              </a:lnSpc>
              <a:spcBef>
                <a:spcPts val="0"/>
              </a:spcBef>
            </a:pPr>
            <a:r>
              <a:rPr lang="en-US" b="1" dirty="0" smtClean="0"/>
              <a:t>Activity </a:t>
            </a:r>
            <a:r>
              <a:rPr lang="en-US" b="1" dirty="0"/>
              <a:t>Float</a:t>
            </a:r>
            <a:r>
              <a:rPr lang="en-US" b="1" dirty="0" smtClean="0"/>
              <a:t>:</a:t>
            </a:r>
          </a:p>
          <a:p>
            <a:pPr lvl="1">
              <a:lnSpc>
                <a:spcPct val="114000"/>
              </a:lnSpc>
              <a:spcBef>
                <a:spcPts val="0"/>
              </a:spcBef>
            </a:pPr>
            <a:r>
              <a:rPr lang="en-US" sz="2200" dirty="0" smtClean="0"/>
              <a:t>Difference </a:t>
            </a:r>
            <a:r>
              <a:rPr lang="en-US" sz="2200" dirty="0"/>
              <a:t>between the latest start and the earliest start or</a:t>
            </a:r>
            <a:endParaRPr lang="en-US" sz="2200" dirty="0" smtClean="0"/>
          </a:p>
          <a:p>
            <a:pPr lvl="1">
              <a:lnSpc>
                <a:spcPct val="114000"/>
              </a:lnSpc>
              <a:spcBef>
                <a:spcPts val="0"/>
              </a:spcBef>
            </a:pPr>
            <a:r>
              <a:rPr lang="en-US" sz="2200" dirty="0" smtClean="0"/>
              <a:t>Difference </a:t>
            </a:r>
            <a:r>
              <a:rPr lang="en-US" sz="2200" dirty="0"/>
              <a:t>between the latest finish and the earliest finish</a:t>
            </a:r>
            <a:r>
              <a:rPr lang="en-US" sz="2200" dirty="0" smtClean="0"/>
              <a:t>.</a:t>
            </a:r>
          </a:p>
          <a:p>
            <a:pPr>
              <a:lnSpc>
                <a:spcPct val="114000"/>
              </a:lnSpc>
              <a:spcBef>
                <a:spcPts val="0"/>
              </a:spcBef>
            </a:pPr>
            <a:r>
              <a:rPr lang="en-US" b="1" dirty="0" smtClean="0"/>
              <a:t>Activity </a:t>
            </a:r>
            <a:r>
              <a:rPr lang="en-US" b="1" dirty="0"/>
              <a:t>Span:</a:t>
            </a:r>
            <a:endParaRPr lang="en-US" b="1" dirty="0" smtClean="0"/>
          </a:p>
          <a:p>
            <a:pPr lvl="1">
              <a:lnSpc>
                <a:spcPct val="114000"/>
              </a:lnSpc>
              <a:spcBef>
                <a:spcPts val="0"/>
              </a:spcBef>
            </a:pPr>
            <a:r>
              <a:rPr lang="en-US" sz="2200" dirty="0" smtClean="0"/>
              <a:t>Difference </a:t>
            </a:r>
            <a:r>
              <a:rPr lang="en-US" sz="2200" dirty="0"/>
              <a:t>between the latest finish and the earliest start.</a:t>
            </a:r>
            <a:endParaRPr lang="en-US" sz="2200" dirty="0" smtClean="0"/>
          </a:p>
          <a:p>
            <a:pPr lvl="1">
              <a:lnSpc>
                <a:spcPct val="114000"/>
              </a:lnSpc>
              <a:spcBef>
                <a:spcPts val="0"/>
              </a:spcBef>
            </a:pPr>
            <a:r>
              <a:rPr lang="en-US" sz="2200" dirty="0" smtClean="0"/>
              <a:t>It </a:t>
            </a:r>
            <a:r>
              <a:rPr lang="en-US" sz="2200" dirty="0"/>
              <a:t>is a measure of the maximum time allowable for the activity.</a:t>
            </a:r>
          </a:p>
        </p:txBody>
      </p:sp>
    </p:spTree>
    <p:extLst>
      <p:ext uri="{BB962C8B-B14F-4D97-AF65-F5344CB8AC3E}">
        <p14:creationId xmlns:p14="http://schemas.microsoft.com/office/powerpoint/2010/main" val="40389075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a:spcBef>
                <a:spcPts val="1200"/>
              </a:spcBef>
            </a:pPr>
            <a:r>
              <a:rPr lang="en-US" sz="2400" dirty="0" smtClean="0"/>
              <a:t>What </a:t>
            </a:r>
            <a:r>
              <a:rPr lang="en-US" sz="2400" dirty="0"/>
              <a:t>is the Activity </a:t>
            </a:r>
            <a:r>
              <a:rPr lang="en-US" sz="2400" dirty="0" smtClean="0"/>
              <a:t>Span </a:t>
            </a:r>
            <a:r>
              <a:rPr lang="en-US" sz="2400" dirty="0"/>
              <a:t>for:</a:t>
            </a:r>
            <a:endParaRPr lang="en-US" sz="2400" dirty="0" smtClean="0"/>
          </a:p>
          <a:p>
            <a:pPr lvl="1">
              <a:spcBef>
                <a:spcPts val="1200"/>
              </a:spcBef>
            </a:pPr>
            <a:r>
              <a:rPr lang="en-US" sz="2400" b="1" dirty="0" smtClean="0"/>
              <a:t>Activity </a:t>
            </a:r>
            <a:r>
              <a:rPr lang="en-US" sz="2400" b="1" dirty="0"/>
              <a:t>D: </a:t>
            </a:r>
            <a:r>
              <a:rPr lang="en-US" sz="2400" dirty="0"/>
              <a:t>11-4 =7 weeks</a:t>
            </a:r>
            <a:endParaRPr lang="en-US" sz="2400" dirty="0" smtClean="0"/>
          </a:p>
          <a:p>
            <a:pPr lvl="1">
              <a:spcBef>
                <a:spcPts val="1200"/>
              </a:spcBef>
            </a:pPr>
            <a:r>
              <a:rPr lang="en-US" sz="2400" b="1" dirty="0" smtClean="0"/>
              <a:t>Activity </a:t>
            </a:r>
            <a:r>
              <a:rPr lang="en-US" sz="2400" b="1" dirty="0"/>
              <a:t>G: </a:t>
            </a:r>
            <a:r>
              <a:rPr lang="en-US" sz="2400" dirty="0"/>
              <a:t>13-10= 3 weeks</a:t>
            </a:r>
          </a:p>
        </p:txBody>
      </p:sp>
    </p:spTree>
    <p:extLst>
      <p:ext uri="{BB962C8B-B14F-4D97-AF65-F5344CB8AC3E}">
        <p14:creationId xmlns:p14="http://schemas.microsoft.com/office/powerpoint/2010/main" val="4265916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706" y="79690"/>
            <a:ext cx="9603275" cy="1049235"/>
          </a:xfrm>
        </p:spPr>
        <p:txBody>
          <a:bodyPr/>
          <a:lstStyle/>
          <a:p>
            <a:r>
              <a:rPr lang="en-US" dirty="0"/>
              <a:t>Critical Activities</a:t>
            </a:r>
          </a:p>
        </p:txBody>
      </p:sp>
      <p:sp>
        <p:nvSpPr>
          <p:cNvPr id="3" name="Content Placeholder 2"/>
          <p:cNvSpPr>
            <a:spLocks noGrp="1"/>
          </p:cNvSpPr>
          <p:nvPr>
            <p:ph idx="1"/>
          </p:nvPr>
        </p:nvSpPr>
        <p:spPr>
          <a:xfrm>
            <a:off x="832624" y="485078"/>
            <a:ext cx="11582400" cy="4572000"/>
          </a:xfrm>
        </p:spPr>
        <p:txBody>
          <a:bodyPr>
            <a:noAutofit/>
          </a:bodyPr>
          <a:lstStyle/>
          <a:p>
            <a:pPr>
              <a:spcBef>
                <a:spcPts val="1200"/>
              </a:spcBef>
            </a:pPr>
            <a:r>
              <a:rPr lang="en-US" dirty="0" smtClean="0"/>
              <a:t>They </a:t>
            </a:r>
            <a:r>
              <a:rPr lang="en-US" dirty="0"/>
              <a:t>are those on the critical path.</a:t>
            </a:r>
            <a:endParaRPr lang="en-US" dirty="0" smtClean="0"/>
          </a:p>
          <a:p>
            <a:pPr>
              <a:spcBef>
                <a:spcPts val="1200"/>
              </a:spcBef>
            </a:pPr>
            <a:r>
              <a:rPr lang="en-US" dirty="0" smtClean="0"/>
              <a:t>Activities </a:t>
            </a:r>
            <a:r>
              <a:rPr lang="en-US" dirty="0"/>
              <a:t>not on the critical path may become critical. </a:t>
            </a:r>
            <a:r>
              <a:rPr lang="en-US" b="1" dirty="0"/>
              <a:t>How</a:t>
            </a:r>
            <a:r>
              <a:rPr lang="en-US" dirty="0"/>
              <a:t>?</a:t>
            </a:r>
            <a:endParaRPr lang="en-US" dirty="0" smtClean="0"/>
          </a:p>
          <a:p>
            <a:pPr lvl="1">
              <a:spcBef>
                <a:spcPts val="1200"/>
              </a:spcBef>
            </a:pPr>
            <a:r>
              <a:rPr lang="en-US" sz="2200" dirty="0" smtClean="0"/>
              <a:t>As </a:t>
            </a:r>
            <a:r>
              <a:rPr lang="en-US" sz="2200" dirty="0"/>
              <a:t>the project proceeds the activities may use some </a:t>
            </a:r>
            <a:r>
              <a:rPr lang="en-US" sz="2200" dirty="0" smtClean="0"/>
              <a:t>of their </a:t>
            </a:r>
            <a:r>
              <a:rPr lang="en-US" sz="2200" dirty="0"/>
              <a:t>float.</a:t>
            </a:r>
            <a:endParaRPr lang="en-US" sz="2200" dirty="0" smtClean="0"/>
          </a:p>
          <a:p>
            <a:pPr lvl="2">
              <a:spcBef>
                <a:spcPts val="1200"/>
              </a:spcBef>
            </a:pPr>
            <a:r>
              <a:rPr lang="en-US" sz="2200" dirty="0" smtClean="0"/>
              <a:t>Periodic </a:t>
            </a:r>
            <a:r>
              <a:rPr lang="en-US" sz="2200" dirty="0"/>
              <a:t>recalculation of the network is required.</a:t>
            </a:r>
            <a:endParaRPr lang="en-US" sz="2200" dirty="0" smtClean="0"/>
          </a:p>
          <a:p>
            <a:pPr>
              <a:spcBef>
                <a:spcPts val="1200"/>
              </a:spcBef>
            </a:pPr>
            <a:r>
              <a:rPr lang="en-US" dirty="0" smtClean="0"/>
              <a:t>As </a:t>
            </a:r>
            <a:r>
              <a:rPr lang="en-US" dirty="0"/>
              <a:t>soon as activities on a particular path use up their float </a:t>
            </a:r>
            <a:r>
              <a:rPr lang="en-US" dirty="0" smtClean="0"/>
              <a:t>the activities </a:t>
            </a:r>
            <a:r>
              <a:rPr lang="en-US" dirty="0"/>
              <a:t>will become critical</a:t>
            </a:r>
            <a:r>
              <a:rPr lang="en-US" dirty="0" smtClean="0"/>
              <a:t>.</a:t>
            </a:r>
          </a:p>
          <a:p>
            <a:pPr>
              <a:spcBef>
                <a:spcPts val="1200"/>
              </a:spcBef>
            </a:pPr>
            <a:r>
              <a:rPr lang="en-US" dirty="0" smtClean="0"/>
              <a:t>Identifying </a:t>
            </a:r>
            <a:r>
              <a:rPr lang="en-US" dirty="0"/>
              <a:t>critical activities is an important step in:</a:t>
            </a:r>
            <a:endParaRPr lang="en-US" dirty="0" smtClean="0"/>
          </a:p>
          <a:p>
            <a:pPr lvl="1">
              <a:spcBef>
                <a:spcPts val="600"/>
              </a:spcBef>
            </a:pPr>
            <a:r>
              <a:rPr lang="en-US" sz="2200" dirty="0" smtClean="0"/>
              <a:t>Risk </a:t>
            </a:r>
            <a:r>
              <a:rPr lang="en-US" sz="2200" dirty="0"/>
              <a:t>analysis.</a:t>
            </a:r>
            <a:endParaRPr lang="en-US" sz="2200" dirty="0" smtClean="0"/>
          </a:p>
          <a:p>
            <a:pPr lvl="1">
              <a:spcBef>
                <a:spcPts val="600"/>
              </a:spcBef>
            </a:pPr>
            <a:r>
              <a:rPr lang="en-US" sz="2200" dirty="0" smtClean="0"/>
              <a:t>Resource </a:t>
            </a:r>
            <a:r>
              <a:rPr lang="en-US" sz="2200" dirty="0"/>
              <a:t>allocation.</a:t>
            </a:r>
            <a:endParaRPr lang="en-US" sz="2200" dirty="0" smtClean="0"/>
          </a:p>
          <a:p>
            <a:pPr lvl="1">
              <a:spcBef>
                <a:spcPts val="600"/>
              </a:spcBef>
            </a:pPr>
            <a:r>
              <a:rPr lang="en-US" sz="2200" dirty="0" smtClean="0"/>
              <a:t>Project </a:t>
            </a:r>
            <a:r>
              <a:rPr lang="en-US" sz="2200" dirty="0"/>
              <a:t>monitoring.</a:t>
            </a:r>
          </a:p>
        </p:txBody>
      </p:sp>
    </p:spTree>
    <p:extLst>
      <p:ext uri="{BB962C8B-B14F-4D97-AF65-F5344CB8AC3E}">
        <p14:creationId xmlns:p14="http://schemas.microsoft.com/office/powerpoint/2010/main" val="6614681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Float</a:t>
            </a:r>
          </a:p>
        </p:txBody>
      </p:sp>
      <p:sp>
        <p:nvSpPr>
          <p:cNvPr id="3" name="Content Placeholder 2"/>
          <p:cNvSpPr>
            <a:spLocks noGrp="1"/>
          </p:cNvSpPr>
          <p:nvPr>
            <p:ph idx="1"/>
          </p:nvPr>
        </p:nvSpPr>
        <p:spPr>
          <a:xfrm>
            <a:off x="665357" y="1484971"/>
            <a:ext cx="10972799" cy="4419600"/>
          </a:xfrm>
        </p:spPr>
        <p:txBody>
          <a:bodyPr>
            <a:normAutofit fontScale="85000" lnSpcReduction="10000"/>
          </a:bodyPr>
          <a:lstStyle/>
          <a:p>
            <a:pPr>
              <a:spcBef>
                <a:spcPts val="1200"/>
              </a:spcBef>
            </a:pPr>
            <a:r>
              <a:rPr lang="en-US" sz="2839" dirty="0" smtClean="0"/>
              <a:t>Time </a:t>
            </a:r>
            <a:r>
              <a:rPr lang="en-US" sz="2839" dirty="0"/>
              <a:t>allowed to delay an activity start.</a:t>
            </a:r>
            <a:endParaRPr lang="en-US" sz="2839" dirty="0" smtClean="0"/>
          </a:p>
          <a:p>
            <a:pPr>
              <a:spcBef>
                <a:spcPts val="1200"/>
              </a:spcBef>
            </a:pPr>
            <a:r>
              <a:rPr lang="en-US" sz="2857" b="1" dirty="0" smtClean="0"/>
              <a:t>3 </a:t>
            </a:r>
            <a:r>
              <a:rPr lang="en-US" sz="2857" b="1" dirty="0"/>
              <a:t>different types:</a:t>
            </a:r>
            <a:endParaRPr lang="en-US" sz="2857" b="1" dirty="0" smtClean="0"/>
          </a:p>
          <a:p>
            <a:pPr lvl="1">
              <a:spcBef>
                <a:spcPts val="1200"/>
              </a:spcBef>
            </a:pPr>
            <a:r>
              <a:rPr lang="en-US" sz="2639" dirty="0" smtClean="0"/>
              <a:t>Total </a:t>
            </a:r>
            <a:r>
              <a:rPr lang="en-US" sz="2639" dirty="0"/>
              <a:t>float (without affecting the completion of </a:t>
            </a:r>
            <a:r>
              <a:rPr lang="en-US" sz="2639" dirty="0" smtClean="0"/>
              <a:t>the </a:t>
            </a:r>
            <a:r>
              <a:rPr lang="en-US" sz="2839" dirty="0" smtClean="0"/>
              <a:t>project</a:t>
            </a:r>
            <a:r>
              <a:rPr lang="en-US" sz="2839" dirty="0"/>
              <a:t>) it is the float recorded in the precedence </a:t>
            </a:r>
            <a:r>
              <a:rPr lang="en-US" sz="2839" dirty="0" smtClean="0"/>
              <a:t>network </a:t>
            </a:r>
          </a:p>
          <a:p>
            <a:pPr>
              <a:buNone/>
            </a:pPr>
            <a:r>
              <a:rPr lang="en-US" dirty="0" smtClean="0"/>
              <a:t>		= </a:t>
            </a:r>
            <a:r>
              <a:rPr lang="en-US" dirty="0"/>
              <a:t>Latest start date – Earliest start </a:t>
            </a:r>
            <a:r>
              <a:rPr lang="en-US" dirty="0" smtClean="0"/>
              <a:t>date</a:t>
            </a:r>
          </a:p>
          <a:p>
            <a:pPr lvl="1">
              <a:spcBef>
                <a:spcPts val="1200"/>
              </a:spcBef>
            </a:pPr>
            <a:r>
              <a:rPr lang="en-US" sz="2588" dirty="0" smtClean="0"/>
              <a:t>Free </a:t>
            </a:r>
            <a:r>
              <a:rPr lang="en-US" sz="2588" dirty="0"/>
              <a:t>float (without affecting the next activity)</a:t>
            </a:r>
          </a:p>
          <a:p>
            <a:pPr>
              <a:buNone/>
            </a:pPr>
            <a:r>
              <a:rPr lang="en-US" dirty="0" smtClean="0"/>
              <a:t>		= </a:t>
            </a:r>
            <a:r>
              <a:rPr lang="en-US" dirty="0"/>
              <a:t>Earliest start date of </a:t>
            </a:r>
            <a:r>
              <a:rPr lang="en-US" i="1" dirty="0"/>
              <a:t>next activity – Earliest </a:t>
            </a:r>
            <a:r>
              <a:rPr lang="en-US" i="1" dirty="0" smtClean="0"/>
              <a:t>Finish </a:t>
            </a:r>
            <a:r>
              <a:rPr lang="en-US" dirty="0" smtClean="0"/>
              <a:t>date </a:t>
            </a:r>
            <a:r>
              <a:rPr lang="en-US" dirty="0"/>
              <a:t>of activity(in question</a:t>
            </a:r>
            <a:r>
              <a:rPr lang="en-US" dirty="0" smtClean="0"/>
              <a:t>)</a:t>
            </a:r>
          </a:p>
          <a:p>
            <a:pPr lvl="1">
              <a:spcBef>
                <a:spcPts val="1200"/>
              </a:spcBef>
            </a:pPr>
            <a:r>
              <a:rPr lang="en-US" sz="2595" dirty="0" smtClean="0"/>
              <a:t>Interfering </a:t>
            </a:r>
            <a:r>
              <a:rPr lang="en-US" sz="2595" dirty="0"/>
              <a:t>float = (total float - free float)</a:t>
            </a:r>
          </a:p>
        </p:txBody>
      </p:sp>
    </p:spTree>
    <p:extLst>
      <p:ext uri="{BB962C8B-B14F-4D97-AF65-F5344CB8AC3E}">
        <p14:creationId xmlns:p14="http://schemas.microsoft.com/office/powerpoint/2010/main" val="18604328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4640" y="146598"/>
            <a:ext cx="9603275" cy="645140"/>
          </a:xfrm>
        </p:spPr>
        <p:txBody>
          <a:bodyPr/>
          <a:lstStyle/>
          <a:p>
            <a:r>
              <a:rPr lang="en-US" dirty="0" smtClean="0"/>
              <a:t>Example</a:t>
            </a:r>
            <a:endParaRPr lang="en-US" dirty="0"/>
          </a:p>
        </p:txBody>
      </p:sp>
      <p:sp>
        <p:nvSpPr>
          <p:cNvPr id="3" name="Content Placeholder 2"/>
          <p:cNvSpPr>
            <a:spLocks noGrp="1"/>
          </p:cNvSpPr>
          <p:nvPr>
            <p:ph idx="1"/>
          </p:nvPr>
        </p:nvSpPr>
        <p:spPr>
          <a:xfrm>
            <a:off x="1144640" y="1329135"/>
            <a:ext cx="10217152" cy="4514103"/>
          </a:xfrm>
        </p:spPr>
        <p:txBody>
          <a:bodyPr>
            <a:noAutofit/>
          </a:bodyPr>
          <a:lstStyle/>
          <a:p>
            <a:pPr>
              <a:spcBef>
                <a:spcPts val="1200"/>
              </a:spcBef>
              <a:buNone/>
            </a:pPr>
            <a:r>
              <a:rPr lang="en-US" b="1" dirty="0" smtClean="0"/>
              <a:t>For Activity D </a:t>
            </a:r>
          </a:p>
          <a:p>
            <a:pPr>
              <a:spcBef>
                <a:spcPts val="1200"/>
              </a:spcBef>
            </a:pPr>
            <a:r>
              <a:rPr lang="en-US" dirty="0" smtClean="0"/>
              <a:t>What </a:t>
            </a:r>
            <a:r>
              <a:rPr lang="en-US" dirty="0"/>
              <a:t>is the total float?</a:t>
            </a:r>
            <a:endParaRPr lang="en-US" dirty="0" smtClean="0"/>
          </a:p>
          <a:p>
            <a:pPr lvl="1">
              <a:spcBef>
                <a:spcPts val="1200"/>
              </a:spcBef>
            </a:pPr>
            <a:r>
              <a:rPr lang="en-US" dirty="0" smtClean="0"/>
              <a:t>Total </a:t>
            </a:r>
            <a:r>
              <a:rPr lang="en-US" dirty="0"/>
              <a:t>float= 3 </a:t>
            </a:r>
            <a:r>
              <a:rPr lang="en-US" dirty="0" err="1"/>
              <a:t>w</a:t>
            </a:r>
            <a:endParaRPr lang="en-US" dirty="0" smtClean="0"/>
          </a:p>
          <a:p>
            <a:pPr>
              <a:spcBef>
                <a:spcPts val="1200"/>
              </a:spcBef>
            </a:pPr>
            <a:r>
              <a:rPr lang="en-US" dirty="0" smtClean="0"/>
              <a:t>What </a:t>
            </a:r>
            <a:r>
              <a:rPr lang="en-US" dirty="0"/>
              <a:t>is the free float?</a:t>
            </a:r>
            <a:endParaRPr lang="en-US" dirty="0" smtClean="0"/>
          </a:p>
          <a:p>
            <a:pPr lvl="1">
              <a:spcBef>
                <a:spcPts val="1200"/>
              </a:spcBef>
            </a:pPr>
            <a:r>
              <a:rPr lang="en-US" dirty="0" smtClean="0"/>
              <a:t>Free </a:t>
            </a:r>
            <a:r>
              <a:rPr lang="en-US" dirty="0"/>
              <a:t>float= ES(H)- EF(D)= </a:t>
            </a:r>
            <a:r>
              <a:rPr lang="en-US" dirty="0" smtClean="0"/>
              <a:t>9 - 8</a:t>
            </a:r>
            <a:r>
              <a:rPr lang="en-US" dirty="0"/>
              <a:t>=1 </a:t>
            </a:r>
            <a:r>
              <a:rPr lang="en-US" dirty="0" err="1"/>
              <a:t>w</a:t>
            </a:r>
            <a:endParaRPr lang="en-US" dirty="0" smtClean="0"/>
          </a:p>
          <a:p>
            <a:pPr>
              <a:spcBef>
                <a:spcPts val="1200"/>
              </a:spcBef>
            </a:pPr>
            <a:r>
              <a:rPr lang="en-US" dirty="0" smtClean="0"/>
              <a:t>What </a:t>
            </a:r>
            <a:r>
              <a:rPr lang="en-US" dirty="0"/>
              <a:t>is the interfering float?</a:t>
            </a:r>
            <a:endParaRPr lang="en-US" dirty="0" smtClean="0"/>
          </a:p>
          <a:p>
            <a:pPr lvl="1">
              <a:spcBef>
                <a:spcPts val="1200"/>
              </a:spcBef>
            </a:pPr>
            <a:r>
              <a:rPr lang="en-US" dirty="0" smtClean="0"/>
              <a:t>interfering </a:t>
            </a:r>
            <a:r>
              <a:rPr lang="en-US" dirty="0"/>
              <a:t>float= </a:t>
            </a:r>
            <a:r>
              <a:rPr lang="en-US" dirty="0" smtClean="0"/>
              <a:t>3 - 1</a:t>
            </a:r>
            <a:r>
              <a:rPr lang="en-US" dirty="0"/>
              <a:t>=2 w</a:t>
            </a:r>
          </a:p>
        </p:txBody>
      </p:sp>
    </p:spTree>
    <p:extLst>
      <p:ext uri="{BB962C8B-B14F-4D97-AF65-F5344CB8AC3E}">
        <p14:creationId xmlns:p14="http://schemas.microsoft.com/office/powerpoint/2010/main" val="407895394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715" y="313865"/>
            <a:ext cx="9603275" cy="1049235"/>
          </a:xfrm>
        </p:spPr>
        <p:txBody>
          <a:bodyPr/>
          <a:lstStyle/>
          <a:p>
            <a:r>
              <a:rPr lang="en-US" dirty="0"/>
              <a:t>Example</a:t>
            </a:r>
          </a:p>
        </p:txBody>
      </p:sp>
      <p:pic>
        <p:nvPicPr>
          <p:cNvPr id="11266" name="Picture 2"/>
          <p:cNvPicPr>
            <a:picLocks noGrp="1" noChangeAspect="1" noChangeArrowheads="1"/>
          </p:cNvPicPr>
          <p:nvPr>
            <p:ph idx="1"/>
          </p:nvPr>
        </p:nvPicPr>
        <p:blipFill>
          <a:blip r:embed="rId2"/>
          <a:stretch>
            <a:fillRect/>
          </a:stretch>
        </p:blipFill>
        <p:spPr bwMode="auto">
          <a:xfrm>
            <a:off x="1005529" y="901389"/>
            <a:ext cx="8573369" cy="5086816"/>
          </a:xfrm>
          <a:prstGeom prst="rect">
            <a:avLst/>
          </a:prstGeom>
          <a:noFill/>
          <a:ln w="9525">
            <a:noFill/>
            <a:miter lim="800000"/>
            <a:headEnd/>
            <a:tailEnd/>
          </a:ln>
          <a:effectLst/>
        </p:spPr>
      </p:pic>
    </p:spTree>
    <p:extLst>
      <p:ext uri="{BB962C8B-B14F-4D97-AF65-F5344CB8AC3E}">
        <p14:creationId xmlns:p14="http://schemas.microsoft.com/office/powerpoint/2010/main" val="109916269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9610" y="116774"/>
            <a:ext cx="4995746" cy="5887096"/>
          </a:xfrm>
        </p:spPr>
      </p:pic>
    </p:spTree>
    <p:extLst>
      <p:ext uri="{BB962C8B-B14F-4D97-AF65-F5344CB8AC3E}">
        <p14:creationId xmlns:p14="http://schemas.microsoft.com/office/powerpoint/2010/main" val="36762081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643287" y="925102"/>
            <a:ext cx="6031911" cy="4181707"/>
          </a:xfrm>
        </p:spPr>
      </p:pic>
    </p:spTree>
    <p:extLst>
      <p:ext uri="{BB962C8B-B14F-4D97-AF65-F5344CB8AC3E}">
        <p14:creationId xmlns:p14="http://schemas.microsoft.com/office/powerpoint/2010/main" val="30561967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406" y="90842"/>
            <a:ext cx="9603275" cy="511325"/>
          </a:xfrm>
        </p:spPr>
        <p:txBody>
          <a:bodyPr>
            <a:normAutofit fontScale="90000"/>
          </a:bodyPr>
          <a:lstStyle/>
          <a:p>
            <a:r>
              <a:rPr lang="en-US" dirty="0"/>
              <a:t>Shortening the Project Duration</a:t>
            </a:r>
          </a:p>
        </p:txBody>
      </p:sp>
      <p:sp>
        <p:nvSpPr>
          <p:cNvPr id="3" name="Content Placeholder 2"/>
          <p:cNvSpPr>
            <a:spLocks noGrp="1"/>
          </p:cNvSpPr>
          <p:nvPr>
            <p:ph idx="1"/>
          </p:nvPr>
        </p:nvSpPr>
        <p:spPr>
          <a:xfrm>
            <a:off x="832406" y="769434"/>
            <a:ext cx="10217152" cy="5263376"/>
          </a:xfrm>
        </p:spPr>
        <p:txBody>
          <a:bodyPr>
            <a:noAutofit/>
          </a:bodyPr>
          <a:lstStyle/>
          <a:p>
            <a:pPr>
              <a:spcBef>
                <a:spcPts val="1200"/>
              </a:spcBef>
            </a:pPr>
            <a:r>
              <a:rPr lang="en-US" dirty="0" smtClean="0"/>
              <a:t>If </a:t>
            </a:r>
            <a:r>
              <a:rPr lang="en-US" dirty="0"/>
              <a:t>we want to bring forward the end date of the project, </a:t>
            </a:r>
            <a:r>
              <a:rPr lang="en-US" dirty="0" smtClean="0"/>
              <a:t>which activities </a:t>
            </a:r>
            <a:r>
              <a:rPr lang="en-US" dirty="0"/>
              <a:t>should we try to reduce their durations?</a:t>
            </a:r>
            <a:endParaRPr lang="en-US" dirty="0" smtClean="0"/>
          </a:p>
          <a:p>
            <a:pPr lvl="1">
              <a:spcBef>
                <a:spcPts val="1200"/>
              </a:spcBef>
            </a:pPr>
            <a:r>
              <a:rPr lang="en-US" sz="2200" dirty="0" smtClean="0"/>
              <a:t>Critical </a:t>
            </a:r>
            <a:r>
              <a:rPr lang="en-US" sz="2200" dirty="0"/>
              <a:t>activities.</a:t>
            </a:r>
            <a:endParaRPr lang="en-US" sz="2200" dirty="0" smtClean="0"/>
          </a:p>
          <a:p>
            <a:pPr>
              <a:spcBef>
                <a:spcPts val="1200"/>
              </a:spcBef>
            </a:pPr>
            <a:r>
              <a:rPr lang="en-US" dirty="0" smtClean="0"/>
              <a:t>How </a:t>
            </a:r>
            <a:r>
              <a:rPr lang="en-US" dirty="0"/>
              <a:t>can we reduce the time duration for an activity?</a:t>
            </a:r>
            <a:endParaRPr lang="en-US" dirty="0" smtClean="0"/>
          </a:p>
          <a:p>
            <a:pPr marL="692150" lvl="2" indent="-342900">
              <a:spcBef>
                <a:spcPts val="1200"/>
              </a:spcBef>
            </a:pPr>
            <a:r>
              <a:rPr lang="en-US" sz="2200" dirty="0" smtClean="0"/>
              <a:t>More </a:t>
            </a:r>
            <a:r>
              <a:rPr lang="en-US" sz="2200" dirty="0"/>
              <a:t>resources.</a:t>
            </a:r>
            <a:endParaRPr lang="en-US" sz="2200" dirty="0" smtClean="0"/>
          </a:p>
          <a:p>
            <a:pPr marL="692150" lvl="2" indent="-342900">
              <a:spcBef>
                <a:spcPts val="1200"/>
              </a:spcBef>
            </a:pPr>
            <a:r>
              <a:rPr lang="en-US" sz="2200" dirty="0" smtClean="0"/>
              <a:t>Working </a:t>
            </a:r>
            <a:r>
              <a:rPr lang="en-US" sz="2200" dirty="0"/>
              <a:t>overtime.</a:t>
            </a:r>
            <a:endParaRPr lang="en-US" sz="2200" dirty="0" smtClean="0"/>
          </a:p>
          <a:p>
            <a:pPr marL="692150" lvl="2" indent="-342900">
              <a:spcBef>
                <a:spcPts val="1200"/>
              </a:spcBef>
            </a:pPr>
            <a:r>
              <a:rPr lang="en-US" sz="2200" dirty="0" smtClean="0"/>
              <a:t>Additional staff</a:t>
            </a:r>
          </a:p>
          <a:p>
            <a:pPr>
              <a:spcBef>
                <a:spcPts val="1200"/>
              </a:spcBef>
            </a:pPr>
            <a:r>
              <a:rPr lang="en-US" dirty="0" smtClean="0"/>
              <a:t>Suppose </a:t>
            </a:r>
            <a:r>
              <a:rPr lang="en-US" dirty="0"/>
              <a:t>that the duration for activity F is shortened to 8 </a:t>
            </a:r>
            <a:r>
              <a:rPr lang="en-US" dirty="0" smtClean="0"/>
              <a:t>weeks, calculate </a:t>
            </a:r>
            <a:r>
              <a:rPr lang="en-US" dirty="0"/>
              <a:t>the end date of the project.</a:t>
            </a:r>
          </a:p>
        </p:txBody>
      </p:sp>
    </p:spTree>
    <p:extLst>
      <p:ext uri="{BB962C8B-B14F-4D97-AF65-F5344CB8AC3E}">
        <p14:creationId xmlns:p14="http://schemas.microsoft.com/office/powerpoint/2010/main" val="153760321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508714"/>
            <a:ext cx="9603275" cy="656291"/>
          </a:xfrm>
        </p:spPr>
        <p:txBody>
          <a:bodyPr>
            <a:normAutofit fontScale="90000"/>
          </a:bodyPr>
          <a:lstStyle/>
          <a:p>
            <a:r>
              <a:rPr lang="en-US" dirty="0" smtClean="0"/>
              <a:t>Activity-On-Arrow Network‭ ‬</a:t>
            </a:r>
            <a:br>
              <a:rPr lang="en-US" dirty="0" smtClean="0"/>
            </a:br>
            <a:endParaRPr lang="en-US" dirty="0"/>
          </a:p>
        </p:txBody>
      </p:sp>
      <p:sp>
        <p:nvSpPr>
          <p:cNvPr id="3" name="Content Placeholder 2"/>
          <p:cNvSpPr>
            <a:spLocks noGrp="1"/>
          </p:cNvSpPr>
          <p:nvPr>
            <p:ph sz="half" idx="1"/>
          </p:nvPr>
        </p:nvSpPr>
        <p:spPr>
          <a:xfrm>
            <a:off x="1016000" y="1853754"/>
            <a:ext cx="10208683" cy="1295400"/>
          </a:xfrm>
        </p:spPr>
        <p:txBody>
          <a:bodyPr/>
          <a:lstStyle/>
          <a:p>
            <a:r>
              <a:rPr lang="en-US" sz="2800" dirty="0" smtClean="0"/>
              <a:t>Links or arrows represent activities‭. ‬</a:t>
            </a:r>
          </a:p>
          <a:p>
            <a:r>
              <a:rPr lang="en-US" sz="2800" dirty="0" smtClean="0"/>
              <a:t>Nodes represents events‭. ‬</a:t>
            </a:r>
          </a:p>
          <a:p>
            <a:endParaRPr lang="en-US" dirty="0"/>
          </a:p>
        </p:txBody>
      </p:sp>
      <p:sp>
        <p:nvSpPr>
          <p:cNvPr id="6" name="Content Placeholder 5"/>
          <p:cNvSpPr>
            <a:spLocks noGrp="1"/>
          </p:cNvSpPr>
          <p:nvPr>
            <p:ph sz="half" idx="13"/>
          </p:nvPr>
        </p:nvSpPr>
        <p:spPr>
          <a:xfrm>
            <a:off x="1016000" y="4166048"/>
            <a:ext cx="10208683" cy="1554480"/>
          </a:xfrm>
        </p:spPr>
        <p:txBody>
          <a:bodyPr/>
          <a:lstStyle/>
          <a:p>
            <a:endParaRPr lang="ar-SA" dirty="0"/>
          </a:p>
        </p:txBody>
      </p:sp>
    </p:spTree>
    <p:extLst>
      <p:ext uri="{BB962C8B-B14F-4D97-AF65-F5344CB8AC3E}">
        <p14:creationId xmlns:p14="http://schemas.microsoft.com/office/powerpoint/2010/main" val="107115929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5141"/>
            <a:ext cx="12192000" cy="1143000"/>
          </a:xfrm>
        </p:spPr>
        <p:txBody>
          <a:bodyPr>
            <a:normAutofit fontScale="90000"/>
          </a:bodyPr>
          <a:lstStyle/>
          <a:p>
            <a:r>
              <a:rPr lang="en-US" sz="4400" dirty="0" smtClean="0"/>
              <a:t>Activity-On-Arrow Network (cont’d)‭ ‬</a:t>
            </a:r>
            <a:br>
              <a:rPr lang="en-US" sz="4400" dirty="0" smtClean="0"/>
            </a:br>
            <a:endParaRPr lang="en-US" sz="4400" dirty="0"/>
          </a:p>
        </p:txBody>
      </p:sp>
      <p:sp>
        <p:nvSpPr>
          <p:cNvPr id="3" name="Content Placeholder 2"/>
          <p:cNvSpPr>
            <a:spLocks noGrp="1"/>
          </p:cNvSpPr>
          <p:nvPr>
            <p:ph sz="half" idx="1"/>
          </p:nvPr>
        </p:nvSpPr>
        <p:spPr>
          <a:xfrm>
            <a:off x="991658" y="1085386"/>
            <a:ext cx="10208683" cy="4419600"/>
          </a:xfrm>
        </p:spPr>
        <p:txBody>
          <a:bodyPr>
            <a:normAutofit fontScale="25000" lnSpcReduction="20000"/>
          </a:bodyPr>
          <a:lstStyle/>
          <a:p>
            <a:pPr>
              <a:buNone/>
            </a:pPr>
            <a:r>
              <a:rPr lang="en-US" sz="9600" b="1" dirty="0" smtClean="0"/>
              <a:t>Rules and Conventions‭ ‬</a:t>
            </a:r>
          </a:p>
          <a:p>
            <a:r>
              <a:rPr lang="en-US" sz="9600" dirty="0" smtClean="0"/>
              <a:t>A project network may have one start node‭. ‬</a:t>
            </a:r>
          </a:p>
          <a:p>
            <a:r>
              <a:rPr lang="en-US" sz="9600" dirty="0" smtClean="0"/>
              <a:t>A project network may have only one end node‭. ‬</a:t>
            </a:r>
          </a:p>
          <a:p>
            <a:r>
              <a:rPr lang="en-US" sz="9600" dirty="0" smtClean="0"/>
              <a:t>A link has duration‭. ‬</a:t>
            </a:r>
          </a:p>
          <a:p>
            <a:r>
              <a:rPr lang="en-US" sz="9600" dirty="0" smtClean="0"/>
              <a:t>Nodes have no duration‭. ‬</a:t>
            </a:r>
          </a:p>
          <a:p>
            <a:pPr lvl="1"/>
            <a:r>
              <a:rPr lang="en-US" sz="9600" dirty="0" smtClean="0"/>
              <a:t>Nodes are events‭. ‬</a:t>
            </a:r>
          </a:p>
          <a:p>
            <a:pPr lvl="2"/>
            <a:r>
              <a:rPr lang="en-US" sz="9600" dirty="0" smtClean="0"/>
              <a:t>The source node‭. ‬</a:t>
            </a:r>
          </a:p>
          <a:p>
            <a:pPr lvl="2"/>
            <a:r>
              <a:rPr lang="en-US" sz="9600" dirty="0" smtClean="0"/>
              <a:t>‬The sink node‭. ‬</a:t>
            </a:r>
          </a:p>
          <a:p>
            <a:pPr lvl="2"/>
            <a:r>
              <a:rPr lang="en-US" sz="9600" dirty="0" smtClean="0"/>
              <a:t>‬The intermediate nodes‭. ‬</a:t>
            </a:r>
          </a:p>
          <a:p>
            <a:r>
              <a:rPr lang="en-US" dirty="0" smtClean="0"/>
              <a:t>‬</a:t>
            </a:r>
          </a:p>
          <a:p>
            <a:endParaRPr lang="en-US" dirty="0"/>
          </a:p>
        </p:txBody>
      </p:sp>
    </p:spTree>
    <p:extLst>
      <p:ext uri="{BB962C8B-B14F-4D97-AF65-F5344CB8AC3E}">
        <p14:creationId xmlns:p14="http://schemas.microsoft.com/office/powerpoint/2010/main" val="128865173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5141"/>
            <a:ext cx="12192000" cy="1143000"/>
          </a:xfrm>
        </p:spPr>
        <p:txBody>
          <a:bodyPr>
            <a:normAutofit fontScale="90000"/>
          </a:bodyPr>
          <a:lstStyle/>
          <a:p>
            <a:r>
              <a:rPr lang="en-US" sz="4400" dirty="0" smtClean="0"/>
              <a:t>Activity-On-Arrow Network (cont’d)‭ ‬</a:t>
            </a:r>
            <a:br>
              <a:rPr lang="en-US" sz="4400" dirty="0" smtClean="0"/>
            </a:br>
            <a:endParaRPr lang="en-US" sz="4400" dirty="0"/>
          </a:p>
        </p:txBody>
      </p:sp>
      <p:sp>
        <p:nvSpPr>
          <p:cNvPr id="3" name="Content Placeholder 2"/>
          <p:cNvSpPr>
            <a:spLocks noGrp="1"/>
          </p:cNvSpPr>
          <p:nvPr>
            <p:ph sz="half" idx="1"/>
          </p:nvPr>
        </p:nvSpPr>
        <p:spPr>
          <a:xfrm>
            <a:off x="991658" y="1488141"/>
            <a:ext cx="10208683" cy="4419600"/>
          </a:xfrm>
        </p:spPr>
        <p:txBody>
          <a:bodyPr>
            <a:normAutofit/>
          </a:bodyPr>
          <a:lstStyle/>
          <a:p>
            <a:r>
              <a:rPr lang="en-US" sz="2800" dirty="0" smtClean="0"/>
              <a:t>Time moves from left to right‭. ‬</a:t>
            </a:r>
          </a:p>
          <a:p>
            <a:r>
              <a:rPr lang="en-US" sz="2800" dirty="0" smtClean="0"/>
              <a:t>Nodes are numbered sequentially‭. ‬</a:t>
            </a:r>
          </a:p>
          <a:p>
            <a:r>
              <a:rPr lang="en-US" sz="2800" dirty="0" smtClean="0"/>
              <a:t>A network may not contain Loops‭. ‬</a:t>
            </a:r>
          </a:p>
          <a:p>
            <a:r>
              <a:rPr lang="en-US" sz="2800" dirty="0" smtClean="0"/>
              <a:t>A network may not contain dangles‭. </a:t>
            </a:r>
            <a:r>
              <a:rPr lang="en-US" sz="2400" dirty="0" smtClean="0"/>
              <a:t>‬</a:t>
            </a:r>
          </a:p>
          <a:p>
            <a:pPr lvl="2"/>
            <a:r>
              <a:rPr lang="en-US" sz="9600" dirty="0" smtClean="0"/>
              <a:t>‬</a:t>
            </a:r>
            <a:r>
              <a:rPr lang="en-US" dirty="0" smtClean="0"/>
              <a:t>‬</a:t>
            </a:r>
          </a:p>
          <a:p>
            <a:endParaRPr lang="en-US" dirty="0"/>
          </a:p>
        </p:txBody>
      </p:sp>
    </p:spTree>
    <p:extLst>
      <p:ext uri="{BB962C8B-B14F-4D97-AF65-F5344CB8AC3E}">
        <p14:creationId xmlns:p14="http://schemas.microsoft.com/office/powerpoint/2010/main" val="334766905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1016000" y="670560"/>
            <a:ext cx="10208683" cy="1554480"/>
          </a:xfrm>
        </p:spPr>
        <p:txBody>
          <a:bodyPr/>
          <a:lstStyle/>
          <a:p>
            <a:r>
              <a:rPr lang="en-US" dirty="0" smtClean="0"/>
              <a:t>Sequential numbering‭ ‬</a:t>
            </a:r>
          </a:p>
          <a:p>
            <a:endParaRPr lang="en-US" dirty="0"/>
          </a:p>
        </p:txBody>
      </p:sp>
      <p:sp>
        <p:nvSpPr>
          <p:cNvPr id="9" name="Content Placeholder 8"/>
          <p:cNvSpPr>
            <a:spLocks noGrp="1"/>
          </p:cNvSpPr>
          <p:nvPr>
            <p:ph sz="half" idx="13"/>
          </p:nvPr>
        </p:nvSpPr>
        <p:spPr>
          <a:xfrm>
            <a:off x="1016000" y="2921550"/>
            <a:ext cx="10208683" cy="528118"/>
          </a:xfrm>
        </p:spPr>
        <p:txBody>
          <a:bodyPr/>
          <a:lstStyle/>
          <a:p>
            <a:r>
              <a:rPr lang="en-US" dirty="0" smtClean="0"/>
              <a:t>A loop:  A </a:t>
            </a:r>
            <a:r>
              <a:rPr lang="en-US" dirty="0"/>
              <a:t>network may not contain Loops‭. </a:t>
            </a:r>
            <a:endParaRPr lang="en-US" dirty="0" smtClean="0"/>
          </a:p>
          <a:p>
            <a:endParaRPr lang="en-US" dirty="0"/>
          </a:p>
        </p:txBody>
      </p:sp>
      <p:pic>
        <p:nvPicPr>
          <p:cNvPr id="10" name="Picture 9" descr="Picture 3.png"/>
          <p:cNvPicPr>
            <a:picLocks noChangeAspect="1"/>
          </p:cNvPicPr>
          <p:nvPr/>
        </p:nvPicPr>
        <p:blipFill>
          <a:blip r:embed="rId2"/>
          <a:stretch>
            <a:fillRect/>
          </a:stretch>
        </p:blipFill>
        <p:spPr>
          <a:xfrm>
            <a:off x="1016000" y="1256780"/>
            <a:ext cx="9803175" cy="1371485"/>
          </a:xfrm>
          <a:prstGeom prst="rect">
            <a:avLst/>
          </a:prstGeom>
        </p:spPr>
      </p:pic>
      <p:pic>
        <p:nvPicPr>
          <p:cNvPr id="11" name="Picture 10" descr="Picture 5.png"/>
          <p:cNvPicPr>
            <a:picLocks noChangeAspect="1"/>
          </p:cNvPicPr>
          <p:nvPr/>
        </p:nvPicPr>
        <p:blipFill>
          <a:blip r:embed="rId3"/>
          <a:stretch>
            <a:fillRect/>
          </a:stretch>
        </p:blipFill>
        <p:spPr>
          <a:xfrm>
            <a:off x="694307" y="3588834"/>
            <a:ext cx="10124868" cy="1752600"/>
          </a:xfrm>
          <a:prstGeom prst="rect">
            <a:avLst/>
          </a:prstGeom>
        </p:spPr>
      </p:pic>
    </p:spTree>
    <p:extLst>
      <p:ext uri="{BB962C8B-B14F-4D97-AF65-F5344CB8AC3E}">
        <p14:creationId xmlns:p14="http://schemas.microsoft.com/office/powerpoint/2010/main" val="41196633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1016000" y="1083155"/>
            <a:ext cx="10208683" cy="667586"/>
          </a:xfrm>
        </p:spPr>
        <p:txBody>
          <a:bodyPr/>
          <a:lstStyle/>
          <a:p>
            <a:r>
              <a:rPr lang="en-US" sz="2800" dirty="0" smtClean="0"/>
              <a:t>A Dangle‭: </a:t>
            </a:r>
            <a:r>
              <a:rPr lang="en-US" sz="2800" dirty="0"/>
              <a:t>A network may not contain dangles‭. </a:t>
            </a:r>
            <a:r>
              <a:rPr lang="en-US" dirty="0" smtClean="0"/>
              <a:t>‬</a:t>
            </a:r>
          </a:p>
          <a:p>
            <a:endParaRPr lang="en-US" dirty="0"/>
          </a:p>
        </p:txBody>
      </p:sp>
      <p:pic>
        <p:nvPicPr>
          <p:cNvPr id="7" name="Content Placeholder 6" descr="Picture 6.png"/>
          <p:cNvPicPr>
            <a:picLocks noGrp="1" noChangeAspect="1"/>
          </p:cNvPicPr>
          <p:nvPr>
            <p:ph sz="half" idx="13"/>
          </p:nvPr>
        </p:nvPicPr>
        <p:blipFill>
          <a:blip r:embed="rId2"/>
          <a:stretch>
            <a:fillRect/>
          </a:stretch>
        </p:blipFill>
        <p:spPr>
          <a:xfrm>
            <a:off x="1016000" y="2351051"/>
            <a:ext cx="9658171" cy="1997075"/>
          </a:xfrm>
        </p:spPr>
      </p:pic>
    </p:spTree>
    <p:extLst>
      <p:ext uri="{BB962C8B-B14F-4D97-AF65-F5344CB8AC3E}">
        <p14:creationId xmlns:p14="http://schemas.microsoft.com/office/powerpoint/2010/main" val="382019864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48874" y="793368"/>
            <a:ext cx="9603275" cy="734349"/>
          </a:xfrm>
        </p:spPr>
        <p:txBody>
          <a:bodyPr>
            <a:normAutofit fontScale="90000"/>
          </a:bodyPr>
          <a:lstStyle/>
          <a:p>
            <a:r>
              <a:rPr lang="en-US" dirty="0" smtClean="0"/>
              <a:t>Dummy Activities‭ ‬</a:t>
            </a:r>
            <a:br>
              <a:rPr lang="en-US" dirty="0" smtClean="0"/>
            </a:br>
            <a:endParaRPr lang="en-US" dirty="0"/>
          </a:p>
        </p:txBody>
      </p:sp>
      <p:sp>
        <p:nvSpPr>
          <p:cNvPr id="6" name="Content Placeholder 5"/>
          <p:cNvSpPr>
            <a:spLocks noGrp="1"/>
          </p:cNvSpPr>
          <p:nvPr>
            <p:ph sz="half" idx="1"/>
          </p:nvPr>
        </p:nvSpPr>
        <p:spPr>
          <a:xfrm>
            <a:off x="1148874" y="1657344"/>
            <a:ext cx="10208683" cy="2022558"/>
          </a:xfrm>
        </p:spPr>
        <p:txBody>
          <a:bodyPr>
            <a:noAutofit/>
          </a:bodyPr>
          <a:lstStyle/>
          <a:p>
            <a:r>
              <a:rPr lang="en-US" sz="2800" dirty="0" smtClean="0"/>
              <a:t>A Dummy activity is an imaginary activity. It does not exist in the Project activities. It is used in the network diagram to show dependency relationship or connectivity between two or more activities. It is represented by a dotted arrow.</a:t>
            </a:r>
          </a:p>
        </p:txBody>
      </p:sp>
    </p:spTree>
    <p:extLst>
      <p:ext uri="{BB962C8B-B14F-4D97-AF65-F5344CB8AC3E}">
        <p14:creationId xmlns:p14="http://schemas.microsoft.com/office/powerpoint/2010/main" val="1042387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61648" y="132313"/>
            <a:ext cx="9603275" cy="1049235"/>
          </a:xfrm>
        </p:spPr>
        <p:txBody>
          <a:bodyPr/>
          <a:lstStyle/>
          <a:p>
            <a:r>
              <a:rPr lang="en-US" dirty="0" smtClean="0"/>
              <a:t>Dummy Activities‭ ‬</a:t>
            </a:r>
            <a:br>
              <a:rPr lang="en-US" dirty="0" smtClean="0"/>
            </a:br>
            <a:endParaRPr lang="en-US" dirty="0"/>
          </a:p>
        </p:txBody>
      </p:sp>
      <p:sp>
        <p:nvSpPr>
          <p:cNvPr id="6" name="Content Placeholder 5"/>
          <p:cNvSpPr>
            <a:spLocks noGrp="1"/>
          </p:cNvSpPr>
          <p:nvPr>
            <p:ph sz="half" idx="1"/>
          </p:nvPr>
        </p:nvSpPr>
        <p:spPr>
          <a:xfrm>
            <a:off x="1161648" y="912541"/>
            <a:ext cx="10208683" cy="2971800"/>
          </a:xfrm>
        </p:spPr>
        <p:txBody>
          <a:bodyPr>
            <a:normAutofit lnSpcReduction="10000"/>
          </a:bodyPr>
          <a:lstStyle/>
          <a:p>
            <a:pPr>
              <a:buNone/>
            </a:pPr>
            <a:r>
              <a:rPr lang="en-US" sz="2378" dirty="0" smtClean="0"/>
              <a:t>Suppose that in a project‭, </a:t>
            </a:r>
          </a:p>
          <a:p>
            <a:r>
              <a:rPr lang="en-US" sz="2378" dirty="0" smtClean="0"/>
              <a:t>Before you can start‭ “coding the software” ‬you need to‭: ‬</a:t>
            </a:r>
          </a:p>
          <a:p>
            <a:pPr lvl="1"/>
            <a:r>
              <a:rPr lang="en-US" sz="2378" dirty="0" smtClean="0"/>
              <a:t>“Specify the hardware”</a:t>
            </a:r>
          </a:p>
          <a:p>
            <a:pPr lvl="1"/>
            <a:r>
              <a:rPr lang="en-US" sz="2378" dirty="0" smtClean="0"/>
              <a:t>“Design data structures”. </a:t>
            </a:r>
          </a:p>
          <a:p>
            <a:r>
              <a:rPr lang="en-US" sz="2378" dirty="0" smtClean="0"/>
              <a:t>Before placing an order you only need to‭: ‬</a:t>
            </a:r>
          </a:p>
          <a:p>
            <a:pPr lvl="1"/>
            <a:r>
              <a:rPr lang="en-US" sz="2378" dirty="0" smtClean="0"/>
              <a:t>“Specify the hardware” </a:t>
            </a:r>
            <a:r>
              <a:rPr lang="en-US" dirty="0" smtClean="0"/>
              <a:t>‬</a:t>
            </a:r>
          </a:p>
          <a:p>
            <a:endParaRPr lang="en-US" dirty="0"/>
          </a:p>
        </p:txBody>
      </p:sp>
      <p:pic>
        <p:nvPicPr>
          <p:cNvPr id="9" name="Content Placeholder 8" descr="Picture 10.png"/>
          <p:cNvPicPr>
            <a:picLocks noGrp="1" noChangeAspect="1"/>
          </p:cNvPicPr>
          <p:nvPr>
            <p:ph sz="half" idx="13"/>
          </p:nvPr>
        </p:nvPicPr>
        <p:blipFill>
          <a:blip r:embed="rId2"/>
          <a:stretch>
            <a:fillRect/>
          </a:stretch>
        </p:blipFill>
        <p:spPr>
          <a:xfrm>
            <a:off x="1862254" y="4070137"/>
            <a:ext cx="8504692" cy="1940369"/>
          </a:xfrm>
        </p:spPr>
      </p:pic>
    </p:spTree>
    <p:extLst>
      <p:ext uri="{BB962C8B-B14F-4D97-AF65-F5344CB8AC3E}">
        <p14:creationId xmlns:p14="http://schemas.microsoft.com/office/powerpoint/2010/main" val="360571267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Dummy Activities‭ ‬</a:t>
            </a:r>
            <a:br>
              <a:rPr lang="en-US" dirty="0" smtClean="0"/>
            </a:br>
            <a:endParaRPr lang="en-US" dirty="0"/>
          </a:p>
        </p:txBody>
      </p:sp>
      <p:sp>
        <p:nvSpPr>
          <p:cNvPr id="6" name="Content Placeholder 5"/>
          <p:cNvSpPr>
            <a:spLocks noGrp="1"/>
          </p:cNvSpPr>
          <p:nvPr>
            <p:ph sz="half" idx="1"/>
          </p:nvPr>
        </p:nvSpPr>
        <p:spPr>
          <a:xfrm>
            <a:off x="1016000" y="2286000"/>
            <a:ext cx="10208683" cy="1905000"/>
          </a:xfrm>
        </p:spPr>
        <p:txBody>
          <a:bodyPr>
            <a:normAutofit lnSpcReduction="10000"/>
          </a:bodyPr>
          <a:lstStyle/>
          <a:p>
            <a:r>
              <a:rPr lang="en-US" sz="2400" dirty="0" smtClean="0"/>
              <a:t>Resolving the error using a dummy activity‭. ‬</a:t>
            </a:r>
          </a:p>
          <a:p>
            <a:r>
              <a:rPr lang="en-US" sz="2400" dirty="0" smtClean="0"/>
              <a:t>Dummy activities‭: ‬</a:t>
            </a:r>
          </a:p>
          <a:p>
            <a:pPr lvl="1"/>
            <a:r>
              <a:rPr lang="en-US" sz="2400" dirty="0" smtClean="0"/>
              <a:t>Are used to aid in the layout of network drawings‭. ‬</a:t>
            </a:r>
          </a:p>
          <a:p>
            <a:pPr lvl="1"/>
            <a:r>
              <a:rPr lang="en-US" dirty="0" smtClean="0"/>
              <a:t>‬</a:t>
            </a:r>
          </a:p>
          <a:p>
            <a:endParaRPr lang="en-US" dirty="0"/>
          </a:p>
        </p:txBody>
      </p:sp>
      <p:pic>
        <p:nvPicPr>
          <p:cNvPr id="8" name="Content Placeholder 7" descr="Picture 11.png"/>
          <p:cNvPicPr>
            <a:picLocks noGrp="1" noChangeAspect="1"/>
          </p:cNvPicPr>
          <p:nvPr>
            <p:ph sz="half" idx="13"/>
          </p:nvPr>
        </p:nvPicPr>
        <p:blipFill>
          <a:blip r:embed="rId2"/>
          <a:stretch>
            <a:fillRect/>
          </a:stretch>
        </p:blipFill>
        <p:spPr>
          <a:xfrm>
            <a:off x="2133600" y="3803102"/>
            <a:ext cx="8421157" cy="2248449"/>
          </a:xfrm>
        </p:spPr>
      </p:pic>
    </p:spTree>
    <p:extLst>
      <p:ext uri="{BB962C8B-B14F-4D97-AF65-F5344CB8AC3E}">
        <p14:creationId xmlns:p14="http://schemas.microsoft.com/office/powerpoint/2010/main" val="46377820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Lagged Activities‭ ‬</a:t>
            </a:r>
            <a:br>
              <a:rPr lang="en-US" dirty="0" smtClean="0"/>
            </a:br>
            <a:endParaRPr lang="en-US" dirty="0"/>
          </a:p>
        </p:txBody>
      </p:sp>
      <p:sp>
        <p:nvSpPr>
          <p:cNvPr id="6" name="Content Placeholder 5"/>
          <p:cNvSpPr>
            <a:spLocks noGrp="1"/>
          </p:cNvSpPr>
          <p:nvPr>
            <p:ph sz="half" idx="1"/>
          </p:nvPr>
        </p:nvSpPr>
        <p:spPr>
          <a:xfrm>
            <a:off x="609600" y="2286001"/>
            <a:ext cx="11582400" cy="1517101"/>
          </a:xfrm>
        </p:spPr>
        <p:txBody>
          <a:bodyPr>
            <a:normAutofit/>
          </a:bodyPr>
          <a:lstStyle/>
          <a:p>
            <a:r>
              <a:rPr lang="en-US" sz="2400" dirty="0" smtClean="0"/>
              <a:t>We represent lagged activities with a pair of dummy activities‭. </a:t>
            </a:r>
          </a:p>
          <a:p>
            <a:pPr lvl="1"/>
            <a:r>
              <a:rPr lang="en-US" sz="2400" dirty="0" smtClean="0"/>
              <a:t>‬</a:t>
            </a:r>
          </a:p>
          <a:p>
            <a:pPr lvl="1"/>
            <a:r>
              <a:rPr lang="en-US" dirty="0" smtClean="0"/>
              <a:t>‬</a:t>
            </a:r>
          </a:p>
          <a:p>
            <a:endParaRPr lang="en-US" dirty="0"/>
          </a:p>
        </p:txBody>
      </p:sp>
      <p:pic>
        <p:nvPicPr>
          <p:cNvPr id="9" name="Content Placeholder 8" descr="Picture 12.png"/>
          <p:cNvPicPr>
            <a:picLocks noGrp="1" noChangeAspect="1"/>
          </p:cNvPicPr>
          <p:nvPr>
            <p:ph sz="half" idx="13"/>
          </p:nvPr>
        </p:nvPicPr>
        <p:blipFill>
          <a:blip r:embed="rId2"/>
          <a:stretch>
            <a:fillRect/>
          </a:stretch>
        </p:blipFill>
        <p:spPr>
          <a:xfrm>
            <a:off x="1548780" y="3312448"/>
            <a:ext cx="8453864" cy="2337621"/>
          </a:xfrm>
        </p:spPr>
      </p:pic>
    </p:spTree>
    <p:extLst>
      <p:ext uri="{BB962C8B-B14F-4D97-AF65-F5344CB8AC3E}">
        <p14:creationId xmlns:p14="http://schemas.microsoft.com/office/powerpoint/2010/main" val="360730538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157748"/>
            <a:ext cx="9603275" cy="533627"/>
          </a:xfrm>
        </p:spPr>
        <p:txBody>
          <a:bodyPr/>
          <a:lstStyle/>
          <a:p>
            <a:r>
              <a:rPr lang="en-IN" dirty="0" smtClean="0"/>
              <a:t>Activity Labelling</a:t>
            </a:r>
            <a:endParaRPr lang="en-IN" dirty="0"/>
          </a:p>
        </p:txBody>
      </p:sp>
      <p:sp>
        <p:nvSpPr>
          <p:cNvPr id="5" name="Flowchart: Summing Junction 4"/>
          <p:cNvSpPr/>
          <p:nvPr/>
        </p:nvSpPr>
        <p:spPr>
          <a:xfrm>
            <a:off x="2430968" y="1417095"/>
            <a:ext cx="2631686"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10" name="Group 9"/>
          <p:cNvGrpSpPr/>
          <p:nvPr/>
        </p:nvGrpSpPr>
        <p:grpSpPr>
          <a:xfrm>
            <a:off x="2542479" y="1785977"/>
            <a:ext cx="2670718" cy="1501965"/>
            <a:chOff x="2542479" y="1785977"/>
            <a:chExt cx="2670718" cy="1501965"/>
          </a:xfrm>
        </p:grpSpPr>
        <p:sp>
          <p:nvSpPr>
            <p:cNvPr id="6" name="TextBox 5"/>
            <p:cNvSpPr txBox="1"/>
            <p:nvPr/>
          </p:nvSpPr>
          <p:spPr>
            <a:xfrm>
              <a:off x="3263589" y="1785977"/>
              <a:ext cx="1204332" cy="276999"/>
            </a:xfrm>
            <a:prstGeom prst="rect">
              <a:avLst/>
            </a:prstGeom>
            <a:noFill/>
          </p:spPr>
          <p:txBody>
            <a:bodyPr wrap="square" rtlCol="0">
              <a:spAutoFit/>
            </a:bodyPr>
            <a:lstStyle/>
            <a:p>
              <a:r>
                <a:rPr lang="en-IN" sz="1200" dirty="0" smtClean="0">
                  <a:solidFill>
                    <a:schemeClr val="bg1"/>
                  </a:solidFill>
                </a:rPr>
                <a:t>Event Number</a:t>
              </a:r>
              <a:endParaRPr lang="en-IN" sz="1200" dirty="0">
                <a:solidFill>
                  <a:schemeClr val="bg1"/>
                </a:solidFill>
              </a:endParaRPr>
            </a:p>
          </p:txBody>
        </p:sp>
        <p:sp>
          <p:nvSpPr>
            <p:cNvPr id="7" name="TextBox 6"/>
            <p:cNvSpPr txBox="1"/>
            <p:nvPr/>
          </p:nvSpPr>
          <p:spPr>
            <a:xfrm>
              <a:off x="2542479" y="2398460"/>
              <a:ext cx="1204332" cy="276999"/>
            </a:xfrm>
            <a:prstGeom prst="rect">
              <a:avLst/>
            </a:prstGeom>
            <a:noFill/>
          </p:spPr>
          <p:txBody>
            <a:bodyPr wrap="square" rtlCol="0">
              <a:spAutoFit/>
            </a:bodyPr>
            <a:lstStyle/>
            <a:p>
              <a:r>
                <a:rPr lang="en-IN" sz="1200" dirty="0" smtClean="0">
                  <a:solidFill>
                    <a:schemeClr val="bg1"/>
                  </a:solidFill>
                </a:rPr>
                <a:t>Earliest date</a:t>
              </a:r>
              <a:endParaRPr lang="en-IN" sz="1200" dirty="0">
                <a:solidFill>
                  <a:schemeClr val="bg1"/>
                </a:solidFill>
              </a:endParaRPr>
            </a:p>
          </p:txBody>
        </p:sp>
        <p:sp>
          <p:nvSpPr>
            <p:cNvPr id="8" name="TextBox 7"/>
            <p:cNvSpPr txBox="1"/>
            <p:nvPr/>
          </p:nvSpPr>
          <p:spPr>
            <a:xfrm>
              <a:off x="4008865" y="2431857"/>
              <a:ext cx="1204332"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9" name="TextBox 8"/>
            <p:cNvSpPr txBox="1"/>
            <p:nvPr/>
          </p:nvSpPr>
          <p:spPr>
            <a:xfrm>
              <a:off x="3174380" y="3010943"/>
              <a:ext cx="1204332"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spTree>
    <p:extLst>
      <p:ext uri="{BB962C8B-B14F-4D97-AF65-F5344CB8AC3E}">
        <p14:creationId xmlns:p14="http://schemas.microsoft.com/office/powerpoint/2010/main" val="22276152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492286"/>
            <a:ext cx="9603275" cy="578232"/>
          </a:xfrm>
        </p:spPr>
        <p:txBody>
          <a:bodyPr/>
          <a:lstStyle/>
          <a:p>
            <a:r>
              <a:rPr lang="en-IN" dirty="0" smtClean="0"/>
              <a:t> Network Analysis</a:t>
            </a:r>
            <a:endParaRPr lang="en-IN" dirty="0"/>
          </a:p>
        </p:txBody>
      </p:sp>
      <p:sp>
        <p:nvSpPr>
          <p:cNvPr id="3" name="Content Placeholder 2"/>
          <p:cNvSpPr>
            <a:spLocks noGrp="1"/>
          </p:cNvSpPr>
          <p:nvPr>
            <p:ph sz="half" idx="1"/>
          </p:nvPr>
        </p:nvSpPr>
        <p:spPr>
          <a:xfrm>
            <a:off x="1016000" y="1535539"/>
            <a:ext cx="10208683" cy="2924950"/>
          </a:xfrm>
        </p:spPr>
        <p:txBody>
          <a:bodyPr>
            <a:normAutofit/>
          </a:bodyPr>
          <a:lstStyle/>
          <a:p>
            <a:r>
              <a:rPr lang="en-IN" sz="2800" dirty="0" smtClean="0"/>
              <a:t>Forward Pass</a:t>
            </a:r>
          </a:p>
          <a:p>
            <a:r>
              <a:rPr lang="en-IN" sz="2800" dirty="0" smtClean="0"/>
              <a:t>Backward Pass</a:t>
            </a:r>
          </a:p>
          <a:p>
            <a:r>
              <a:rPr lang="en-IN" sz="2800" dirty="0" smtClean="0"/>
              <a:t>Calculating Slack</a:t>
            </a:r>
          </a:p>
          <a:p>
            <a:r>
              <a:rPr lang="en-IN" sz="2800" dirty="0" smtClean="0"/>
              <a:t>Identifying critical path</a:t>
            </a:r>
            <a:endParaRPr lang="en-IN" sz="2800" dirty="0"/>
          </a:p>
        </p:txBody>
      </p:sp>
    </p:spTree>
    <p:extLst>
      <p:ext uri="{BB962C8B-B14F-4D97-AF65-F5344CB8AC3E}">
        <p14:creationId xmlns:p14="http://schemas.microsoft.com/office/powerpoint/2010/main" val="106091320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half" idx="1"/>
          </p:nvPr>
        </p:nvSpPr>
        <p:spPr/>
        <p:txBody>
          <a:bodyPr/>
          <a:lstStyle/>
          <a:p>
            <a:endParaRPr lang="en-IN"/>
          </a:p>
        </p:txBody>
      </p:sp>
      <p:sp>
        <p:nvSpPr>
          <p:cNvPr id="4" name="Content Placeholder 3"/>
          <p:cNvSpPr>
            <a:spLocks noGrp="1"/>
          </p:cNvSpPr>
          <p:nvPr>
            <p:ph sz="half" idx="13"/>
          </p:nvPr>
        </p:nvSpPr>
        <p:spPr/>
        <p:txBody>
          <a:bodyPr/>
          <a:lstStyle/>
          <a:p>
            <a:endParaRPr lang="en-IN"/>
          </a:p>
        </p:txBody>
      </p:sp>
    </p:spTree>
    <p:extLst>
      <p:ext uri="{BB962C8B-B14F-4D97-AF65-F5344CB8AC3E}">
        <p14:creationId xmlns:p14="http://schemas.microsoft.com/office/powerpoint/2010/main" val="32416510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446051" y="1584363"/>
            <a:ext cx="2152183" cy="1972876"/>
            <a:chOff x="5274529" y="2086168"/>
            <a:chExt cx="2782229" cy="2318564"/>
          </a:xfrm>
        </p:grpSpPr>
        <p:sp>
          <p:nvSpPr>
            <p:cNvPr id="7" name="Flowchart: Summing Junction 6"/>
            <p:cNvSpPr/>
            <p:nvPr/>
          </p:nvSpPr>
          <p:spPr>
            <a:xfrm>
              <a:off x="5274529" y="2086168"/>
              <a:ext cx="2631686"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8" name="Group 7"/>
            <p:cNvGrpSpPr/>
            <p:nvPr/>
          </p:nvGrpSpPr>
          <p:grpSpPr>
            <a:xfrm>
              <a:off x="5386040" y="2455050"/>
              <a:ext cx="2670718" cy="1501965"/>
              <a:chOff x="2542479" y="1785977"/>
              <a:chExt cx="2670718" cy="1501965"/>
            </a:xfrm>
          </p:grpSpPr>
          <p:sp>
            <p:nvSpPr>
              <p:cNvPr id="9" name="TextBox 8"/>
              <p:cNvSpPr txBox="1"/>
              <p:nvPr/>
            </p:nvSpPr>
            <p:spPr>
              <a:xfrm>
                <a:off x="3263589" y="1785977"/>
                <a:ext cx="1204333" cy="325535"/>
              </a:xfrm>
              <a:prstGeom prst="rect">
                <a:avLst/>
              </a:prstGeom>
              <a:noFill/>
            </p:spPr>
            <p:txBody>
              <a:bodyPr wrap="square" rtlCol="0">
                <a:spAutoFit/>
              </a:bodyPr>
              <a:lstStyle/>
              <a:p>
                <a:r>
                  <a:rPr lang="en-IN" sz="1200" dirty="0" smtClean="0">
                    <a:solidFill>
                      <a:schemeClr val="bg1"/>
                    </a:solidFill>
                  </a:rPr>
                  <a:t>1</a:t>
                </a:r>
                <a:endParaRPr lang="en-IN" sz="1200" dirty="0">
                  <a:solidFill>
                    <a:schemeClr val="bg1"/>
                  </a:solidFill>
                </a:endParaRPr>
              </a:p>
            </p:txBody>
          </p:sp>
          <p:sp>
            <p:nvSpPr>
              <p:cNvPr id="10" name="TextBox 9"/>
              <p:cNvSpPr txBox="1"/>
              <p:nvPr/>
            </p:nvSpPr>
            <p:spPr>
              <a:xfrm>
                <a:off x="2542479" y="2398460"/>
                <a:ext cx="1204333" cy="325535"/>
              </a:xfrm>
              <a:prstGeom prst="rect">
                <a:avLst/>
              </a:prstGeom>
              <a:noFill/>
            </p:spPr>
            <p:txBody>
              <a:bodyPr wrap="square" rtlCol="0">
                <a:spAutoFit/>
              </a:bodyPr>
              <a:lstStyle/>
              <a:p>
                <a:r>
                  <a:rPr lang="en-IN" sz="1200" dirty="0" smtClean="0">
                    <a:solidFill>
                      <a:schemeClr val="bg1"/>
                    </a:solidFill>
                  </a:rPr>
                  <a:t>0</a:t>
                </a:r>
                <a:endParaRPr lang="en-IN" sz="1200" dirty="0">
                  <a:solidFill>
                    <a:schemeClr val="bg1"/>
                  </a:solidFill>
                </a:endParaRPr>
              </a:p>
            </p:txBody>
          </p:sp>
          <p:sp>
            <p:nvSpPr>
              <p:cNvPr id="11" name="TextBox 10"/>
              <p:cNvSpPr txBox="1"/>
              <p:nvPr/>
            </p:nvSpPr>
            <p:spPr>
              <a:xfrm>
                <a:off x="4008865" y="2431857"/>
                <a:ext cx="1204332"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12" name="TextBox 11"/>
              <p:cNvSpPr txBox="1"/>
              <p:nvPr/>
            </p:nvSpPr>
            <p:spPr>
              <a:xfrm>
                <a:off x="3174380" y="3010943"/>
                <a:ext cx="1204332"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grpSp>
      <p:grpSp>
        <p:nvGrpSpPr>
          <p:cNvPr id="14" name="Group 13"/>
          <p:cNvGrpSpPr/>
          <p:nvPr/>
        </p:nvGrpSpPr>
        <p:grpSpPr>
          <a:xfrm>
            <a:off x="3665037" y="43220"/>
            <a:ext cx="1749046" cy="1871353"/>
            <a:chOff x="5274529" y="2086168"/>
            <a:chExt cx="2782229" cy="2318564"/>
          </a:xfrm>
        </p:grpSpPr>
        <p:sp>
          <p:nvSpPr>
            <p:cNvPr id="15" name="Flowchart: Summing Junction 14"/>
            <p:cNvSpPr/>
            <p:nvPr/>
          </p:nvSpPr>
          <p:spPr>
            <a:xfrm>
              <a:off x="5274529" y="2086168"/>
              <a:ext cx="2631686"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16" name="Group 15"/>
            <p:cNvGrpSpPr/>
            <p:nvPr/>
          </p:nvGrpSpPr>
          <p:grpSpPr>
            <a:xfrm>
              <a:off x="5386040" y="2455050"/>
              <a:ext cx="2670718" cy="1501965"/>
              <a:chOff x="2542479" y="1785977"/>
              <a:chExt cx="2670718" cy="1501965"/>
            </a:xfrm>
          </p:grpSpPr>
          <p:sp>
            <p:nvSpPr>
              <p:cNvPr id="17" name="TextBox 16"/>
              <p:cNvSpPr txBox="1"/>
              <p:nvPr/>
            </p:nvSpPr>
            <p:spPr>
              <a:xfrm>
                <a:off x="3263589" y="1785977"/>
                <a:ext cx="1204331" cy="343195"/>
              </a:xfrm>
              <a:prstGeom prst="rect">
                <a:avLst/>
              </a:prstGeom>
              <a:noFill/>
            </p:spPr>
            <p:txBody>
              <a:bodyPr wrap="square" rtlCol="0">
                <a:spAutoFit/>
              </a:bodyPr>
              <a:lstStyle/>
              <a:p>
                <a:r>
                  <a:rPr lang="en-IN" sz="1200" dirty="0" smtClean="0">
                    <a:solidFill>
                      <a:schemeClr val="bg1"/>
                    </a:solidFill>
                  </a:rPr>
                  <a:t>2r</a:t>
                </a:r>
                <a:endParaRPr lang="en-IN" sz="1200" dirty="0">
                  <a:solidFill>
                    <a:schemeClr val="bg1"/>
                  </a:solidFill>
                </a:endParaRPr>
              </a:p>
            </p:txBody>
          </p:sp>
          <p:sp>
            <p:nvSpPr>
              <p:cNvPr id="18" name="TextBox 17"/>
              <p:cNvSpPr txBox="1"/>
              <p:nvPr/>
            </p:nvSpPr>
            <p:spPr>
              <a:xfrm>
                <a:off x="2542479" y="2398460"/>
                <a:ext cx="1204331" cy="343195"/>
              </a:xfrm>
              <a:prstGeom prst="rect">
                <a:avLst/>
              </a:prstGeom>
              <a:noFill/>
            </p:spPr>
            <p:txBody>
              <a:bodyPr wrap="square" rtlCol="0">
                <a:spAutoFit/>
              </a:bodyPr>
              <a:lstStyle/>
              <a:p>
                <a:r>
                  <a:rPr lang="en-IN" sz="1200" dirty="0" smtClean="0">
                    <a:solidFill>
                      <a:schemeClr val="bg1"/>
                    </a:solidFill>
                  </a:rPr>
                  <a:t>6</a:t>
                </a:r>
                <a:endParaRPr lang="en-IN" sz="1200" dirty="0">
                  <a:solidFill>
                    <a:schemeClr val="bg1"/>
                  </a:solidFill>
                </a:endParaRPr>
              </a:p>
            </p:txBody>
          </p:sp>
          <p:sp>
            <p:nvSpPr>
              <p:cNvPr id="19" name="TextBox 18"/>
              <p:cNvSpPr txBox="1"/>
              <p:nvPr/>
            </p:nvSpPr>
            <p:spPr>
              <a:xfrm>
                <a:off x="4008865" y="2431857"/>
                <a:ext cx="1204332"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20" name="TextBox 19"/>
              <p:cNvSpPr txBox="1"/>
              <p:nvPr/>
            </p:nvSpPr>
            <p:spPr>
              <a:xfrm>
                <a:off x="3174380" y="3010943"/>
                <a:ext cx="1204332"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grpSp>
      <p:grpSp>
        <p:nvGrpSpPr>
          <p:cNvPr id="21" name="Group 20"/>
          <p:cNvGrpSpPr/>
          <p:nvPr/>
        </p:nvGrpSpPr>
        <p:grpSpPr>
          <a:xfrm>
            <a:off x="3606809" y="2189836"/>
            <a:ext cx="1807273" cy="1730135"/>
            <a:chOff x="5274529" y="2086168"/>
            <a:chExt cx="2782229" cy="2318564"/>
          </a:xfrm>
        </p:grpSpPr>
        <p:sp>
          <p:nvSpPr>
            <p:cNvPr id="22" name="Flowchart: Summing Junction 21"/>
            <p:cNvSpPr/>
            <p:nvPr/>
          </p:nvSpPr>
          <p:spPr>
            <a:xfrm>
              <a:off x="5274529" y="2086168"/>
              <a:ext cx="2631686"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23" name="Group 22"/>
            <p:cNvGrpSpPr/>
            <p:nvPr/>
          </p:nvGrpSpPr>
          <p:grpSpPr>
            <a:xfrm>
              <a:off x="5386040" y="2455050"/>
              <a:ext cx="2670718" cy="1501965"/>
              <a:chOff x="2542479" y="1785977"/>
              <a:chExt cx="2670718" cy="1501965"/>
            </a:xfrm>
          </p:grpSpPr>
          <p:sp>
            <p:nvSpPr>
              <p:cNvPr id="24" name="TextBox 23"/>
              <p:cNvSpPr txBox="1"/>
              <p:nvPr/>
            </p:nvSpPr>
            <p:spPr>
              <a:xfrm>
                <a:off x="3263589" y="1785977"/>
                <a:ext cx="1204332" cy="371208"/>
              </a:xfrm>
              <a:prstGeom prst="rect">
                <a:avLst/>
              </a:prstGeom>
              <a:noFill/>
            </p:spPr>
            <p:txBody>
              <a:bodyPr wrap="square" rtlCol="0">
                <a:spAutoFit/>
              </a:bodyPr>
              <a:lstStyle/>
              <a:p>
                <a:r>
                  <a:rPr lang="en-IN" sz="1200" dirty="0" smtClean="0">
                    <a:solidFill>
                      <a:schemeClr val="bg1"/>
                    </a:solidFill>
                  </a:rPr>
                  <a:t>3</a:t>
                </a:r>
                <a:endParaRPr lang="en-IN" sz="1200" dirty="0">
                  <a:solidFill>
                    <a:schemeClr val="bg1"/>
                  </a:solidFill>
                </a:endParaRPr>
              </a:p>
            </p:txBody>
          </p:sp>
          <p:sp>
            <p:nvSpPr>
              <p:cNvPr id="25" name="TextBox 24"/>
              <p:cNvSpPr txBox="1"/>
              <p:nvPr/>
            </p:nvSpPr>
            <p:spPr>
              <a:xfrm>
                <a:off x="2542479" y="2398460"/>
                <a:ext cx="1204332" cy="371208"/>
              </a:xfrm>
              <a:prstGeom prst="rect">
                <a:avLst/>
              </a:prstGeom>
              <a:noFill/>
            </p:spPr>
            <p:txBody>
              <a:bodyPr wrap="square" rtlCol="0">
                <a:spAutoFit/>
              </a:bodyPr>
              <a:lstStyle/>
              <a:p>
                <a:r>
                  <a:rPr lang="en-IN" sz="1200" dirty="0" smtClean="0">
                    <a:solidFill>
                      <a:schemeClr val="bg1"/>
                    </a:solidFill>
                  </a:rPr>
                  <a:t>4</a:t>
                </a:r>
                <a:endParaRPr lang="en-IN" sz="1200" dirty="0">
                  <a:solidFill>
                    <a:schemeClr val="bg1"/>
                  </a:solidFill>
                </a:endParaRPr>
              </a:p>
            </p:txBody>
          </p:sp>
          <p:sp>
            <p:nvSpPr>
              <p:cNvPr id="26" name="TextBox 25"/>
              <p:cNvSpPr txBox="1"/>
              <p:nvPr/>
            </p:nvSpPr>
            <p:spPr>
              <a:xfrm>
                <a:off x="4008865" y="2431857"/>
                <a:ext cx="1204332"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27" name="TextBox 26"/>
              <p:cNvSpPr txBox="1"/>
              <p:nvPr/>
            </p:nvSpPr>
            <p:spPr>
              <a:xfrm>
                <a:off x="3174380" y="3010943"/>
                <a:ext cx="1204332"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grpSp>
      <p:grpSp>
        <p:nvGrpSpPr>
          <p:cNvPr id="28" name="Group 27"/>
          <p:cNvGrpSpPr/>
          <p:nvPr/>
        </p:nvGrpSpPr>
        <p:grpSpPr>
          <a:xfrm>
            <a:off x="3835266" y="4640819"/>
            <a:ext cx="1761347" cy="1557864"/>
            <a:chOff x="5714052" y="2797733"/>
            <a:chExt cx="2935943" cy="2318564"/>
          </a:xfrm>
        </p:grpSpPr>
        <p:sp>
          <p:nvSpPr>
            <p:cNvPr id="29" name="Flowchart: Summing Junction 28"/>
            <p:cNvSpPr/>
            <p:nvPr/>
          </p:nvSpPr>
          <p:spPr>
            <a:xfrm>
              <a:off x="5714052" y="2797733"/>
              <a:ext cx="2631685"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30" name="Group 29"/>
            <p:cNvGrpSpPr/>
            <p:nvPr/>
          </p:nvGrpSpPr>
          <p:grpSpPr>
            <a:xfrm>
              <a:off x="5837398" y="2851873"/>
              <a:ext cx="2812597" cy="1987425"/>
              <a:chOff x="2993837" y="2182800"/>
              <a:chExt cx="2812597" cy="1987425"/>
            </a:xfrm>
          </p:grpSpPr>
          <p:sp>
            <p:nvSpPr>
              <p:cNvPr id="31" name="TextBox 30"/>
              <p:cNvSpPr txBox="1"/>
              <p:nvPr/>
            </p:nvSpPr>
            <p:spPr>
              <a:xfrm>
                <a:off x="3883812" y="2182800"/>
                <a:ext cx="1204333" cy="412257"/>
              </a:xfrm>
              <a:prstGeom prst="rect">
                <a:avLst/>
              </a:prstGeom>
              <a:noFill/>
            </p:spPr>
            <p:txBody>
              <a:bodyPr wrap="square" rtlCol="0">
                <a:spAutoFit/>
              </a:bodyPr>
              <a:lstStyle/>
              <a:p>
                <a:r>
                  <a:rPr lang="en-IN" sz="1200" dirty="0" smtClean="0">
                    <a:solidFill>
                      <a:schemeClr val="bg1"/>
                    </a:solidFill>
                  </a:rPr>
                  <a:t>4</a:t>
                </a:r>
                <a:endParaRPr lang="en-IN" sz="1200" dirty="0">
                  <a:solidFill>
                    <a:schemeClr val="bg1"/>
                  </a:solidFill>
                </a:endParaRPr>
              </a:p>
            </p:txBody>
          </p:sp>
          <p:sp>
            <p:nvSpPr>
              <p:cNvPr id="32" name="TextBox 31"/>
              <p:cNvSpPr txBox="1"/>
              <p:nvPr/>
            </p:nvSpPr>
            <p:spPr>
              <a:xfrm>
                <a:off x="2993837" y="2958726"/>
                <a:ext cx="1204333" cy="412257"/>
              </a:xfrm>
              <a:prstGeom prst="rect">
                <a:avLst/>
              </a:prstGeom>
              <a:noFill/>
            </p:spPr>
            <p:txBody>
              <a:bodyPr wrap="square" rtlCol="0">
                <a:spAutoFit/>
              </a:bodyPr>
              <a:lstStyle/>
              <a:p>
                <a:r>
                  <a:rPr lang="en-IN" sz="1200" dirty="0" smtClean="0">
                    <a:solidFill>
                      <a:schemeClr val="bg1"/>
                    </a:solidFill>
                  </a:rPr>
                  <a:t>10</a:t>
                </a:r>
                <a:endParaRPr lang="en-IN" sz="1200" dirty="0">
                  <a:solidFill>
                    <a:schemeClr val="bg1"/>
                  </a:solidFill>
                </a:endParaRPr>
              </a:p>
            </p:txBody>
          </p:sp>
          <p:sp>
            <p:nvSpPr>
              <p:cNvPr id="33" name="TextBox 32"/>
              <p:cNvSpPr txBox="1"/>
              <p:nvPr/>
            </p:nvSpPr>
            <p:spPr>
              <a:xfrm>
                <a:off x="4602101" y="2872444"/>
                <a:ext cx="1204333"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34" name="TextBox 33"/>
              <p:cNvSpPr txBox="1"/>
              <p:nvPr/>
            </p:nvSpPr>
            <p:spPr>
              <a:xfrm>
                <a:off x="3596003" y="3893226"/>
                <a:ext cx="1204333"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grpSp>
      <p:cxnSp>
        <p:nvCxnSpPr>
          <p:cNvPr id="36" name="Straight Arrow Connector 35"/>
          <p:cNvCxnSpPr/>
          <p:nvPr/>
        </p:nvCxnSpPr>
        <p:spPr>
          <a:xfrm flipV="1">
            <a:off x="1851102" y="1215483"/>
            <a:ext cx="1884036" cy="557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22" idx="2"/>
          </p:cNvCxnSpPr>
          <p:nvPr/>
        </p:nvCxnSpPr>
        <p:spPr>
          <a:xfrm>
            <a:off x="2481782" y="2559609"/>
            <a:ext cx="1125027" cy="495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7" idx="5"/>
            <a:endCxn id="29" idx="2"/>
          </p:cNvCxnSpPr>
          <p:nvPr/>
        </p:nvCxnSpPr>
        <p:spPr>
          <a:xfrm>
            <a:off x="2183656" y="3268318"/>
            <a:ext cx="1651611" cy="2151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3" name="Picture 2"/>
          <p:cNvPicPr>
            <a:picLocks noGrp="1" noChangeAspect="1" noChangeArrowheads="1"/>
          </p:cNvPicPr>
          <p:nvPr>
            <p:ph idx="1"/>
          </p:nvPr>
        </p:nvPicPr>
        <p:blipFill>
          <a:blip r:embed="rId2"/>
          <a:stretch>
            <a:fillRect/>
          </a:stretch>
        </p:blipFill>
        <p:spPr bwMode="auto">
          <a:xfrm>
            <a:off x="7124074" y="-96278"/>
            <a:ext cx="5261456" cy="3121767"/>
          </a:xfrm>
          <a:prstGeom prst="rect">
            <a:avLst/>
          </a:prstGeom>
          <a:noFill/>
          <a:ln w="9525">
            <a:noFill/>
            <a:miter lim="800000"/>
            <a:headEnd/>
            <a:tailEnd/>
          </a:ln>
          <a:effectLst/>
        </p:spPr>
      </p:pic>
      <p:sp>
        <p:nvSpPr>
          <p:cNvPr id="45" name="TextBox 44"/>
          <p:cNvSpPr txBox="1"/>
          <p:nvPr/>
        </p:nvSpPr>
        <p:spPr>
          <a:xfrm>
            <a:off x="2379519" y="1043143"/>
            <a:ext cx="757102" cy="276999"/>
          </a:xfrm>
          <a:prstGeom prst="rect">
            <a:avLst/>
          </a:prstGeom>
          <a:noFill/>
        </p:spPr>
        <p:txBody>
          <a:bodyPr wrap="square" rtlCol="0">
            <a:spAutoFit/>
          </a:bodyPr>
          <a:lstStyle/>
          <a:p>
            <a:r>
              <a:rPr lang="en-IN" sz="1200" dirty="0" smtClean="0"/>
              <a:t>A=6</a:t>
            </a:r>
            <a:endParaRPr lang="en-IN" sz="1200" dirty="0"/>
          </a:p>
        </p:txBody>
      </p:sp>
      <p:sp>
        <p:nvSpPr>
          <p:cNvPr id="46" name="TextBox 45"/>
          <p:cNvSpPr txBox="1"/>
          <p:nvPr/>
        </p:nvSpPr>
        <p:spPr>
          <a:xfrm>
            <a:off x="2865220" y="2275746"/>
            <a:ext cx="757102" cy="276999"/>
          </a:xfrm>
          <a:prstGeom prst="rect">
            <a:avLst/>
          </a:prstGeom>
          <a:noFill/>
        </p:spPr>
        <p:txBody>
          <a:bodyPr wrap="square" rtlCol="0">
            <a:spAutoFit/>
          </a:bodyPr>
          <a:lstStyle/>
          <a:p>
            <a:r>
              <a:rPr lang="en-IN" sz="1200" dirty="0" smtClean="0"/>
              <a:t>B=4</a:t>
            </a:r>
            <a:endParaRPr lang="en-IN" sz="1200" dirty="0"/>
          </a:p>
        </p:txBody>
      </p:sp>
      <p:sp>
        <p:nvSpPr>
          <p:cNvPr id="47" name="TextBox 46"/>
          <p:cNvSpPr txBox="1"/>
          <p:nvPr/>
        </p:nvSpPr>
        <p:spPr>
          <a:xfrm>
            <a:off x="2736613" y="3702969"/>
            <a:ext cx="757102" cy="276999"/>
          </a:xfrm>
          <a:prstGeom prst="rect">
            <a:avLst/>
          </a:prstGeom>
          <a:noFill/>
        </p:spPr>
        <p:txBody>
          <a:bodyPr wrap="square" rtlCol="0">
            <a:spAutoFit/>
          </a:bodyPr>
          <a:lstStyle/>
          <a:p>
            <a:r>
              <a:rPr lang="en-IN" sz="1200" dirty="0" smtClean="0"/>
              <a:t>F=10</a:t>
            </a:r>
            <a:endParaRPr lang="en-IN" sz="1200" dirty="0"/>
          </a:p>
        </p:txBody>
      </p:sp>
      <p:grpSp>
        <p:nvGrpSpPr>
          <p:cNvPr id="48" name="Group 47"/>
          <p:cNvGrpSpPr/>
          <p:nvPr/>
        </p:nvGrpSpPr>
        <p:grpSpPr>
          <a:xfrm>
            <a:off x="5819591" y="107466"/>
            <a:ext cx="1749046" cy="1871353"/>
            <a:chOff x="5274529" y="2086168"/>
            <a:chExt cx="2782229" cy="2318564"/>
          </a:xfrm>
        </p:grpSpPr>
        <p:sp>
          <p:nvSpPr>
            <p:cNvPr id="49" name="Flowchart: Summing Junction 48"/>
            <p:cNvSpPr/>
            <p:nvPr/>
          </p:nvSpPr>
          <p:spPr>
            <a:xfrm>
              <a:off x="5274529" y="2086168"/>
              <a:ext cx="2631686" cy="2318564"/>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dirty="0"/>
            </a:p>
          </p:txBody>
        </p:sp>
        <p:grpSp>
          <p:nvGrpSpPr>
            <p:cNvPr id="50" name="Group 49"/>
            <p:cNvGrpSpPr/>
            <p:nvPr/>
          </p:nvGrpSpPr>
          <p:grpSpPr>
            <a:xfrm>
              <a:off x="5386040" y="2455050"/>
              <a:ext cx="2670718" cy="1501965"/>
              <a:chOff x="2542479" y="1785977"/>
              <a:chExt cx="2670718" cy="1501965"/>
            </a:xfrm>
          </p:grpSpPr>
          <p:sp>
            <p:nvSpPr>
              <p:cNvPr id="51" name="TextBox 50"/>
              <p:cNvSpPr txBox="1"/>
              <p:nvPr/>
            </p:nvSpPr>
            <p:spPr>
              <a:xfrm>
                <a:off x="3263589" y="1785977"/>
                <a:ext cx="1204331" cy="343195"/>
              </a:xfrm>
              <a:prstGeom prst="rect">
                <a:avLst/>
              </a:prstGeom>
              <a:noFill/>
            </p:spPr>
            <p:txBody>
              <a:bodyPr wrap="square" rtlCol="0">
                <a:spAutoFit/>
              </a:bodyPr>
              <a:lstStyle/>
              <a:p>
                <a:r>
                  <a:rPr lang="en-IN" sz="1200" dirty="0" smtClean="0">
                    <a:solidFill>
                      <a:schemeClr val="bg1"/>
                    </a:solidFill>
                  </a:rPr>
                  <a:t>2r</a:t>
                </a:r>
                <a:endParaRPr lang="en-IN" sz="1200" dirty="0">
                  <a:solidFill>
                    <a:schemeClr val="bg1"/>
                  </a:solidFill>
                </a:endParaRPr>
              </a:p>
            </p:txBody>
          </p:sp>
          <p:sp>
            <p:nvSpPr>
              <p:cNvPr id="52" name="TextBox 51"/>
              <p:cNvSpPr txBox="1"/>
              <p:nvPr/>
            </p:nvSpPr>
            <p:spPr>
              <a:xfrm>
                <a:off x="2542479" y="2398460"/>
                <a:ext cx="1204331" cy="343195"/>
              </a:xfrm>
              <a:prstGeom prst="rect">
                <a:avLst/>
              </a:prstGeom>
              <a:noFill/>
            </p:spPr>
            <p:txBody>
              <a:bodyPr wrap="square" rtlCol="0">
                <a:spAutoFit/>
              </a:bodyPr>
              <a:lstStyle/>
              <a:p>
                <a:r>
                  <a:rPr lang="en-IN" sz="1200" dirty="0" smtClean="0">
                    <a:solidFill>
                      <a:schemeClr val="bg1"/>
                    </a:solidFill>
                  </a:rPr>
                  <a:t>9</a:t>
                </a:r>
                <a:endParaRPr lang="en-IN" sz="1200" dirty="0">
                  <a:solidFill>
                    <a:schemeClr val="bg1"/>
                  </a:solidFill>
                </a:endParaRPr>
              </a:p>
            </p:txBody>
          </p:sp>
          <p:sp>
            <p:nvSpPr>
              <p:cNvPr id="53" name="TextBox 52"/>
              <p:cNvSpPr txBox="1"/>
              <p:nvPr/>
            </p:nvSpPr>
            <p:spPr>
              <a:xfrm>
                <a:off x="4008865" y="2431857"/>
                <a:ext cx="1204332" cy="276999"/>
              </a:xfrm>
              <a:prstGeom prst="rect">
                <a:avLst/>
              </a:prstGeom>
              <a:noFill/>
            </p:spPr>
            <p:txBody>
              <a:bodyPr wrap="square" rtlCol="0">
                <a:spAutoFit/>
              </a:bodyPr>
              <a:lstStyle/>
              <a:p>
                <a:r>
                  <a:rPr lang="en-IN" sz="1200" dirty="0" smtClean="0">
                    <a:solidFill>
                      <a:schemeClr val="bg1"/>
                    </a:solidFill>
                  </a:rPr>
                  <a:t>Latest date</a:t>
                </a:r>
                <a:endParaRPr lang="en-IN" sz="1200" dirty="0">
                  <a:solidFill>
                    <a:schemeClr val="bg1"/>
                  </a:solidFill>
                </a:endParaRPr>
              </a:p>
            </p:txBody>
          </p:sp>
          <p:sp>
            <p:nvSpPr>
              <p:cNvPr id="54" name="TextBox 53"/>
              <p:cNvSpPr txBox="1"/>
              <p:nvPr/>
            </p:nvSpPr>
            <p:spPr>
              <a:xfrm>
                <a:off x="3174380" y="3010943"/>
                <a:ext cx="1204332" cy="276999"/>
              </a:xfrm>
              <a:prstGeom prst="rect">
                <a:avLst/>
              </a:prstGeom>
              <a:noFill/>
            </p:spPr>
            <p:txBody>
              <a:bodyPr wrap="square" rtlCol="0">
                <a:spAutoFit/>
              </a:bodyPr>
              <a:lstStyle/>
              <a:p>
                <a:pPr algn="ctr"/>
                <a:r>
                  <a:rPr lang="en-IN" sz="1200" dirty="0" smtClean="0">
                    <a:solidFill>
                      <a:schemeClr val="bg1"/>
                    </a:solidFill>
                  </a:rPr>
                  <a:t>Slack</a:t>
                </a:r>
                <a:endParaRPr lang="en-IN" sz="1200" dirty="0">
                  <a:solidFill>
                    <a:schemeClr val="bg1"/>
                  </a:solidFill>
                </a:endParaRPr>
              </a:p>
            </p:txBody>
          </p:sp>
        </p:grpSp>
      </p:grpSp>
      <p:cxnSp>
        <p:nvCxnSpPr>
          <p:cNvPr id="56" name="Straight Arrow Connector 55"/>
          <p:cNvCxnSpPr>
            <a:stCxn id="19" idx="3"/>
            <a:endCxn id="52" idx="1"/>
          </p:cNvCxnSpPr>
          <p:nvPr/>
        </p:nvCxnSpPr>
        <p:spPr>
          <a:xfrm>
            <a:off x="5414083" y="974038"/>
            <a:ext cx="475609" cy="64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335842" y="483381"/>
            <a:ext cx="757102" cy="276999"/>
          </a:xfrm>
          <a:prstGeom prst="rect">
            <a:avLst/>
          </a:prstGeom>
          <a:noFill/>
        </p:spPr>
        <p:txBody>
          <a:bodyPr wrap="square" rtlCol="0">
            <a:spAutoFit/>
          </a:bodyPr>
          <a:lstStyle/>
          <a:p>
            <a:r>
              <a:rPr lang="en-IN" sz="1200" dirty="0" smtClean="0"/>
              <a:t>C=3</a:t>
            </a:r>
            <a:endParaRPr lang="en-IN" sz="1200" dirty="0"/>
          </a:p>
        </p:txBody>
      </p:sp>
    </p:spTree>
    <p:extLst>
      <p:ext uri="{BB962C8B-B14F-4D97-AF65-F5344CB8AC3E}">
        <p14:creationId xmlns:p14="http://schemas.microsoft.com/office/powerpoint/2010/main" val="278301992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tretch>
            <a:fillRect/>
          </a:stretch>
        </p:blipFill>
        <p:spPr bwMode="auto">
          <a:xfrm>
            <a:off x="407694" y="554043"/>
            <a:ext cx="4556517" cy="2703507"/>
          </a:xfrm>
          <a:prstGeom prst="rect">
            <a:avLst/>
          </a:prstGeom>
          <a:noFill/>
          <a:ln w="9525">
            <a:noFill/>
            <a:miter lim="800000"/>
            <a:headEnd/>
            <a:tailEnd/>
          </a:ln>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952" y="890059"/>
            <a:ext cx="6869417" cy="4180313"/>
          </a:xfrm>
          <a:prstGeom prst="rect">
            <a:avLst/>
          </a:prstGeom>
        </p:spPr>
      </p:pic>
    </p:spTree>
    <p:extLst>
      <p:ext uri="{BB962C8B-B14F-4D97-AF65-F5344CB8AC3E}">
        <p14:creationId xmlns:p14="http://schemas.microsoft.com/office/powerpoint/2010/main" val="460881926"/>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3826</TotalTime>
  <Words>2551</Words>
  <Application>Microsoft Office PowerPoint</Application>
  <PresentationFormat>Widescreen</PresentationFormat>
  <Paragraphs>435</Paragraphs>
  <Slides>77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Gill Sans MT</vt:lpstr>
      <vt:lpstr>Gallery</vt:lpstr>
      <vt:lpstr>Software Project Management  activity planning</vt:lpstr>
      <vt:lpstr>Activity planning</vt:lpstr>
      <vt:lpstr>Project Plan</vt:lpstr>
      <vt:lpstr>Project Plan</vt:lpstr>
      <vt:lpstr>Project Plan</vt:lpstr>
      <vt:lpstr>Project Plan</vt:lpstr>
      <vt:lpstr>Objectives of Activity planning</vt:lpstr>
      <vt:lpstr>Objectives of Activity planning</vt:lpstr>
      <vt:lpstr>Objectives of Activity planning</vt:lpstr>
      <vt:lpstr>Objectives of Activity planning</vt:lpstr>
      <vt:lpstr>Duration Versus Quality </vt:lpstr>
      <vt:lpstr>Duration Versus Quality </vt:lpstr>
      <vt:lpstr>When to Plan </vt:lpstr>
      <vt:lpstr>When to Plan </vt:lpstr>
      <vt:lpstr>Project Schedule</vt:lpstr>
      <vt:lpstr>Project Schedule</vt:lpstr>
      <vt:lpstr>Project Schedule</vt:lpstr>
      <vt:lpstr>Projects Versus Activities</vt:lpstr>
      <vt:lpstr>Projects Versus Activities</vt:lpstr>
      <vt:lpstr> Identifying Activities </vt:lpstr>
      <vt:lpstr>The activity-based approach</vt:lpstr>
      <vt:lpstr>The activity-based approach</vt:lpstr>
      <vt:lpstr>The activity-based approach</vt:lpstr>
      <vt:lpstr>The activity-based approach</vt:lpstr>
      <vt:lpstr>The product-based approach</vt:lpstr>
      <vt:lpstr>The product-based approach (cont’d)</vt:lpstr>
      <vt:lpstr>PBS</vt:lpstr>
      <vt:lpstr>The product-based approach</vt:lpstr>
      <vt:lpstr>The product-based approach</vt:lpstr>
      <vt:lpstr>PFD</vt:lpstr>
      <vt:lpstr>The product-based approach</vt:lpstr>
      <vt:lpstr>The hybrid-based approach</vt:lpstr>
      <vt:lpstr>The hybrid-based approach</vt:lpstr>
      <vt:lpstr>The hybrid-based approach (cont’d)</vt:lpstr>
      <vt:lpstr>Sequencing and Scheduling Activities</vt:lpstr>
      <vt:lpstr>PowerPoint Presentation</vt:lpstr>
      <vt:lpstr>Sequencing and Scheduling Activities</vt:lpstr>
      <vt:lpstr>Network Planning Models </vt:lpstr>
      <vt:lpstr>Network Planning Models </vt:lpstr>
      <vt:lpstr>Activity-on-Node</vt:lpstr>
      <vt:lpstr> Activity-on-Arrow </vt:lpstr>
      <vt:lpstr>Formulating a Network Model</vt:lpstr>
      <vt:lpstr>Precedence Networks</vt:lpstr>
      <vt:lpstr>Precedence  Networks</vt:lpstr>
      <vt:lpstr>Precedence  Networks</vt:lpstr>
      <vt:lpstr>Precedence  Networks</vt:lpstr>
      <vt:lpstr>Precedence  Networks</vt:lpstr>
      <vt:lpstr>Precedence  Networks</vt:lpstr>
      <vt:lpstr>Representing Lagged Activities</vt:lpstr>
      <vt:lpstr>Hammock Activities</vt:lpstr>
      <vt:lpstr>Labeling Conventions</vt:lpstr>
      <vt:lpstr>Adding the Time Dimension</vt:lpstr>
      <vt:lpstr>Adding the Time Dimension (cont’d)</vt:lpstr>
      <vt:lpstr>Example (cont’d)</vt:lpstr>
      <vt:lpstr>The Critical Path</vt:lpstr>
      <vt:lpstr>Example</vt:lpstr>
      <vt:lpstr>Critical Activities</vt:lpstr>
      <vt:lpstr>Activity Float</vt:lpstr>
      <vt:lpstr>Example</vt:lpstr>
      <vt:lpstr>Example</vt:lpstr>
      <vt:lpstr>PowerPoint Presentation</vt:lpstr>
      <vt:lpstr>PowerPoint Presentation</vt:lpstr>
      <vt:lpstr>Shortening the Project Duration</vt:lpstr>
      <vt:lpstr>Activity-On-Arrow Network‭ ‬ </vt:lpstr>
      <vt:lpstr>Activity-On-Arrow Network (cont’d)‭ ‬ </vt:lpstr>
      <vt:lpstr>Activity-On-Arrow Network (cont’d)‭ ‬ </vt:lpstr>
      <vt:lpstr>PowerPoint Presentation</vt:lpstr>
      <vt:lpstr>PowerPoint Presentation</vt:lpstr>
      <vt:lpstr>Dummy Activities‭ ‬ </vt:lpstr>
      <vt:lpstr>Dummy Activities‭ ‬ </vt:lpstr>
      <vt:lpstr>Dummy Activities‭ ‬ </vt:lpstr>
      <vt:lpstr>Lagged Activities‭ ‬ </vt:lpstr>
      <vt:lpstr>Activity Labelling</vt:lpstr>
      <vt:lpstr> Network Analysis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Evangelin D</dc:creator>
  <cp:lastModifiedBy>Evangelin D</cp:lastModifiedBy>
  <cp:revision>485</cp:revision>
  <dcterms:created xsi:type="dcterms:W3CDTF">2019-08-23T04:10:40Z</dcterms:created>
  <dcterms:modified xsi:type="dcterms:W3CDTF">2021-08-17T07:16:25Z</dcterms:modified>
</cp:coreProperties>
</file>