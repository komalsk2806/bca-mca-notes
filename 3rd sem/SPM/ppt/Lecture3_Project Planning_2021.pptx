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72" r:id="rId4"/>
    <p:sldId id="258" r:id="rId5"/>
    <p:sldId id="268" r:id="rId6"/>
    <p:sldId id="259" r:id="rId7"/>
    <p:sldId id="269" r:id="rId8"/>
    <p:sldId id="260" r:id="rId9"/>
    <p:sldId id="270" r:id="rId10"/>
    <p:sldId id="261" r:id="rId11"/>
    <p:sldId id="273" r:id="rId12"/>
    <p:sldId id="274" r:id="rId13"/>
    <p:sldId id="275" r:id="rId14"/>
    <p:sldId id="276" r:id="rId15"/>
    <p:sldId id="262" r:id="rId16"/>
    <p:sldId id="263" r:id="rId17"/>
    <p:sldId id="271" r:id="rId18"/>
    <p:sldId id="277" r:id="rId19"/>
    <p:sldId id="264" r:id="rId20"/>
    <p:sldId id="265" r:id="rId21"/>
    <p:sldId id="266" r:id="rId22"/>
    <p:sldId id="26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114" y="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6B3128-46BE-4F05-B90D-E0A81F2C74CE}" type="datetimeFigureOut">
              <a:rPr lang="en-IN" smtClean="0"/>
              <a:t>21-06-2021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91995B-7B11-49A8-9854-153F0D049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280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6/21/2021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80" y="0"/>
            <a:ext cx="8637073" cy="3181082"/>
          </a:xfrm>
        </p:spPr>
        <p:txBody>
          <a:bodyPr>
            <a:normAutofit/>
          </a:bodyPr>
          <a:lstStyle/>
          <a:p>
            <a:r>
              <a:rPr lang="en-IN" sz="4800" dirty="0" smtClean="0"/>
              <a:t>Software Project Management </a:t>
            </a:r>
            <a:br>
              <a:rPr lang="en-IN" sz="4800" dirty="0" smtClean="0"/>
            </a:br>
            <a:r>
              <a:rPr lang="en-IN" sz="4800" dirty="0" smtClean="0">
                <a:solidFill>
                  <a:srgbClr val="0000CC"/>
                </a:solidFill>
              </a:rPr>
              <a:t>Project planning</a:t>
            </a:r>
            <a:endParaRPr lang="en-IN" sz="4800" dirty="0">
              <a:solidFill>
                <a:srgbClr val="0000CC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1944438"/>
          </a:xfrm>
        </p:spPr>
        <p:txBody>
          <a:bodyPr>
            <a:normAutofit fontScale="85000" lnSpcReduction="20000"/>
          </a:bodyPr>
          <a:lstStyle/>
          <a:p>
            <a:r>
              <a:rPr lang="en-IN" dirty="0" err="1" smtClean="0"/>
              <a:t>Dr.</a:t>
            </a:r>
            <a:r>
              <a:rPr lang="en-IN" dirty="0" smtClean="0"/>
              <a:t> D Evangelin </a:t>
            </a:r>
            <a:r>
              <a:rPr lang="en-IN" dirty="0" err="1" smtClean="0"/>
              <a:t>geetha</a:t>
            </a:r>
            <a:endParaRPr lang="en-IN" dirty="0" smtClean="0"/>
          </a:p>
          <a:p>
            <a:r>
              <a:rPr lang="en-IN" dirty="0" smtClean="0"/>
              <a:t>Associate professor</a:t>
            </a:r>
          </a:p>
          <a:p>
            <a:r>
              <a:rPr lang="en-IN" dirty="0" smtClean="0"/>
              <a:t>Department of master of computer applications</a:t>
            </a:r>
          </a:p>
          <a:p>
            <a:r>
              <a:rPr lang="en-IN" dirty="0" err="1" smtClean="0"/>
              <a:t>Ramaiak</a:t>
            </a:r>
            <a:r>
              <a:rPr lang="en-IN" dirty="0" smtClean="0"/>
              <a:t> institute of technology</a:t>
            </a:r>
          </a:p>
          <a:p>
            <a:r>
              <a:rPr lang="en-IN" dirty="0" smtClean="0"/>
              <a:t>Bangalore - 560054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7004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353759"/>
            <a:ext cx="9603275" cy="625035"/>
          </a:xfrm>
        </p:spPr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197736"/>
            <a:ext cx="9603275" cy="426861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Step wise project planning</a:t>
            </a:r>
          </a:p>
          <a:p>
            <a:pPr lvl="1"/>
            <a:r>
              <a:rPr lang="en-US" dirty="0" smtClean="0"/>
              <a:t>Step 0: Select project</a:t>
            </a:r>
          </a:p>
          <a:p>
            <a:pPr lvl="1"/>
            <a:r>
              <a:rPr lang="en-US" dirty="0" smtClean="0"/>
              <a:t>Step 1: Identify project scope and objectives</a:t>
            </a:r>
          </a:p>
          <a:p>
            <a:pPr lvl="1"/>
            <a:r>
              <a:rPr lang="en-US" dirty="0" smtClean="0"/>
              <a:t>Step 2: Identify project infrastructure</a:t>
            </a:r>
          </a:p>
          <a:p>
            <a:pPr lvl="1"/>
            <a:r>
              <a:rPr lang="en-US" dirty="0" smtClean="0"/>
              <a:t>Step 3:  Analyze project characteristics</a:t>
            </a:r>
          </a:p>
          <a:p>
            <a:pPr lvl="1"/>
            <a:r>
              <a:rPr lang="en-US" dirty="0" smtClean="0"/>
              <a:t>Step 4: Identify project products and activities</a:t>
            </a:r>
          </a:p>
          <a:p>
            <a:pPr lvl="1"/>
            <a:r>
              <a:rPr lang="en-US" dirty="0" smtClean="0"/>
              <a:t>Step 5: Estimate effort for each activity</a:t>
            </a:r>
          </a:p>
          <a:p>
            <a:pPr lvl="1"/>
            <a:r>
              <a:rPr lang="en-US" dirty="0" smtClean="0"/>
              <a:t>Step 6: Identify activity risks</a:t>
            </a:r>
          </a:p>
          <a:p>
            <a:pPr lvl="1"/>
            <a:r>
              <a:rPr lang="en-US" dirty="0" smtClean="0"/>
              <a:t>Step 7: Allocate resources</a:t>
            </a:r>
          </a:p>
          <a:p>
            <a:pPr lvl="1"/>
            <a:r>
              <a:rPr lang="en-US" dirty="0" smtClean="0"/>
              <a:t>Step 8: Review/Publicize plan</a:t>
            </a:r>
          </a:p>
          <a:p>
            <a:pPr lvl="1"/>
            <a:r>
              <a:rPr lang="en-US" dirty="0" smtClean="0"/>
              <a:t>Steps 9 and 10: Execute plan/Lower levels of planning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181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0"/>
            <a:ext cx="9603275" cy="32338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000" dirty="0"/>
              <a:t>Step wise project </a:t>
            </a:r>
            <a:r>
              <a:rPr lang="en-US" sz="2000" dirty="0" smtClean="0"/>
              <a:t>planning</a:t>
            </a:r>
            <a:endParaRPr lang="en-IN" sz="20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5502" y="457200"/>
            <a:ext cx="6601521" cy="5464097"/>
          </a:xfrm>
        </p:spPr>
      </p:pic>
    </p:spTree>
    <p:extLst>
      <p:ext uri="{BB962C8B-B14F-4D97-AF65-F5344CB8AC3E}">
        <p14:creationId xmlns:p14="http://schemas.microsoft.com/office/powerpoint/2010/main" val="3094677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702309"/>
          </a:xfrm>
        </p:spPr>
        <p:txBody>
          <a:bodyPr/>
          <a:lstStyle/>
          <a:p>
            <a:r>
              <a:rPr lang="en-US" dirty="0" smtClean="0"/>
              <a:t>Step 0: select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Outside the main project planning process</a:t>
            </a:r>
          </a:p>
          <a:p>
            <a:r>
              <a:rPr lang="en-US" dirty="0" smtClean="0"/>
              <a:t>Project portfolio 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844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Identify project scope and </a:t>
            </a:r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800" dirty="0" smtClean="0"/>
              <a:t>1.1: Identify objectives and practical measures of the effectiveness in meeting those objectives</a:t>
            </a:r>
          </a:p>
          <a:p>
            <a:pPr lvl="1"/>
            <a:r>
              <a:rPr lang="en-US" sz="2800" dirty="0" smtClean="0"/>
              <a:t>1.2: Establish a project authority</a:t>
            </a:r>
          </a:p>
          <a:p>
            <a:pPr lvl="2"/>
            <a:r>
              <a:rPr lang="en-US" sz="2400" dirty="0" smtClean="0"/>
              <a:t>Single overall project authority needs to be established</a:t>
            </a:r>
          </a:p>
          <a:p>
            <a:pPr lvl="1"/>
            <a:r>
              <a:rPr lang="en-US" sz="2800" dirty="0" smtClean="0"/>
              <a:t>1.3: stakeholder analysis – identify all stakeholders in the project and their interests</a:t>
            </a:r>
          </a:p>
        </p:txBody>
      </p:sp>
    </p:spTree>
    <p:extLst>
      <p:ext uri="{BB962C8B-B14F-4D97-AF65-F5344CB8AC3E}">
        <p14:creationId xmlns:p14="http://schemas.microsoft.com/office/powerpoint/2010/main" val="1678661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Identify project scope and </a:t>
            </a:r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 smtClean="0"/>
              <a:t>1.4: Modify objectives in the light of stakeholder analysis</a:t>
            </a:r>
          </a:p>
          <a:p>
            <a:pPr lvl="2"/>
            <a:r>
              <a:rPr lang="en-US" dirty="0" smtClean="0"/>
              <a:t>Adding new features to the system</a:t>
            </a:r>
          </a:p>
          <a:p>
            <a:pPr lvl="2"/>
            <a:r>
              <a:rPr lang="en-US" dirty="0" smtClean="0"/>
              <a:t>Drawback: system size may be increased and the original objectives obscured</a:t>
            </a:r>
          </a:p>
          <a:p>
            <a:pPr lvl="1"/>
            <a:r>
              <a:rPr lang="en-US" dirty="0" smtClean="0"/>
              <a:t>1.5: Establish methods of communication with all parties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890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Identify project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2.1: identify relationship between the project and strategic planning</a:t>
            </a:r>
          </a:p>
          <a:p>
            <a:pPr lvl="1"/>
            <a:r>
              <a:rPr lang="en-US" dirty="0" smtClean="0"/>
              <a:t>Technical framework within which the proposed new systems are to fit</a:t>
            </a:r>
          </a:p>
          <a:p>
            <a:pPr lvl="1"/>
            <a:r>
              <a:rPr lang="en-US" dirty="0" smtClean="0"/>
              <a:t>Hardware and software standards</a:t>
            </a:r>
          </a:p>
          <a:p>
            <a:pPr lvl="1"/>
            <a:r>
              <a:rPr lang="en-US" dirty="0" smtClean="0"/>
              <a:t>Documentation of Technical strategic decisions – part of enterprise architecture process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152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Identify project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2.2: identify installation standards and procedures</a:t>
            </a:r>
          </a:p>
          <a:p>
            <a:pPr lvl="1"/>
            <a:r>
              <a:rPr lang="en-US" sz="2600" dirty="0" smtClean="0"/>
              <a:t>Define development procedures</a:t>
            </a:r>
          </a:p>
          <a:p>
            <a:pPr lvl="1"/>
            <a:r>
              <a:rPr lang="en-US" sz="2600" dirty="0" smtClean="0"/>
              <a:t>SDLC – documentation</a:t>
            </a:r>
          </a:p>
          <a:p>
            <a:pPr lvl="1"/>
            <a:r>
              <a:rPr lang="en-US" sz="2600" dirty="0" smtClean="0"/>
              <a:t>Change control and configuration management standards</a:t>
            </a:r>
          </a:p>
          <a:p>
            <a:pPr lvl="1"/>
            <a:r>
              <a:rPr lang="en-US" sz="2600" dirty="0" smtClean="0"/>
              <a:t>Quality checks</a:t>
            </a:r>
          </a:p>
          <a:p>
            <a:pPr lvl="1"/>
            <a:r>
              <a:rPr lang="en-US" sz="2600" dirty="0" smtClean="0"/>
              <a:t>Measurement programme</a:t>
            </a:r>
          </a:p>
          <a:p>
            <a:pPr lvl="1"/>
            <a:r>
              <a:rPr lang="en-US" sz="2600" dirty="0" smtClean="0"/>
              <a:t>Project planning and control standards – project manager</a:t>
            </a:r>
            <a:endParaRPr lang="en-US" dirty="0" smtClean="0"/>
          </a:p>
          <a:p>
            <a:pPr lvl="2"/>
            <a:r>
              <a:rPr lang="en-US" sz="2600" dirty="0" smtClean="0"/>
              <a:t>Recording hours spent by team members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339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Identify project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2.3 Identify project team organization</a:t>
            </a:r>
          </a:p>
          <a:p>
            <a:pPr lvl="1"/>
            <a:r>
              <a:rPr lang="en-US" dirty="0" smtClean="0"/>
              <a:t>Developers and business analysts in different groups</a:t>
            </a:r>
          </a:p>
          <a:p>
            <a:pPr lvl="1"/>
            <a:r>
              <a:rPr lang="en-US" dirty="0" smtClean="0"/>
              <a:t>Groups based on domain – Web based different from database projects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751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 Analyze project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3.1 – distinguish the project as either objective or product driven</a:t>
            </a:r>
          </a:p>
          <a:p>
            <a:r>
              <a:rPr lang="en-US" dirty="0" smtClean="0"/>
              <a:t>3.2 – analyze other project characteristics (including quality – based ones)</a:t>
            </a:r>
          </a:p>
          <a:p>
            <a:r>
              <a:rPr lang="en-US" dirty="0" smtClean="0"/>
              <a:t>3.3 – identify high level project risks</a:t>
            </a:r>
          </a:p>
          <a:p>
            <a:r>
              <a:rPr lang="en-US" dirty="0" smtClean="0"/>
              <a:t>3.4 – Take into account user requirements concerning implementation</a:t>
            </a:r>
          </a:p>
          <a:p>
            <a:r>
              <a:rPr lang="en-US" dirty="0" smtClean="0"/>
              <a:t>3.5 - Select development methodology and life-cycle approach</a:t>
            </a:r>
          </a:p>
          <a:p>
            <a:r>
              <a:rPr lang="en-US" dirty="0" smtClean="0"/>
              <a:t>3.6 – Review overall resource estimates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397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0857" y="79690"/>
            <a:ext cx="9603275" cy="935071"/>
          </a:xfrm>
        </p:spPr>
        <p:txBody>
          <a:bodyPr>
            <a:normAutofit fontScale="90000"/>
          </a:bodyPr>
          <a:lstStyle/>
          <a:p>
            <a:r>
              <a:rPr lang="en-US" dirty="0"/>
              <a:t>Step 4: Identify project products and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1667" y="568712"/>
            <a:ext cx="9973187" cy="5263376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4.1: Identify and describe project products</a:t>
            </a:r>
          </a:p>
          <a:p>
            <a:pPr lvl="1"/>
            <a:r>
              <a:rPr lang="en-US" dirty="0" smtClean="0"/>
              <a:t>Products handed over to the client at the end of the project – </a:t>
            </a:r>
            <a:r>
              <a:rPr lang="en-US" i="1" dirty="0" smtClean="0"/>
              <a:t>Deliverables</a:t>
            </a:r>
          </a:p>
          <a:p>
            <a:pPr lvl="1"/>
            <a:r>
              <a:rPr lang="en-US" i="1" dirty="0" smtClean="0"/>
              <a:t>Intermediate products</a:t>
            </a:r>
          </a:p>
          <a:p>
            <a:pPr lvl="1"/>
            <a:r>
              <a:rPr lang="en-US" i="1" dirty="0" smtClean="0"/>
              <a:t>Product Breakdown Structure (PBS)</a:t>
            </a:r>
          </a:p>
          <a:p>
            <a:pPr lvl="1"/>
            <a:r>
              <a:rPr lang="en-US" dirty="0" smtClean="0"/>
              <a:t>A product could be a person</a:t>
            </a:r>
          </a:p>
          <a:p>
            <a:pPr lvl="1"/>
            <a:r>
              <a:rPr lang="en-US" dirty="0" smtClean="0"/>
              <a:t>Product Description contains</a:t>
            </a:r>
          </a:p>
          <a:p>
            <a:pPr lvl="2"/>
            <a:r>
              <a:rPr lang="en-US" dirty="0" smtClean="0"/>
              <a:t>Name/identity of the product</a:t>
            </a:r>
          </a:p>
          <a:p>
            <a:pPr lvl="2"/>
            <a:r>
              <a:rPr lang="en-US" dirty="0" smtClean="0"/>
              <a:t>Purpose of the product</a:t>
            </a:r>
          </a:p>
          <a:p>
            <a:pPr lvl="2"/>
            <a:r>
              <a:rPr lang="en-US" dirty="0" smtClean="0"/>
              <a:t>Derivation of the product</a:t>
            </a:r>
          </a:p>
          <a:p>
            <a:pPr lvl="2"/>
            <a:r>
              <a:rPr lang="en-US" dirty="0" smtClean="0"/>
              <a:t>Composition of the product</a:t>
            </a:r>
          </a:p>
          <a:p>
            <a:pPr lvl="2"/>
            <a:r>
              <a:rPr lang="en-US" dirty="0" smtClean="0"/>
              <a:t>Form of the product</a:t>
            </a:r>
          </a:p>
          <a:p>
            <a:pPr lvl="2"/>
            <a:r>
              <a:rPr lang="en-US" dirty="0" smtClean="0"/>
              <a:t>Relevant standards</a:t>
            </a:r>
          </a:p>
          <a:p>
            <a:pPr lvl="2"/>
            <a:r>
              <a:rPr lang="en-US" dirty="0" smtClean="0"/>
              <a:t>Quality criteria that define whether the product is acceptable</a:t>
            </a:r>
          </a:p>
        </p:txBody>
      </p:sp>
    </p:spTree>
    <p:extLst>
      <p:ext uri="{BB962C8B-B14F-4D97-AF65-F5344CB8AC3E}">
        <p14:creationId xmlns:p14="http://schemas.microsoft.com/office/powerpoint/2010/main" val="1341517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0"/>
            <a:ext cx="9603275" cy="33290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000" dirty="0" smtClean="0"/>
              <a:t>Product breakdown structure</a:t>
            </a:r>
            <a:endParaRPr lang="en-IN" sz="20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028260" y="-1089544"/>
            <a:ext cx="4449911" cy="8636217"/>
          </a:xfrm>
        </p:spPr>
      </p:pic>
    </p:spTree>
    <p:extLst>
      <p:ext uri="{BB962C8B-B14F-4D97-AF65-F5344CB8AC3E}">
        <p14:creationId xmlns:p14="http://schemas.microsoft.com/office/powerpoint/2010/main" val="28577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832" y="91211"/>
            <a:ext cx="9605635" cy="1059305"/>
          </a:xfrm>
        </p:spPr>
        <p:txBody>
          <a:bodyPr/>
          <a:lstStyle/>
          <a:p>
            <a:r>
              <a:rPr lang="en-US" dirty="0"/>
              <a:t>Step 4: Identify project products and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9907" y="1991335"/>
            <a:ext cx="3949859" cy="3448595"/>
          </a:xfrm>
        </p:spPr>
        <p:txBody>
          <a:bodyPr>
            <a:normAutofit/>
          </a:bodyPr>
          <a:lstStyle/>
          <a:p>
            <a:r>
              <a:rPr lang="en-US" dirty="0" smtClean="0"/>
              <a:t>4.2: Document generic product flows</a:t>
            </a:r>
          </a:p>
          <a:p>
            <a:pPr lvl="1"/>
            <a:r>
              <a:rPr lang="en-US" dirty="0" smtClean="0"/>
              <a:t>Product Flow Diagram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9357" y="1895049"/>
            <a:ext cx="4393580" cy="4071883"/>
          </a:xfrm>
        </p:spPr>
      </p:pic>
    </p:spTree>
    <p:extLst>
      <p:ext uri="{BB962C8B-B14F-4D97-AF65-F5344CB8AC3E}">
        <p14:creationId xmlns:p14="http://schemas.microsoft.com/office/powerpoint/2010/main" val="1663276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Identify project products and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4804" y="1874317"/>
            <a:ext cx="4329001" cy="3448595"/>
          </a:xfrm>
        </p:spPr>
        <p:txBody>
          <a:bodyPr>
            <a:normAutofit/>
          </a:bodyPr>
          <a:lstStyle/>
          <a:p>
            <a:r>
              <a:rPr lang="en-US" dirty="0" smtClean="0"/>
              <a:t>4.3: Recognize product instances</a:t>
            </a:r>
          </a:p>
          <a:p>
            <a:r>
              <a:rPr lang="en-US" dirty="0" smtClean="0"/>
              <a:t>4.4: Produce ideal activity network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271468" y="885426"/>
            <a:ext cx="3578629" cy="5556410"/>
          </a:xfrm>
        </p:spPr>
      </p:pic>
    </p:spTree>
    <p:extLst>
      <p:ext uri="{BB962C8B-B14F-4D97-AF65-F5344CB8AC3E}">
        <p14:creationId xmlns:p14="http://schemas.microsoft.com/office/powerpoint/2010/main" val="2776717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Identify project products and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4.5: Modify the ideal to take into account need for stages and checkpoints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1178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2369" y="90842"/>
            <a:ext cx="9603275" cy="745500"/>
          </a:xfrm>
        </p:spPr>
        <p:txBody>
          <a:bodyPr>
            <a:normAutofit fontScale="90000"/>
          </a:bodyPr>
          <a:lstStyle/>
          <a:p>
            <a:r>
              <a:rPr lang="en-US" dirty="0"/>
              <a:t>Step 5: Estimate effort for each </a:t>
            </a:r>
            <a:r>
              <a:rPr lang="en-US" dirty="0" smtClean="0"/>
              <a:t>activity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8937" y="747132"/>
            <a:ext cx="9805917" cy="517416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5.1: Carry out bottom-up estimates</a:t>
            </a:r>
          </a:p>
          <a:p>
            <a:pPr lvl="1"/>
            <a:r>
              <a:rPr lang="en-US" dirty="0" smtClean="0"/>
              <a:t>Probable elapsed time and Non-staff resources needed</a:t>
            </a:r>
          </a:p>
          <a:p>
            <a:pPr lvl="2"/>
            <a:r>
              <a:rPr lang="en-US" dirty="0"/>
              <a:t>need to estimate staff effort, time for each activity, and other resources</a:t>
            </a:r>
          </a:p>
          <a:p>
            <a:pPr lvl="1"/>
            <a:r>
              <a:rPr lang="en-US" dirty="0"/>
              <a:t>Different estimation methods may be used depending on the type of activity.</a:t>
            </a:r>
          </a:p>
          <a:p>
            <a:pPr lvl="1"/>
            <a:r>
              <a:rPr lang="en-US" dirty="0" smtClean="0"/>
              <a:t>Effort is the amount of work that needs to be done. </a:t>
            </a:r>
          </a:p>
          <a:p>
            <a:pPr lvl="1"/>
            <a:r>
              <a:rPr lang="en-US" dirty="0"/>
              <a:t>Elapsed time is the time between the start and end of a task</a:t>
            </a:r>
          </a:p>
          <a:p>
            <a:pPr lvl="2"/>
            <a:r>
              <a:rPr lang="en-US" dirty="0" smtClean="0"/>
              <a:t>E.g. three staff for 2 full days each -  effort is 3x2 = 6 days</a:t>
            </a:r>
          </a:p>
          <a:p>
            <a:pPr lvl="2"/>
            <a:r>
              <a:rPr lang="en-US" dirty="0" smtClean="0"/>
              <a:t>Elapsed time is 2 days</a:t>
            </a:r>
          </a:p>
          <a:p>
            <a:pPr lvl="1"/>
            <a:r>
              <a:rPr lang="en-US" dirty="0" smtClean="0"/>
              <a:t>Overall bottom-up estimate – the individual activity estimates of effort to be summed up</a:t>
            </a:r>
          </a:p>
          <a:p>
            <a:pPr lvl="1"/>
            <a:r>
              <a:rPr lang="en-US" dirty="0" smtClean="0"/>
              <a:t>Calculate </a:t>
            </a:r>
            <a:r>
              <a:rPr lang="en-US" dirty="0"/>
              <a:t>the overall duration of  project based on the estimated time for each activity in the activity network.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281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403" y="235808"/>
            <a:ext cx="9603275" cy="578231"/>
          </a:xfrm>
        </p:spPr>
        <p:txBody>
          <a:bodyPr/>
          <a:lstStyle/>
          <a:p>
            <a:r>
              <a:rPr lang="en-US" dirty="0"/>
              <a:t>Step 5: Estimate effort for each activity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703" y="903250"/>
            <a:ext cx="10118152" cy="4563096"/>
          </a:xfrm>
        </p:spPr>
        <p:txBody>
          <a:bodyPr/>
          <a:lstStyle/>
          <a:p>
            <a:r>
              <a:rPr lang="en-US" dirty="0"/>
              <a:t>Step </a:t>
            </a:r>
            <a:r>
              <a:rPr lang="en-US" dirty="0" smtClean="0"/>
              <a:t>5.2:  </a:t>
            </a:r>
            <a:r>
              <a:rPr lang="en-US" dirty="0"/>
              <a:t>Revise plan to create controllable activities</a:t>
            </a:r>
          </a:p>
          <a:p>
            <a:pPr lvl="1"/>
            <a:r>
              <a:rPr lang="en-US" dirty="0" smtClean="0"/>
              <a:t>Long activities make a project difficult to control</a:t>
            </a:r>
          </a:p>
          <a:p>
            <a:pPr lvl="1"/>
            <a:r>
              <a:rPr lang="en-US" dirty="0" smtClean="0"/>
              <a:t>need </a:t>
            </a:r>
            <a:r>
              <a:rPr lang="en-US" dirty="0"/>
              <a:t>to break a task into a series of manageable </a:t>
            </a:r>
            <a:r>
              <a:rPr lang="en-US" dirty="0" smtClean="0"/>
              <a:t>sub-tasks</a:t>
            </a:r>
          </a:p>
          <a:p>
            <a:pPr lvl="1"/>
            <a:r>
              <a:rPr lang="en-US" dirty="0" smtClean="0"/>
              <a:t>Activities take individually very less time can be merged together</a:t>
            </a:r>
          </a:p>
          <a:p>
            <a:pPr lvl="2"/>
            <a:r>
              <a:rPr lang="en-US" dirty="0" err="1" smtClean="0"/>
              <a:t>E.g</a:t>
            </a:r>
            <a:r>
              <a:rPr lang="en-US" dirty="0" smtClean="0"/>
              <a:t> Training </a:t>
            </a:r>
            <a:r>
              <a:rPr lang="en-US" dirty="0" err="1" smtClean="0"/>
              <a:t>programme</a:t>
            </a:r>
            <a:endParaRPr lang="en-US" dirty="0" smtClean="0"/>
          </a:p>
          <a:p>
            <a:pPr lvl="1"/>
            <a:r>
              <a:rPr lang="en-US" dirty="0" smtClean="0"/>
              <a:t>Suggestion: try to make activities about the length of the reporting period used for monitoring and controlling the project</a:t>
            </a:r>
          </a:p>
          <a:p>
            <a:pPr lvl="1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3666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4740" y="135447"/>
            <a:ext cx="9603275" cy="600534"/>
          </a:xfrm>
        </p:spPr>
        <p:txBody>
          <a:bodyPr/>
          <a:lstStyle/>
          <a:p>
            <a:r>
              <a:rPr lang="en-IN" dirty="0" smtClean="0"/>
              <a:t>Gantt chart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187282" y="429321"/>
            <a:ext cx="3802567" cy="6757638"/>
          </a:xfrm>
        </p:spPr>
      </p:pic>
    </p:spTree>
    <p:extLst>
      <p:ext uri="{BB962C8B-B14F-4D97-AF65-F5344CB8AC3E}">
        <p14:creationId xmlns:p14="http://schemas.microsoft.com/office/powerpoint/2010/main" val="2683265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8" y="224656"/>
            <a:ext cx="9603275" cy="611685"/>
          </a:xfrm>
        </p:spPr>
        <p:txBody>
          <a:bodyPr/>
          <a:lstStyle/>
          <a:p>
            <a:r>
              <a:rPr lang="en-US" dirty="0"/>
              <a:t>Step 6: Identify activity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123" y="925552"/>
            <a:ext cx="9939732" cy="4540794"/>
          </a:xfrm>
        </p:spPr>
        <p:txBody>
          <a:bodyPr/>
          <a:lstStyle/>
          <a:p>
            <a:r>
              <a:rPr lang="en-US" dirty="0" smtClean="0"/>
              <a:t>6.1: </a:t>
            </a:r>
            <a:r>
              <a:rPr lang="en-US" dirty="0"/>
              <a:t>Identify and quantify </a:t>
            </a:r>
            <a:r>
              <a:rPr lang="en-US" dirty="0" smtClean="0"/>
              <a:t>activity-based risks</a:t>
            </a:r>
          </a:p>
          <a:p>
            <a:pPr lvl="1"/>
            <a:r>
              <a:rPr lang="en-US" dirty="0" smtClean="0"/>
              <a:t>E.g. design of a component</a:t>
            </a:r>
          </a:p>
          <a:p>
            <a:r>
              <a:rPr lang="en-US" dirty="0" smtClean="0"/>
              <a:t>6.2: Plan </a:t>
            </a:r>
            <a:r>
              <a:rPr lang="en-US" dirty="0"/>
              <a:t>risk reduction and contingency measures where appropriate</a:t>
            </a:r>
          </a:p>
          <a:p>
            <a:pPr lvl="1"/>
            <a:r>
              <a:rPr lang="en-US" dirty="0" smtClean="0"/>
              <a:t>Contingency plans </a:t>
            </a:r>
          </a:p>
          <a:p>
            <a:pPr lvl="2"/>
            <a:r>
              <a:rPr lang="en-US" dirty="0" smtClean="0"/>
              <a:t>E.g. contract staff</a:t>
            </a:r>
          </a:p>
          <a:p>
            <a:r>
              <a:rPr lang="en-US" dirty="0"/>
              <a:t> </a:t>
            </a:r>
            <a:r>
              <a:rPr lang="en-US" dirty="0" smtClean="0"/>
              <a:t>6.3: </a:t>
            </a:r>
            <a:r>
              <a:rPr lang="en-US" dirty="0"/>
              <a:t>Adjust overall plans and estimates to take account of </a:t>
            </a:r>
            <a:r>
              <a:rPr lang="en-US" dirty="0" smtClean="0"/>
              <a:t>risks</a:t>
            </a:r>
          </a:p>
          <a:p>
            <a:pPr lvl="1"/>
            <a:r>
              <a:rPr lang="en-US" dirty="0" smtClean="0"/>
              <a:t>E.g. New programming language</a:t>
            </a:r>
          </a:p>
          <a:p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242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1218" y="0"/>
            <a:ext cx="9603275" cy="578232"/>
          </a:xfrm>
        </p:spPr>
        <p:txBody>
          <a:bodyPr/>
          <a:lstStyle/>
          <a:p>
            <a:r>
              <a:rPr lang="en-US" dirty="0"/>
              <a:t>Step 7: Allocate </a:t>
            </a:r>
            <a:r>
              <a:rPr lang="en-US" dirty="0" smtClean="0"/>
              <a:t>resource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0157" y="578232"/>
            <a:ext cx="10084698" cy="48881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7.1: Identify </a:t>
            </a:r>
            <a:r>
              <a:rPr lang="en-US" dirty="0"/>
              <a:t>and allocate resources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type of staff needed for each activity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staff availabilities are identified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staff are provisionally allocated to task</a:t>
            </a:r>
          </a:p>
          <a:p>
            <a:pPr>
              <a:lnSpc>
                <a:spcPct val="90000"/>
              </a:lnSpc>
            </a:pPr>
            <a:r>
              <a:rPr lang="en-US" dirty="0"/>
              <a:t>7.2 Revise plans and estimates to take into account resource constraints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staffing constraints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staffing </a:t>
            </a:r>
            <a:r>
              <a:rPr lang="en-US" dirty="0" smtClean="0"/>
              <a:t>issues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Gantt chart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292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8: Review/Publicize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8.1: Review quality aspects of the project plan</a:t>
            </a:r>
          </a:p>
          <a:p>
            <a:pPr lvl="1"/>
            <a:r>
              <a:rPr lang="en-US" dirty="0" smtClean="0"/>
              <a:t>Task needs quality review, when it is completed</a:t>
            </a:r>
          </a:p>
          <a:p>
            <a:pPr lvl="1"/>
            <a:r>
              <a:rPr lang="en-US" dirty="0" smtClean="0"/>
              <a:t>Each task should have quality criteria</a:t>
            </a:r>
          </a:p>
          <a:p>
            <a:r>
              <a:rPr lang="en-US" dirty="0" smtClean="0"/>
              <a:t>8.2:  Document plans and obtain agreement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828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9 and 10: Execute plan/Lower levels of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Detailed planning of the later stages need to be </a:t>
            </a:r>
            <a:r>
              <a:rPr lang="en-US" dirty="0" smtClean="0"/>
              <a:t>delayed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62961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2469</TotalTime>
  <Words>872</Words>
  <Application>Microsoft Office PowerPoint</Application>
  <PresentationFormat>Widescreen</PresentationFormat>
  <Paragraphs>123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Gill Sans MT</vt:lpstr>
      <vt:lpstr>Gallery</vt:lpstr>
      <vt:lpstr>Software Project Management  Project planning</vt:lpstr>
      <vt:lpstr>Introduction</vt:lpstr>
      <vt:lpstr>Step wise project planning</vt:lpstr>
      <vt:lpstr>Step 0: select project</vt:lpstr>
      <vt:lpstr>Step 1: Identify project scope and objectives</vt:lpstr>
      <vt:lpstr>Step 1: Identify project scope and objectives</vt:lpstr>
      <vt:lpstr>Step 2: Identify project infrastructure</vt:lpstr>
      <vt:lpstr>Step 2: Identify project infrastructure</vt:lpstr>
      <vt:lpstr>Step 2: Identify project infrastructure</vt:lpstr>
      <vt:lpstr>Step 3:  Analyze project characteristics</vt:lpstr>
      <vt:lpstr>Step 4: Identify project products and activities</vt:lpstr>
      <vt:lpstr>Product breakdown structure</vt:lpstr>
      <vt:lpstr>Step 4: Identify project products and activities</vt:lpstr>
      <vt:lpstr>Step 4: Identify project products and activities</vt:lpstr>
      <vt:lpstr>Step 4: Identify project products and activities</vt:lpstr>
      <vt:lpstr>Step 5: Estimate effort for each activity </vt:lpstr>
      <vt:lpstr>Step 5: Estimate effort for each activity</vt:lpstr>
      <vt:lpstr>Gantt chart</vt:lpstr>
      <vt:lpstr>Step 6: Identify activity risks</vt:lpstr>
      <vt:lpstr>Step 7: Allocate resource</vt:lpstr>
      <vt:lpstr>Step 8: Review/Publicize plan</vt:lpstr>
      <vt:lpstr>Steps 9 and 10: Execute plan/Lower levels of planning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Project Management</dc:title>
  <dc:creator>Evangelin D</dc:creator>
  <cp:lastModifiedBy>Evangelin D</cp:lastModifiedBy>
  <cp:revision>335</cp:revision>
  <dcterms:created xsi:type="dcterms:W3CDTF">2019-08-23T04:10:40Z</dcterms:created>
  <dcterms:modified xsi:type="dcterms:W3CDTF">2021-06-21T03:56:02Z</dcterms:modified>
</cp:coreProperties>
</file>