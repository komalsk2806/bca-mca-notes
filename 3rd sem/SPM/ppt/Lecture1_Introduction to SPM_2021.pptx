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62"/>
  </p:notesMasterIdLst>
  <p:sldIdLst>
    <p:sldId id="256" r:id="rId2"/>
    <p:sldId id="257" r:id="rId3"/>
    <p:sldId id="271" r:id="rId4"/>
    <p:sldId id="258" r:id="rId5"/>
    <p:sldId id="260" r:id="rId6"/>
    <p:sldId id="261" r:id="rId7"/>
    <p:sldId id="259" r:id="rId8"/>
    <p:sldId id="262" r:id="rId9"/>
    <p:sldId id="264" r:id="rId10"/>
    <p:sldId id="265" r:id="rId11"/>
    <p:sldId id="313" r:id="rId12"/>
    <p:sldId id="314" r:id="rId13"/>
    <p:sldId id="266" r:id="rId14"/>
    <p:sldId id="267" r:id="rId15"/>
    <p:sldId id="272" r:id="rId16"/>
    <p:sldId id="268" r:id="rId17"/>
    <p:sldId id="269" r:id="rId18"/>
    <p:sldId id="273" r:id="rId19"/>
    <p:sldId id="274" r:id="rId20"/>
    <p:sldId id="275" r:id="rId21"/>
    <p:sldId id="276" r:id="rId22"/>
    <p:sldId id="315" r:id="rId23"/>
    <p:sldId id="318" r:id="rId24"/>
    <p:sldId id="316" r:id="rId25"/>
    <p:sldId id="319" r:id="rId26"/>
    <p:sldId id="289" r:id="rId27"/>
    <p:sldId id="288" r:id="rId28"/>
    <p:sldId id="270" r:id="rId29"/>
    <p:sldId id="292" r:id="rId30"/>
    <p:sldId id="291" r:id="rId31"/>
    <p:sldId id="293" r:id="rId32"/>
    <p:sldId id="283" r:id="rId33"/>
    <p:sldId id="277" r:id="rId34"/>
    <p:sldId id="278" r:id="rId35"/>
    <p:sldId id="279" r:id="rId36"/>
    <p:sldId id="280" r:id="rId37"/>
    <p:sldId id="281" r:id="rId38"/>
    <p:sldId id="282" r:id="rId39"/>
    <p:sldId id="284" r:id="rId40"/>
    <p:sldId id="294" r:id="rId41"/>
    <p:sldId id="298" r:id="rId42"/>
    <p:sldId id="299" r:id="rId43"/>
    <p:sldId id="300" r:id="rId44"/>
    <p:sldId id="296" r:id="rId45"/>
    <p:sldId id="297" r:id="rId46"/>
    <p:sldId id="312" r:id="rId47"/>
    <p:sldId id="301" r:id="rId48"/>
    <p:sldId id="286" r:id="rId49"/>
    <p:sldId id="302" r:id="rId50"/>
    <p:sldId id="285" r:id="rId51"/>
    <p:sldId id="263" r:id="rId52"/>
    <p:sldId id="303" r:id="rId53"/>
    <p:sldId id="305" r:id="rId54"/>
    <p:sldId id="306" r:id="rId55"/>
    <p:sldId id="309" r:id="rId56"/>
    <p:sldId id="308" r:id="rId57"/>
    <p:sldId id="310" r:id="rId58"/>
    <p:sldId id="307" r:id="rId59"/>
    <p:sldId id="304" r:id="rId60"/>
    <p:sldId id="287" r:id="rId6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99"/>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60"/>
  </p:normalViewPr>
  <p:slideViewPr>
    <p:cSldViewPr snapToGrid="0">
      <p:cViewPr varScale="1">
        <p:scale>
          <a:sx n="92" d="100"/>
          <a:sy n="92" d="100"/>
        </p:scale>
        <p:origin x="82" y="221"/>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EE43A71-018D-4D4D-A54C-B8108878202B}" type="doc">
      <dgm:prSet loTypeId="urn:microsoft.com/office/officeart/2005/8/layout/default" loCatId="list" qsTypeId="urn:microsoft.com/office/officeart/2005/8/quickstyle/simple5" qsCatId="simple" csTypeId="urn:microsoft.com/office/officeart/2005/8/colors/colorful1" csCatId="colorful"/>
      <dgm:spPr/>
      <dgm:t>
        <a:bodyPr/>
        <a:lstStyle/>
        <a:p>
          <a:endParaRPr lang="zh-CN" altLang="en-US"/>
        </a:p>
      </dgm:t>
    </dgm:pt>
    <dgm:pt modelId="{BD16D948-EA56-48B2-9AB0-D552E454ED2F}">
      <dgm:prSet/>
      <dgm:spPr/>
      <dgm:t>
        <a:bodyPr/>
        <a:lstStyle/>
        <a:p>
          <a:pPr rtl="0"/>
          <a:r>
            <a:rPr lang="en-US" b="0" cap="none" spc="0" dirty="0">
              <a:ln w="0"/>
              <a:solidFill>
                <a:schemeClr val="tx1"/>
              </a:solidFill>
              <a:effectLst>
                <a:outerShdw blurRad="38100" dist="19050" dir="2700000" algn="tl" rotWithShape="0">
                  <a:schemeClr val="dk1">
                    <a:alpha val="40000"/>
                  </a:schemeClr>
                </a:outerShdw>
              </a:effectLst>
            </a:rPr>
            <a:t>1. Project Evaluation</a:t>
          </a:r>
          <a:endParaRPr lang="zh-CN" b="0" cap="none" spc="0" dirty="0">
            <a:ln w="0"/>
            <a:solidFill>
              <a:schemeClr val="tx1"/>
            </a:solidFill>
            <a:effectLst>
              <a:outerShdw blurRad="38100" dist="19050" dir="2700000" algn="tl" rotWithShape="0">
                <a:schemeClr val="dk1">
                  <a:alpha val="40000"/>
                </a:schemeClr>
              </a:outerShdw>
            </a:effectLst>
          </a:endParaRPr>
        </a:p>
      </dgm:t>
    </dgm:pt>
    <dgm:pt modelId="{1E0DBAFB-B645-42D9-A543-AB56216902C7}" type="parTrans" cxnId="{FCAE045F-4774-40F3-A66B-A153048AD2D7}">
      <dgm:prSet/>
      <dgm:spPr/>
      <dgm:t>
        <a:bodyPr/>
        <a:lstStyle/>
        <a:p>
          <a:endParaRPr lang="zh-CN" altLang="en-US" b="0" cap="none" spc="0">
            <a:ln w="0"/>
            <a:solidFill>
              <a:schemeClr val="tx1"/>
            </a:solidFill>
            <a:effectLst>
              <a:outerShdw blurRad="38100" dist="19050" dir="2700000" algn="tl" rotWithShape="0">
                <a:schemeClr val="dk1">
                  <a:alpha val="40000"/>
                </a:schemeClr>
              </a:outerShdw>
            </a:effectLst>
          </a:endParaRPr>
        </a:p>
      </dgm:t>
    </dgm:pt>
    <dgm:pt modelId="{C3E55A46-F8AF-443E-AFEF-BBA7FA2EAFEB}" type="sibTrans" cxnId="{FCAE045F-4774-40F3-A66B-A153048AD2D7}">
      <dgm:prSet/>
      <dgm:spPr/>
      <dgm:t>
        <a:bodyPr/>
        <a:lstStyle/>
        <a:p>
          <a:endParaRPr lang="zh-CN" altLang="en-US" b="0" cap="none" spc="0">
            <a:ln w="0"/>
            <a:solidFill>
              <a:schemeClr val="tx1"/>
            </a:solidFill>
            <a:effectLst>
              <a:outerShdw blurRad="38100" dist="19050" dir="2700000" algn="tl" rotWithShape="0">
                <a:schemeClr val="dk1">
                  <a:alpha val="40000"/>
                </a:schemeClr>
              </a:outerShdw>
            </a:effectLst>
          </a:endParaRPr>
        </a:p>
      </dgm:t>
    </dgm:pt>
    <dgm:pt modelId="{9014F143-4FC6-4B7F-851C-A10F2591AFAD}">
      <dgm:prSet/>
      <dgm:spPr/>
      <dgm:t>
        <a:bodyPr/>
        <a:lstStyle/>
        <a:p>
          <a:pPr rtl="0"/>
          <a:r>
            <a:rPr lang="en-US" b="0" cap="none" spc="0">
              <a:ln w="0"/>
              <a:solidFill>
                <a:schemeClr val="tx1"/>
              </a:solidFill>
              <a:effectLst>
                <a:outerShdw blurRad="38100" dist="19050" dir="2700000" algn="tl" rotWithShape="0">
                  <a:schemeClr val="dk1">
                    <a:alpha val="40000"/>
                  </a:schemeClr>
                </a:outerShdw>
              </a:effectLst>
            </a:rPr>
            <a:t>2. Project Planning</a:t>
          </a:r>
          <a:endParaRPr lang="zh-CN" b="0" cap="none" spc="0">
            <a:ln w="0"/>
            <a:solidFill>
              <a:schemeClr val="tx1"/>
            </a:solidFill>
            <a:effectLst>
              <a:outerShdw blurRad="38100" dist="19050" dir="2700000" algn="tl" rotWithShape="0">
                <a:schemeClr val="dk1">
                  <a:alpha val="40000"/>
                </a:schemeClr>
              </a:outerShdw>
            </a:effectLst>
          </a:endParaRPr>
        </a:p>
      </dgm:t>
    </dgm:pt>
    <dgm:pt modelId="{A77DFEA3-3324-4C31-87F9-9A1A5BD2D56E}" type="parTrans" cxnId="{4AEC8ECB-72A8-44EA-88CB-B9BB5E38F67C}">
      <dgm:prSet/>
      <dgm:spPr/>
      <dgm:t>
        <a:bodyPr/>
        <a:lstStyle/>
        <a:p>
          <a:endParaRPr lang="zh-CN" altLang="en-US" b="0" cap="none" spc="0">
            <a:ln w="0"/>
            <a:solidFill>
              <a:schemeClr val="tx1"/>
            </a:solidFill>
            <a:effectLst>
              <a:outerShdw blurRad="38100" dist="19050" dir="2700000" algn="tl" rotWithShape="0">
                <a:schemeClr val="dk1">
                  <a:alpha val="40000"/>
                </a:schemeClr>
              </a:outerShdw>
            </a:effectLst>
          </a:endParaRPr>
        </a:p>
      </dgm:t>
    </dgm:pt>
    <dgm:pt modelId="{58A9317C-7C67-4F0B-BE38-1494C93E2A2A}" type="sibTrans" cxnId="{4AEC8ECB-72A8-44EA-88CB-B9BB5E38F67C}">
      <dgm:prSet/>
      <dgm:spPr/>
      <dgm:t>
        <a:bodyPr/>
        <a:lstStyle/>
        <a:p>
          <a:endParaRPr lang="zh-CN" altLang="en-US" b="0" cap="none" spc="0">
            <a:ln w="0"/>
            <a:solidFill>
              <a:schemeClr val="tx1"/>
            </a:solidFill>
            <a:effectLst>
              <a:outerShdw blurRad="38100" dist="19050" dir="2700000" algn="tl" rotWithShape="0">
                <a:schemeClr val="dk1">
                  <a:alpha val="40000"/>
                </a:schemeClr>
              </a:outerShdw>
            </a:effectLst>
          </a:endParaRPr>
        </a:p>
      </dgm:t>
    </dgm:pt>
    <dgm:pt modelId="{DFFAFEA0-9825-4992-94E2-FF64F54A5ED9}">
      <dgm:prSet/>
      <dgm:spPr/>
      <dgm:t>
        <a:bodyPr/>
        <a:lstStyle/>
        <a:p>
          <a:pPr rtl="0"/>
          <a:r>
            <a:rPr lang="en-US" b="0" cap="none" spc="0" dirty="0">
              <a:ln w="0"/>
              <a:solidFill>
                <a:schemeClr val="tx1"/>
              </a:solidFill>
              <a:effectLst>
                <a:outerShdw blurRad="38100" dist="19050" dir="2700000" algn="tl" rotWithShape="0">
                  <a:schemeClr val="dk1">
                    <a:alpha val="40000"/>
                  </a:schemeClr>
                </a:outerShdw>
              </a:effectLst>
            </a:rPr>
            <a:t>3. Software effort estimation</a:t>
          </a:r>
          <a:endParaRPr lang="zh-CN" b="0" cap="none" spc="0" dirty="0">
            <a:ln w="0"/>
            <a:solidFill>
              <a:schemeClr val="tx1"/>
            </a:solidFill>
            <a:effectLst>
              <a:outerShdw blurRad="38100" dist="19050" dir="2700000" algn="tl" rotWithShape="0">
                <a:schemeClr val="dk1">
                  <a:alpha val="40000"/>
                </a:schemeClr>
              </a:outerShdw>
            </a:effectLst>
          </a:endParaRPr>
        </a:p>
      </dgm:t>
    </dgm:pt>
    <dgm:pt modelId="{FDD21213-F1CD-4C21-92CA-F041FDB91D30}" type="parTrans" cxnId="{DF3975B2-B4C4-4B80-880A-B54CDE76F72D}">
      <dgm:prSet/>
      <dgm:spPr/>
      <dgm:t>
        <a:bodyPr/>
        <a:lstStyle/>
        <a:p>
          <a:endParaRPr lang="zh-CN" altLang="en-US" b="0" cap="none" spc="0">
            <a:ln w="0"/>
            <a:solidFill>
              <a:schemeClr val="tx1"/>
            </a:solidFill>
            <a:effectLst>
              <a:outerShdw blurRad="38100" dist="19050" dir="2700000" algn="tl" rotWithShape="0">
                <a:schemeClr val="dk1">
                  <a:alpha val="40000"/>
                </a:schemeClr>
              </a:outerShdw>
            </a:effectLst>
          </a:endParaRPr>
        </a:p>
      </dgm:t>
    </dgm:pt>
    <dgm:pt modelId="{7DD2858E-F5C2-4F58-AF14-E439DCCC8F98}" type="sibTrans" cxnId="{DF3975B2-B4C4-4B80-880A-B54CDE76F72D}">
      <dgm:prSet/>
      <dgm:spPr/>
      <dgm:t>
        <a:bodyPr/>
        <a:lstStyle/>
        <a:p>
          <a:endParaRPr lang="zh-CN" altLang="en-US" b="0" cap="none" spc="0">
            <a:ln w="0"/>
            <a:solidFill>
              <a:schemeClr val="tx1"/>
            </a:solidFill>
            <a:effectLst>
              <a:outerShdw blurRad="38100" dist="19050" dir="2700000" algn="tl" rotWithShape="0">
                <a:schemeClr val="dk1">
                  <a:alpha val="40000"/>
                </a:schemeClr>
              </a:outerShdw>
            </a:effectLst>
          </a:endParaRPr>
        </a:p>
      </dgm:t>
    </dgm:pt>
    <dgm:pt modelId="{ECBFA541-94EA-4329-BE79-D0A86D0AE20F}">
      <dgm:prSet/>
      <dgm:spPr/>
      <dgm:t>
        <a:bodyPr/>
        <a:lstStyle/>
        <a:p>
          <a:pPr rtl="0"/>
          <a:r>
            <a:rPr lang="en-US" b="0" cap="none" spc="0">
              <a:ln w="0"/>
              <a:solidFill>
                <a:schemeClr val="tx1"/>
              </a:solidFill>
              <a:effectLst>
                <a:outerShdw blurRad="38100" dist="19050" dir="2700000" algn="tl" rotWithShape="0">
                  <a:schemeClr val="dk1">
                    <a:alpha val="40000"/>
                  </a:schemeClr>
                </a:outerShdw>
              </a:effectLst>
            </a:rPr>
            <a:t>4. Activity planning</a:t>
          </a:r>
          <a:endParaRPr lang="zh-CN" b="0" cap="none" spc="0">
            <a:ln w="0"/>
            <a:solidFill>
              <a:schemeClr val="tx1"/>
            </a:solidFill>
            <a:effectLst>
              <a:outerShdw blurRad="38100" dist="19050" dir="2700000" algn="tl" rotWithShape="0">
                <a:schemeClr val="dk1">
                  <a:alpha val="40000"/>
                </a:schemeClr>
              </a:outerShdw>
            </a:effectLst>
          </a:endParaRPr>
        </a:p>
      </dgm:t>
    </dgm:pt>
    <dgm:pt modelId="{57D720EC-36FF-4B5F-A568-66580F147774}" type="parTrans" cxnId="{9789589E-7DDA-4A13-B57E-8112AAECF27B}">
      <dgm:prSet/>
      <dgm:spPr/>
      <dgm:t>
        <a:bodyPr/>
        <a:lstStyle/>
        <a:p>
          <a:endParaRPr lang="zh-CN" altLang="en-US" b="0" cap="none" spc="0">
            <a:ln w="0"/>
            <a:solidFill>
              <a:schemeClr val="tx1"/>
            </a:solidFill>
            <a:effectLst>
              <a:outerShdw blurRad="38100" dist="19050" dir="2700000" algn="tl" rotWithShape="0">
                <a:schemeClr val="dk1">
                  <a:alpha val="40000"/>
                </a:schemeClr>
              </a:outerShdw>
            </a:effectLst>
          </a:endParaRPr>
        </a:p>
      </dgm:t>
    </dgm:pt>
    <dgm:pt modelId="{244E8210-FC7B-4CD2-AFD1-6E1E2985EA21}" type="sibTrans" cxnId="{9789589E-7DDA-4A13-B57E-8112AAECF27B}">
      <dgm:prSet/>
      <dgm:spPr/>
      <dgm:t>
        <a:bodyPr/>
        <a:lstStyle/>
        <a:p>
          <a:endParaRPr lang="zh-CN" altLang="en-US" b="0" cap="none" spc="0">
            <a:ln w="0"/>
            <a:solidFill>
              <a:schemeClr val="tx1"/>
            </a:solidFill>
            <a:effectLst>
              <a:outerShdw blurRad="38100" dist="19050" dir="2700000" algn="tl" rotWithShape="0">
                <a:schemeClr val="dk1">
                  <a:alpha val="40000"/>
                </a:schemeClr>
              </a:outerShdw>
            </a:effectLst>
          </a:endParaRPr>
        </a:p>
      </dgm:t>
    </dgm:pt>
    <dgm:pt modelId="{79587317-5A6C-4C2F-B4EE-40179A6758B3}">
      <dgm:prSet/>
      <dgm:spPr/>
      <dgm:t>
        <a:bodyPr/>
        <a:lstStyle/>
        <a:p>
          <a:pPr rtl="0"/>
          <a:r>
            <a:rPr lang="en-US" b="0" cap="none" spc="0">
              <a:ln w="0"/>
              <a:solidFill>
                <a:schemeClr val="tx1"/>
              </a:solidFill>
              <a:effectLst>
                <a:outerShdw blurRad="38100" dist="19050" dir="2700000" algn="tl" rotWithShape="0">
                  <a:schemeClr val="dk1">
                    <a:alpha val="40000"/>
                  </a:schemeClr>
                </a:outerShdw>
              </a:effectLst>
            </a:rPr>
            <a:t>5. Risk Management</a:t>
          </a:r>
          <a:endParaRPr lang="zh-CN" b="0" cap="none" spc="0">
            <a:ln w="0"/>
            <a:solidFill>
              <a:schemeClr val="tx1"/>
            </a:solidFill>
            <a:effectLst>
              <a:outerShdw blurRad="38100" dist="19050" dir="2700000" algn="tl" rotWithShape="0">
                <a:schemeClr val="dk1">
                  <a:alpha val="40000"/>
                </a:schemeClr>
              </a:outerShdw>
            </a:effectLst>
          </a:endParaRPr>
        </a:p>
      </dgm:t>
    </dgm:pt>
    <dgm:pt modelId="{C64946F3-3324-4E08-81FE-D72537A9A3EE}" type="parTrans" cxnId="{030AFEE5-C17E-4B9E-A065-044583501E4E}">
      <dgm:prSet/>
      <dgm:spPr/>
      <dgm:t>
        <a:bodyPr/>
        <a:lstStyle/>
        <a:p>
          <a:endParaRPr lang="zh-CN" altLang="en-US" b="0" cap="none" spc="0">
            <a:ln w="0"/>
            <a:solidFill>
              <a:schemeClr val="tx1"/>
            </a:solidFill>
            <a:effectLst>
              <a:outerShdw blurRad="38100" dist="19050" dir="2700000" algn="tl" rotWithShape="0">
                <a:schemeClr val="dk1">
                  <a:alpha val="40000"/>
                </a:schemeClr>
              </a:outerShdw>
            </a:effectLst>
          </a:endParaRPr>
        </a:p>
      </dgm:t>
    </dgm:pt>
    <dgm:pt modelId="{7E3B77D0-801B-49A9-A6CA-B7E29C7BBEC7}" type="sibTrans" cxnId="{030AFEE5-C17E-4B9E-A065-044583501E4E}">
      <dgm:prSet/>
      <dgm:spPr/>
      <dgm:t>
        <a:bodyPr/>
        <a:lstStyle/>
        <a:p>
          <a:endParaRPr lang="zh-CN" altLang="en-US" b="0" cap="none" spc="0">
            <a:ln w="0"/>
            <a:solidFill>
              <a:schemeClr val="tx1"/>
            </a:solidFill>
            <a:effectLst>
              <a:outerShdw blurRad="38100" dist="19050" dir="2700000" algn="tl" rotWithShape="0">
                <a:schemeClr val="dk1">
                  <a:alpha val="40000"/>
                </a:schemeClr>
              </a:outerShdw>
            </a:effectLst>
          </a:endParaRPr>
        </a:p>
      </dgm:t>
    </dgm:pt>
    <dgm:pt modelId="{B33E8B64-696F-405D-A3EB-04973A322D35}">
      <dgm:prSet/>
      <dgm:spPr/>
      <dgm:t>
        <a:bodyPr/>
        <a:lstStyle/>
        <a:p>
          <a:pPr rtl="0"/>
          <a:r>
            <a:rPr lang="en-US" b="0" cap="none" spc="0">
              <a:ln w="0"/>
              <a:solidFill>
                <a:schemeClr val="tx1"/>
              </a:solidFill>
              <a:effectLst>
                <a:outerShdw blurRad="38100" dist="19050" dir="2700000" algn="tl" rotWithShape="0">
                  <a:schemeClr val="dk1">
                    <a:alpha val="40000"/>
                  </a:schemeClr>
                </a:outerShdw>
              </a:effectLst>
            </a:rPr>
            <a:t>6. Resource allocation</a:t>
          </a:r>
          <a:endParaRPr lang="zh-CN" b="0" cap="none" spc="0">
            <a:ln w="0"/>
            <a:solidFill>
              <a:schemeClr val="tx1"/>
            </a:solidFill>
            <a:effectLst>
              <a:outerShdw blurRad="38100" dist="19050" dir="2700000" algn="tl" rotWithShape="0">
                <a:schemeClr val="dk1">
                  <a:alpha val="40000"/>
                </a:schemeClr>
              </a:outerShdw>
            </a:effectLst>
          </a:endParaRPr>
        </a:p>
      </dgm:t>
    </dgm:pt>
    <dgm:pt modelId="{A12E8B7D-DECC-41CC-B459-E09D081BD3AC}" type="parTrans" cxnId="{B90F58C4-5676-41A3-9B19-E8D97ACD39C1}">
      <dgm:prSet/>
      <dgm:spPr/>
      <dgm:t>
        <a:bodyPr/>
        <a:lstStyle/>
        <a:p>
          <a:endParaRPr lang="zh-CN" altLang="en-US" b="0" cap="none" spc="0">
            <a:ln w="0"/>
            <a:solidFill>
              <a:schemeClr val="tx1"/>
            </a:solidFill>
            <a:effectLst>
              <a:outerShdw blurRad="38100" dist="19050" dir="2700000" algn="tl" rotWithShape="0">
                <a:schemeClr val="dk1">
                  <a:alpha val="40000"/>
                </a:schemeClr>
              </a:outerShdw>
            </a:effectLst>
          </a:endParaRPr>
        </a:p>
      </dgm:t>
    </dgm:pt>
    <dgm:pt modelId="{2FA2EF99-910C-4E9E-B36D-24D8B3C10D7B}" type="sibTrans" cxnId="{B90F58C4-5676-41A3-9B19-E8D97ACD39C1}">
      <dgm:prSet/>
      <dgm:spPr/>
      <dgm:t>
        <a:bodyPr/>
        <a:lstStyle/>
        <a:p>
          <a:endParaRPr lang="zh-CN" altLang="en-US" b="0" cap="none" spc="0">
            <a:ln w="0"/>
            <a:solidFill>
              <a:schemeClr val="tx1"/>
            </a:solidFill>
            <a:effectLst>
              <a:outerShdw blurRad="38100" dist="19050" dir="2700000" algn="tl" rotWithShape="0">
                <a:schemeClr val="dk1">
                  <a:alpha val="40000"/>
                </a:schemeClr>
              </a:outerShdw>
            </a:effectLst>
          </a:endParaRPr>
        </a:p>
      </dgm:t>
    </dgm:pt>
    <dgm:pt modelId="{5F2E0A70-4FDC-4602-9CBB-2AC910D23C5D}">
      <dgm:prSet/>
      <dgm:spPr/>
      <dgm:t>
        <a:bodyPr/>
        <a:lstStyle/>
        <a:p>
          <a:pPr rtl="0"/>
          <a:r>
            <a:rPr lang="en-US" b="0" cap="none" spc="0">
              <a:ln w="0"/>
              <a:solidFill>
                <a:schemeClr val="tx1"/>
              </a:solidFill>
              <a:effectLst>
                <a:outerShdw blurRad="38100" dist="19050" dir="2700000" algn="tl" rotWithShape="0">
                  <a:schemeClr val="dk1">
                    <a:alpha val="40000"/>
                  </a:schemeClr>
                </a:outerShdw>
              </a:effectLst>
            </a:rPr>
            <a:t>7. Managing contracts</a:t>
          </a:r>
          <a:endParaRPr lang="zh-CN" b="0" cap="none" spc="0">
            <a:ln w="0"/>
            <a:solidFill>
              <a:schemeClr val="tx1"/>
            </a:solidFill>
            <a:effectLst>
              <a:outerShdw blurRad="38100" dist="19050" dir="2700000" algn="tl" rotWithShape="0">
                <a:schemeClr val="dk1">
                  <a:alpha val="40000"/>
                </a:schemeClr>
              </a:outerShdw>
            </a:effectLst>
          </a:endParaRPr>
        </a:p>
      </dgm:t>
    </dgm:pt>
    <dgm:pt modelId="{1C03C596-D222-49F6-ADC4-5D23C063EA3C}" type="parTrans" cxnId="{656A3349-C663-47BE-85F6-D516A1316B1D}">
      <dgm:prSet/>
      <dgm:spPr/>
      <dgm:t>
        <a:bodyPr/>
        <a:lstStyle/>
        <a:p>
          <a:endParaRPr lang="zh-CN" altLang="en-US" b="0" cap="none" spc="0">
            <a:ln w="0"/>
            <a:solidFill>
              <a:schemeClr val="tx1"/>
            </a:solidFill>
            <a:effectLst>
              <a:outerShdw blurRad="38100" dist="19050" dir="2700000" algn="tl" rotWithShape="0">
                <a:schemeClr val="dk1">
                  <a:alpha val="40000"/>
                </a:schemeClr>
              </a:outerShdw>
            </a:effectLst>
          </a:endParaRPr>
        </a:p>
      </dgm:t>
    </dgm:pt>
    <dgm:pt modelId="{003BA1F6-ECBC-4740-9A76-EC7BE23086AE}" type="sibTrans" cxnId="{656A3349-C663-47BE-85F6-D516A1316B1D}">
      <dgm:prSet/>
      <dgm:spPr/>
      <dgm:t>
        <a:bodyPr/>
        <a:lstStyle/>
        <a:p>
          <a:endParaRPr lang="zh-CN" altLang="en-US" b="0" cap="none" spc="0">
            <a:ln w="0"/>
            <a:solidFill>
              <a:schemeClr val="tx1"/>
            </a:solidFill>
            <a:effectLst>
              <a:outerShdw blurRad="38100" dist="19050" dir="2700000" algn="tl" rotWithShape="0">
                <a:schemeClr val="dk1">
                  <a:alpha val="40000"/>
                </a:schemeClr>
              </a:outerShdw>
            </a:effectLst>
          </a:endParaRPr>
        </a:p>
      </dgm:t>
    </dgm:pt>
    <dgm:pt modelId="{095AE8C2-EB2A-4BAB-9558-C3DDDF7A5CD6}">
      <dgm:prSet/>
      <dgm:spPr/>
      <dgm:t>
        <a:bodyPr/>
        <a:lstStyle/>
        <a:p>
          <a:pPr rtl="0"/>
          <a:r>
            <a:rPr lang="en-US" b="0" cap="none" spc="0">
              <a:ln w="0"/>
              <a:solidFill>
                <a:schemeClr val="tx1"/>
              </a:solidFill>
              <a:effectLst>
                <a:outerShdw blurRad="38100" dist="19050" dir="2700000" algn="tl" rotWithShape="0">
                  <a:schemeClr val="dk1">
                    <a:alpha val="40000"/>
                  </a:schemeClr>
                </a:outerShdw>
              </a:effectLst>
            </a:rPr>
            <a:t>8. Managing people</a:t>
          </a:r>
          <a:endParaRPr lang="zh-CN" b="0" cap="none" spc="0">
            <a:ln w="0"/>
            <a:solidFill>
              <a:schemeClr val="tx1"/>
            </a:solidFill>
            <a:effectLst>
              <a:outerShdw blurRad="38100" dist="19050" dir="2700000" algn="tl" rotWithShape="0">
                <a:schemeClr val="dk1">
                  <a:alpha val="40000"/>
                </a:schemeClr>
              </a:outerShdw>
            </a:effectLst>
          </a:endParaRPr>
        </a:p>
      </dgm:t>
    </dgm:pt>
    <dgm:pt modelId="{5BFF9305-BA87-4FA7-87AF-0D1A86835D66}" type="parTrans" cxnId="{45696828-786A-46D4-957C-F8E29BE727B3}">
      <dgm:prSet/>
      <dgm:spPr/>
      <dgm:t>
        <a:bodyPr/>
        <a:lstStyle/>
        <a:p>
          <a:endParaRPr lang="zh-CN" altLang="en-US" b="0" cap="none" spc="0">
            <a:ln w="0"/>
            <a:solidFill>
              <a:schemeClr val="tx1"/>
            </a:solidFill>
            <a:effectLst>
              <a:outerShdw blurRad="38100" dist="19050" dir="2700000" algn="tl" rotWithShape="0">
                <a:schemeClr val="dk1">
                  <a:alpha val="40000"/>
                </a:schemeClr>
              </a:outerShdw>
            </a:effectLst>
          </a:endParaRPr>
        </a:p>
      </dgm:t>
    </dgm:pt>
    <dgm:pt modelId="{EBBEEBF1-2C3D-4E05-9279-39522439C8F2}" type="sibTrans" cxnId="{45696828-786A-46D4-957C-F8E29BE727B3}">
      <dgm:prSet/>
      <dgm:spPr/>
      <dgm:t>
        <a:bodyPr/>
        <a:lstStyle/>
        <a:p>
          <a:endParaRPr lang="zh-CN" altLang="en-US" b="0" cap="none" spc="0">
            <a:ln w="0"/>
            <a:solidFill>
              <a:schemeClr val="tx1"/>
            </a:solidFill>
            <a:effectLst>
              <a:outerShdw blurRad="38100" dist="19050" dir="2700000" algn="tl" rotWithShape="0">
                <a:schemeClr val="dk1">
                  <a:alpha val="40000"/>
                </a:schemeClr>
              </a:outerShdw>
            </a:effectLst>
          </a:endParaRPr>
        </a:p>
      </dgm:t>
    </dgm:pt>
    <dgm:pt modelId="{15EF9381-102D-4C81-9AB6-584A070BFEA3}">
      <dgm:prSet/>
      <dgm:spPr/>
      <dgm:t>
        <a:bodyPr/>
        <a:lstStyle/>
        <a:p>
          <a:pPr rtl="0"/>
          <a:r>
            <a:rPr lang="en-US" b="0" cap="none" spc="0">
              <a:ln w="0"/>
              <a:solidFill>
                <a:schemeClr val="tx1"/>
              </a:solidFill>
              <a:effectLst>
                <a:outerShdw blurRad="38100" dist="19050" dir="2700000" algn="tl" rotWithShape="0">
                  <a:schemeClr val="dk1">
                    <a:alpha val="40000"/>
                  </a:schemeClr>
                </a:outerShdw>
              </a:effectLst>
            </a:rPr>
            <a:t>9. Monitoring and control</a:t>
          </a:r>
          <a:endParaRPr lang="zh-CN" b="0" cap="none" spc="0">
            <a:ln w="0"/>
            <a:solidFill>
              <a:schemeClr val="tx1"/>
            </a:solidFill>
            <a:effectLst>
              <a:outerShdw blurRad="38100" dist="19050" dir="2700000" algn="tl" rotWithShape="0">
                <a:schemeClr val="dk1">
                  <a:alpha val="40000"/>
                </a:schemeClr>
              </a:outerShdw>
            </a:effectLst>
          </a:endParaRPr>
        </a:p>
      </dgm:t>
    </dgm:pt>
    <dgm:pt modelId="{C9D92240-06C8-4B88-9509-797280D05656}" type="parTrans" cxnId="{2AD1D843-6ABE-42CD-A3F1-15E5A8CB0880}">
      <dgm:prSet/>
      <dgm:spPr/>
      <dgm:t>
        <a:bodyPr/>
        <a:lstStyle/>
        <a:p>
          <a:endParaRPr lang="zh-CN" altLang="en-US" b="0" cap="none" spc="0">
            <a:ln w="0"/>
            <a:solidFill>
              <a:schemeClr val="tx1"/>
            </a:solidFill>
            <a:effectLst>
              <a:outerShdw blurRad="38100" dist="19050" dir="2700000" algn="tl" rotWithShape="0">
                <a:schemeClr val="dk1">
                  <a:alpha val="40000"/>
                </a:schemeClr>
              </a:outerShdw>
            </a:effectLst>
          </a:endParaRPr>
        </a:p>
      </dgm:t>
    </dgm:pt>
    <dgm:pt modelId="{AABAFAB4-EDBE-48CF-9787-FDA3780C9C35}" type="sibTrans" cxnId="{2AD1D843-6ABE-42CD-A3F1-15E5A8CB0880}">
      <dgm:prSet/>
      <dgm:spPr/>
      <dgm:t>
        <a:bodyPr/>
        <a:lstStyle/>
        <a:p>
          <a:endParaRPr lang="zh-CN" altLang="en-US" b="0" cap="none" spc="0">
            <a:ln w="0"/>
            <a:solidFill>
              <a:schemeClr val="tx1"/>
            </a:solidFill>
            <a:effectLst>
              <a:outerShdw blurRad="38100" dist="19050" dir="2700000" algn="tl" rotWithShape="0">
                <a:schemeClr val="dk1">
                  <a:alpha val="40000"/>
                </a:schemeClr>
              </a:outerShdw>
            </a:effectLst>
          </a:endParaRPr>
        </a:p>
      </dgm:t>
    </dgm:pt>
    <dgm:pt modelId="{E6671756-9321-4CC8-9637-942CA95C40EF}">
      <dgm:prSet/>
      <dgm:spPr/>
      <dgm:t>
        <a:bodyPr/>
        <a:lstStyle/>
        <a:p>
          <a:pPr rtl="0"/>
          <a:r>
            <a:rPr lang="en-US" b="0" cap="none" spc="0" dirty="0">
              <a:ln w="0"/>
              <a:solidFill>
                <a:schemeClr val="tx1"/>
              </a:solidFill>
              <a:effectLst>
                <a:outerShdw blurRad="38100" dist="19050" dir="2700000" algn="tl" rotWithShape="0">
                  <a:schemeClr val="dk1">
                    <a:alpha val="40000"/>
                  </a:schemeClr>
                </a:outerShdw>
              </a:effectLst>
            </a:rPr>
            <a:t>10. Software quality</a:t>
          </a:r>
          <a:endParaRPr lang="zh-CN" b="0" cap="none" spc="0" dirty="0">
            <a:ln w="0"/>
            <a:solidFill>
              <a:schemeClr val="tx1"/>
            </a:solidFill>
            <a:effectLst>
              <a:outerShdw blurRad="38100" dist="19050" dir="2700000" algn="tl" rotWithShape="0">
                <a:schemeClr val="dk1">
                  <a:alpha val="40000"/>
                </a:schemeClr>
              </a:outerShdw>
            </a:effectLst>
          </a:endParaRPr>
        </a:p>
      </dgm:t>
    </dgm:pt>
    <dgm:pt modelId="{E4992724-3689-4758-8D44-D045621DFC0C}" type="parTrans" cxnId="{CB2186B7-687B-4273-A034-BC9439588571}">
      <dgm:prSet/>
      <dgm:spPr/>
      <dgm:t>
        <a:bodyPr/>
        <a:lstStyle/>
        <a:p>
          <a:endParaRPr lang="zh-CN" altLang="en-US" b="0" cap="none" spc="0">
            <a:ln w="0"/>
            <a:solidFill>
              <a:schemeClr val="tx1"/>
            </a:solidFill>
            <a:effectLst>
              <a:outerShdw blurRad="38100" dist="19050" dir="2700000" algn="tl" rotWithShape="0">
                <a:schemeClr val="dk1">
                  <a:alpha val="40000"/>
                </a:schemeClr>
              </a:outerShdw>
            </a:effectLst>
          </a:endParaRPr>
        </a:p>
      </dgm:t>
    </dgm:pt>
    <dgm:pt modelId="{22DCA089-DFE8-4776-A3D5-1A4BD9245C25}" type="sibTrans" cxnId="{CB2186B7-687B-4273-A034-BC9439588571}">
      <dgm:prSet/>
      <dgm:spPr/>
      <dgm:t>
        <a:bodyPr/>
        <a:lstStyle/>
        <a:p>
          <a:endParaRPr lang="zh-CN" altLang="en-US" b="0" cap="none" spc="0">
            <a:ln w="0"/>
            <a:solidFill>
              <a:schemeClr val="tx1"/>
            </a:solidFill>
            <a:effectLst>
              <a:outerShdw blurRad="38100" dist="19050" dir="2700000" algn="tl" rotWithShape="0">
                <a:schemeClr val="dk1">
                  <a:alpha val="40000"/>
                </a:schemeClr>
              </a:outerShdw>
            </a:effectLst>
          </a:endParaRPr>
        </a:p>
      </dgm:t>
    </dgm:pt>
    <dgm:pt modelId="{96208E42-6790-4DDF-82AD-0BC0D22AC4EE}" type="pres">
      <dgm:prSet presAssocID="{2EE43A71-018D-4D4D-A54C-B8108878202B}" presName="diagram" presStyleCnt="0">
        <dgm:presLayoutVars>
          <dgm:dir/>
          <dgm:resizeHandles val="exact"/>
        </dgm:presLayoutVars>
      </dgm:prSet>
      <dgm:spPr/>
    </dgm:pt>
    <dgm:pt modelId="{89055374-A0E4-43BD-84FB-BB2039D1086F}" type="pres">
      <dgm:prSet presAssocID="{BD16D948-EA56-48B2-9AB0-D552E454ED2F}" presName="node" presStyleLbl="node1" presStyleIdx="0" presStyleCnt="10">
        <dgm:presLayoutVars>
          <dgm:bulletEnabled val="1"/>
        </dgm:presLayoutVars>
      </dgm:prSet>
      <dgm:spPr/>
    </dgm:pt>
    <dgm:pt modelId="{21FB6F71-36A0-41DD-BD08-7DD2EFE2C506}" type="pres">
      <dgm:prSet presAssocID="{C3E55A46-F8AF-443E-AFEF-BBA7FA2EAFEB}" presName="sibTrans" presStyleCnt="0"/>
      <dgm:spPr/>
    </dgm:pt>
    <dgm:pt modelId="{E2DD5703-6C44-40B7-8987-08A5DBC4E127}" type="pres">
      <dgm:prSet presAssocID="{9014F143-4FC6-4B7F-851C-A10F2591AFAD}" presName="node" presStyleLbl="node1" presStyleIdx="1" presStyleCnt="10">
        <dgm:presLayoutVars>
          <dgm:bulletEnabled val="1"/>
        </dgm:presLayoutVars>
      </dgm:prSet>
      <dgm:spPr/>
    </dgm:pt>
    <dgm:pt modelId="{BC64ACF3-FC66-40BB-B56C-99355A347F72}" type="pres">
      <dgm:prSet presAssocID="{58A9317C-7C67-4F0B-BE38-1494C93E2A2A}" presName="sibTrans" presStyleCnt="0"/>
      <dgm:spPr/>
    </dgm:pt>
    <dgm:pt modelId="{B48E09A9-3016-4756-B0AB-463DE00FFB3A}" type="pres">
      <dgm:prSet presAssocID="{DFFAFEA0-9825-4992-94E2-FF64F54A5ED9}" presName="node" presStyleLbl="node1" presStyleIdx="2" presStyleCnt="10">
        <dgm:presLayoutVars>
          <dgm:bulletEnabled val="1"/>
        </dgm:presLayoutVars>
      </dgm:prSet>
      <dgm:spPr/>
    </dgm:pt>
    <dgm:pt modelId="{3C763298-921B-425D-9CAF-4DB7823DBD92}" type="pres">
      <dgm:prSet presAssocID="{7DD2858E-F5C2-4F58-AF14-E439DCCC8F98}" presName="sibTrans" presStyleCnt="0"/>
      <dgm:spPr/>
    </dgm:pt>
    <dgm:pt modelId="{C3E02038-55C7-4358-8BCC-3E9296189750}" type="pres">
      <dgm:prSet presAssocID="{ECBFA541-94EA-4329-BE79-D0A86D0AE20F}" presName="node" presStyleLbl="node1" presStyleIdx="3" presStyleCnt="10">
        <dgm:presLayoutVars>
          <dgm:bulletEnabled val="1"/>
        </dgm:presLayoutVars>
      </dgm:prSet>
      <dgm:spPr/>
    </dgm:pt>
    <dgm:pt modelId="{C963654B-2E1E-45E4-AACA-4382FE952D60}" type="pres">
      <dgm:prSet presAssocID="{244E8210-FC7B-4CD2-AFD1-6E1E2985EA21}" presName="sibTrans" presStyleCnt="0"/>
      <dgm:spPr/>
    </dgm:pt>
    <dgm:pt modelId="{4D92466C-069F-4AB0-BE55-7AFCD052D925}" type="pres">
      <dgm:prSet presAssocID="{79587317-5A6C-4C2F-B4EE-40179A6758B3}" presName="node" presStyleLbl="node1" presStyleIdx="4" presStyleCnt="10">
        <dgm:presLayoutVars>
          <dgm:bulletEnabled val="1"/>
        </dgm:presLayoutVars>
      </dgm:prSet>
      <dgm:spPr/>
    </dgm:pt>
    <dgm:pt modelId="{2C3FBA4E-5519-4EC4-9BBA-F0B92A02C547}" type="pres">
      <dgm:prSet presAssocID="{7E3B77D0-801B-49A9-A6CA-B7E29C7BBEC7}" presName="sibTrans" presStyleCnt="0"/>
      <dgm:spPr/>
    </dgm:pt>
    <dgm:pt modelId="{EE097D91-663B-4C37-9704-B49504E92040}" type="pres">
      <dgm:prSet presAssocID="{B33E8B64-696F-405D-A3EB-04973A322D35}" presName="node" presStyleLbl="node1" presStyleIdx="5" presStyleCnt="10">
        <dgm:presLayoutVars>
          <dgm:bulletEnabled val="1"/>
        </dgm:presLayoutVars>
      </dgm:prSet>
      <dgm:spPr/>
    </dgm:pt>
    <dgm:pt modelId="{6F29E812-6E26-484F-88B8-48BD5B50B356}" type="pres">
      <dgm:prSet presAssocID="{2FA2EF99-910C-4E9E-B36D-24D8B3C10D7B}" presName="sibTrans" presStyleCnt="0"/>
      <dgm:spPr/>
    </dgm:pt>
    <dgm:pt modelId="{C9C67977-F64B-4C62-AB4E-52C88E36D407}" type="pres">
      <dgm:prSet presAssocID="{5F2E0A70-4FDC-4602-9CBB-2AC910D23C5D}" presName="node" presStyleLbl="node1" presStyleIdx="6" presStyleCnt="10">
        <dgm:presLayoutVars>
          <dgm:bulletEnabled val="1"/>
        </dgm:presLayoutVars>
      </dgm:prSet>
      <dgm:spPr/>
    </dgm:pt>
    <dgm:pt modelId="{9E9CCCEE-FB93-463B-8FDB-B4AE431D3C54}" type="pres">
      <dgm:prSet presAssocID="{003BA1F6-ECBC-4740-9A76-EC7BE23086AE}" presName="sibTrans" presStyleCnt="0"/>
      <dgm:spPr/>
    </dgm:pt>
    <dgm:pt modelId="{0CA3060F-E399-4909-80A9-83B01BCFFD49}" type="pres">
      <dgm:prSet presAssocID="{095AE8C2-EB2A-4BAB-9558-C3DDDF7A5CD6}" presName="node" presStyleLbl="node1" presStyleIdx="7" presStyleCnt="10">
        <dgm:presLayoutVars>
          <dgm:bulletEnabled val="1"/>
        </dgm:presLayoutVars>
      </dgm:prSet>
      <dgm:spPr/>
    </dgm:pt>
    <dgm:pt modelId="{E4C72DED-9AA9-47F6-B6CE-14D4C2000704}" type="pres">
      <dgm:prSet presAssocID="{EBBEEBF1-2C3D-4E05-9279-39522439C8F2}" presName="sibTrans" presStyleCnt="0"/>
      <dgm:spPr/>
    </dgm:pt>
    <dgm:pt modelId="{ABFE9D2D-402A-4738-B06E-BEA1769061D8}" type="pres">
      <dgm:prSet presAssocID="{15EF9381-102D-4C81-9AB6-584A070BFEA3}" presName="node" presStyleLbl="node1" presStyleIdx="8" presStyleCnt="10">
        <dgm:presLayoutVars>
          <dgm:bulletEnabled val="1"/>
        </dgm:presLayoutVars>
      </dgm:prSet>
      <dgm:spPr/>
    </dgm:pt>
    <dgm:pt modelId="{CD7C7D11-EAF7-46B6-87C7-9E06EBAA9775}" type="pres">
      <dgm:prSet presAssocID="{AABAFAB4-EDBE-48CF-9787-FDA3780C9C35}" presName="sibTrans" presStyleCnt="0"/>
      <dgm:spPr/>
    </dgm:pt>
    <dgm:pt modelId="{E2ADF87D-DF8C-4BAE-9B46-7DB3F45F4826}" type="pres">
      <dgm:prSet presAssocID="{E6671756-9321-4CC8-9637-942CA95C40EF}" presName="node" presStyleLbl="node1" presStyleIdx="9" presStyleCnt="10">
        <dgm:presLayoutVars>
          <dgm:bulletEnabled val="1"/>
        </dgm:presLayoutVars>
      </dgm:prSet>
      <dgm:spPr/>
    </dgm:pt>
  </dgm:ptLst>
  <dgm:cxnLst>
    <dgm:cxn modelId="{8B244A19-E6D8-4C4F-8503-B35519C017CC}" type="presOf" srcId="{BD16D948-EA56-48B2-9AB0-D552E454ED2F}" destId="{89055374-A0E4-43BD-84FB-BB2039D1086F}" srcOrd="0" destOrd="0" presId="urn:microsoft.com/office/officeart/2005/8/layout/default"/>
    <dgm:cxn modelId="{45696828-786A-46D4-957C-F8E29BE727B3}" srcId="{2EE43A71-018D-4D4D-A54C-B8108878202B}" destId="{095AE8C2-EB2A-4BAB-9558-C3DDDF7A5CD6}" srcOrd="7" destOrd="0" parTransId="{5BFF9305-BA87-4FA7-87AF-0D1A86835D66}" sibTransId="{EBBEEBF1-2C3D-4E05-9279-39522439C8F2}"/>
    <dgm:cxn modelId="{79776532-699C-4A76-ABD9-3AD508E79177}" type="presOf" srcId="{B33E8B64-696F-405D-A3EB-04973A322D35}" destId="{EE097D91-663B-4C37-9704-B49504E92040}" srcOrd="0" destOrd="0" presId="urn:microsoft.com/office/officeart/2005/8/layout/default"/>
    <dgm:cxn modelId="{9908553D-79A5-46C6-8454-23B0F116E693}" type="presOf" srcId="{095AE8C2-EB2A-4BAB-9558-C3DDDF7A5CD6}" destId="{0CA3060F-E399-4909-80A9-83B01BCFFD49}" srcOrd="0" destOrd="0" presId="urn:microsoft.com/office/officeart/2005/8/layout/default"/>
    <dgm:cxn modelId="{FCAE045F-4774-40F3-A66B-A153048AD2D7}" srcId="{2EE43A71-018D-4D4D-A54C-B8108878202B}" destId="{BD16D948-EA56-48B2-9AB0-D552E454ED2F}" srcOrd="0" destOrd="0" parTransId="{1E0DBAFB-B645-42D9-A543-AB56216902C7}" sibTransId="{C3E55A46-F8AF-443E-AFEF-BBA7FA2EAFEB}"/>
    <dgm:cxn modelId="{FBA37641-8D98-45BA-8EEE-2F446F9364C0}" type="presOf" srcId="{79587317-5A6C-4C2F-B4EE-40179A6758B3}" destId="{4D92466C-069F-4AB0-BE55-7AFCD052D925}" srcOrd="0" destOrd="0" presId="urn:microsoft.com/office/officeart/2005/8/layout/default"/>
    <dgm:cxn modelId="{2AD1D843-6ABE-42CD-A3F1-15E5A8CB0880}" srcId="{2EE43A71-018D-4D4D-A54C-B8108878202B}" destId="{15EF9381-102D-4C81-9AB6-584A070BFEA3}" srcOrd="8" destOrd="0" parTransId="{C9D92240-06C8-4B88-9509-797280D05656}" sibTransId="{AABAFAB4-EDBE-48CF-9787-FDA3780C9C35}"/>
    <dgm:cxn modelId="{EFD3AA45-28F0-4330-BDB6-635ACB8F2166}" type="presOf" srcId="{9014F143-4FC6-4B7F-851C-A10F2591AFAD}" destId="{E2DD5703-6C44-40B7-8987-08A5DBC4E127}" srcOrd="0" destOrd="0" presId="urn:microsoft.com/office/officeart/2005/8/layout/default"/>
    <dgm:cxn modelId="{656A3349-C663-47BE-85F6-D516A1316B1D}" srcId="{2EE43A71-018D-4D4D-A54C-B8108878202B}" destId="{5F2E0A70-4FDC-4602-9CBB-2AC910D23C5D}" srcOrd="6" destOrd="0" parTransId="{1C03C596-D222-49F6-ADC4-5D23C063EA3C}" sibTransId="{003BA1F6-ECBC-4740-9A76-EC7BE23086AE}"/>
    <dgm:cxn modelId="{51848F89-E82A-42A2-89DC-D00CE8862DCA}" type="presOf" srcId="{2EE43A71-018D-4D4D-A54C-B8108878202B}" destId="{96208E42-6790-4DDF-82AD-0BC0D22AC4EE}" srcOrd="0" destOrd="0" presId="urn:microsoft.com/office/officeart/2005/8/layout/default"/>
    <dgm:cxn modelId="{8F81889A-EE0F-4E6B-9A1D-4E024733ACE0}" type="presOf" srcId="{ECBFA541-94EA-4329-BE79-D0A86D0AE20F}" destId="{C3E02038-55C7-4358-8BCC-3E9296189750}" srcOrd="0" destOrd="0" presId="urn:microsoft.com/office/officeart/2005/8/layout/default"/>
    <dgm:cxn modelId="{9789589E-7DDA-4A13-B57E-8112AAECF27B}" srcId="{2EE43A71-018D-4D4D-A54C-B8108878202B}" destId="{ECBFA541-94EA-4329-BE79-D0A86D0AE20F}" srcOrd="3" destOrd="0" parTransId="{57D720EC-36FF-4B5F-A568-66580F147774}" sibTransId="{244E8210-FC7B-4CD2-AFD1-6E1E2985EA21}"/>
    <dgm:cxn modelId="{6C852BA8-8AC4-4782-B3EF-A156883A2FCF}" type="presOf" srcId="{DFFAFEA0-9825-4992-94E2-FF64F54A5ED9}" destId="{B48E09A9-3016-4756-B0AB-463DE00FFB3A}" srcOrd="0" destOrd="0" presId="urn:microsoft.com/office/officeart/2005/8/layout/default"/>
    <dgm:cxn modelId="{DF3975B2-B4C4-4B80-880A-B54CDE76F72D}" srcId="{2EE43A71-018D-4D4D-A54C-B8108878202B}" destId="{DFFAFEA0-9825-4992-94E2-FF64F54A5ED9}" srcOrd="2" destOrd="0" parTransId="{FDD21213-F1CD-4C21-92CA-F041FDB91D30}" sibTransId="{7DD2858E-F5C2-4F58-AF14-E439DCCC8F98}"/>
    <dgm:cxn modelId="{92FC00B7-894D-4717-995F-52B4C0E176A5}" type="presOf" srcId="{5F2E0A70-4FDC-4602-9CBB-2AC910D23C5D}" destId="{C9C67977-F64B-4C62-AB4E-52C88E36D407}" srcOrd="0" destOrd="0" presId="urn:microsoft.com/office/officeart/2005/8/layout/default"/>
    <dgm:cxn modelId="{CB2186B7-687B-4273-A034-BC9439588571}" srcId="{2EE43A71-018D-4D4D-A54C-B8108878202B}" destId="{E6671756-9321-4CC8-9637-942CA95C40EF}" srcOrd="9" destOrd="0" parTransId="{E4992724-3689-4758-8D44-D045621DFC0C}" sibTransId="{22DCA089-DFE8-4776-A3D5-1A4BD9245C25}"/>
    <dgm:cxn modelId="{66271BC4-A2FB-40C8-AF58-4C1DAD7B3441}" type="presOf" srcId="{E6671756-9321-4CC8-9637-942CA95C40EF}" destId="{E2ADF87D-DF8C-4BAE-9B46-7DB3F45F4826}" srcOrd="0" destOrd="0" presId="urn:microsoft.com/office/officeart/2005/8/layout/default"/>
    <dgm:cxn modelId="{B90F58C4-5676-41A3-9B19-E8D97ACD39C1}" srcId="{2EE43A71-018D-4D4D-A54C-B8108878202B}" destId="{B33E8B64-696F-405D-A3EB-04973A322D35}" srcOrd="5" destOrd="0" parTransId="{A12E8B7D-DECC-41CC-B459-E09D081BD3AC}" sibTransId="{2FA2EF99-910C-4E9E-B36D-24D8B3C10D7B}"/>
    <dgm:cxn modelId="{4AEC8ECB-72A8-44EA-88CB-B9BB5E38F67C}" srcId="{2EE43A71-018D-4D4D-A54C-B8108878202B}" destId="{9014F143-4FC6-4B7F-851C-A10F2591AFAD}" srcOrd="1" destOrd="0" parTransId="{A77DFEA3-3324-4C31-87F9-9A1A5BD2D56E}" sibTransId="{58A9317C-7C67-4F0B-BE38-1494C93E2A2A}"/>
    <dgm:cxn modelId="{ECB03DDE-0646-44E5-A3C5-0A7B83DBACA2}" type="presOf" srcId="{15EF9381-102D-4C81-9AB6-584A070BFEA3}" destId="{ABFE9D2D-402A-4738-B06E-BEA1769061D8}" srcOrd="0" destOrd="0" presId="urn:microsoft.com/office/officeart/2005/8/layout/default"/>
    <dgm:cxn modelId="{030AFEE5-C17E-4B9E-A065-044583501E4E}" srcId="{2EE43A71-018D-4D4D-A54C-B8108878202B}" destId="{79587317-5A6C-4C2F-B4EE-40179A6758B3}" srcOrd="4" destOrd="0" parTransId="{C64946F3-3324-4E08-81FE-D72537A9A3EE}" sibTransId="{7E3B77D0-801B-49A9-A6CA-B7E29C7BBEC7}"/>
    <dgm:cxn modelId="{91965973-F610-43BB-A083-D6670BDC4AA5}" type="presParOf" srcId="{96208E42-6790-4DDF-82AD-0BC0D22AC4EE}" destId="{89055374-A0E4-43BD-84FB-BB2039D1086F}" srcOrd="0" destOrd="0" presId="urn:microsoft.com/office/officeart/2005/8/layout/default"/>
    <dgm:cxn modelId="{14A487DD-2809-4114-AF1B-B3348C7C7F71}" type="presParOf" srcId="{96208E42-6790-4DDF-82AD-0BC0D22AC4EE}" destId="{21FB6F71-36A0-41DD-BD08-7DD2EFE2C506}" srcOrd="1" destOrd="0" presId="urn:microsoft.com/office/officeart/2005/8/layout/default"/>
    <dgm:cxn modelId="{0486AAAA-2848-4760-96A9-0EDB3D72F100}" type="presParOf" srcId="{96208E42-6790-4DDF-82AD-0BC0D22AC4EE}" destId="{E2DD5703-6C44-40B7-8987-08A5DBC4E127}" srcOrd="2" destOrd="0" presId="urn:microsoft.com/office/officeart/2005/8/layout/default"/>
    <dgm:cxn modelId="{E2C31B33-E770-4A9E-B7DD-DF42F4E87E14}" type="presParOf" srcId="{96208E42-6790-4DDF-82AD-0BC0D22AC4EE}" destId="{BC64ACF3-FC66-40BB-B56C-99355A347F72}" srcOrd="3" destOrd="0" presId="urn:microsoft.com/office/officeart/2005/8/layout/default"/>
    <dgm:cxn modelId="{B3B08581-2F49-4F79-84D8-66657272538D}" type="presParOf" srcId="{96208E42-6790-4DDF-82AD-0BC0D22AC4EE}" destId="{B48E09A9-3016-4756-B0AB-463DE00FFB3A}" srcOrd="4" destOrd="0" presId="urn:microsoft.com/office/officeart/2005/8/layout/default"/>
    <dgm:cxn modelId="{D6B4F09A-017E-4BF8-8E25-73133B790D0D}" type="presParOf" srcId="{96208E42-6790-4DDF-82AD-0BC0D22AC4EE}" destId="{3C763298-921B-425D-9CAF-4DB7823DBD92}" srcOrd="5" destOrd="0" presId="urn:microsoft.com/office/officeart/2005/8/layout/default"/>
    <dgm:cxn modelId="{3BFAAD98-9717-4A1C-A7B2-CD6DA8E63AD0}" type="presParOf" srcId="{96208E42-6790-4DDF-82AD-0BC0D22AC4EE}" destId="{C3E02038-55C7-4358-8BCC-3E9296189750}" srcOrd="6" destOrd="0" presId="urn:microsoft.com/office/officeart/2005/8/layout/default"/>
    <dgm:cxn modelId="{228004E0-FD5D-4A0E-83ED-55BB81321237}" type="presParOf" srcId="{96208E42-6790-4DDF-82AD-0BC0D22AC4EE}" destId="{C963654B-2E1E-45E4-AACA-4382FE952D60}" srcOrd="7" destOrd="0" presId="urn:microsoft.com/office/officeart/2005/8/layout/default"/>
    <dgm:cxn modelId="{263E6F43-C6C3-4F03-87EF-D52054A43F2D}" type="presParOf" srcId="{96208E42-6790-4DDF-82AD-0BC0D22AC4EE}" destId="{4D92466C-069F-4AB0-BE55-7AFCD052D925}" srcOrd="8" destOrd="0" presId="urn:microsoft.com/office/officeart/2005/8/layout/default"/>
    <dgm:cxn modelId="{2F49FFA6-96B1-4DC0-9296-A4E74E567D52}" type="presParOf" srcId="{96208E42-6790-4DDF-82AD-0BC0D22AC4EE}" destId="{2C3FBA4E-5519-4EC4-9BBA-F0B92A02C547}" srcOrd="9" destOrd="0" presId="urn:microsoft.com/office/officeart/2005/8/layout/default"/>
    <dgm:cxn modelId="{2A8B558F-7B34-4771-B927-2413E7EFE6F6}" type="presParOf" srcId="{96208E42-6790-4DDF-82AD-0BC0D22AC4EE}" destId="{EE097D91-663B-4C37-9704-B49504E92040}" srcOrd="10" destOrd="0" presId="urn:microsoft.com/office/officeart/2005/8/layout/default"/>
    <dgm:cxn modelId="{AA488D21-CA4A-4074-9AD6-50C02A051F46}" type="presParOf" srcId="{96208E42-6790-4DDF-82AD-0BC0D22AC4EE}" destId="{6F29E812-6E26-484F-88B8-48BD5B50B356}" srcOrd="11" destOrd="0" presId="urn:microsoft.com/office/officeart/2005/8/layout/default"/>
    <dgm:cxn modelId="{39251ECA-2AF1-4D3A-990A-977434D65325}" type="presParOf" srcId="{96208E42-6790-4DDF-82AD-0BC0D22AC4EE}" destId="{C9C67977-F64B-4C62-AB4E-52C88E36D407}" srcOrd="12" destOrd="0" presId="urn:microsoft.com/office/officeart/2005/8/layout/default"/>
    <dgm:cxn modelId="{52AA23D3-5629-471B-8D31-1B777A7EAB83}" type="presParOf" srcId="{96208E42-6790-4DDF-82AD-0BC0D22AC4EE}" destId="{9E9CCCEE-FB93-463B-8FDB-B4AE431D3C54}" srcOrd="13" destOrd="0" presId="urn:microsoft.com/office/officeart/2005/8/layout/default"/>
    <dgm:cxn modelId="{664544F4-FB29-480B-BC8D-D2F1889C962A}" type="presParOf" srcId="{96208E42-6790-4DDF-82AD-0BC0D22AC4EE}" destId="{0CA3060F-E399-4909-80A9-83B01BCFFD49}" srcOrd="14" destOrd="0" presId="urn:microsoft.com/office/officeart/2005/8/layout/default"/>
    <dgm:cxn modelId="{557E5300-671A-4C27-8D49-3D5DB3F61E03}" type="presParOf" srcId="{96208E42-6790-4DDF-82AD-0BC0D22AC4EE}" destId="{E4C72DED-9AA9-47F6-B6CE-14D4C2000704}" srcOrd="15" destOrd="0" presId="urn:microsoft.com/office/officeart/2005/8/layout/default"/>
    <dgm:cxn modelId="{6A4F6961-8168-4BEA-8980-7B9B47D4BDA6}" type="presParOf" srcId="{96208E42-6790-4DDF-82AD-0BC0D22AC4EE}" destId="{ABFE9D2D-402A-4738-B06E-BEA1769061D8}" srcOrd="16" destOrd="0" presId="urn:microsoft.com/office/officeart/2005/8/layout/default"/>
    <dgm:cxn modelId="{96EB57AE-7B4D-451F-93F3-D02F45A82974}" type="presParOf" srcId="{96208E42-6790-4DDF-82AD-0BC0D22AC4EE}" destId="{CD7C7D11-EAF7-46B6-87C7-9E06EBAA9775}" srcOrd="17" destOrd="0" presId="urn:microsoft.com/office/officeart/2005/8/layout/default"/>
    <dgm:cxn modelId="{DCE7FF69-8A8F-4F73-B1EF-96604AFCF0A3}" type="presParOf" srcId="{96208E42-6790-4DDF-82AD-0BC0D22AC4EE}" destId="{E2ADF87D-DF8C-4BAE-9B46-7DB3F45F4826}" srcOrd="1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055374-A0E4-43BD-84FB-BB2039D1086F}">
      <dsp:nvSpPr>
        <dsp:cNvPr id="0" name=""/>
        <dsp:cNvSpPr/>
      </dsp:nvSpPr>
      <dsp:spPr>
        <a:xfrm>
          <a:off x="2344" y="425684"/>
          <a:ext cx="1860315" cy="1116189"/>
        </a:xfrm>
        <a:prstGeom prst="rect">
          <a:avLst/>
        </a:prstGeom>
        <a:gradFill rotWithShape="0">
          <a:gsLst>
            <a:gs pos="0">
              <a:schemeClr val="accent2">
                <a:hueOff val="0"/>
                <a:satOff val="0"/>
                <a:lumOff val="0"/>
                <a:alphaOff val="0"/>
                <a:tint val="98000"/>
                <a:satMod val="110000"/>
                <a:lumMod val="104000"/>
              </a:schemeClr>
            </a:gs>
            <a:gs pos="69000">
              <a:schemeClr val="accent2">
                <a:hueOff val="0"/>
                <a:satOff val="0"/>
                <a:lumOff val="0"/>
                <a:alphaOff val="0"/>
                <a:shade val="88000"/>
                <a:satMod val="130000"/>
                <a:lumMod val="92000"/>
              </a:schemeClr>
            </a:gs>
            <a:gs pos="100000">
              <a:schemeClr val="accent2">
                <a:hueOff val="0"/>
                <a:satOff val="0"/>
                <a:lumOff val="0"/>
                <a:alphaOff val="0"/>
                <a:shade val="78000"/>
                <a:satMod val="130000"/>
                <a:lumMod val="92000"/>
              </a:schemeClr>
            </a:gs>
          </a:gsLst>
          <a:lin ang="5400000" scaled="0"/>
        </a:gradFill>
        <a:ln>
          <a:noFill/>
        </a:ln>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rtl="0">
            <a:lnSpc>
              <a:spcPct val="90000"/>
            </a:lnSpc>
            <a:spcBef>
              <a:spcPct val="0"/>
            </a:spcBef>
            <a:spcAft>
              <a:spcPct val="35000"/>
            </a:spcAft>
            <a:buNone/>
          </a:pPr>
          <a:r>
            <a:rPr lang="en-US" sz="2300" b="0" kern="1200" cap="none" spc="0" dirty="0">
              <a:ln w="0"/>
              <a:solidFill>
                <a:schemeClr val="tx1"/>
              </a:solidFill>
              <a:effectLst>
                <a:outerShdw blurRad="38100" dist="19050" dir="2700000" algn="tl" rotWithShape="0">
                  <a:schemeClr val="dk1">
                    <a:alpha val="40000"/>
                  </a:schemeClr>
                </a:outerShdw>
              </a:effectLst>
            </a:rPr>
            <a:t>1. Project Evaluation</a:t>
          </a:r>
          <a:endParaRPr lang="zh-CN" sz="2300" b="0" kern="1200" cap="none" spc="0" dirty="0">
            <a:ln w="0"/>
            <a:solidFill>
              <a:schemeClr val="tx1"/>
            </a:solidFill>
            <a:effectLst>
              <a:outerShdw blurRad="38100" dist="19050" dir="2700000" algn="tl" rotWithShape="0">
                <a:schemeClr val="dk1">
                  <a:alpha val="40000"/>
                </a:schemeClr>
              </a:outerShdw>
            </a:effectLst>
          </a:endParaRPr>
        </a:p>
      </dsp:txBody>
      <dsp:txXfrm>
        <a:off x="2344" y="425684"/>
        <a:ext cx="1860315" cy="1116189"/>
      </dsp:txXfrm>
    </dsp:sp>
    <dsp:sp modelId="{E2DD5703-6C44-40B7-8987-08A5DBC4E127}">
      <dsp:nvSpPr>
        <dsp:cNvPr id="0" name=""/>
        <dsp:cNvSpPr/>
      </dsp:nvSpPr>
      <dsp:spPr>
        <a:xfrm>
          <a:off x="2048692" y="425684"/>
          <a:ext cx="1860315" cy="1116189"/>
        </a:xfrm>
        <a:prstGeom prst="rect">
          <a:avLst/>
        </a:prstGeom>
        <a:gradFill rotWithShape="0">
          <a:gsLst>
            <a:gs pos="0">
              <a:schemeClr val="accent3">
                <a:hueOff val="0"/>
                <a:satOff val="0"/>
                <a:lumOff val="0"/>
                <a:alphaOff val="0"/>
                <a:tint val="98000"/>
                <a:satMod val="110000"/>
                <a:lumMod val="104000"/>
              </a:schemeClr>
            </a:gs>
            <a:gs pos="69000">
              <a:schemeClr val="accent3">
                <a:hueOff val="0"/>
                <a:satOff val="0"/>
                <a:lumOff val="0"/>
                <a:alphaOff val="0"/>
                <a:shade val="88000"/>
                <a:satMod val="130000"/>
                <a:lumMod val="92000"/>
              </a:schemeClr>
            </a:gs>
            <a:gs pos="100000">
              <a:schemeClr val="accent3">
                <a:hueOff val="0"/>
                <a:satOff val="0"/>
                <a:lumOff val="0"/>
                <a:alphaOff val="0"/>
                <a:shade val="78000"/>
                <a:satMod val="130000"/>
                <a:lumMod val="92000"/>
              </a:schemeClr>
            </a:gs>
          </a:gsLst>
          <a:lin ang="5400000" scaled="0"/>
        </a:gradFill>
        <a:ln>
          <a:noFill/>
        </a:ln>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rtl="0">
            <a:lnSpc>
              <a:spcPct val="90000"/>
            </a:lnSpc>
            <a:spcBef>
              <a:spcPct val="0"/>
            </a:spcBef>
            <a:spcAft>
              <a:spcPct val="35000"/>
            </a:spcAft>
            <a:buNone/>
          </a:pPr>
          <a:r>
            <a:rPr lang="en-US" sz="2300" b="0" kern="1200" cap="none" spc="0">
              <a:ln w="0"/>
              <a:solidFill>
                <a:schemeClr val="tx1"/>
              </a:solidFill>
              <a:effectLst>
                <a:outerShdw blurRad="38100" dist="19050" dir="2700000" algn="tl" rotWithShape="0">
                  <a:schemeClr val="dk1">
                    <a:alpha val="40000"/>
                  </a:schemeClr>
                </a:outerShdw>
              </a:effectLst>
            </a:rPr>
            <a:t>2. Project Planning</a:t>
          </a:r>
          <a:endParaRPr lang="zh-CN" sz="2300" b="0" kern="1200" cap="none" spc="0">
            <a:ln w="0"/>
            <a:solidFill>
              <a:schemeClr val="tx1"/>
            </a:solidFill>
            <a:effectLst>
              <a:outerShdw blurRad="38100" dist="19050" dir="2700000" algn="tl" rotWithShape="0">
                <a:schemeClr val="dk1">
                  <a:alpha val="40000"/>
                </a:schemeClr>
              </a:outerShdw>
            </a:effectLst>
          </a:endParaRPr>
        </a:p>
      </dsp:txBody>
      <dsp:txXfrm>
        <a:off x="2048692" y="425684"/>
        <a:ext cx="1860315" cy="1116189"/>
      </dsp:txXfrm>
    </dsp:sp>
    <dsp:sp modelId="{B48E09A9-3016-4756-B0AB-463DE00FFB3A}">
      <dsp:nvSpPr>
        <dsp:cNvPr id="0" name=""/>
        <dsp:cNvSpPr/>
      </dsp:nvSpPr>
      <dsp:spPr>
        <a:xfrm>
          <a:off x="4095039" y="425684"/>
          <a:ext cx="1860315" cy="1116189"/>
        </a:xfrm>
        <a:prstGeom prst="rect">
          <a:avLst/>
        </a:prstGeom>
        <a:gradFill rotWithShape="0">
          <a:gsLst>
            <a:gs pos="0">
              <a:schemeClr val="accent4">
                <a:hueOff val="0"/>
                <a:satOff val="0"/>
                <a:lumOff val="0"/>
                <a:alphaOff val="0"/>
                <a:tint val="98000"/>
                <a:satMod val="110000"/>
                <a:lumMod val="104000"/>
              </a:schemeClr>
            </a:gs>
            <a:gs pos="69000">
              <a:schemeClr val="accent4">
                <a:hueOff val="0"/>
                <a:satOff val="0"/>
                <a:lumOff val="0"/>
                <a:alphaOff val="0"/>
                <a:shade val="88000"/>
                <a:satMod val="130000"/>
                <a:lumMod val="92000"/>
              </a:schemeClr>
            </a:gs>
            <a:gs pos="100000">
              <a:schemeClr val="accent4">
                <a:hueOff val="0"/>
                <a:satOff val="0"/>
                <a:lumOff val="0"/>
                <a:alphaOff val="0"/>
                <a:shade val="78000"/>
                <a:satMod val="130000"/>
                <a:lumMod val="92000"/>
              </a:schemeClr>
            </a:gs>
          </a:gsLst>
          <a:lin ang="5400000" scaled="0"/>
        </a:gradFill>
        <a:ln>
          <a:noFill/>
        </a:ln>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rtl="0">
            <a:lnSpc>
              <a:spcPct val="90000"/>
            </a:lnSpc>
            <a:spcBef>
              <a:spcPct val="0"/>
            </a:spcBef>
            <a:spcAft>
              <a:spcPct val="35000"/>
            </a:spcAft>
            <a:buNone/>
          </a:pPr>
          <a:r>
            <a:rPr lang="en-US" sz="2300" b="0" kern="1200" cap="none" spc="0" dirty="0">
              <a:ln w="0"/>
              <a:solidFill>
                <a:schemeClr val="tx1"/>
              </a:solidFill>
              <a:effectLst>
                <a:outerShdw blurRad="38100" dist="19050" dir="2700000" algn="tl" rotWithShape="0">
                  <a:schemeClr val="dk1">
                    <a:alpha val="40000"/>
                  </a:schemeClr>
                </a:outerShdw>
              </a:effectLst>
            </a:rPr>
            <a:t>3. Software effort estimation</a:t>
          </a:r>
          <a:endParaRPr lang="zh-CN" sz="2300" b="0" kern="1200" cap="none" spc="0" dirty="0">
            <a:ln w="0"/>
            <a:solidFill>
              <a:schemeClr val="tx1"/>
            </a:solidFill>
            <a:effectLst>
              <a:outerShdw blurRad="38100" dist="19050" dir="2700000" algn="tl" rotWithShape="0">
                <a:schemeClr val="dk1">
                  <a:alpha val="40000"/>
                </a:schemeClr>
              </a:outerShdw>
            </a:effectLst>
          </a:endParaRPr>
        </a:p>
      </dsp:txBody>
      <dsp:txXfrm>
        <a:off x="4095039" y="425684"/>
        <a:ext cx="1860315" cy="1116189"/>
      </dsp:txXfrm>
    </dsp:sp>
    <dsp:sp modelId="{C3E02038-55C7-4358-8BCC-3E9296189750}">
      <dsp:nvSpPr>
        <dsp:cNvPr id="0" name=""/>
        <dsp:cNvSpPr/>
      </dsp:nvSpPr>
      <dsp:spPr>
        <a:xfrm>
          <a:off x="6141387" y="425684"/>
          <a:ext cx="1860315" cy="1116189"/>
        </a:xfrm>
        <a:prstGeom prst="rect">
          <a:avLst/>
        </a:prstGeom>
        <a:gradFill rotWithShape="0">
          <a:gsLst>
            <a:gs pos="0">
              <a:schemeClr val="accent5">
                <a:hueOff val="0"/>
                <a:satOff val="0"/>
                <a:lumOff val="0"/>
                <a:alphaOff val="0"/>
                <a:tint val="98000"/>
                <a:satMod val="110000"/>
                <a:lumMod val="104000"/>
              </a:schemeClr>
            </a:gs>
            <a:gs pos="69000">
              <a:schemeClr val="accent5">
                <a:hueOff val="0"/>
                <a:satOff val="0"/>
                <a:lumOff val="0"/>
                <a:alphaOff val="0"/>
                <a:shade val="88000"/>
                <a:satMod val="130000"/>
                <a:lumMod val="92000"/>
              </a:schemeClr>
            </a:gs>
            <a:gs pos="100000">
              <a:schemeClr val="accent5">
                <a:hueOff val="0"/>
                <a:satOff val="0"/>
                <a:lumOff val="0"/>
                <a:alphaOff val="0"/>
                <a:shade val="78000"/>
                <a:satMod val="130000"/>
                <a:lumMod val="92000"/>
              </a:schemeClr>
            </a:gs>
          </a:gsLst>
          <a:lin ang="5400000" scaled="0"/>
        </a:gradFill>
        <a:ln>
          <a:noFill/>
        </a:ln>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rtl="0">
            <a:lnSpc>
              <a:spcPct val="90000"/>
            </a:lnSpc>
            <a:spcBef>
              <a:spcPct val="0"/>
            </a:spcBef>
            <a:spcAft>
              <a:spcPct val="35000"/>
            </a:spcAft>
            <a:buNone/>
          </a:pPr>
          <a:r>
            <a:rPr lang="en-US" sz="2300" b="0" kern="1200" cap="none" spc="0">
              <a:ln w="0"/>
              <a:solidFill>
                <a:schemeClr val="tx1"/>
              </a:solidFill>
              <a:effectLst>
                <a:outerShdw blurRad="38100" dist="19050" dir="2700000" algn="tl" rotWithShape="0">
                  <a:schemeClr val="dk1">
                    <a:alpha val="40000"/>
                  </a:schemeClr>
                </a:outerShdw>
              </a:effectLst>
            </a:rPr>
            <a:t>4. Activity planning</a:t>
          </a:r>
          <a:endParaRPr lang="zh-CN" sz="2300" b="0" kern="1200" cap="none" spc="0">
            <a:ln w="0"/>
            <a:solidFill>
              <a:schemeClr val="tx1"/>
            </a:solidFill>
            <a:effectLst>
              <a:outerShdw blurRad="38100" dist="19050" dir="2700000" algn="tl" rotWithShape="0">
                <a:schemeClr val="dk1">
                  <a:alpha val="40000"/>
                </a:schemeClr>
              </a:outerShdw>
            </a:effectLst>
          </a:endParaRPr>
        </a:p>
      </dsp:txBody>
      <dsp:txXfrm>
        <a:off x="6141387" y="425684"/>
        <a:ext cx="1860315" cy="1116189"/>
      </dsp:txXfrm>
    </dsp:sp>
    <dsp:sp modelId="{4D92466C-069F-4AB0-BE55-7AFCD052D925}">
      <dsp:nvSpPr>
        <dsp:cNvPr id="0" name=""/>
        <dsp:cNvSpPr/>
      </dsp:nvSpPr>
      <dsp:spPr>
        <a:xfrm>
          <a:off x="2344" y="1727905"/>
          <a:ext cx="1860315" cy="1116189"/>
        </a:xfrm>
        <a:prstGeom prst="rect">
          <a:avLst/>
        </a:prstGeom>
        <a:gradFill rotWithShape="0">
          <a:gsLst>
            <a:gs pos="0">
              <a:schemeClr val="accent6">
                <a:hueOff val="0"/>
                <a:satOff val="0"/>
                <a:lumOff val="0"/>
                <a:alphaOff val="0"/>
                <a:tint val="98000"/>
                <a:satMod val="110000"/>
                <a:lumMod val="104000"/>
              </a:schemeClr>
            </a:gs>
            <a:gs pos="69000">
              <a:schemeClr val="accent6">
                <a:hueOff val="0"/>
                <a:satOff val="0"/>
                <a:lumOff val="0"/>
                <a:alphaOff val="0"/>
                <a:shade val="88000"/>
                <a:satMod val="130000"/>
                <a:lumMod val="92000"/>
              </a:schemeClr>
            </a:gs>
            <a:gs pos="100000">
              <a:schemeClr val="accent6">
                <a:hueOff val="0"/>
                <a:satOff val="0"/>
                <a:lumOff val="0"/>
                <a:alphaOff val="0"/>
                <a:shade val="78000"/>
                <a:satMod val="130000"/>
                <a:lumMod val="92000"/>
              </a:schemeClr>
            </a:gs>
          </a:gsLst>
          <a:lin ang="5400000" scaled="0"/>
        </a:gradFill>
        <a:ln>
          <a:noFill/>
        </a:ln>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rtl="0">
            <a:lnSpc>
              <a:spcPct val="90000"/>
            </a:lnSpc>
            <a:spcBef>
              <a:spcPct val="0"/>
            </a:spcBef>
            <a:spcAft>
              <a:spcPct val="35000"/>
            </a:spcAft>
            <a:buNone/>
          </a:pPr>
          <a:r>
            <a:rPr lang="en-US" sz="2300" b="0" kern="1200" cap="none" spc="0">
              <a:ln w="0"/>
              <a:solidFill>
                <a:schemeClr val="tx1"/>
              </a:solidFill>
              <a:effectLst>
                <a:outerShdw blurRad="38100" dist="19050" dir="2700000" algn="tl" rotWithShape="0">
                  <a:schemeClr val="dk1">
                    <a:alpha val="40000"/>
                  </a:schemeClr>
                </a:outerShdw>
              </a:effectLst>
            </a:rPr>
            <a:t>5. Risk Management</a:t>
          </a:r>
          <a:endParaRPr lang="zh-CN" sz="2300" b="0" kern="1200" cap="none" spc="0">
            <a:ln w="0"/>
            <a:solidFill>
              <a:schemeClr val="tx1"/>
            </a:solidFill>
            <a:effectLst>
              <a:outerShdw blurRad="38100" dist="19050" dir="2700000" algn="tl" rotWithShape="0">
                <a:schemeClr val="dk1">
                  <a:alpha val="40000"/>
                </a:schemeClr>
              </a:outerShdw>
            </a:effectLst>
          </a:endParaRPr>
        </a:p>
      </dsp:txBody>
      <dsp:txXfrm>
        <a:off x="2344" y="1727905"/>
        <a:ext cx="1860315" cy="1116189"/>
      </dsp:txXfrm>
    </dsp:sp>
    <dsp:sp modelId="{EE097D91-663B-4C37-9704-B49504E92040}">
      <dsp:nvSpPr>
        <dsp:cNvPr id="0" name=""/>
        <dsp:cNvSpPr/>
      </dsp:nvSpPr>
      <dsp:spPr>
        <a:xfrm>
          <a:off x="2048692" y="1727905"/>
          <a:ext cx="1860315" cy="1116189"/>
        </a:xfrm>
        <a:prstGeom prst="rect">
          <a:avLst/>
        </a:prstGeom>
        <a:gradFill rotWithShape="0">
          <a:gsLst>
            <a:gs pos="0">
              <a:schemeClr val="accent2">
                <a:hueOff val="0"/>
                <a:satOff val="0"/>
                <a:lumOff val="0"/>
                <a:alphaOff val="0"/>
                <a:tint val="98000"/>
                <a:satMod val="110000"/>
                <a:lumMod val="104000"/>
              </a:schemeClr>
            </a:gs>
            <a:gs pos="69000">
              <a:schemeClr val="accent2">
                <a:hueOff val="0"/>
                <a:satOff val="0"/>
                <a:lumOff val="0"/>
                <a:alphaOff val="0"/>
                <a:shade val="88000"/>
                <a:satMod val="130000"/>
                <a:lumMod val="92000"/>
              </a:schemeClr>
            </a:gs>
            <a:gs pos="100000">
              <a:schemeClr val="accent2">
                <a:hueOff val="0"/>
                <a:satOff val="0"/>
                <a:lumOff val="0"/>
                <a:alphaOff val="0"/>
                <a:shade val="78000"/>
                <a:satMod val="130000"/>
                <a:lumMod val="92000"/>
              </a:schemeClr>
            </a:gs>
          </a:gsLst>
          <a:lin ang="5400000" scaled="0"/>
        </a:gradFill>
        <a:ln>
          <a:noFill/>
        </a:ln>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rtl="0">
            <a:lnSpc>
              <a:spcPct val="90000"/>
            </a:lnSpc>
            <a:spcBef>
              <a:spcPct val="0"/>
            </a:spcBef>
            <a:spcAft>
              <a:spcPct val="35000"/>
            </a:spcAft>
            <a:buNone/>
          </a:pPr>
          <a:r>
            <a:rPr lang="en-US" sz="2300" b="0" kern="1200" cap="none" spc="0">
              <a:ln w="0"/>
              <a:solidFill>
                <a:schemeClr val="tx1"/>
              </a:solidFill>
              <a:effectLst>
                <a:outerShdw blurRad="38100" dist="19050" dir="2700000" algn="tl" rotWithShape="0">
                  <a:schemeClr val="dk1">
                    <a:alpha val="40000"/>
                  </a:schemeClr>
                </a:outerShdw>
              </a:effectLst>
            </a:rPr>
            <a:t>6. Resource allocation</a:t>
          </a:r>
          <a:endParaRPr lang="zh-CN" sz="2300" b="0" kern="1200" cap="none" spc="0">
            <a:ln w="0"/>
            <a:solidFill>
              <a:schemeClr val="tx1"/>
            </a:solidFill>
            <a:effectLst>
              <a:outerShdw blurRad="38100" dist="19050" dir="2700000" algn="tl" rotWithShape="0">
                <a:schemeClr val="dk1">
                  <a:alpha val="40000"/>
                </a:schemeClr>
              </a:outerShdw>
            </a:effectLst>
          </a:endParaRPr>
        </a:p>
      </dsp:txBody>
      <dsp:txXfrm>
        <a:off x="2048692" y="1727905"/>
        <a:ext cx="1860315" cy="1116189"/>
      </dsp:txXfrm>
    </dsp:sp>
    <dsp:sp modelId="{C9C67977-F64B-4C62-AB4E-52C88E36D407}">
      <dsp:nvSpPr>
        <dsp:cNvPr id="0" name=""/>
        <dsp:cNvSpPr/>
      </dsp:nvSpPr>
      <dsp:spPr>
        <a:xfrm>
          <a:off x="4095039" y="1727905"/>
          <a:ext cx="1860315" cy="1116189"/>
        </a:xfrm>
        <a:prstGeom prst="rect">
          <a:avLst/>
        </a:prstGeom>
        <a:gradFill rotWithShape="0">
          <a:gsLst>
            <a:gs pos="0">
              <a:schemeClr val="accent3">
                <a:hueOff val="0"/>
                <a:satOff val="0"/>
                <a:lumOff val="0"/>
                <a:alphaOff val="0"/>
                <a:tint val="98000"/>
                <a:satMod val="110000"/>
                <a:lumMod val="104000"/>
              </a:schemeClr>
            </a:gs>
            <a:gs pos="69000">
              <a:schemeClr val="accent3">
                <a:hueOff val="0"/>
                <a:satOff val="0"/>
                <a:lumOff val="0"/>
                <a:alphaOff val="0"/>
                <a:shade val="88000"/>
                <a:satMod val="130000"/>
                <a:lumMod val="92000"/>
              </a:schemeClr>
            </a:gs>
            <a:gs pos="100000">
              <a:schemeClr val="accent3">
                <a:hueOff val="0"/>
                <a:satOff val="0"/>
                <a:lumOff val="0"/>
                <a:alphaOff val="0"/>
                <a:shade val="78000"/>
                <a:satMod val="130000"/>
                <a:lumMod val="92000"/>
              </a:schemeClr>
            </a:gs>
          </a:gsLst>
          <a:lin ang="5400000" scaled="0"/>
        </a:gradFill>
        <a:ln>
          <a:noFill/>
        </a:ln>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rtl="0">
            <a:lnSpc>
              <a:spcPct val="90000"/>
            </a:lnSpc>
            <a:spcBef>
              <a:spcPct val="0"/>
            </a:spcBef>
            <a:spcAft>
              <a:spcPct val="35000"/>
            </a:spcAft>
            <a:buNone/>
          </a:pPr>
          <a:r>
            <a:rPr lang="en-US" sz="2300" b="0" kern="1200" cap="none" spc="0">
              <a:ln w="0"/>
              <a:solidFill>
                <a:schemeClr val="tx1"/>
              </a:solidFill>
              <a:effectLst>
                <a:outerShdw blurRad="38100" dist="19050" dir="2700000" algn="tl" rotWithShape="0">
                  <a:schemeClr val="dk1">
                    <a:alpha val="40000"/>
                  </a:schemeClr>
                </a:outerShdw>
              </a:effectLst>
            </a:rPr>
            <a:t>7. Managing contracts</a:t>
          </a:r>
          <a:endParaRPr lang="zh-CN" sz="2300" b="0" kern="1200" cap="none" spc="0">
            <a:ln w="0"/>
            <a:solidFill>
              <a:schemeClr val="tx1"/>
            </a:solidFill>
            <a:effectLst>
              <a:outerShdw blurRad="38100" dist="19050" dir="2700000" algn="tl" rotWithShape="0">
                <a:schemeClr val="dk1">
                  <a:alpha val="40000"/>
                </a:schemeClr>
              </a:outerShdw>
            </a:effectLst>
          </a:endParaRPr>
        </a:p>
      </dsp:txBody>
      <dsp:txXfrm>
        <a:off x="4095039" y="1727905"/>
        <a:ext cx="1860315" cy="1116189"/>
      </dsp:txXfrm>
    </dsp:sp>
    <dsp:sp modelId="{0CA3060F-E399-4909-80A9-83B01BCFFD49}">
      <dsp:nvSpPr>
        <dsp:cNvPr id="0" name=""/>
        <dsp:cNvSpPr/>
      </dsp:nvSpPr>
      <dsp:spPr>
        <a:xfrm>
          <a:off x="6141387" y="1727905"/>
          <a:ext cx="1860315" cy="1116189"/>
        </a:xfrm>
        <a:prstGeom prst="rect">
          <a:avLst/>
        </a:prstGeom>
        <a:gradFill rotWithShape="0">
          <a:gsLst>
            <a:gs pos="0">
              <a:schemeClr val="accent4">
                <a:hueOff val="0"/>
                <a:satOff val="0"/>
                <a:lumOff val="0"/>
                <a:alphaOff val="0"/>
                <a:tint val="98000"/>
                <a:satMod val="110000"/>
                <a:lumMod val="104000"/>
              </a:schemeClr>
            </a:gs>
            <a:gs pos="69000">
              <a:schemeClr val="accent4">
                <a:hueOff val="0"/>
                <a:satOff val="0"/>
                <a:lumOff val="0"/>
                <a:alphaOff val="0"/>
                <a:shade val="88000"/>
                <a:satMod val="130000"/>
                <a:lumMod val="92000"/>
              </a:schemeClr>
            </a:gs>
            <a:gs pos="100000">
              <a:schemeClr val="accent4">
                <a:hueOff val="0"/>
                <a:satOff val="0"/>
                <a:lumOff val="0"/>
                <a:alphaOff val="0"/>
                <a:shade val="78000"/>
                <a:satMod val="130000"/>
                <a:lumMod val="92000"/>
              </a:schemeClr>
            </a:gs>
          </a:gsLst>
          <a:lin ang="5400000" scaled="0"/>
        </a:gradFill>
        <a:ln>
          <a:noFill/>
        </a:ln>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rtl="0">
            <a:lnSpc>
              <a:spcPct val="90000"/>
            </a:lnSpc>
            <a:spcBef>
              <a:spcPct val="0"/>
            </a:spcBef>
            <a:spcAft>
              <a:spcPct val="35000"/>
            </a:spcAft>
            <a:buNone/>
          </a:pPr>
          <a:r>
            <a:rPr lang="en-US" sz="2300" b="0" kern="1200" cap="none" spc="0">
              <a:ln w="0"/>
              <a:solidFill>
                <a:schemeClr val="tx1"/>
              </a:solidFill>
              <a:effectLst>
                <a:outerShdw blurRad="38100" dist="19050" dir="2700000" algn="tl" rotWithShape="0">
                  <a:schemeClr val="dk1">
                    <a:alpha val="40000"/>
                  </a:schemeClr>
                </a:outerShdw>
              </a:effectLst>
            </a:rPr>
            <a:t>8. Managing people</a:t>
          </a:r>
          <a:endParaRPr lang="zh-CN" sz="2300" b="0" kern="1200" cap="none" spc="0">
            <a:ln w="0"/>
            <a:solidFill>
              <a:schemeClr val="tx1"/>
            </a:solidFill>
            <a:effectLst>
              <a:outerShdw blurRad="38100" dist="19050" dir="2700000" algn="tl" rotWithShape="0">
                <a:schemeClr val="dk1">
                  <a:alpha val="40000"/>
                </a:schemeClr>
              </a:outerShdw>
            </a:effectLst>
          </a:endParaRPr>
        </a:p>
      </dsp:txBody>
      <dsp:txXfrm>
        <a:off x="6141387" y="1727905"/>
        <a:ext cx="1860315" cy="1116189"/>
      </dsp:txXfrm>
    </dsp:sp>
    <dsp:sp modelId="{ABFE9D2D-402A-4738-B06E-BEA1769061D8}">
      <dsp:nvSpPr>
        <dsp:cNvPr id="0" name=""/>
        <dsp:cNvSpPr/>
      </dsp:nvSpPr>
      <dsp:spPr>
        <a:xfrm>
          <a:off x="2048692" y="3030126"/>
          <a:ext cx="1860315" cy="1116189"/>
        </a:xfrm>
        <a:prstGeom prst="rect">
          <a:avLst/>
        </a:prstGeom>
        <a:gradFill rotWithShape="0">
          <a:gsLst>
            <a:gs pos="0">
              <a:schemeClr val="accent5">
                <a:hueOff val="0"/>
                <a:satOff val="0"/>
                <a:lumOff val="0"/>
                <a:alphaOff val="0"/>
                <a:tint val="98000"/>
                <a:satMod val="110000"/>
                <a:lumMod val="104000"/>
              </a:schemeClr>
            </a:gs>
            <a:gs pos="69000">
              <a:schemeClr val="accent5">
                <a:hueOff val="0"/>
                <a:satOff val="0"/>
                <a:lumOff val="0"/>
                <a:alphaOff val="0"/>
                <a:shade val="88000"/>
                <a:satMod val="130000"/>
                <a:lumMod val="92000"/>
              </a:schemeClr>
            </a:gs>
            <a:gs pos="100000">
              <a:schemeClr val="accent5">
                <a:hueOff val="0"/>
                <a:satOff val="0"/>
                <a:lumOff val="0"/>
                <a:alphaOff val="0"/>
                <a:shade val="78000"/>
                <a:satMod val="130000"/>
                <a:lumMod val="92000"/>
              </a:schemeClr>
            </a:gs>
          </a:gsLst>
          <a:lin ang="5400000" scaled="0"/>
        </a:gradFill>
        <a:ln>
          <a:noFill/>
        </a:ln>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rtl="0">
            <a:lnSpc>
              <a:spcPct val="90000"/>
            </a:lnSpc>
            <a:spcBef>
              <a:spcPct val="0"/>
            </a:spcBef>
            <a:spcAft>
              <a:spcPct val="35000"/>
            </a:spcAft>
            <a:buNone/>
          </a:pPr>
          <a:r>
            <a:rPr lang="en-US" sz="2300" b="0" kern="1200" cap="none" spc="0">
              <a:ln w="0"/>
              <a:solidFill>
                <a:schemeClr val="tx1"/>
              </a:solidFill>
              <a:effectLst>
                <a:outerShdw blurRad="38100" dist="19050" dir="2700000" algn="tl" rotWithShape="0">
                  <a:schemeClr val="dk1">
                    <a:alpha val="40000"/>
                  </a:schemeClr>
                </a:outerShdw>
              </a:effectLst>
            </a:rPr>
            <a:t>9. Monitoring and control</a:t>
          </a:r>
          <a:endParaRPr lang="zh-CN" sz="2300" b="0" kern="1200" cap="none" spc="0">
            <a:ln w="0"/>
            <a:solidFill>
              <a:schemeClr val="tx1"/>
            </a:solidFill>
            <a:effectLst>
              <a:outerShdw blurRad="38100" dist="19050" dir="2700000" algn="tl" rotWithShape="0">
                <a:schemeClr val="dk1">
                  <a:alpha val="40000"/>
                </a:schemeClr>
              </a:outerShdw>
            </a:effectLst>
          </a:endParaRPr>
        </a:p>
      </dsp:txBody>
      <dsp:txXfrm>
        <a:off x="2048692" y="3030126"/>
        <a:ext cx="1860315" cy="1116189"/>
      </dsp:txXfrm>
    </dsp:sp>
    <dsp:sp modelId="{E2ADF87D-DF8C-4BAE-9B46-7DB3F45F4826}">
      <dsp:nvSpPr>
        <dsp:cNvPr id="0" name=""/>
        <dsp:cNvSpPr/>
      </dsp:nvSpPr>
      <dsp:spPr>
        <a:xfrm>
          <a:off x="4095039" y="3030126"/>
          <a:ext cx="1860315" cy="1116189"/>
        </a:xfrm>
        <a:prstGeom prst="rect">
          <a:avLst/>
        </a:prstGeom>
        <a:gradFill rotWithShape="0">
          <a:gsLst>
            <a:gs pos="0">
              <a:schemeClr val="accent6">
                <a:hueOff val="0"/>
                <a:satOff val="0"/>
                <a:lumOff val="0"/>
                <a:alphaOff val="0"/>
                <a:tint val="98000"/>
                <a:satMod val="110000"/>
                <a:lumMod val="104000"/>
              </a:schemeClr>
            </a:gs>
            <a:gs pos="69000">
              <a:schemeClr val="accent6">
                <a:hueOff val="0"/>
                <a:satOff val="0"/>
                <a:lumOff val="0"/>
                <a:alphaOff val="0"/>
                <a:shade val="88000"/>
                <a:satMod val="130000"/>
                <a:lumMod val="92000"/>
              </a:schemeClr>
            </a:gs>
            <a:gs pos="100000">
              <a:schemeClr val="accent6">
                <a:hueOff val="0"/>
                <a:satOff val="0"/>
                <a:lumOff val="0"/>
                <a:alphaOff val="0"/>
                <a:shade val="78000"/>
                <a:satMod val="130000"/>
                <a:lumMod val="92000"/>
              </a:schemeClr>
            </a:gs>
          </a:gsLst>
          <a:lin ang="5400000" scaled="0"/>
        </a:gradFill>
        <a:ln>
          <a:noFill/>
        </a:ln>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rtl="0">
            <a:lnSpc>
              <a:spcPct val="90000"/>
            </a:lnSpc>
            <a:spcBef>
              <a:spcPct val="0"/>
            </a:spcBef>
            <a:spcAft>
              <a:spcPct val="35000"/>
            </a:spcAft>
            <a:buNone/>
          </a:pPr>
          <a:r>
            <a:rPr lang="en-US" sz="2300" b="0" kern="1200" cap="none" spc="0" dirty="0">
              <a:ln w="0"/>
              <a:solidFill>
                <a:schemeClr val="tx1"/>
              </a:solidFill>
              <a:effectLst>
                <a:outerShdw blurRad="38100" dist="19050" dir="2700000" algn="tl" rotWithShape="0">
                  <a:schemeClr val="dk1">
                    <a:alpha val="40000"/>
                  </a:schemeClr>
                </a:outerShdw>
              </a:effectLst>
            </a:rPr>
            <a:t>10. Software quality</a:t>
          </a:r>
          <a:endParaRPr lang="zh-CN" sz="2300" b="0" kern="1200" cap="none" spc="0" dirty="0">
            <a:ln w="0"/>
            <a:solidFill>
              <a:schemeClr val="tx1"/>
            </a:solidFill>
            <a:effectLst>
              <a:outerShdw blurRad="38100" dist="19050" dir="2700000" algn="tl" rotWithShape="0">
                <a:schemeClr val="dk1">
                  <a:alpha val="40000"/>
                </a:schemeClr>
              </a:outerShdw>
            </a:effectLst>
          </a:endParaRPr>
        </a:p>
      </dsp:txBody>
      <dsp:txXfrm>
        <a:off x="4095039" y="3030126"/>
        <a:ext cx="1860315" cy="1116189"/>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6B3128-46BE-4F05-B90D-E0A81F2C74CE}" type="datetimeFigureOut">
              <a:rPr lang="en-IN" smtClean="0"/>
              <a:t>27-05-2021</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91995B-7B11-49A8-9854-153F0D049CDE}" type="slidenum">
              <a:rPr lang="en-IN" smtClean="0"/>
              <a:t>‹#›</a:t>
            </a:fld>
            <a:endParaRPr lang="en-IN"/>
          </a:p>
        </p:txBody>
      </p:sp>
    </p:spTree>
    <p:extLst>
      <p:ext uri="{BB962C8B-B14F-4D97-AF65-F5344CB8AC3E}">
        <p14:creationId xmlns:p14="http://schemas.microsoft.com/office/powerpoint/2010/main" val="3293280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FECC7A3-3F53-4BA0-898F-36F1C5766085}" type="slidenum">
              <a:rPr lang="en-GB" altLang="en-US"/>
              <a:pPr/>
              <a:t>44</a:t>
            </a:fld>
            <a:endParaRPr lang="en-GB" altLang="en-US"/>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p:spPr>
        <p:txBody>
          <a:bodyPr/>
          <a:lstStyle/>
          <a:p>
            <a:pPr eaLnBrk="1" hangingPunct="1"/>
            <a:r>
              <a:rPr lang="en-GB" altLang="en-US"/>
              <a:t>This list is based on one that can be found in </a:t>
            </a:r>
            <a:r>
              <a:rPr lang="en-GB" altLang="en-US" i="1"/>
              <a:t>Introduction to Software Project Management and Quality Assurance </a:t>
            </a:r>
            <a:r>
              <a:rPr lang="en-GB" altLang="en-US"/>
              <a:t>by Darrel Ince, Helen Sharp and Mark Woodman, McGraw-Hill, 1993.</a:t>
            </a:r>
          </a:p>
        </p:txBody>
      </p:sp>
    </p:spTree>
    <p:extLst>
      <p:ext uri="{BB962C8B-B14F-4D97-AF65-F5344CB8AC3E}">
        <p14:creationId xmlns:p14="http://schemas.microsoft.com/office/powerpoint/2010/main" val="27880070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60A54AF-1E87-4DDB-8645-12C81FE0C630}" type="slidenum">
              <a:rPr lang="en-GB" altLang="en-US"/>
              <a:pPr/>
              <a:t>45</a:t>
            </a:fld>
            <a:endParaRPr lang="en-GB" altLang="en-US"/>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p:spPr>
        <p:txBody>
          <a:bodyPr/>
          <a:lstStyle/>
          <a:p>
            <a:pPr eaLnBrk="1" hangingPunct="1"/>
            <a:r>
              <a:rPr lang="en-GB" altLang="en-US"/>
              <a:t>Exercise 1.6 (a day in the life of a project manager) is of relevance here.</a:t>
            </a:r>
          </a:p>
        </p:txBody>
      </p:sp>
    </p:spTree>
    <p:extLst>
      <p:ext uri="{BB962C8B-B14F-4D97-AF65-F5344CB8AC3E}">
        <p14:creationId xmlns:p14="http://schemas.microsoft.com/office/powerpoint/2010/main" val="38605030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dirty="0"/>
              <a:t>Click to edit Master title style</a:t>
            </a:r>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06613" y="188914"/>
            <a:ext cx="9603275" cy="1049235"/>
          </a:xfrm>
        </p:spPr>
        <p:txBody>
          <a:bodyPr/>
          <a:lstStyle/>
          <a:p>
            <a:r>
              <a:rPr lang="en-US" dirty="0"/>
              <a:t>Click to edit Master title style</a:t>
            </a:r>
          </a:p>
        </p:txBody>
      </p:sp>
      <p:sp>
        <p:nvSpPr>
          <p:cNvPr id="3" name="Content Placeholder 2"/>
          <p:cNvSpPr>
            <a:spLocks noGrp="1"/>
          </p:cNvSpPr>
          <p:nvPr>
            <p:ph idx="1"/>
          </p:nvPr>
        </p:nvSpPr>
        <p:spPr>
          <a:xfrm>
            <a:off x="1306613" y="1357810"/>
            <a:ext cx="9603275" cy="4719605"/>
          </a:xfrm>
        </p:spPr>
        <p:txBody>
          <a:bodyPr anchor="t"/>
          <a:lstStyle>
            <a:lvl1pPr>
              <a:defRPr sz="2800"/>
            </a:lvl1pPr>
            <a:lvl2pPr>
              <a:defRPr sz="2400"/>
            </a:lvl2pPr>
            <a:lvl3pPr>
              <a:defRPr sz="2000"/>
            </a:lvl3pPr>
            <a:lvl4pPr>
              <a:defRPr sz="2000"/>
            </a:lvl4pPr>
            <a:lvl5pPr>
              <a:defRPr sz="20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7810616" y="6540535"/>
            <a:ext cx="3500715" cy="309201"/>
          </a:xfrm>
        </p:spPr>
        <p:txBody>
          <a:bodyPr/>
          <a:lstStyle>
            <a:lvl1pPr>
              <a:defRPr>
                <a:solidFill>
                  <a:srgbClr val="FFFF99"/>
                </a:solidFill>
              </a:defRPr>
            </a:lvl1pPr>
          </a:lstStyle>
          <a:p>
            <a:fld id="{4DA3D7ED-4D6F-441B-A7AA-E3D1E9A9B49C}" type="datetime3">
              <a:rPr lang="en-US" smtClean="0"/>
              <a:t>27 May 2021</a:t>
            </a:fld>
            <a:endParaRPr lang="en-US" dirty="0"/>
          </a:p>
        </p:txBody>
      </p:sp>
      <p:sp>
        <p:nvSpPr>
          <p:cNvPr id="5" name="Footer Placeholder 4"/>
          <p:cNvSpPr>
            <a:spLocks noGrp="1"/>
          </p:cNvSpPr>
          <p:nvPr>
            <p:ph type="ftr" sz="quarter" idx="11"/>
          </p:nvPr>
        </p:nvSpPr>
        <p:spPr>
          <a:xfrm>
            <a:off x="0" y="6540536"/>
            <a:ext cx="5938836" cy="309201"/>
          </a:xfrm>
        </p:spPr>
        <p:txBody>
          <a:bodyPr/>
          <a:lstStyle>
            <a:lvl1pPr>
              <a:defRPr>
                <a:solidFill>
                  <a:srgbClr val="FFFF99"/>
                </a:solidFill>
              </a:defRPr>
            </a:lvl1pPr>
          </a:lstStyle>
          <a:p>
            <a:r>
              <a:rPr lang="en-US"/>
              <a:t>Software Project Management     Dr. D Evangelin Geetha      Dept. of MCA       RIT</a:t>
            </a:r>
            <a:endParaRPr lang="en-US" dirty="0"/>
          </a:p>
        </p:txBody>
      </p:sp>
      <p:sp>
        <p:nvSpPr>
          <p:cNvPr id="6" name="Slide Number Placeholder 5"/>
          <p:cNvSpPr>
            <a:spLocks noGrp="1"/>
          </p:cNvSpPr>
          <p:nvPr>
            <p:ph type="sldNum" sz="quarter" idx="12"/>
          </p:nvPr>
        </p:nvSpPr>
        <p:spPr>
          <a:xfrm>
            <a:off x="11380981" y="6354422"/>
            <a:ext cx="811019" cy="503578"/>
          </a:xfrm>
        </p:spPr>
        <p:txBody>
          <a:bodyPr/>
          <a:lstStyle>
            <a:lvl1pPr>
              <a:defRPr>
                <a:solidFill>
                  <a:srgbClr val="FFFF99"/>
                </a:solidFill>
              </a:defRPr>
            </a:lvl1pPr>
          </a:lstStyle>
          <a:p>
            <a:fld id="{6D22F896-40B5-4ADD-8801-0D06FADFA095}" type="slidenum">
              <a:rPr lang="en-US" smtClean="0"/>
              <a:pPr/>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F8055B9-FA51-4411-87D8-44ACED93EF72}" type="datetime3">
              <a:rPr lang="en-US" smtClean="0"/>
              <a:t>27 May 2021</a:t>
            </a:fld>
            <a:endParaRPr lang="en-US" dirty="0"/>
          </a:p>
        </p:txBody>
      </p:sp>
      <p:sp>
        <p:nvSpPr>
          <p:cNvPr id="5" name="Footer Placeholder 4"/>
          <p:cNvSpPr>
            <a:spLocks noGrp="1"/>
          </p:cNvSpPr>
          <p:nvPr>
            <p:ph type="ftr" sz="quarter" idx="11"/>
          </p:nvPr>
        </p:nvSpPr>
        <p:spPr/>
        <p:txBody>
          <a:bodyPr/>
          <a:lstStyle/>
          <a:p>
            <a:r>
              <a:rPr lang="en-US"/>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89A8FB8-F6B0-41B0-A3F4-07F1FC2B943D}" type="datetime3">
              <a:rPr lang="en-US" smtClean="0"/>
              <a:t>27 May 2021</a:t>
            </a:fld>
            <a:endParaRPr lang="en-US" dirty="0"/>
          </a:p>
        </p:txBody>
      </p:sp>
      <p:sp>
        <p:nvSpPr>
          <p:cNvPr id="6" name="Footer Placeholder 5"/>
          <p:cNvSpPr>
            <a:spLocks noGrp="1"/>
          </p:cNvSpPr>
          <p:nvPr>
            <p:ph type="ftr" sz="quarter" idx="11"/>
          </p:nvPr>
        </p:nvSpPr>
        <p:spPr/>
        <p:txBody>
          <a:bodyPr/>
          <a:lstStyle/>
          <a:p>
            <a:r>
              <a:rPr lang="en-US"/>
              <a:t>Software Project Management     Dr. D Evangelin Geetha      Dept. of MCA       RIT</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6BD7D40-E4FA-43D7-A9DE-7674D2FC2A01}" type="datetime3">
              <a:rPr lang="en-US" smtClean="0"/>
              <a:t>27 May 2021</a:t>
            </a:fld>
            <a:endParaRPr lang="en-US" dirty="0"/>
          </a:p>
        </p:txBody>
      </p:sp>
      <p:sp>
        <p:nvSpPr>
          <p:cNvPr id="8" name="Footer Placeholder 7"/>
          <p:cNvSpPr>
            <a:spLocks noGrp="1"/>
          </p:cNvSpPr>
          <p:nvPr>
            <p:ph type="ftr" sz="quarter" idx="11"/>
          </p:nvPr>
        </p:nvSpPr>
        <p:spPr/>
        <p:txBody>
          <a:bodyPr/>
          <a:lstStyle/>
          <a:p>
            <a:r>
              <a:rPr lang="en-US"/>
              <a:t>Software Project Management     Dr. D Evangelin Geetha      Dept. of MCA       RIT</a:t>
            </a:r>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97A70B-796A-49AD-954D-B8764ECDAEE2}" type="datetime3">
              <a:rPr lang="en-US" smtClean="0"/>
              <a:t>27 May 2021</a:t>
            </a:fld>
            <a:endParaRPr lang="en-US" dirty="0"/>
          </a:p>
        </p:txBody>
      </p:sp>
      <p:sp>
        <p:nvSpPr>
          <p:cNvPr id="4" name="Footer Placeholder 3"/>
          <p:cNvSpPr>
            <a:spLocks noGrp="1"/>
          </p:cNvSpPr>
          <p:nvPr>
            <p:ph type="ftr" sz="quarter" idx="11"/>
          </p:nvPr>
        </p:nvSpPr>
        <p:spPr/>
        <p:txBody>
          <a:bodyPr/>
          <a:lstStyle/>
          <a:p>
            <a:r>
              <a:rPr lang="en-US"/>
              <a:t>Software Project Management     Dr. D Evangelin Geetha      Dept. of MCA       RIT</a:t>
            </a:r>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D855BC-680C-49FE-8E89-3D35E893DBD2}" type="datetime3">
              <a:rPr lang="en-US" smtClean="0"/>
              <a:t>27 May 2021</a:t>
            </a:fld>
            <a:endParaRPr lang="en-US" dirty="0"/>
          </a:p>
        </p:txBody>
      </p:sp>
      <p:sp>
        <p:nvSpPr>
          <p:cNvPr id="3" name="Footer Placeholder 2"/>
          <p:cNvSpPr>
            <a:spLocks noGrp="1"/>
          </p:cNvSpPr>
          <p:nvPr>
            <p:ph type="ftr" sz="quarter" idx="11"/>
          </p:nvPr>
        </p:nvSpPr>
        <p:spPr/>
        <p:txBody>
          <a:bodyPr/>
          <a:lstStyle/>
          <a:p>
            <a:r>
              <a:rPr lang="en-US"/>
              <a:t>Software Project Management     Dr. D Evangelin Geetha      Dept. of MCA       RIT</a:t>
            </a:r>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7739E84-D0BA-40A4-A461-BD469FDC55D3}" type="datetime3">
              <a:rPr lang="en-US" smtClean="0"/>
              <a:t>27 May 2021</a:t>
            </a:fld>
            <a:endParaRPr lang="en-US" dirty="0"/>
          </a:p>
        </p:txBody>
      </p:sp>
      <p:sp>
        <p:nvSpPr>
          <p:cNvPr id="6" name="Footer Placeholder 5"/>
          <p:cNvSpPr>
            <a:spLocks noGrp="1"/>
          </p:cNvSpPr>
          <p:nvPr>
            <p:ph type="ftr" sz="quarter" idx="11"/>
          </p:nvPr>
        </p:nvSpPr>
        <p:spPr/>
        <p:txBody>
          <a:bodyPr/>
          <a:lstStyle/>
          <a:p>
            <a:r>
              <a:rPr lang="en-US"/>
              <a:t>Software Project Management     Dr. D Evangelin Geetha      Dept. of MCA       RIT</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9CD90FD9-1396-41D1-B86E-62856B689DD8}" type="datetime3">
              <a:rPr lang="en-US" smtClean="0"/>
              <a:t>27 May 2021</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r>
              <a:rPr lang="en-US"/>
              <a:t>Software Project Management     Dr. D Evangelin Geetha      Dept. of MCA       RIT</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9F304D-F6A7-4648-AF13-2FB84F99A0E0}" type="datetime3">
              <a:rPr lang="en-US" smtClean="0"/>
              <a:t>27 May 2021</a:t>
            </a:fld>
            <a:endParaRPr lang="en-US" dirty="0"/>
          </a:p>
        </p:txBody>
      </p:sp>
      <p:sp>
        <p:nvSpPr>
          <p:cNvPr id="5" name="Footer Placeholder 4"/>
          <p:cNvSpPr>
            <a:spLocks noGrp="1"/>
          </p:cNvSpPr>
          <p:nvPr>
            <p:ph type="ftr" sz="quarter" idx="11"/>
          </p:nvPr>
        </p:nvSpPr>
        <p:spPr/>
        <p:txBody>
          <a:bodyPr/>
          <a:lstStyle/>
          <a:p>
            <a:r>
              <a:rPr lang="en-US"/>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65F86E-1564-4047-93C0-85590B14E86A}" type="datetime3">
              <a:rPr lang="en-US" smtClean="0"/>
              <a:t>27 May 2021</a:t>
            </a:fld>
            <a:endParaRPr lang="en-US" dirty="0"/>
          </a:p>
        </p:txBody>
      </p:sp>
      <p:sp>
        <p:nvSpPr>
          <p:cNvPr id="5" name="Footer Placeholder 4"/>
          <p:cNvSpPr>
            <a:spLocks noGrp="1"/>
          </p:cNvSpPr>
          <p:nvPr>
            <p:ph type="ftr" sz="quarter" idx="11"/>
          </p:nvPr>
        </p:nvSpPr>
        <p:spPr/>
        <p:txBody>
          <a:bodyPr/>
          <a:lstStyle/>
          <a:p>
            <a:r>
              <a:rPr lang="en-US"/>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sp>
        <p:nvSpPr>
          <p:cNvPr id="8" name="Content Placeholder 7"/>
          <p:cNvSpPr>
            <a:spLocks noGrp="1"/>
          </p:cNvSpPr>
          <p:nvPr>
            <p:ph sz="quarter" idx="1"/>
          </p:nvPr>
        </p:nvSpPr>
        <p:spPr>
          <a:xfrm>
            <a:off x="1016000" y="1600200"/>
            <a:ext cx="10672064" cy="4572000"/>
          </a:xfrm>
        </p:spPr>
        <p:txBody>
          <a:body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
        <p:nvSpPr>
          <p:cNvPr id="11" name="Title 10"/>
          <p:cNvSpPr>
            <a:spLocks noGrp="1"/>
          </p:cNvSpPr>
          <p:nvPr>
            <p:ph type="title"/>
          </p:nvPr>
        </p:nvSpPr>
        <p:spPr/>
        <p:txBody>
          <a:bodyPr/>
          <a:lstStyle/>
          <a:p>
            <a:r>
              <a:rPr lang="zh-CN" altLang="en-US" dirty="0"/>
              <a:t>单击此处编辑母版标题样式</a:t>
            </a:r>
            <a:endParaRPr lang="en-US" dirty="0"/>
          </a:p>
        </p:txBody>
      </p:sp>
      <p:sp>
        <p:nvSpPr>
          <p:cNvPr id="12" name="Date Placeholder 11"/>
          <p:cNvSpPr>
            <a:spLocks noGrp="1"/>
          </p:cNvSpPr>
          <p:nvPr>
            <p:ph type="dt" sz="half" idx="10"/>
          </p:nvPr>
        </p:nvSpPr>
        <p:spPr/>
        <p:txBody>
          <a:bodyPr/>
          <a:lstStyle/>
          <a:p>
            <a:fld id="{69FFB787-1177-4E6E-B1E1-A776462A1979}" type="datetime3">
              <a:rPr lang="en-US" smtClean="0"/>
              <a:t>27 May 2021</a:t>
            </a:fld>
            <a:endParaRPr lang="en-US"/>
          </a:p>
        </p:txBody>
      </p:sp>
      <p:sp>
        <p:nvSpPr>
          <p:cNvPr id="13" name="Slide Number Placeholder 12"/>
          <p:cNvSpPr>
            <a:spLocks noGrp="1"/>
          </p:cNvSpPr>
          <p:nvPr>
            <p:ph type="sldNum" sz="quarter" idx="11"/>
          </p:nvPr>
        </p:nvSpPr>
        <p:spPr/>
        <p:txBody>
          <a:bodyPr/>
          <a:lstStyle/>
          <a:p>
            <a:fld id="{4024F9E6-8BD1-4849-86DE-3CD23B63DC4B}" type="slidenum">
              <a:rPr lang="en-US" smtClean="0"/>
              <a:pPr/>
              <a:t>‹#›</a:t>
            </a:fld>
            <a:endParaRPr lang="en-US"/>
          </a:p>
        </p:txBody>
      </p:sp>
      <p:sp>
        <p:nvSpPr>
          <p:cNvPr id="14" name="Footer Placeholder 13"/>
          <p:cNvSpPr>
            <a:spLocks noGrp="1"/>
          </p:cNvSpPr>
          <p:nvPr>
            <p:ph type="ftr" sz="quarter" idx="12"/>
          </p:nvPr>
        </p:nvSpPr>
        <p:spPr/>
        <p:txBody>
          <a:bodyPr/>
          <a:lstStyle/>
          <a:p>
            <a:r>
              <a:rPr lang="en-US"/>
              <a:t>Software Project Management     Dr. D Evangelin Geetha      Dept. of MCA       RIT</a:t>
            </a:r>
          </a:p>
        </p:txBody>
      </p:sp>
    </p:spTree>
    <p:extLst>
      <p:ext uri="{BB962C8B-B14F-4D97-AF65-F5344CB8AC3E}">
        <p14:creationId xmlns:p14="http://schemas.microsoft.com/office/powerpoint/2010/main" val="2117865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4">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EAB29CA3-CF9D-4FAE-9096-333EC8E1C0D6}" type="datetime3">
              <a:rPr lang="en-US" smtClean="0"/>
              <a:t>27 May 2021</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a:t>Software Project Management     Dr. D Evangelin Geetha      Dept. of MCA       RIT</a:t>
            </a:r>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24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2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2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24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17780" y="0"/>
            <a:ext cx="8637073" cy="2541431"/>
          </a:xfrm>
        </p:spPr>
        <p:txBody>
          <a:bodyPr>
            <a:normAutofit fontScale="90000"/>
          </a:bodyPr>
          <a:lstStyle/>
          <a:p>
            <a:r>
              <a:rPr lang="en-IN" dirty="0"/>
              <a:t>Software Project Management </a:t>
            </a:r>
            <a:r>
              <a:rPr lang="en-IN" sz="6000" dirty="0">
                <a:solidFill>
                  <a:srgbClr val="0000CC"/>
                </a:solidFill>
              </a:rPr>
              <a:t>Introduction</a:t>
            </a:r>
          </a:p>
        </p:txBody>
      </p:sp>
      <p:sp>
        <p:nvSpPr>
          <p:cNvPr id="3" name="Subtitle 2"/>
          <p:cNvSpPr>
            <a:spLocks noGrp="1"/>
          </p:cNvSpPr>
          <p:nvPr>
            <p:ph type="subTitle" idx="1"/>
          </p:nvPr>
        </p:nvSpPr>
        <p:spPr>
          <a:xfrm>
            <a:off x="2417780" y="3531204"/>
            <a:ext cx="8637072" cy="1944438"/>
          </a:xfrm>
        </p:spPr>
        <p:txBody>
          <a:bodyPr>
            <a:normAutofit fontScale="85000" lnSpcReduction="10000"/>
          </a:bodyPr>
          <a:lstStyle/>
          <a:p>
            <a:r>
              <a:rPr lang="en-IN" dirty="0" err="1"/>
              <a:t>Dr.</a:t>
            </a:r>
            <a:r>
              <a:rPr lang="en-IN" dirty="0"/>
              <a:t> D Evangelin </a:t>
            </a:r>
            <a:r>
              <a:rPr lang="en-IN" dirty="0" err="1"/>
              <a:t>geetha</a:t>
            </a:r>
            <a:endParaRPr lang="en-IN" dirty="0"/>
          </a:p>
          <a:p>
            <a:r>
              <a:rPr lang="en-IN" dirty="0"/>
              <a:t>Associate professor</a:t>
            </a:r>
          </a:p>
          <a:p>
            <a:r>
              <a:rPr lang="en-IN" dirty="0"/>
              <a:t>Department of master of computer applications</a:t>
            </a:r>
          </a:p>
          <a:p>
            <a:r>
              <a:rPr lang="en-IN" dirty="0" err="1"/>
              <a:t>Ramaiak</a:t>
            </a:r>
            <a:r>
              <a:rPr lang="en-IN" dirty="0"/>
              <a:t> institute of technology</a:t>
            </a:r>
          </a:p>
          <a:p>
            <a:r>
              <a:rPr lang="en-IN" dirty="0"/>
              <a:t>Bangalore - 560054</a:t>
            </a:r>
          </a:p>
        </p:txBody>
      </p:sp>
    </p:spTree>
    <p:extLst>
      <p:ext uri="{BB962C8B-B14F-4D97-AF65-F5344CB8AC3E}">
        <p14:creationId xmlns:p14="http://schemas.microsoft.com/office/powerpoint/2010/main" val="35170040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8" y="169818"/>
            <a:ext cx="9603275" cy="1049235"/>
          </a:xfrm>
        </p:spPr>
        <p:txBody>
          <a:bodyPr/>
          <a:lstStyle/>
          <a:p>
            <a:r>
              <a:rPr lang="en-US" altLang="zh-CN" dirty="0"/>
              <a:t>About the course</a:t>
            </a:r>
            <a:endParaRPr lang="en-IN" dirty="0"/>
          </a:p>
        </p:txBody>
      </p:sp>
      <p:sp>
        <p:nvSpPr>
          <p:cNvPr id="3" name="Content Placeholder 2"/>
          <p:cNvSpPr>
            <a:spLocks noGrp="1"/>
          </p:cNvSpPr>
          <p:nvPr>
            <p:ph idx="1"/>
          </p:nvPr>
        </p:nvSpPr>
        <p:spPr>
          <a:xfrm>
            <a:off x="1451578" y="1854367"/>
            <a:ext cx="9603275" cy="3450613"/>
          </a:xfrm>
        </p:spPr>
        <p:txBody>
          <a:bodyPr>
            <a:normAutofit fontScale="92500" lnSpcReduction="20000"/>
          </a:bodyPr>
          <a:lstStyle/>
          <a:p>
            <a:r>
              <a:rPr lang="en-US" b="1" dirty="0"/>
              <a:t>Course Code: MCAE31 </a:t>
            </a:r>
          </a:p>
          <a:p>
            <a:r>
              <a:rPr lang="en-US" b="1" dirty="0"/>
              <a:t>Course Name: Software Project Management</a:t>
            </a:r>
            <a:endParaRPr lang="en-IN" dirty="0"/>
          </a:p>
          <a:p>
            <a:r>
              <a:rPr lang="en-IN" dirty="0"/>
              <a:t>Credit: 3:0:0			</a:t>
            </a:r>
          </a:p>
          <a:p>
            <a:r>
              <a:rPr lang="en-IN" dirty="0"/>
              <a:t>Contact Hours: 42 Lecture Hours</a:t>
            </a:r>
          </a:p>
          <a:p>
            <a:r>
              <a:rPr lang="en-IN" dirty="0"/>
              <a:t>Text Book</a:t>
            </a:r>
          </a:p>
          <a:p>
            <a:pPr lvl="1"/>
            <a:r>
              <a:rPr lang="en-US" dirty="0"/>
              <a:t>Bob Hughes, Mike </a:t>
            </a:r>
            <a:r>
              <a:rPr lang="en-US" dirty="0" err="1"/>
              <a:t>Cotterell</a:t>
            </a:r>
            <a:r>
              <a:rPr lang="en-US" dirty="0"/>
              <a:t> and </a:t>
            </a:r>
            <a:r>
              <a:rPr lang="en-US" dirty="0" err="1"/>
              <a:t>Rajib</a:t>
            </a:r>
            <a:r>
              <a:rPr lang="en-US" dirty="0"/>
              <a:t> Mall, Software Project Management,6</a:t>
            </a:r>
            <a:r>
              <a:rPr lang="en-US" baseline="30000" dirty="0"/>
              <a:t>th</a:t>
            </a:r>
            <a:r>
              <a:rPr lang="en-US" dirty="0"/>
              <a:t> Edition, Tata McGraw Hill, New Delhi, 2018.</a:t>
            </a:r>
            <a:endParaRPr lang="en-IN" dirty="0"/>
          </a:p>
        </p:txBody>
      </p:sp>
      <p:sp>
        <p:nvSpPr>
          <p:cNvPr id="4" name="Date Placeholder 3"/>
          <p:cNvSpPr>
            <a:spLocks noGrp="1"/>
          </p:cNvSpPr>
          <p:nvPr>
            <p:ph type="dt" sz="half" idx="10"/>
          </p:nvPr>
        </p:nvSpPr>
        <p:spPr/>
        <p:txBody>
          <a:bodyPr/>
          <a:lstStyle/>
          <a:p>
            <a:fld id="{054FCCB3-93AB-4306-AA14-62C92D361A8F}" type="datetime3">
              <a:rPr lang="en-US" smtClean="0"/>
              <a:t>27 May 2021</a:t>
            </a:fld>
            <a:endParaRPr lang="en-US" dirty="0"/>
          </a:p>
        </p:txBody>
      </p:sp>
      <p:sp>
        <p:nvSpPr>
          <p:cNvPr id="5" name="Footer Placeholder 4"/>
          <p:cNvSpPr>
            <a:spLocks noGrp="1"/>
          </p:cNvSpPr>
          <p:nvPr>
            <p:ph type="ftr" sz="quarter" idx="11"/>
          </p:nvPr>
        </p:nvSpPr>
        <p:spPr/>
        <p:txBody>
          <a:bodyPr/>
          <a:lstStyle/>
          <a:p>
            <a:r>
              <a:rPr lang="en-US"/>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2</a:t>
            </a:fld>
            <a:endParaRPr lang="en-US" dirty="0"/>
          </a:p>
        </p:txBody>
      </p:sp>
    </p:spTree>
    <p:extLst>
      <p:ext uri="{BB962C8B-B14F-4D97-AF65-F5344CB8AC3E}">
        <p14:creationId xmlns:p14="http://schemas.microsoft.com/office/powerpoint/2010/main" val="2068420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Assessment</a:t>
            </a:r>
          </a:p>
        </p:txBody>
      </p:sp>
      <p:sp>
        <p:nvSpPr>
          <p:cNvPr id="3" name="Content Placeholder 2"/>
          <p:cNvSpPr>
            <a:spLocks noGrp="1"/>
          </p:cNvSpPr>
          <p:nvPr>
            <p:ph idx="1"/>
          </p:nvPr>
        </p:nvSpPr>
        <p:spPr/>
        <p:txBody>
          <a:bodyPr/>
          <a:lstStyle/>
          <a:p>
            <a:r>
              <a:rPr lang="en-IN" dirty="0"/>
              <a:t>2 Internal Assessment </a:t>
            </a:r>
          </a:p>
          <a:p>
            <a:pPr lvl="1"/>
            <a:r>
              <a:rPr lang="en-IN" dirty="0"/>
              <a:t>Average of 2 – 30 Marks</a:t>
            </a:r>
          </a:p>
          <a:p>
            <a:r>
              <a:rPr lang="en-IN" dirty="0"/>
              <a:t>Other Components</a:t>
            </a:r>
          </a:p>
          <a:p>
            <a:pPr lvl="1"/>
            <a:r>
              <a:rPr lang="en-IN" dirty="0"/>
              <a:t>Quiz – 10 Marks</a:t>
            </a:r>
          </a:p>
          <a:p>
            <a:pPr lvl="1"/>
            <a:r>
              <a:rPr lang="en-IN" dirty="0"/>
              <a:t>Assignment – 10 Marks</a:t>
            </a:r>
          </a:p>
        </p:txBody>
      </p:sp>
      <p:sp>
        <p:nvSpPr>
          <p:cNvPr id="4" name="Date Placeholder 3"/>
          <p:cNvSpPr>
            <a:spLocks noGrp="1"/>
          </p:cNvSpPr>
          <p:nvPr>
            <p:ph type="dt" sz="half" idx="10"/>
          </p:nvPr>
        </p:nvSpPr>
        <p:spPr/>
        <p:txBody>
          <a:bodyPr/>
          <a:lstStyle/>
          <a:p>
            <a:fld id="{BDD36475-3890-4F03-92BC-EA93CBFE33F6}" type="datetime3">
              <a:rPr lang="en-US" smtClean="0"/>
              <a:t>27 May 2021</a:t>
            </a:fld>
            <a:endParaRPr lang="en-US" dirty="0"/>
          </a:p>
        </p:txBody>
      </p:sp>
      <p:sp>
        <p:nvSpPr>
          <p:cNvPr id="5" name="Footer Placeholder 4"/>
          <p:cNvSpPr>
            <a:spLocks noGrp="1"/>
          </p:cNvSpPr>
          <p:nvPr>
            <p:ph type="ftr" sz="quarter" idx="11"/>
          </p:nvPr>
        </p:nvSpPr>
        <p:spPr/>
        <p:txBody>
          <a:bodyPr/>
          <a:lstStyle/>
          <a:p>
            <a:r>
              <a:rPr lang="en-US"/>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3</a:t>
            </a:fld>
            <a:endParaRPr lang="en-US" dirty="0"/>
          </a:p>
        </p:txBody>
      </p:sp>
    </p:spTree>
    <p:extLst>
      <p:ext uri="{BB962C8B-B14F-4D97-AF65-F5344CB8AC3E}">
        <p14:creationId xmlns:p14="http://schemas.microsoft.com/office/powerpoint/2010/main" val="26492343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About the course</a:t>
            </a:r>
            <a:endParaRPr lang="en-IN" dirty="0"/>
          </a:p>
        </p:txBody>
      </p:sp>
      <p:sp>
        <p:nvSpPr>
          <p:cNvPr id="3" name="Content Placeholder 2"/>
          <p:cNvSpPr>
            <a:spLocks noGrp="1"/>
          </p:cNvSpPr>
          <p:nvPr>
            <p:ph idx="1"/>
          </p:nvPr>
        </p:nvSpPr>
        <p:spPr>
          <a:xfrm>
            <a:off x="1451579" y="1853754"/>
            <a:ext cx="9603275" cy="3804155"/>
          </a:xfrm>
        </p:spPr>
        <p:txBody>
          <a:bodyPr>
            <a:normAutofit lnSpcReduction="10000"/>
          </a:bodyPr>
          <a:lstStyle/>
          <a:p>
            <a:r>
              <a:rPr lang="en-IN" dirty="0"/>
              <a:t>Course Outcomes</a:t>
            </a:r>
          </a:p>
          <a:p>
            <a:pPr lvl="1"/>
            <a:r>
              <a:rPr lang="en-IN" dirty="0"/>
              <a:t>Discuss the software project evaluation and project planning </a:t>
            </a:r>
            <a:endParaRPr lang="en-IN" sz="1400" dirty="0"/>
          </a:p>
          <a:p>
            <a:pPr lvl="1"/>
            <a:r>
              <a:rPr lang="en-IN" dirty="0"/>
              <a:t>Apply software process models and software effort estimation techniques </a:t>
            </a:r>
            <a:endParaRPr lang="en-IN" sz="1400" dirty="0"/>
          </a:p>
          <a:p>
            <a:pPr lvl="1"/>
            <a:r>
              <a:rPr lang="en-IN" dirty="0"/>
              <a:t>Plan the software activities and manage the risks </a:t>
            </a:r>
            <a:endParaRPr lang="en-IN" sz="1400" dirty="0"/>
          </a:p>
          <a:p>
            <a:pPr lvl="1"/>
            <a:r>
              <a:rPr lang="en-IN" dirty="0"/>
              <a:t>Handle the framework for software project management and manage the change control</a:t>
            </a:r>
            <a:endParaRPr lang="en-IN" sz="1400" dirty="0"/>
          </a:p>
          <a:p>
            <a:pPr lvl="1"/>
            <a:r>
              <a:rPr lang="en-US" dirty="0"/>
              <a:t>Manage the staffing in software projects </a:t>
            </a:r>
            <a:endParaRPr lang="en-IN" dirty="0"/>
          </a:p>
        </p:txBody>
      </p:sp>
      <p:sp>
        <p:nvSpPr>
          <p:cNvPr id="4" name="Date Placeholder 3"/>
          <p:cNvSpPr>
            <a:spLocks noGrp="1"/>
          </p:cNvSpPr>
          <p:nvPr>
            <p:ph type="dt" sz="half" idx="10"/>
          </p:nvPr>
        </p:nvSpPr>
        <p:spPr/>
        <p:txBody>
          <a:bodyPr/>
          <a:lstStyle/>
          <a:p>
            <a:fld id="{83EC90CD-892F-490A-8E55-AAAA6AD4AE7C}" type="datetime3">
              <a:rPr lang="en-US" smtClean="0"/>
              <a:t>27 May 2021</a:t>
            </a:fld>
            <a:endParaRPr lang="en-US" dirty="0"/>
          </a:p>
        </p:txBody>
      </p:sp>
      <p:sp>
        <p:nvSpPr>
          <p:cNvPr id="5" name="Footer Placeholder 4"/>
          <p:cNvSpPr>
            <a:spLocks noGrp="1"/>
          </p:cNvSpPr>
          <p:nvPr>
            <p:ph type="ftr" sz="quarter" idx="11"/>
          </p:nvPr>
        </p:nvSpPr>
        <p:spPr/>
        <p:txBody>
          <a:bodyPr/>
          <a:lstStyle/>
          <a:p>
            <a:r>
              <a:rPr lang="en-US"/>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4</a:t>
            </a:fld>
            <a:endParaRPr lang="en-US" dirty="0"/>
          </a:p>
        </p:txBody>
      </p:sp>
    </p:spTree>
    <p:extLst>
      <p:ext uri="{BB962C8B-B14F-4D97-AF65-F5344CB8AC3E}">
        <p14:creationId xmlns:p14="http://schemas.microsoft.com/office/powerpoint/2010/main" val="1989308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286000" y="332656"/>
            <a:ext cx="8001000" cy="1143000"/>
          </a:xfrm>
        </p:spPr>
        <p:txBody>
          <a:bodyPr/>
          <a:lstStyle/>
          <a:p>
            <a:r>
              <a:rPr lang="en-US" altLang="zh-CN" dirty="0"/>
              <a:t>Main Scopes of SPM</a:t>
            </a:r>
            <a:endParaRPr lang="zh-CN" altLang="en-US" dirty="0"/>
          </a:p>
        </p:txBody>
      </p:sp>
      <p:graphicFrame>
        <p:nvGraphicFramePr>
          <p:cNvPr id="4" name="内容占位符 3"/>
          <p:cNvGraphicFramePr>
            <a:graphicFrameLocks noGrp="1"/>
          </p:cNvGraphicFramePr>
          <p:nvPr>
            <p:ph sz="quarter" idx="1"/>
          </p:nvPr>
        </p:nvGraphicFramePr>
        <p:xfrm>
          <a:off x="2286000" y="1600200"/>
          <a:ext cx="8004048"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Date Placeholder 1"/>
          <p:cNvSpPr>
            <a:spLocks noGrp="1"/>
          </p:cNvSpPr>
          <p:nvPr>
            <p:ph type="dt" sz="half" idx="10"/>
          </p:nvPr>
        </p:nvSpPr>
        <p:spPr/>
        <p:txBody>
          <a:bodyPr/>
          <a:lstStyle/>
          <a:p>
            <a:fld id="{D53E9B28-C8DB-4F8F-A481-ECE554C56B2A}" type="datetime3">
              <a:rPr lang="en-US" smtClean="0"/>
              <a:t>27 May 2021</a:t>
            </a:fld>
            <a:endParaRPr lang="en-US"/>
          </a:p>
        </p:txBody>
      </p:sp>
      <p:sp>
        <p:nvSpPr>
          <p:cNvPr id="5" name="Footer Placeholder 4"/>
          <p:cNvSpPr>
            <a:spLocks noGrp="1"/>
          </p:cNvSpPr>
          <p:nvPr>
            <p:ph type="ftr" sz="quarter" idx="12"/>
          </p:nvPr>
        </p:nvSpPr>
        <p:spPr/>
        <p:txBody>
          <a:bodyPr/>
          <a:lstStyle/>
          <a:p>
            <a:r>
              <a:rPr lang="en-US"/>
              <a:t>Software Project Management     Dr. D Evangelin Geetha      Dept. of MCA       RIT</a:t>
            </a:r>
          </a:p>
        </p:txBody>
      </p:sp>
      <p:sp>
        <p:nvSpPr>
          <p:cNvPr id="6" name="Slide Number Placeholder 5"/>
          <p:cNvSpPr>
            <a:spLocks noGrp="1"/>
          </p:cNvSpPr>
          <p:nvPr>
            <p:ph type="sldNum" sz="quarter" idx="11"/>
          </p:nvPr>
        </p:nvSpPr>
        <p:spPr/>
        <p:txBody>
          <a:bodyPr/>
          <a:lstStyle/>
          <a:p>
            <a:fld id="{4024F9E6-8BD1-4849-86DE-3CD23B63DC4B}" type="slidenum">
              <a:rPr lang="en-US" smtClean="0"/>
              <a:pPr/>
              <a:t>5</a:t>
            </a:fld>
            <a:endParaRPr lang="en-US"/>
          </a:p>
        </p:txBody>
      </p:sp>
    </p:spTree>
    <p:extLst>
      <p:ext uri="{BB962C8B-B14F-4D97-AF65-F5344CB8AC3E}">
        <p14:creationId xmlns:p14="http://schemas.microsoft.com/office/powerpoint/2010/main" val="17017519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Introduction to SPM</a:t>
            </a:r>
            <a:endParaRPr lang="zh-CN" altLang="en-US" dirty="0"/>
          </a:p>
        </p:txBody>
      </p:sp>
      <p:sp>
        <p:nvSpPr>
          <p:cNvPr id="2" name="文本占位符 1"/>
          <p:cNvSpPr>
            <a:spLocks noGrp="1"/>
          </p:cNvSpPr>
          <p:nvPr>
            <p:ph idx="1"/>
          </p:nvPr>
        </p:nvSpPr>
        <p:spPr/>
        <p:txBody>
          <a:bodyPr>
            <a:normAutofit/>
          </a:bodyPr>
          <a:lstStyle/>
          <a:p>
            <a:r>
              <a:rPr lang="en-US" altLang="zh-CN" b="1" dirty="0"/>
              <a:t>Objectives:</a:t>
            </a:r>
          </a:p>
          <a:p>
            <a:pPr lvl="1"/>
            <a:r>
              <a:rPr lang="en-US" altLang="zh-CN" dirty="0">
                <a:solidFill>
                  <a:schemeClr val="tx1"/>
                </a:solidFill>
              </a:rPr>
              <a:t>Define the scopes of SPM</a:t>
            </a:r>
          </a:p>
          <a:p>
            <a:pPr lvl="1"/>
            <a:r>
              <a:rPr lang="en-US" altLang="zh-CN" dirty="0">
                <a:solidFill>
                  <a:schemeClr val="tx1"/>
                </a:solidFill>
              </a:rPr>
              <a:t>Understand what project managers worry about</a:t>
            </a:r>
          </a:p>
          <a:p>
            <a:pPr lvl="1"/>
            <a:r>
              <a:rPr lang="en-US" altLang="zh-CN" dirty="0">
                <a:solidFill>
                  <a:schemeClr val="tx1"/>
                </a:solidFill>
              </a:rPr>
              <a:t>Define the phases of a software project</a:t>
            </a:r>
          </a:p>
          <a:p>
            <a:pPr lvl="1"/>
            <a:r>
              <a:rPr lang="en-US" altLang="zh-CN" dirty="0">
                <a:solidFill>
                  <a:schemeClr val="tx1"/>
                </a:solidFill>
              </a:rPr>
              <a:t>Explain the factors of management</a:t>
            </a:r>
          </a:p>
          <a:p>
            <a:pPr lvl="1"/>
            <a:r>
              <a:rPr lang="en-US" altLang="zh-CN" dirty="0">
                <a:solidFill>
                  <a:schemeClr val="tx1"/>
                </a:solidFill>
              </a:rPr>
              <a:t>Be conscious of that a project needs elaborative planning, monitoring and control</a:t>
            </a:r>
          </a:p>
          <a:p>
            <a:pPr lvl="1"/>
            <a:r>
              <a:rPr lang="en-US" altLang="zh-CN" dirty="0">
                <a:solidFill>
                  <a:schemeClr val="tx1"/>
                </a:solidFill>
              </a:rPr>
              <a:t>Identify stakeholders and their objectives</a:t>
            </a:r>
          </a:p>
          <a:p>
            <a:pPr lvl="1"/>
            <a:r>
              <a:rPr lang="en-US" altLang="zh-CN" dirty="0">
                <a:solidFill>
                  <a:schemeClr val="tx1"/>
                </a:solidFill>
              </a:rPr>
              <a:t>Define the criteria of success</a:t>
            </a:r>
          </a:p>
          <a:p>
            <a:endParaRPr lang="en-US" altLang="zh-CN" dirty="0"/>
          </a:p>
        </p:txBody>
      </p:sp>
      <p:sp>
        <p:nvSpPr>
          <p:cNvPr id="4" name="Date Placeholder 3"/>
          <p:cNvSpPr>
            <a:spLocks noGrp="1"/>
          </p:cNvSpPr>
          <p:nvPr>
            <p:ph type="dt" sz="half" idx="10"/>
          </p:nvPr>
        </p:nvSpPr>
        <p:spPr/>
        <p:txBody>
          <a:bodyPr/>
          <a:lstStyle/>
          <a:p>
            <a:fld id="{79241963-A1E8-4953-89E5-E55A015C35E2}" type="datetime3">
              <a:rPr lang="en-US" smtClean="0"/>
              <a:t>27 May 2021</a:t>
            </a:fld>
            <a:endParaRPr lang="en-US" dirty="0"/>
          </a:p>
        </p:txBody>
      </p:sp>
      <p:sp>
        <p:nvSpPr>
          <p:cNvPr id="5" name="Footer Placeholder 4"/>
          <p:cNvSpPr>
            <a:spLocks noGrp="1"/>
          </p:cNvSpPr>
          <p:nvPr>
            <p:ph type="ftr" sz="quarter" idx="11"/>
          </p:nvPr>
        </p:nvSpPr>
        <p:spPr/>
        <p:txBody>
          <a:bodyPr/>
          <a:lstStyle/>
          <a:p>
            <a:r>
              <a:rPr lang="en-US"/>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6</a:t>
            </a:fld>
            <a:endParaRPr lang="en-US" dirty="0"/>
          </a:p>
        </p:txBody>
      </p:sp>
    </p:spTree>
    <p:extLst>
      <p:ext uri="{BB962C8B-B14F-4D97-AF65-F5344CB8AC3E}">
        <p14:creationId xmlns:p14="http://schemas.microsoft.com/office/powerpoint/2010/main" val="8889316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software project management?</a:t>
            </a:r>
            <a:endParaRPr lang="en-IN" dirty="0"/>
          </a:p>
        </p:txBody>
      </p:sp>
      <p:sp>
        <p:nvSpPr>
          <p:cNvPr id="3" name="Content Placeholder 2"/>
          <p:cNvSpPr>
            <a:spLocks noGrp="1"/>
          </p:cNvSpPr>
          <p:nvPr>
            <p:ph idx="1"/>
          </p:nvPr>
        </p:nvSpPr>
        <p:spPr/>
        <p:txBody>
          <a:bodyPr/>
          <a:lstStyle/>
          <a:p>
            <a:r>
              <a:rPr lang="en-US" b="1" dirty="0"/>
              <a:t>Software project management</a:t>
            </a:r>
            <a:r>
              <a:rPr lang="en-US" dirty="0"/>
              <a:t> refers to the branch of </a:t>
            </a:r>
            <a:r>
              <a:rPr lang="en-US" b="1" dirty="0"/>
              <a:t>project management</a:t>
            </a:r>
            <a:r>
              <a:rPr lang="en-US" dirty="0"/>
              <a:t> dedicated to the planning, scheduling, resource allocation, execution, tracking and delivery of </a:t>
            </a:r>
            <a:r>
              <a:rPr lang="en-US" b="1" dirty="0"/>
              <a:t>software</a:t>
            </a:r>
            <a:r>
              <a:rPr lang="en-US" dirty="0"/>
              <a:t> projects.</a:t>
            </a:r>
          </a:p>
          <a:p>
            <a:r>
              <a:rPr lang="en-US" dirty="0"/>
              <a:t>Ensuring that objectives of stakeholders are met is the aim of project management</a:t>
            </a:r>
            <a:endParaRPr lang="en-IN" dirty="0"/>
          </a:p>
        </p:txBody>
      </p:sp>
      <p:sp>
        <p:nvSpPr>
          <p:cNvPr id="4" name="Date Placeholder 3"/>
          <p:cNvSpPr>
            <a:spLocks noGrp="1"/>
          </p:cNvSpPr>
          <p:nvPr>
            <p:ph type="dt" sz="half" idx="10"/>
          </p:nvPr>
        </p:nvSpPr>
        <p:spPr/>
        <p:txBody>
          <a:bodyPr/>
          <a:lstStyle/>
          <a:p>
            <a:fld id="{605A2816-09CF-454B-B7D6-881F553CA8CB}" type="datetime3">
              <a:rPr lang="en-US" smtClean="0"/>
              <a:t>27 May 2021</a:t>
            </a:fld>
            <a:endParaRPr lang="en-US" dirty="0"/>
          </a:p>
        </p:txBody>
      </p:sp>
      <p:sp>
        <p:nvSpPr>
          <p:cNvPr id="5" name="Footer Placeholder 4"/>
          <p:cNvSpPr>
            <a:spLocks noGrp="1"/>
          </p:cNvSpPr>
          <p:nvPr>
            <p:ph type="ftr" sz="quarter" idx="11"/>
          </p:nvPr>
        </p:nvSpPr>
        <p:spPr/>
        <p:txBody>
          <a:bodyPr/>
          <a:lstStyle/>
          <a:p>
            <a:r>
              <a:rPr lang="en-US"/>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7</a:t>
            </a:fld>
            <a:endParaRPr lang="en-US" dirty="0"/>
          </a:p>
        </p:txBody>
      </p:sp>
    </p:spTree>
    <p:extLst>
      <p:ext uri="{BB962C8B-B14F-4D97-AF65-F5344CB8AC3E}">
        <p14:creationId xmlns:p14="http://schemas.microsoft.com/office/powerpoint/2010/main" val="21496859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Why is SPM important?</a:t>
            </a:r>
            <a:endParaRPr lang="en-IN" dirty="0"/>
          </a:p>
        </p:txBody>
      </p:sp>
      <p:sp>
        <p:nvSpPr>
          <p:cNvPr id="3" name="Content Placeholder 2"/>
          <p:cNvSpPr>
            <a:spLocks noGrp="1"/>
          </p:cNvSpPr>
          <p:nvPr>
            <p:ph idx="1"/>
          </p:nvPr>
        </p:nvSpPr>
        <p:spPr/>
        <p:txBody>
          <a:bodyPr/>
          <a:lstStyle/>
          <a:p>
            <a:r>
              <a:rPr lang="en-US" altLang="zh-CN" dirty="0"/>
              <a:t>Unfortunately, projects are not always successful.</a:t>
            </a:r>
          </a:p>
          <a:p>
            <a:pPr lvl="1"/>
            <a:r>
              <a:rPr lang="en-US" altLang="zh-CN" dirty="0"/>
              <a:t>Standish Group in the U.S. analyzed 13,522 projects and concluded that only a third of them were successful; 82 percent were </a:t>
            </a:r>
            <a:r>
              <a:rPr lang="en-US" altLang="zh-CN" b="1" dirty="0">
                <a:solidFill>
                  <a:srgbClr val="FF0000"/>
                </a:solidFill>
              </a:rPr>
              <a:t>late </a:t>
            </a:r>
            <a:r>
              <a:rPr lang="en-US" altLang="zh-CN" dirty="0"/>
              <a:t>and 43 percent exceeded their </a:t>
            </a:r>
            <a:r>
              <a:rPr lang="en-US" altLang="zh-CN" dirty="0">
                <a:solidFill>
                  <a:srgbClr val="FF0000"/>
                </a:solidFill>
              </a:rPr>
              <a:t>budget.</a:t>
            </a:r>
          </a:p>
          <a:p>
            <a:pPr lvl="1"/>
            <a:r>
              <a:rPr lang="en-US" altLang="zh-CN" dirty="0"/>
              <a:t>The reason for these project shortcomings is often the management of projects.</a:t>
            </a:r>
            <a:endParaRPr lang="en-IN" dirty="0"/>
          </a:p>
        </p:txBody>
      </p:sp>
      <p:sp>
        <p:nvSpPr>
          <p:cNvPr id="4" name="Date Placeholder 3"/>
          <p:cNvSpPr>
            <a:spLocks noGrp="1"/>
          </p:cNvSpPr>
          <p:nvPr>
            <p:ph type="dt" sz="half" idx="10"/>
          </p:nvPr>
        </p:nvSpPr>
        <p:spPr/>
        <p:txBody>
          <a:bodyPr/>
          <a:lstStyle/>
          <a:p>
            <a:fld id="{95570247-D2E5-4D86-8C35-701FFA57DB9B}" type="datetime3">
              <a:rPr lang="en-US" smtClean="0"/>
              <a:t>27 May 2021</a:t>
            </a:fld>
            <a:endParaRPr lang="en-US" dirty="0"/>
          </a:p>
        </p:txBody>
      </p:sp>
      <p:sp>
        <p:nvSpPr>
          <p:cNvPr id="5" name="Footer Placeholder 4"/>
          <p:cNvSpPr>
            <a:spLocks noGrp="1"/>
          </p:cNvSpPr>
          <p:nvPr>
            <p:ph type="ftr" sz="quarter" idx="11"/>
          </p:nvPr>
        </p:nvSpPr>
        <p:spPr/>
        <p:txBody>
          <a:bodyPr/>
          <a:lstStyle/>
          <a:p>
            <a:r>
              <a:rPr lang="en-US"/>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8</a:t>
            </a:fld>
            <a:endParaRPr lang="en-US" dirty="0"/>
          </a:p>
        </p:txBody>
      </p:sp>
    </p:spTree>
    <p:extLst>
      <p:ext uri="{BB962C8B-B14F-4D97-AF65-F5344CB8AC3E}">
        <p14:creationId xmlns:p14="http://schemas.microsoft.com/office/powerpoint/2010/main" val="34728796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What is a project?</a:t>
            </a:r>
            <a:endParaRPr lang="zh-CN" altLang="en-US" dirty="0"/>
          </a:p>
        </p:txBody>
      </p:sp>
      <p:sp>
        <p:nvSpPr>
          <p:cNvPr id="2" name="内容占位符 1"/>
          <p:cNvSpPr>
            <a:spLocks noGrp="1"/>
          </p:cNvSpPr>
          <p:nvPr>
            <p:ph idx="1"/>
          </p:nvPr>
        </p:nvSpPr>
        <p:spPr/>
        <p:txBody>
          <a:bodyPr/>
          <a:lstStyle/>
          <a:p>
            <a:r>
              <a:rPr lang="en-US" altLang="zh-CN" dirty="0"/>
              <a:t>In dictionary definition, it emphases on</a:t>
            </a:r>
          </a:p>
          <a:p>
            <a:pPr marL="0" indent="0">
              <a:buNone/>
            </a:pPr>
            <a:r>
              <a:rPr lang="en-US" altLang="zh-CN" dirty="0"/>
              <a:t>-----</a:t>
            </a:r>
            <a:r>
              <a:rPr lang="en-US" altLang="zh-CN" i="1" dirty="0">
                <a:solidFill>
                  <a:schemeClr val="accent2"/>
                </a:solidFill>
              </a:rPr>
              <a:t>Being planned activity</a:t>
            </a:r>
          </a:p>
          <a:p>
            <a:pPr lvl="1"/>
            <a:r>
              <a:rPr lang="en-US" altLang="zh-CN" dirty="0"/>
              <a:t>Routine: one knows exactly what to do</a:t>
            </a:r>
          </a:p>
          <a:p>
            <a:pPr lvl="1"/>
            <a:r>
              <a:rPr lang="en-US" altLang="zh-CN" dirty="0"/>
              <a:t>Exploratory: full of uncertainties and risks</a:t>
            </a:r>
          </a:p>
          <a:p>
            <a:pPr lvl="2"/>
            <a:endParaRPr lang="en-GB" altLang="en-US" dirty="0"/>
          </a:p>
          <a:p>
            <a:pPr lvl="2"/>
            <a:r>
              <a:rPr lang="en-GB" altLang="en-US" dirty="0"/>
              <a:t>e.g. finding a cure for cancer: </a:t>
            </a:r>
          </a:p>
          <a:p>
            <a:pPr marL="914400" lvl="2" indent="0">
              <a:buNone/>
            </a:pPr>
            <a:r>
              <a:rPr lang="en-GB" altLang="en-US" dirty="0"/>
              <a:t>   the outcome is very uncertain</a:t>
            </a:r>
          </a:p>
          <a:p>
            <a:pPr marL="457200" lvl="1" indent="0">
              <a:buNone/>
            </a:pPr>
            <a:endParaRPr lang="en-US" altLang="zh-CN" dirty="0"/>
          </a:p>
          <a:p>
            <a:pPr marL="365760" lvl="1" indent="0">
              <a:buNone/>
            </a:pPr>
            <a:endParaRPr lang="en-US" altLang="zh-CN" dirty="0"/>
          </a:p>
        </p:txBody>
      </p:sp>
      <p:sp>
        <p:nvSpPr>
          <p:cNvPr id="5" name="Date Placeholder 4"/>
          <p:cNvSpPr>
            <a:spLocks noGrp="1"/>
          </p:cNvSpPr>
          <p:nvPr>
            <p:ph type="dt" sz="half" idx="10"/>
          </p:nvPr>
        </p:nvSpPr>
        <p:spPr/>
        <p:txBody>
          <a:bodyPr/>
          <a:lstStyle/>
          <a:p>
            <a:fld id="{9280B42C-688D-4724-A9A7-79BF32FDB05D}" type="datetime3">
              <a:rPr lang="en-US" smtClean="0"/>
              <a:t>27 May 2021</a:t>
            </a:fld>
            <a:endParaRPr lang="en-US"/>
          </a:p>
        </p:txBody>
      </p:sp>
      <p:sp>
        <p:nvSpPr>
          <p:cNvPr id="6" name="Footer Placeholder 5"/>
          <p:cNvSpPr>
            <a:spLocks noGrp="1"/>
          </p:cNvSpPr>
          <p:nvPr>
            <p:ph type="ftr" sz="quarter" idx="11"/>
          </p:nvPr>
        </p:nvSpPr>
        <p:spPr/>
        <p:txBody>
          <a:bodyPr/>
          <a:lstStyle/>
          <a:p>
            <a:r>
              <a:rPr lang="en-US"/>
              <a:t>Software Project Management     Dr. D Evangelin Geetha      Dept. of MCA       RIT</a:t>
            </a:r>
          </a:p>
        </p:txBody>
      </p:sp>
      <p:sp>
        <p:nvSpPr>
          <p:cNvPr id="7" name="Slide Number Placeholder 6"/>
          <p:cNvSpPr>
            <a:spLocks noGrp="1"/>
          </p:cNvSpPr>
          <p:nvPr>
            <p:ph type="sldNum" sz="quarter" idx="12"/>
          </p:nvPr>
        </p:nvSpPr>
        <p:spPr/>
        <p:txBody>
          <a:bodyPr/>
          <a:lstStyle/>
          <a:p>
            <a:fld id="{4024F9E6-8BD1-4849-86DE-3CD23B63DC4B}" type="slidenum">
              <a:rPr lang="en-US" smtClean="0"/>
              <a:pPr/>
              <a:t>9</a:t>
            </a:fld>
            <a:endParaRPr lang="en-US"/>
          </a:p>
        </p:txBody>
      </p:sp>
      <p:pic>
        <p:nvPicPr>
          <p:cNvPr id="4" name="图片 3"/>
          <p:cNvPicPr>
            <a:picLocks noChangeAspect="1"/>
          </p:cNvPicPr>
          <p:nvPr/>
        </p:nvPicPr>
        <p:blipFill>
          <a:blip r:embed="rId2"/>
          <a:stretch>
            <a:fillRect/>
          </a:stretch>
        </p:blipFill>
        <p:spPr>
          <a:xfrm>
            <a:off x="7341833" y="2077375"/>
            <a:ext cx="4352125" cy="3191930"/>
          </a:xfrm>
          <a:prstGeom prst="rect">
            <a:avLst/>
          </a:prstGeom>
        </p:spPr>
      </p:pic>
    </p:spTree>
    <p:extLst>
      <p:ext uri="{BB962C8B-B14F-4D97-AF65-F5344CB8AC3E}">
        <p14:creationId xmlns:p14="http://schemas.microsoft.com/office/powerpoint/2010/main" val="2969773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What is a project?</a:t>
            </a:r>
            <a:endParaRPr lang="zh-CN" altLang="en-US" dirty="0"/>
          </a:p>
        </p:txBody>
      </p:sp>
      <p:sp>
        <p:nvSpPr>
          <p:cNvPr id="2" name="内容占位符 1"/>
          <p:cNvSpPr>
            <a:spLocks noGrp="1"/>
          </p:cNvSpPr>
          <p:nvPr>
            <p:ph idx="1"/>
          </p:nvPr>
        </p:nvSpPr>
        <p:spPr>
          <a:xfrm>
            <a:off x="1440425" y="972224"/>
            <a:ext cx="9603275" cy="4574639"/>
          </a:xfrm>
        </p:spPr>
        <p:txBody>
          <a:bodyPr>
            <a:normAutofit fontScale="92500" lnSpcReduction="20000"/>
          </a:bodyPr>
          <a:lstStyle/>
          <a:p>
            <a:r>
              <a:rPr lang="en-US" altLang="zh-CN" dirty="0"/>
              <a:t>The characteristics distinguish projects:</a:t>
            </a:r>
          </a:p>
          <a:p>
            <a:pPr lvl="1"/>
            <a:r>
              <a:rPr lang="en-US" altLang="zh-CN" dirty="0"/>
              <a:t>non-routine tasks are involved;</a:t>
            </a:r>
          </a:p>
          <a:p>
            <a:pPr lvl="1"/>
            <a:r>
              <a:rPr lang="en-US" altLang="zh-CN" dirty="0"/>
              <a:t>planning is required;</a:t>
            </a:r>
          </a:p>
          <a:p>
            <a:pPr lvl="1"/>
            <a:r>
              <a:rPr lang="en-US" altLang="zh-CN" dirty="0"/>
              <a:t>specific objectives are to be met or a specified product is to be created;</a:t>
            </a:r>
          </a:p>
          <a:p>
            <a:pPr lvl="1"/>
            <a:r>
              <a:rPr lang="en-US" altLang="zh-CN" dirty="0"/>
              <a:t>the project has a predetermined time span;</a:t>
            </a:r>
          </a:p>
          <a:p>
            <a:pPr lvl="1"/>
            <a:r>
              <a:rPr lang="en-US" altLang="zh-CN" dirty="0"/>
              <a:t>work is carried out for someone other than yourself;</a:t>
            </a:r>
          </a:p>
          <a:p>
            <a:pPr lvl="1"/>
            <a:r>
              <a:rPr lang="en-US" altLang="zh-CN" dirty="0"/>
              <a:t>work involves several specialism;</a:t>
            </a:r>
          </a:p>
          <a:p>
            <a:pPr lvl="1"/>
            <a:r>
              <a:rPr lang="en-US" altLang="zh-CN" dirty="0"/>
              <a:t>people are formed into a temporary work group to carry out the task ;</a:t>
            </a:r>
          </a:p>
          <a:p>
            <a:pPr lvl="1"/>
            <a:r>
              <a:rPr lang="en-US" altLang="zh-CN" dirty="0"/>
              <a:t>work is carried out in several phases;</a:t>
            </a:r>
          </a:p>
          <a:p>
            <a:pPr lvl="1"/>
            <a:r>
              <a:rPr lang="en-US" altLang="zh-CN" dirty="0"/>
              <a:t>the resources that are available for use on the project are constrained;</a:t>
            </a:r>
          </a:p>
          <a:p>
            <a:pPr lvl="1"/>
            <a:r>
              <a:rPr lang="en-US" altLang="zh-CN" dirty="0"/>
              <a:t> </a:t>
            </a:r>
            <a:r>
              <a:rPr lang="en-US" altLang="zh-CN" dirty="0">
                <a:solidFill>
                  <a:schemeClr val="accent2">
                    <a:lumMod val="50000"/>
                  </a:schemeClr>
                </a:solidFill>
              </a:rPr>
              <a:t>the project is large or complex</a:t>
            </a:r>
            <a:r>
              <a:rPr lang="en-US" altLang="zh-CN" dirty="0"/>
              <a:t>.</a:t>
            </a:r>
            <a:endParaRPr lang="zh-CN" altLang="en-US" dirty="0"/>
          </a:p>
        </p:txBody>
      </p:sp>
      <p:sp>
        <p:nvSpPr>
          <p:cNvPr id="5" name="Date Placeholder 4"/>
          <p:cNvSpPr>
            <a:spLocks noGrp="1"/>
          </p:cNvSpPr>
          <p:nvPr>
            <p:ph type="dt" sz="half" idx="10"/>
          </p:nvPr>
        </p:nvSpPr>
        <p:spPr/>
        <p:txBody>
          <a:bodyPr/>
          <a:lstStyle/>
          <a:p>
            <a:fld id="{D20E3042-A72F-493E-9E6C-630034832245}" type="datetime3">
              <a:rPr lang="en-US" smtClean="0"/>
              <a:t>27 May 2021</a:t>
            </a:fld>
            <a:endParaRPr lang="en-US"/>
          </a:p>
        </p:txBody>
      </p:sp>
      <p:sp>
        <p:nvSpPr>
          <p:cNvPr id="6" name="Footer Placeholder 5"/>
          <p:cNvSpPr>
            <a:spLocks noGrp="1"/>
          </p:cNvSpPr>
          <p:nvPr>
            <p:ph type="ftr" sz="quarter" idx="11"/>
          </p:nvPr>
        </p:nvSpPr>
        <p:spPr>
          <a:xfrm>
            <a:off x="142043" y="6695135"/>
            <a:ext cx="4839630" cy="309201"/>
          </a:xfrm>
        </p:spPr>
        <p:txBody>
          <a:bodyPr/>
          <a:lstStyle/>
          <a:p>
            <a:r>
              <a:rPr lang="en-US" dirty="0"/>
              <a:t>Software Project Management     Dr. D Evangelin </a:t>
            </a:r>
            <a:r>
              <a:rPr lang="en-US" dirty="0" err="1"/>
              <a:t>Geetha</a:t>
            </a:r>
            <a:r>
              <a:rPr lang="en-US" dirty="0"/>
              <a:t>      Dept. of MCA       RIT</a:t>
            </a:r>
          </a:p>
        </p:txBody>
      </p:sp>
      <p:sp>
        <p:nvSpPr>
          <p:cNvPr id="7" name="Slide Number Placeholder 6"/>
          <p:cNvSpPr>
            <a:spLocks noGrp="1"/>
          </p:cNvSpPr>
          <p:nvPr>
            <p:ph type="sldNum" sz="quarter" idx="12"/>
          </p:nvPr>
        </p:nvSpPr>
        <p:spPr/>
        <p:txBody>
          <a:bodyPr/>
          <a:lstStyle/>
          <a:p>
            <a:fld id="{4024F9E6-8BD1-4849-86DE-3CD23B63DC4B}" type="slidenum">
              <a:rPr lang="en-US" smtClean="0"/>
              <a:pPr/>
              <a:t>10</a:t>
            </a:fld>
            <a:endParaRPr lang="en-US"/>
          </a:p>
        </p:txBody>
      </p:sp>
      <p:sp>
        <p:nvSpPr>
          <p:cNvPr id="4" name="文本框 3"/>
          <p:cNvSpPr txBox="1"/>
          <p:nvPr/>
        </p:nvSpPr>
        <p:spPr>
          <a:xfrm>
            <a:off x="2248026" y="5546863"/>
            <a:ext cx="7720447" cy="369332"/>
          </a:xfrm>
          <a:prstGeom prst="rect">
            <a:avLst/>
          </a:prstGeom>
          <a:noFill/>
        </p:spPr>
        <p:txBody>
          <a:bodyPr wrap="none" rtlCol="0">
            <a:spAutoFit/>
          </a:bodyPr>
          <a:lstStyle/>
          <a:p>
            <a:r>
              <a:rPr lang="en-US" altLang="zh-CN" dirty="0">
                <a:solidFill>
                  <a:srgbClr val="7030A0"/>
                </a:solidFill>
              </a:rPr>
              <a:t>The more any of these factors apply to a task, the more difficult that task will be.</a:t>
            </a:r>
            <a:endParaRPr lang="zh-CN" altLang="en-US" dirty="0">
              <a:solidFill>
                <a:srgbClr val="7030A0"/>
              </a:solidFill>
            </a:endParaRPr>
          </a:p>
        </p:txBody>
      </p:sp>
    </p:spTree>
    <p:extLst>
      <p:ext uri="{BB962C8B-B14F-4D97-AF65-F5344CB8AC3E}">
        <p14:creationId xmlns:p14="http://schemas.microsoft.com/office/powerpoint/2010/main" val="166573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D6D70-8274-4CD4-A2E5-FC9AA64D62A1}"/>
              </a:ext>
            </a:extLst>
          </p:cNvPr>
          <p:cNvSpPr>
            <a:spLocks noGrp="1"/>
          </p:cNvSpPr>
          <p:nvPr>
            <p:ph type="title"/>
          </p:nvPr>
        </p:nvSpPr>
        <p:spPr/>
        <p:txBody>
          <a:bodyPr/>
          <a:lstStyle/>
          <a:p>
            <a:r>
              <a:rPr lang="en-US" dirty="0"/>
              <a:t>Exercise 1.1</a:t>
            </a:r>
            <a:endParaRPr lang="en-IN" dirty="0"/>
          </a:p>
        </p:txBody>
      </p:sp>
      <p:sp>
        <p:nvSpPr>
          <p:cNvPr id="3" name="Content Placeholder 2">
            <a:extLst>
              <a:ext uri="{FF2B5EF4-FFF2-40B4-BE49-F238E27FC236}">
                <a16:creationId xmlns:a16="http://schemas.microsoft.com/office/drawing/2014/main" id="{9AD8A968-1200-43B3-8324-5786FAD0ECE2}"/>
              </a:ext>
            </a:extLst>
          </p:cNvPr>
          <p:cNvSpPr>
            <a:spLocks noGrp="1"/>
          </p:cNvSpPr>
          <p:nvPr>
            <p:ph idx="1"/>
          </p:nvPr>
        </p:nvSpPr>
        <p:spPr/>
        <p:txBody>
          <a:bodyPr/>
          <a:lstStyle/>
          <a:p>
            <a:r>
              <a:rPr lang="en-US" dirty="0"/>
              <a:t>Consider the following:</a:t>
            </a:r>
          </a:p>
          <a:p>
            <a:pPr lvl="1"/>
            <a:r>
              <a:rPr lang="en-US" dirty="0"/>
              <a:t>Producing an edition of a newspaper</a:t>
            </a:r>
          </a:p>
          <a:p>
            <a:pPr lvl="1"/>
            <a:r>
              <a:rPr lang="en-US" dirty="0"/>
              <a:t>Putting a robot vehicle on Mars to search for signs of life</a:t>
            </a:r>
          </a:p>
          <a:p>
            <a:pPr lvl="1"/>
            <a:r>
              <a:rPr lang="en-US" dirty="0"/>
              <a:t>Getting married</a:t>
            </a:r>
          </a:p>
          <a:p>
            <a:pPr lvl="1"/>
            <a:r>
              <a:rPr lang="en-US" dirty="0"/>
              <a:t>Amending a financial computer system to deal with a common European currency</a:t>
            </a:r>
          </a:p>
          <a:p>
            <a:pPr lvl="1"/>
            <a:r>
              <a:rPr lang="en-US" dirty="0"/>
              <a:t>A second year programming assignment for a computing student</a:t>
            </a:r>
          </a:p>
          <a:p>
            <a:pPr lvl="1"/>
            <a:r>
              <a:rPr lang="en-US" dirty="0"/>
              <a:t>Installing a new version of a word processing package in an organization.</a:t>
            </a:r>
          </a:p>
          <a:p>
            <a:pPr lvl="1"/>
            <a:endParaRPr lang="en-IN" dirty="0"/>
          </a:p>
        </p:txBody>
      </p:sp>
      <p:sp>
        <p:nvSpPr>
          <p:cNvPr id="4" name="Date Placeholder 3">
            <a:extLst>
              <a:ext uri="{FF2B5EF4-FFF2-40B4-BE49-F238E27FC236}">
                <a16:creationId xmlns:a16="http://schemas.microsoft.com/office/drawing/2014/main" id="{710DDEB9-4C31-4539-8564-4C338A941496}"/>
              </a:ext>
            </a:extLst>
          </p:cNvPr>
          <p:cNvSpPr>
            <a:spLocks noGrp="1"/>
          </p:cNvSpPr>
          <p:nvPr>
            <p:ph type="dt" sz="half" idx="10"/>
          </p:nvPr>
        </p:nvSpPr>
        <p:spPr/>
        <p:txBody>
          <a:bodyPr/>
          <a:lstStyle/>
          <a:p>
            <a:fld id="{4DA3D7ED-4D6F-441B-A7AA-E3D1E9A9B49C}" type="datetime3">
              <a:rPr lang="en-US" smtClean="0"/>
              <a:t>27 May 2021</a:t>
            </a:fld>
            <a:endParaRPr lang="en-US" dirty="0"/>
          </a:p>
        </p:txBody>
      </p:sp>
      <p:sp>
        <p:nvSpPr>
          <p:cNvPr id="5" name="Footer Placeholder 4">
            <a:extLst>
              <a:ext uri="{FF2B5EF4-FFF2-40B4-BE49-F238E27FC236}">
                <a16:creationId xmlns:a16="http://schemas.microsoft.com/office/drawing/2014/main" id="{81D036F2-3348-4FE6-9F60-EF8E789027EC}"/>
              </a:ext>
            </a:extLst>
          </p:cNvPr>
          <p:cNvSpPr>
            <a:spLocks noGrp="1"/>
          </p:cNvSpPr>
          <p:nvPr>
            <p:ph type="ftr" sz="quarter" idx="11"/>
          </p:nvPr>
        </p:nvSpPr>
        <p:spPr/>
        <p:txBody>
          <a:bodyPr/>
          <a:lstStyle/>
          <a:p>
            <a:r>
              <a:rPr lang="en-US"/>
              <a:t>Software Project Management     Dr. D Evangelin Geetha      Dept. of MCA       RIT</a:t>
            </a:r>
            <a:endParaRPr lang="en-US" dirty="0"/>
          </a:p>
        </p:txBody>
      </p:sp>
      <p:sp>
        <p:nvSpPr>
          <p:cNvPr id="6" name="Slide Number Placeholder 5">
            <a:extLst>
              <a:ext uri="{FF2B5EF4-FFF2-40B4-BE49-F238E27FC236}">
                <a16:creationId xmlns:a16="http://schemas.microsoft.com/office/drawing/2014/main" id="{E5B35E64-5674-4527-9A04-F22C823D2A57}"/>
              </a:ext>
            </a:extLst>
          </p:cNvPr>
          <p:cNvSpPr>
            <a:spLocks noGrp="1"/>
          </p:cNvSpPr>
          <p:nvPr>
            <p:ph type="sldNum" sz="quarter" idx="12"/>
          </p:nvPr>
        </p:nvSpPr>
        <p:spPr/>
        <p:txBody>
          <a:bodyPr/>
          <a:lstStyle/>
          <a:p>
            <a:fld id="{6D22F896-40B5-4ADD-8801-0D06FADFA095}" type="slidenum">
              <a:rPr lang="en-US" smtClean="0"/>
              <a:pPr/>
              <a:t>11</a:t>
            </a:fld>
            <a:endParaRPr lang="en-US" dirty="0"/>
          </a:p>
        </p:txBody>
      </p:sp>
    </p:spTree>
    <p:extLst>
      <p:ext uri="{BB962C8B-B14F-4D97-AF65-F5344CB8AC3E}">
        <p14:creationId xmlns:p14="http://schemas.microsoft.com/office/powerpoint/2010/main" val="37233859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D6D70-8274-4CD4-A2E5-FC9AA64D62A1}"/>
              </a:ext>
            </a:extLst>
          </p:cNvPr>
          <p:cNvSpPr>
            <a:spLocks noGrp="1"/>
          </p:cNvSpPr>
          <p:nvPr>
            <p:ph type="title"/>
          </p:nvPr>
        </p:nvSpPr>
        <p:spPr/>
        <p:txBody>
          <a:bodyPr/>
          <a:lstStyle/>
          <a:p>
            <a:r>
              <a:rPr lang="en-US" dirty="0"/>
              <a:t>Exercise 1.1 - Solution</a:t>
            </a:r>
            <a:endParaRPr lang="en-IN" dirty="0"/>
          </a:p>
        </p:txBody>
      </p:sp>
      <p:sp>
        <p:nvSpPr>
          <p:cNvPr id="3" name="Content Placeholder 2">
            <a:extLst>
              <a:ext uri="{FF2B5EF4-FFF2-40B4-BE49-F238E27FC236}">
                <a16:creationId xmlns:a16="http://schemas.microsoft.com/office/drawing/2014/main" id="{9AD8A968-1200-43B3-8324-5786FAD0ECE2}"/>
              </a:ext>
            </a:extLst>
          </p:cNvPr>
          <p:cNvSpPr>
            <a:spLocks noGrp="1"/>
          </p:cNvSpPr>
          <p:nvPr>
            <p:ph idx="1"/>
          </p:nvPr>
        </p:nvSpPr>
        <p:spPr/>
        <p:txBody>
          <a:bodyPr>
            <a:normAutofit/>
          </a:bodyPr>
          <a:lstStyle/>
          <a:p>
            <a:r>
              <a:rPr lang="en-US" dirty="0"/>
              <a:t>Consider the following:</a:t>
            </a:r>
          </a:p>
          <a:p>
            <a:pPr marL="914400" lvl="1" indent="-457200">
              <a:buFont typeface="+mj-lt"/>
              <a:buAutoNum type="arabicPeriod"/>
            </a:pPr>
            <a:r>
              <a:rPr lang="en-US" dirty="0"/>
              <a:t>Putting a robot vehicle on Mars to search for signs of life</a:t>
            </a:r>
          </a:p>
          <a:p>
            <a:pPr marL="914400" lvl="1" indent="-457200">
              <a:buFont typeface="+mj-lt"/>
              <a:buAutoNum type="arabicPeriod"/>
            </a:pPr>
            <a:r>
              <a:rPr lang="en-US" dirty="0"/>
              <a:t>Amending a financial computer system to deal with a common European currency</a:t>
            </a:r>
          </a:p>
          <a:p>
            <a:pPr marL="914400" lvl="1" indent="-457200">
              <a:buFont typeface="+mj-lt"/>
              <a:buAutoNum type="arabicPeriod"/>
            </a:pPr>
            <a:r>
              <a:rPr lang="en-US" dirty="0"/>
              <a:t>Installing a new version of a word processing package in an organization.</a:t>
            </a:r>
          </a:p>
          <a:p>
            <a:pPr marL="914400" lvl="1" indent="-457200">
              <a:buFont typeface="+mj-lt"/>
              <a:buAutoNum type="arabicPeriod"/>
            </a:pPr>
            <a:r>
              <a:rPr lang="en-US" dirty="0"/>
              <a:t>Getting married</a:t>
            </a:r>
          </a:p>
          <a:p>
            <a:pPr marL="914400" lvl="1" indent="-457200">
              <a:buFont typeface="+mj-lt"/>
              <a:buAutoNum type="arabicPeriod"/>
            </a:pPr>
            <a:r>
              <a:rPr lang="en-US" dirty="0"/>
              <a:t>Producing an edition of a newspaper</a:t>
            </a:r>
          </a:p>
          <a:p>
            <a:pPr marL="914400" lvl="1" indent="-457200">
              <a:buFont typeface="+mj-lt"/>
              <a:buAutoNum type="arabicPeriod"/>
            </a:pPr>
            <a:r>
              <a:rPr lang="en-US" dirty="0"/>
              <a:t>A second year programming assignment for a computing student</a:t>
            </a:r>
          </a:p>
          <a:p>
            <a:pPr lvl="1"/>
            <a:endParaRPr lang="en-IN" dirty="0"/>
          </a:p>
        </p:txBody>
      </p:sp>
      <p:sp>
        <p:nvSpPr>
          <p:cNvPr id="4" name="Date Placeholder 3">
            <a:extLst>
              <a:ext uri="{FF2B5EF4-FFF2-40B4-BE49-F238E27FC236}">
                <a16:creationId xmlns:a16="http://schemas.microsoft.com/office/drawing/2014/main" id="{710DDEB9-4C31-4539-8564-4C338A941496}"/>
              </a:ext>
            </a:extLst>
          </p:cNvPr>
          <p:cNvSpPr>
            <a:spLocks noGrp="1"/>
          </p:cNvSpPr>
          <p:nvPr>
            <p:ph type="dt" sz="half" idx="10"/>
          </p:nvPr>
        </p:nvSpPr>
        <p:spPr/>
        <p:txBody>
          <a:bodyPr/>
          <a:lstStyle/>
          <a:p>
            <a:fld id="{4DA3D7ED-4D6F-441B-A7AA-E3D1E9A9B49C}" type="datetime3">
              <a:rPr lang="en-US" smtClean="0"/>
              <a:t>27 May 2021</a:t>
            </a:fld>
            <a:endParaRPr lang="en-US" dirty="0"/>
          </a:p>
        </p:txBody>
      </p:sp>
      <p:sp>
        <p:nvSpPr>
          <p:cNvPr id="5" name="Footer Placeholder 4">
            <a:extLst>
              <a:ext uri="{FF2B5EF4-FFF2-40B4-BE49-F238E27FC236}">
                <a16:creationId xmlns:a16="http://schemas.microsoft.com/office/drawing/2014/main" id="{81D036F2-3348-4FE6-9F60-EF8E789027EC}"/>
              </a:ext>
            </a:extLst>
          </p:cNvPr>
          <p:cNvSpPr>
            <a:spLocks noGrp="1"/>
          </p:cNvSpPr>
          <p:nvPr>
            <p:ph type="ftr" sz="quarter" idx="11"/>
          </p:nvPr>
        </p:nvSpPr>
        <p:spPr/>
        <p:txBody>
          <a:bodyPr/>
          <a:lstStyle/>
          <a:p>
            <a:r>
              <a:rPr lang="en-US"/>
              <a:t>Software Project Management     Dr. D Evangelin Geetha      Dept. of MCA       RIT</a:t>
            </a:r>
            <a:endParaRPr lang="en-US" dirty="0"/>
          </a:p>
        </p:txBody>
      </p:sp>
      <p:sp>
        <p:nvSpPr>
          <p:cNvPr id="6" name="Slide Number Placeholder 5">
            <a:extLst>
              <a:ext uri="{FF2B5EF4-FFF2-40B4-BE49-F238E27FC236}">
                <a16:creationId xmlns:a16="http://schemas.microsoft.com/office/drawing/2014/main" id="{E5B35E64-5674-4527-9A04-F22C823D2A57}"/>
              </a:ext>
            </a:extLst>
          </p:cNvPr>
          <p:cNvSpPr>
            <a:spLocks noGrp="1"/>
          </p:cNvSpPr>
          <p:nvPr>
            <p:ph type="sldNum" sz="quarter" idx="12"/>
          </p:nvPr>
        </p:nvSpPr>
        <p:spPr/>
        <p:txBody>
          <a:bodyPr/>
          <a:lstStyle/>
          <a:p>
            <a:fld id="{6D22F896-40B5-4ADD-8801-0D06FADFA095}" type="slidenum">
              <a:rPr lang="en-US" smtClean="0"/>
              <a:pPr/>
              <a:t>12</a:t>
            </a:fld>
            <a:endParaRPr lang="en-US" dirty="0"/>
          </a:p>
        </p:txBody>
      </p:sp>
    </p:spTree>
    <p:extLst>
      <p:ext uri="{BB962C8B-B14F-4D97-AF65-F5344CB8AC3E}">
        <p14:creationId xmlns:p14="http://schemas.microsoft.com/office/powerpoint/2010/main" val="361005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Project Constraints</a:t>
            </a:r>
            <a:endParaRPr lang="zh-CN" altLang="en-US" dirty="0"/>
          </a:p>
        </p:txBody>
      </p:sp>
      <p:sp>
        <p:nvSpPr>
          <p:cNvPr id="2" name="内容占位符 1"/>
          <p:cNvSpPr>
            <a:spLocks noGrp="1"/>
          </p:cNvSpPr>
          <p:nvPr>
            <p:ph idx="1"/>
          </p:nvPr>
        </p:nvSpPr>
        <p:spPr/>
        <p:txBody>
          <a:bodyPr>
            <a:normAutofit fontScale="92500" lnSpcReduction="10000"/>
          </a:bodyPr>
          <a:lstStyle/>
          <a:p>
            <a:r>
              <a:rPr lang="en-US" altLang="zh-CN" dirty="0"/>
              <a:t>Scope:</a:t>
            </a:r>
          </a:p>
          <a:p>
            <a:pPr lvl="1"/>
            <a:r>
              <a:rPr lang="en-US" altLang="zh-CN" dirty="0"/>
              <a:t>What work will be done as part of the project</a:t>
            </a:r>
          </a:p>
          <a:p>
            <a:pPr lvl="1"/>
            <a:r>
              <a:rPr lang="en-US" altLang="zh-CN" dirty="0"/>
              <a:t>What unique product, service, or result does the customer or sponsor expect from the project</a:t>
            </a:r>
          </a:p>
          <a:p>
            <a:r>
              <a:rPr lang="en-US" altLang="zh-CN" dirty="0"/>
              <a:t>Time</a:t>
            </a:r>
          </a:p>
          <a:p>
            <a:pPr lvl="1"/>
            <a:r>
              <a:rPr lang="en-US" altLang="zh-CN" dirty="0"/>
              <a:t>How long should it take to complete the project</a:t>
            </a:r>
          </a:p>
          <a:p>
            <a:pPr lvl="1"/>
            <a:r>
              <a:rPr lang="en-US" altLang="zh-CN" dirty="0"/>
              <a:t>Who can approve changes to the schedule</a:t>
            </a:r>
          </a:p>
          <a:p>
            <a:r>
              <a:rPr lang="en-US" altLang="zh-CN" dirty="0"/>
              <a:t>Cost</a:t>
            </a:r>
          </a:p>
          <a:p>
            <a:pPr lvl="1"/>
            <a:r>
              <a:rPr lang="en-US" altLang="zh-CN" dirty="0"/>
              <a:t>What is the project’s budget</a:t>
            </a:r>
          </a:p>
          <a:p>
            <a:pPr lvl="1"/>
            <a:r>
              <a:rPr lang="en-US" altLang="zh-CN" dirty="0"/>
              <a:t>Who can authorize changes to the budget</a:t>
            </a:r>
            <a:endParaRPr lang="zh-CN" altLang="en-US" dirty="0"/>
          </a:p>
        </p:txBody>
      </p:sp>
      <p:sp>
        <p:nvSpPr>
          <p:cNvPr id="4" name="Date Placeholder 3"/>
          <p:cNvSpPr>
            <a:spLocks noGrp="1"/>
          </p:cNvSpPr>
          <p:nvPr>
            <p:ph type="dt" sz="half" idx="10"/>
          </p:nvPr>
        </p:nvSpPr>
        <p:spPr/>
        <p:txBody>
          <a:bodyPr/>
          <a:lstStyle/>
          <a:p>
            <a:fld id="{760F36BE-7498-433D-ADDA-74D5242C4423}" type="datetime3">
              <a:rPr lang="en-US" smtClean="0"/>
              <a:t>27 May 2021</a:t>
            </a:fld>
            <a:endParaRPr lang="en-US"/>
          </a:p>
        </p:txBody>
      </p:sp>
      <p:sp>
        <p:nvSpPr>
          <p:cNvPr id="5" name="Footer Placeholder 4"/>
          <p:cNvSpPr>
            <a:spLocks noGrp="1"/>
          </p:cNvSpPr>
          <p:nvPr>
            <p:ph type="ftr" sz="quarter" idx="11"/>
          </p:nvPr>
        </p:nvSpPr>
        <p:spPr/>
        <p:txBody>
          <a:bodyPr/>
          <a:lstStyle/>
          <a:p>
            <a:r>
              <a:rPr lang="en-US"/>
              <a:t>Software Project Management     Dr. D Evangelin Geetha      Dept. of MCA       RIT</a:t>
            </a:r>
          </a:p>
        </p:txBody>
      </p:sp>
      <p:sp>
        <p:nvSpPr>
          <p:cNvPr id="6" name="Slide Number Placeholder 5"/>
          <p:cNvSpPr>
            <a:spLocks noGrp="1"/>
          </p:cNvSpPr>
          <p:nvPr>
            <p:ph type="sldNum" sz="quarter" idx="12"/>
          </p:nvPr>
        </p:nvSpPr>
        <p:spPr/>
        <p:txBody>
          <a:bodyPr/>
          <a:lstStyle/>
          <a:p>
            <a:fld id="{4024F9E6-8BD1-4849-86DE-3CD23B63DC4B}" type="slidenum">
              <a:rPr lang="en-US" smtClean="0"/>
              <a:pPr/>
              <a:t>13</a:t>
            </a:fld>
            <a:endParaRPr lang="en-US"/>
          </a:p>
        </p:txBody>
      </p:sp>
    </p:spTree>
    <p:extLst>
      <p:ext uri="{BB962C8B-B14F-4D97-AF65-F5344CB8AC3E}">
        <p14:creationId xmlns:p14="http://schemas.microsoft.com/office/powerpoint/2010/main" val="4082309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Software prj vs. other types of prj</a:t>
            </a:r>
            <a:endParaRPr lang="zh-CN" altLang="en-US" dirty="0"/>
          </a:p>
        </p:txBody>
      </p:sp>
      <p:sp>
        <p:nvSpPr>
          <p:cNvPr id="2" name="内容占位符 1"/>
          <p:cNvSpPr>
            <a:spLocks noGrp="1"/>
          </p:cNvSpPr>
          <p:nvPr>
            <p:ph idx="1"/>
          </p:nvPr>
        </p:nvSpPr>
        <p:spPr/>
        <p:txBody>
          <a:bodyPr/>
          <a:lstStyle/>
          <a:p>
            <a:r>
              <a:rPr lang="en-US" altLang="zh-CN" u="sng" dirty="0">
                <a:solidFill>
                  <a:srgbClr val="7030A0"/>
                </a:solidFill>
              </a:rPr>
              <a:t>Invisibility</a:t>
            </a:r>
            <a:r>
              <a:rPr lang="en-US" altLang="zh-CN" dirty="0"/>
              <a:t>: With software, progress is not immediately visible</a:t>
            </a:r>
          </a:p>
          <a:p>
            <a:r>
              <a:rPr lang="en-US" altLang="zh-CN" u="sng" dirty="0">
                <a:solidFill>
                  <a:srgbClr val="7030A0"/>
                </a:solidFill>
              </a:rPr>
              <a:t>Complexity</a:t>
            </a:r>
            <a:r>
              <a:rPr lang="en-US" altLang="zh-CN" dirty="0"/>
              <a:t>: Per dollar, software products contain more complexity than other engineered artefacts</a:t>
            </a:r>
          </a:p>
          <a:p>
            <a:r>
              <a:rPr lang="en-US" altLang="zh-CN" u="sng" dirty="0">
                <a:solidFill>
                  <a:srgbClr val="7030A0"/>
                </a:solidFill>
              </a:rPr>
              <a:t>Conformity</a:t>
            </a:r>
            <a:r>
              <a:rPr lang="en-US" altLang="zh-CN" dirty="0"/>
              <a:t>: Software developers have to conform to the requirements of human clients</a:t>
            </a:r>
          </a:p>
          <a:p>
            <a:r>
              <a:rPr lang="en-US" altLang="zh-CN" u="sng" dirty="0">
                <a:solidFill>
                  <a:srgbClr val="7030A0"/>
                </a:solidFill>
              </a:rPr>
              <a:t>Flexibility</a:t>
            </a:r>
            <a:r>
              <a:rPr lang="en-US" altLang="zh-CN" dirty="0"/>
              <a:t>: Software systems are particularly subject to change </a:t>
            </a:r>
          </a:p>
          <a:p>
            <a:endParaRPr lang="zh-CN" altLang="en-US" dirty="0"/>
          </a:p>
        </p:txBody>
      </p:sp>
      <p:sp>
        <p:nvSpPr>
          <p:cNvPr id="4" name="Date Placeholder 3"/>
          <p:cNvSpPr>
            <a:spLocks noGrp="1"/>
          </p:cNvSpPr>
          <p:nvPr>
            <p:ph type="dt" sz="half" idx="10"/>
          </p:nvPr>
        </p:nvSpPr>
        <p:spPr/>
        <p:txBody>
          <a:bodyPr/>
          <a:lstStyle/>
          <a:p>
            <a:fld id="{AD94392F-A63A-48C2-9DEF-52C20DABBCE6}" type="datetime3">
              <a:rPr lang="en-US" smtClean="0"/>
              <a:t>27 May 2021</a:t>
            </a:fld>
            <a:endParaRPr lang="en-US"/>
          </a:p>
        </p:txBody>
      </p:sp>
      <p:sp>
        <p:nvSpPr>
          <p:cNvPr id="5" name="Footer Placeholder 4"/>
          <p:cNvSpPr>
            <a:spLocks noGrp="1"/>
          </p:cNvSpPr>
          <p:nvPr>
            <p:ph type="ftr" sz="quarter" idx="11"/>
          </p:nvPr>
        </p:nvSpPr>
        <p:spPr/>
        <p:txBody>
          <a:bodyPr/>
          <a:lstStyle/>
          <a:p>
            <a:r>
              <a:rPr lang="en-US"/>
              <a:t>Software Project Management     Dr. D Evangelin Geetha      Dept. of MCA       RIT</a:t>
            </a:r>
          </a:p>
        </p:txBody>
      </p:sp>
      <p:sp>
        <p:nvSpPr>
          <p:cNvPr id="6" name="Slide Number Placeholder 5"/>
          <p:cNvSpPr>
            <a:spLocks noGrp="1"/>
          </p:cNvSpPr>
          <p:nvPr>
            <p:ph type="sldNum" sz="quarter" idx="12"/>
          </p:nvPr>
        </p:nvSpPr>
        <p:spPr/>
        <p:txBody>
          <a:bodyPr/>
          <a:lstStyle/>
          <a:p>
            <a:fld id="{4024F9E6-8BD1-4849-86DE-3CD23B63DC4B}" type="slidenum">
              <a:rPr lang="en-US" smtClean="0"/>
              <a:pPr/>
              <a:t>14</a:t>
            </a:fld>
            <a:endParaRPr lang="en-US"/>
          </a:p>
        </p:txBody>
      </p:sp>
    </p:spTree>
    <p:extLst>
      <p:ext uri="{BB962C8B-B14F-4D97-AF65-F5344CB8AC3E}">
        <p14:creationId xmlns:p14="http://schemas.microsoft.com/office/powerpoint/2010/main" val="40590535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Contract Management and Technical Project Management</a:t>
            </a:r>
          </a:p>
        </p:txBody>
      </p:sp>
      <p:sp>
        <p:nvSpPr>
          <p:cNvPr id="2" name="Content Placeholder 1"/>
          <p:cNvSpPr>
            <a:spLocks noGrp="1"/>
          </p:cNvSpPr>
          <p:nvPr>
            <p:ph idx="1"/>
          </p:nvPr>
        </p:nvSpPr>
        <p:spPr/>
        <p:txBody>
          <a:bodyPr/>
          <a:lstStyle/>
          <a:p>
            <a:r>
              <a:rPr lang="en-IN" dirty="0"/>
              <a:t>In-house projects – users and developers belong to same organization</a:t>
            </a:r>
          </a:p>
          <a:p>
            <a:endParaRPr lang="en-IN" dirty="0"/>
          </a:p>
        </p:txBody>
      </p:sp>
      <p:sp>
        <p:nvSpPr>
          <p:cNvPr id="5" name="Date Placeholder 4"/>
          <p:cNvSpPr>
            <a:spLocks noGrp="1"/>
          </p:cNvSpPr>
          <p:nvPr>
            <p:ph type="dt" sz="half" idx="10"/>
          </p:nvPr>
        </p:nvSpPr>
        <p:spPr/>
        <p:txBody>
          <a:bodyPr/>
          <a:lstStyle/>
          <a:p>
            <a:fld id="{46253C73-DE52-4B0C-BF62-007AAF1D5084}" type="datetime3">
              <a:rPr lang="en-US" smtClean="0"/>
              <a:t>27 May 2021</a:t>
            </a:fld>
            <a:endParaRPr lang="en-US"/>
          </a:p>
        </p:txBody>
      </p:sp>
      <p:sp>
        <p:nvSpPr>
          <p:cNvPr id="6" name="Footer Placeholder 5"/>
          <p:cNvSpPr>
            <a:spLocks noGrp="1"/>
          </p:cNvSpPr>
          <p:nvPr>
            <p:ph type="ftr" sz="quarter" idx="11"/>
          </p:nvPr>
        </p:nvSpPr>
        <p:spPr/>
        <p:txBody>
          <a:bodyPr/>
          <a:lstStyle/>
          <a:p>
            <a:r>
              <a:rPr lang="en-US"/>
              <a:t>Software Project Management     Dr. D Evangelin Geetha      Dept. of MCA       RIT</a:t>
            </a:r>
          </a:p>
        </p:txBody>
      </p:sp>
      <p:sp>
        <p:nvSpPr>
          <p:cNvPr id="7" name="Slide Number Placeholder 6"/>
          <p:cNvSpPr>
            <a:spLocks noGrp="1"/>
          </p:cNvSpPr>
          <p:nvPr>
            <p:ph type="sldNum" sz="quarter" idx="12"/>
          </p:nvPr>
        </p:nvSpPr>
        <p:spPr/>
        <p:txBody>
          <a:bodyPr/>
          <a:lstStyle/>
          <a:p>
            <a:fld id="{4024F9E6-8BD1-4849-86DE-3CD23B63DC4B}" type="slidenum">
              <a:rPr lang="en-US" smtClean="0"/>
              <a:pPr/>
              <a:t>15</a:t>
            </a:fld>
            <a:endParaRPr lang="en-US"/>
          </a:p>
        </p:txBody>
      </p:sp>
      <p:sp>
        <p:nvSpPr>
          <p:cNvPr id="4" name="文本框 3"/>
          <p:cNvSpPr txBox="1"/>
          <p:nvPr/>
        </p:nvSpPr>
        <p:spPr>
          <a:xfrm>
            <a:off x="2079544" y="3198462"/>
            <a:ext cx="7076104" cy="400110"/>
          </a:xfrm>
          <a:prstGeom prst="rect">
            <a:avLst/>
          </a:prstGeom>
          <a:noFill/>
        </p:spPr>
        <p:txBody>
          <a:bodyPr wrap="none" rtlCol="0">
            <a:spAutoFit/>
          </a:bodyPr>
          <a:lstStyle/>
          <a:p>
            <a:r>
              <a:rPr lang="en-US" altLang="zh-CN" sz="2000" dirty="0">
                <a:solidFill>
                  <a:srgbClr val="FF0000"/>
                </a:solidFill>
              </a:rPr>
              <a:t>ICT Project – Information and Communication Technology Project</a:t>
            </a:r>
            <a:endParaRPr lang="zh-CN" altLang="en-US" sz="2000" dirty="0">
              <a:solidFill>
                <a:srgbClr val="FF0000"/>
              </a:solidFill>
            </a:endParaRPr>
          </a:p>
        </p:txBody>
      </p:sp>
    </p:spTree>
    <p:extLst>
      <p:ext uri="{BB962C8B-B14F-4D97-AF65-F5344CB8AC3E}">
        <p14:creationId xmlns:p14="http://schemas.microsoft.com/office/powerpoint/2010/main" val="18831151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Activities covered by SPM</a:t>
            </a:r>
            <a:endParaRPr lang="zh-CN" altLang="en-US" dirty="0"/>
          </a:p>
        </p:txBody>
      </p:sp>
      <p:sp>
        <p:nvSpPr>
          <p:cNvPr id="2" name="内容占位符 1"/>
          <p:cNvSpPr>
            <a:spLocks noGrp="1"/>
          </p:cNvSpPr>
          <p:nvPr>
            <p:ph idx="1"/>
          </p:nvPr>
        </p:nvSpPr>
        <p:spPr/>
        <p:txBody>
          <a:bodyPr>
            <a:normAutofit/>
          </a:bodyPr>
          <a:lstStyle/>
          <a:p>
            <a:r>
              <a:rPr lang="en-US" altLang="zh-CN" sz="2400" i="1" dirty="0"/>
              <a:t>A software project is not only concerned with the actual writing of software. In fact, where a software application is bought in “off the shelf”, there may be no software writing as such, but this is still fundamentally a software project because so many of the other activities associated with software will still be present.</a:t>
            </a:r>
            <a:endParaRPr lang="zh-CN" altLang="en-US" sz="2400" i="1" dirty="0"/>
          </a:p>
        </p:txBody>
      </p:sp>
      <p:sp>
        <p:nvSpPr>
          <p:cNvPr id="6" name="Date Placeholder 5"/>
          <p:cNvSpPr>
            <a:spLocks noGrp="1"/>
          </p:cNvSpPr>
          <p:nvPr>
            <p:ph type="dt" sz="half" idx="10"/>
          </p:nvPr>
        </p:nvSpPr>
        <p:spPr/>
        <p:txBody>
          <a:bodyPr/>
          <a:lstStyle/>
          <a:p>
            <a:fld id="{4E868CAF-4842-41D0-B1F0-3C859CAE7B1D}" type="datetime3">
              <a:rPr lang="en-US" smtClean="0"/>
              <a:t>27 May 2021</a:t>
            </a:fld>
            <a:endParaRPr lang="en-US"/>
          </a:p>
        </p:txBody>
      </p:sp>
      <p:sp>
        <p:nvSpPr>
          <p:cNvPr id="7" name="Footer Placeholder 6"/>
          <p:cNvSpPr>
            <a:spLocks noGrp="1"/>
          </p:cNvSpPr>
          <p:nvPr>
            <p:ph type="ftr" sz="quarter" idx="11"/>
          </p:nvPr>
        </p:nvSpPr>
        <p:spPr/>
        <p:txBody>
          <a:bodyPr/>
          <a:lstStyle/>
          <a:p>
            <a:r>
              <a:rPr lang="en-US"/>
              <a:t>Software Project Management     Dr. D Evangelin Geetha      Dept. of MCA       RIT</a:t>
            </a:r>
          </a:p>
        </p:txBody>
      </p:sp>
      <p:sp>
        <p:nvSpPr>
          <p:cNvPr id="8" name="Slide Number Placeholder 7"/>
          <p:cNvSpPr>
            <a:spLocks noGrp="1"/>
          </p:cNvSpPr>
          <p:nvPr>
            <p:ph type="sldNum" sz="quarter" idx="12"/>
          </p:nvPr>
        </p:nvSpPr>
        <p:spPr/>
        <p:txBody>
          <a:bodyPr/>
          <a:lstStyle/>
          <a:p>
            <a:fld id="{4024F9E6-8BD1-4849-86DE-3CD23B63DC4B}" type="slidenum">
              <a:rPr lang="en-US" smtClean="0"/>
              <a:pPr/>
              <a:t>16</a:t>
            </a:fld>
            <a:endParaRPr lang="en-US"/>
          </a:p>
        </p:txBody>
      </p:sp>
      <p:pic>
        <p:nvPicPr>
          <p:cNvPr id="4" name="图片 3"/>
          <p:cNvPicPr>
            <a:picLocks noChangeAspect="1"/>
          </p:cNvPicPr>
          <p:nvPr/>
        </p:nvPicPr>
        <p:blipFill>
          <a:blip r:embed="rId2"/>
          <a:stretch>
            <a:fillRect/>
          </a:stretch>
        </p:blipFill>
        <p:spPr>
          <a:xfrm>
            <a:off x="6645662" y="3246511"/>
            <a:ext cx="4467385" cy="2550870"/>
          </a:xfrm>
          <a:prstGeom prst="rect">
            <a:avLst/>
          </a:prstGeom>
        </p:spPr>
      </p:pic>
      <p:sp>
        <p:nvSpPr>
          <p:cNvPr id="5" name="文本框 4"/>
          <p:cNvSpPr txBox="1"/>
          <p:nvPr/>
        </p:nvSpPr>
        <p:spPr>
          <a:xfrm>
            <a:off x="4069208" y="5460187"/>
            <a:ext cx="3598293" cy="461665"/>
          </a:xfrm>
          <a:prstGeom prst="rect">
            <a:avLst/>
          </a:prstGeom>
          <a:noFill/>
        </p:spPr>
        <p:txBody>
          <a:bodyPr wrap="none" rtlCol="0">
            <a:spAutoFit/>
          </a:bodyPr>
          <a:lstStyle/>
          <a:p>
            <a:r>
              <a:rPr lang="en-US" altLang="zh-CN" sz="2400" dirty="0"/>
              <a:t>Three successive processes</a:t>
            </a:r>
            <a:endParaRPr lang="zh-CN" altLang="en-US" sz="2400" dirty="0"/>
          </a:p>
        </p:txBody>
      </p:sp>
    </p:spTree>
    <p:extLst>
      <p:ext uri="{BB962C8B-B14F-4D97-AF65-F5344CB8AC3E}">
        <p14:creationId xmlns:p14="http://schemas.microsoft.com/office/powerpoint/2010/main" val="32936229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Activities covered by SPM</a:t>
            </a:r>
            <a:endParaRPr lang="zh-CN" altLang="en-US" dirty="0"/>
          </a:p>
        </p:txBody>
      </p:sp>
      <p:sp>
        <p:nvSpPr>
          <p:cNvPr id="2" name="内容占位符 1"/>
          <p:cNvSpPr>
            <a:spLocks noGrp="1"/>
          </p:cNvSpPr>
          <p:nvPr>
            <p:ph idx="1"/>
          </p:nvPr>
        </p:nvSpPr>
        <p:spPr>
          <a:xfrm>
            <a:off x="1306613" y="1238149"/>
            <a:ext cx="9603275" cy="4719605"/>
          </a:xfrm>
        </p:spPr>
        <p:txBody>
          <a:bodyPr>
            <a:normAutofit lnSpcReduction="10000"/>
          </a:bodyPr>
          <a:lstStyle/>
          <a:p>
            <a:r>
              <a:rPr lang="en-US" altLang="zh-CN" u="sng" dirty="0">
                <a:solidFill>
                  <a:srgbClr val="7030A0"/>
                </a:solidFill>
              </a:rPr>
              <a:t>1. The feasibility study</a:t>
            </a:r>
            <a:r>
              <a:rPr lang="en-US" altLang="zh-CN" dirty="0"/>
              <a:t>: assesses whether a project is worth starting – that it has a valid business case. </a:t>
            </a:r>
          </a:p>
          <a:p>
            <a:r>
              <a:rPr lang="en-US" altLang="zh-CN" u="sng" dirty="0">
                <a:solidFill>
                  <a:srgbClr val="7030A0"/>
                </a:solidFill>
              </a:rPr>
              <a:t>2. Planning</a:t>
            </a:r>
            <a:r>
              <a:rPr lang="en-US" altLang="zh-CN" dirty="0"/>
              <a:t>: If the feasibility study indicates that the prospective project appears viable, then project planning can start.</a:t>
            </a:r>
          </a:p>
          <a:p>
            <a:r>
              <a:rPr lang="en-US" altLang="zh-CN" u="sng" dirty="0">
                <a:solidFill>
                  <a:srgbClr val="7030A0"/>
                </a:solidFill>
              </a:rPr>
              <a:t>3. Project execution</a:t>
            </a:r>
            <a:r>
              <a:rPr lang="en-US" altLang="zh-CN" dirty="0"/>
              <a:t>: The execution of a project often contains design and implementation sub-phases.</a:t>
            </a:r>
          </a:p>
          <a:p>
            <a:pPr lvl="1"/>
            <a:r>
              <a:rPr lang="en-US" altLang="zh-CN" i="1" dirty="0"/>
              <a:t>Design is making decisions about the form of the products to be created.</a:t>
            </a:r>
          </a:p>
          <a:p>
            <a:pPr lvl="1"/>
            <a:r>
              <a:rPr lang="en-US" altLang="zh-CN" dirty="0"/>
              <a:t> </a:t>
            </a:r>
            <a:r>
              <a:rPr lang="en-US" altLang="zh-CN" i="1" dirty="0"/>
              <a:t>Planning details the activities to be carried out to create these products.</a:t>
            </a:r>
          </a:p>
          <a:p>
            <a:pPr lvl="2"/>
            <a:r>
              <a:rPr lang="en-US" altLang="zh-CN" dirty="0">
                <a:solidFill>
                  <a:schemeClr val="accent5"/>
                </a:solidFill>
              </a:rPr>
              <a:t>E.g., Activities recommended in the international standard ISO 12207</a:t>
            </a:r>
            <a:endParaRPr lang="zh-CN" altLang="en-US" dirty="0">
              <a:solidFill>
                <a:schemeClr val="accent5"/>
              </a:solidFill>
            </a:endParaRPr>
          </a:p>
        </p:txBody>
      </p:sp>
      <p:sp>
        <p:nvSpPr>
          <p:cNvPr id="4" name="Date Placeholder 3"/>
          <p:cNvSpPr>
            <a:spLocks noGrp="1"/>
          </p:cNvSpPr>
          <p:nvPr>
            <p:ph type="dt" sz="half" idx="10"/>
          </p:nvPr>
        </p:nvSpPr>
        <p:spPr/>
        <p:txBody>
          <a:bodyPr/>
          <a:lstStyle/>
          <a:p>
            <a:fld id="{18D330C9-74C4-47D7-A810-2C8ABE22C3C0}" type="datetime3">
              <a:rPr lang="en-US" smtClean="0"/>
              <a:t>27 May 2021</a:t>
            </a:fld>
            <a:endParaRPr lang="en-US"/>
          </a:p>
        </p:txBody>
      </p:sp>
      <p:sp>
        <p:nvSpPr>
          <p:cNvPr id="5" name="Footer Placeholder 4"/>
          <p:cNvSpPr>
            <a:spLocks noGrp="1"/>
          </p:cNvSpPr>
          <p:nvPr>
            <p:ph type="ftr" sz="quarter" idx="11"/>
          </p:nvPr>
        </p:nvSpPr>
        <p:spPr/>
        <p:txBody>
          <a:bodyPr/>
          <a:lstStyle/>
          <a:p>
            <a:r>
              <a:rPr lang="en-US"/>
              <a:t>Software Project Management     Dr. D Evangelin Geetha      Dept. of MCA       RIT</a:t>
            </a:r>
          </a:p>
        </p:txBody>
      </p:sp>
      <p:sp>
        <p:nvSpPr>
          <p:cNvPr id="6" name="Slide Number Placeholder 5"/>
          <p:cNvSpPr>
            <a:spLocks noGrp="1"/>
          </p:cNvSpPr>
          <p:nvPr>
            <p:ph type="sldNum" sz="quarter" idx="12"/>
          </p:nvPr>
        </p:nvSpPr>
        <p:spPr/>
        <p:txBody>
          <a:bodyPr/>
          <a:lstStyle/>
          <a:p>
            <a:fld id="{4024F9E6-8BD1-4849-86DE-3CD23B63DC4B}" type="slidenum">
              <a:rPr lang="en-US" smtClean="0"/>
              <a:pPr/>
              <a:t>17</a:t>
            </a:fld>
            <a:endParaRPr lang="en-US"/>
          </a:p>
        </p:txBody>
      </p:sp>
    </p:spTree>
    <p:extLst>
      <p:ext uri="{BB962C8B-B14F-4D97-AF65-F5344CB8AC3E}">
        <p14:creationId xmlns:p14="http://schemas.microsoft.com/office/powerpoint/2010/main" val="37328258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368757" y="0"/>
            <a:ext cx="9603275" cy="1049235"/>
          </a:xfrm>
        </p:spPr>
        <p:txBody>
          <a:bodyPr>
            <a:normAutofit/>
          </a:bodyPr>
          <a:lstStyle/>
          <a:p>
            <a:r>
              <a:rPr lang="en-US" dirty="0"/>
              <a:t>The software development life-cycle (ISO 12207)</a:t>
            </a:r>
            <a:endParaRPr lang="en-IN" dirty="0"/>
          </a:p>
        </p:txBody>
      </p:sp>
      <p:pic>
        <p:nvPicPr>
          <p:cNvPr id="4"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a:xfrm>
            <a:off x="4165049" y="532660"/>
            <a:ext cx="4644414" cy="6007875"/>
          </a:xfrm>
          <a:prstGeom prst="rect">
            <a:avLst/>
          </a:prstGeom>
          <a:noFill/>
          <a:ln/>
        </p:spPr>
      </p:pic>
      <p:sp>
        <p:nvSpPr>
          <p:cNvPr id="2" name="Date Placeholder 1"/>
          <p:cNvSpPr>
            <a:spLocks noGrp="1"/>
          </p:cNvSpPr>
          <p:nvPr>
            <p:ph type="dt" sz="half" idx="10"/>
          </p:nvPr>
        </p:nvSpPr>
        <p:spPr/>
        <p:txBody>
          <a:bodyPr/>
          <a:lstStyle/>
          <a:p>
            <a:fld id="{59A9E141-FF17-46EF-87C2-748D9B1AFD28}" type="datetime3">
              <a:rPr lang="en-US" smtClean="0"/>
              <a:t>27 May 2021</a:t>
            </a:fld>
            <a:endParaRPr lang="en-US"/>
          </a:p>
        </p:txBody>
      </p:sp>
      <p:sp>
        <p:nvSpPr>
          <p:cNvPr id="5" name="Footer Placeholder 4"/>
          <p:cNvSpPr>
            <a:spLocks noGrp="1"/>
          </p:cNvSpPr>
          <p:nvPr>
            <p:ph type="ftr" sz="quarter" idx="11"/>
          </p:nvPr>
        </p:nvSpPr>
        <p:spPr/>
        <p:txBody>
          <a:bodyPr/>
          <a:lstStyle/>
          <a:p>
            <a:r>
              <a:rPr lang="en-US"/>
              <a:t>Software Project Management     Dr. D Evangelin Geetha      Dept. of MCA       RIT</a:t>
            </a:r>
          </a:p>
        </p:txBody>
      </p:sp>
      <p:sp>
        <p:nvSpPr>
          <p:cNvPr id="6" name="Slide Number Placeholder 5"/>
          <p:cNvSpPr>
            <a:spLocks noGrp="1"/>
          </p:cNvSpPr>
          <p:nvPr>
            <p:ph type="sldNum" sz="quarter" idx="12"/>
          </p:nvPr>
        </p:nvSpPr>
        <p:spPr/>
        <p:txBody>
          <a:bodyPr/>
          <a:lstStyle/>
          <a:p>
            <a:fld id="{4024F9E6-8BD1-4849-86DE-3CD23B63DC4B}" type="slidenum">
              <a:rPr lang="en-US" smtClean="0"/>
              <a:pPr/>
              <a:t>18</a:t>
            </a:fld>
            <a:endParaRPr lang="en-US"/>
          </a:p>
        </p:txBody>
      </p:sp>
    </p:spTree>
    <p:extLst>
      <p:ext uri="{BB962C8B-B14F-4D97-AF65-F5344CB8AC3E}">
        <p14:creationId xmlns:p14="http://schemas.microsoft.com/office/powerpoint/2010/main" val="23901995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GB" altLang="en-US" dirty="0"/>
              <a:t>ISO 12207 life-cycle</a:t>
            </a:r>
            <a:endParaRPr lang="en-IN" dirty="0"/>
          </a:p>
        </p:txBody>
      </p:sp>
      <p:sp>
        <p:nvSpPr>
          <p:cNvPr id="2" name="Content Placeholder 1"/>
          <p:cNvSpPr>
            <a:spLocks noGrp="1"/>
          </p:cNvSpPr>
          <p:nvPr>
            <p:ph idx="1"/>
          </p:nvPr>
        </p:nvSpPr>
        <p:spPr/>
        <p:txBody>
          <a:bodyPr>
            <a:normAutofit fontScale="92500" lnSpcReduction="10000"/>
          </a:bodyPr>
          <a:lstStyle/>
          <a:p>
            <a:r>
              <a:rPr lang="en-US" dirty="0"/>
              <a:t>Requirements analysis</a:t>
            </a:r>
          </a:p>
          <a:p>
            <a:pPr lvl="1"/>
            <a:r>
              <a:rPr lang="en-US" sz="2800" dirty="0"/>
              <a:t>Requirements elicitation: what does the client need?</a:t>
            </a:r>
          </a:p>
          <a:p>
            <a:pPr lvl="1"/>
            <a:r>
              <a:rPr lang="en-US" sz="2800" dirty="0"/>
              <a:t>Analysis: converting ‘customer-facing’ requirements into equivalents that developers can understand</a:t>
            </a:r>
          </a:p>
          <a:p>
            <a:pPr lvl="1"/>
            <a:r>
              <a:rPr lang="en-US" sz="2800" dirty="0"/>
              <a:t>Requirements will cover </a:t>
            </a:r>
          </a:p>
          <a:p>
            <a:pPr lvl="2"/>
            <a:r>
              <a:rPr lang="en-US" sz="2800" dirty="0"/>
              <a:t>Functions</a:t>
            </a:r>
          </a:p>
          <a:p>
            <a:pPr lvl="2"/>
            <a:r>
              <a:rPr lang="en-US" sz="2800" dirty="0"/>
              <a:t>Quality (e.g. Ambulance)</a:t>
            </a:r>
          </a:p>
          <a:p>
            <a:pPr lvl="2"/>
            <a:r>
              <a:rPr lang="en-US" sz="2800" dirty="0"/>
              <a:t>System requirement (Operators)</a:t>
            </a:r>
          </a:p>
          <a:p>
            <a:pPr lvl="2"/>
            <a:r>
              <a:rPr lang="en-US" sz="2800" dirty="0"/>
              <a:t>Resource constraints i.e. costs</a:t>
            </a:r>
          </a:p>
        </p:txBody>
      </p:sp>
      <p:sp>
        <p:nvSpPr>
          <p:cNvPr id="4" name="Date Placeholder 3"/>
          <p:cNvSpPr>
            <a:spLocks noGrp="1"/>
          </p:cNvSpPr>
          <p:nvPr>
            <p:ph type="dt" sz="half" idx="10"/>
          </p:nvPr>
        </p:nvSpPr>
        <p:spPr/>
        <p:txBody>
          <a:bodyPr/>
          <a:lstStyle/>
          <a:p>
            <a:fld id="{DB8EEA11-E965-4979-AF84-4747D3156B41}" type="datetime3">
              <a:rPr lang="en-US" smtClean="0"/>
              <a:t>27 May 2021</a:t>
            </a:fld>
            <a:endParaRPr lang="en-US"/>
          </a:p>
        </p:txBody>
      </p:sp>
      <p:sp>
        <p:nvSpPr>
          <p:cNvPr id="5" name="Footer Placeholder 4"/>
          <p:cNvSpPr>
            <a:spLocks noGrp="1"/>
          </p:cNvSpPr>
          <p:nvPr>
            <p:ph type="ftr" sz="quarter" idx="11"/>
          </p:nvPr>
        </p:nvSpPr>
        <p:spPr/>
        <p:txBody>
          <a:bodyPr/>
          <a:lstStyle/>
          <a:p>
            <a:r>
              <a:rPr lang="en-US"/>
              <a:t>Software Project Management     Dr. D Evangelin Geetha      Dept. of MCA       RIT</a:t>
            </a:r>
          </a:p>
        </p:txBody>
      </p:sp>
      <p:sp>
        <p:nvSpPr>
          <p:cNvPr id="6" name="Slide Number Placeholder 5"/>
          <p:cNvSpPr>
            <a:spLocks noGrp="1"/>
          </p:cNvSpPr>
          <p:nvPr>
            <p:ph type="sldNum" sz="quarter" idx="12"/>
          </p:nvPr>
        </p:nvSpPr>
        <p:spPr/>
        <p:txBody>
          <a:bodyPr/>
          <a:lstStyle/>
          <a:p>
            <a:fld id="{4024F9E6-8BD1-4849-86DE-3CD23B63DC4B}" type="slidenum">
              <a:rPr lang="en-US" smtClean="0"/>
              <a:pPr/>
              <a:t>19</a:t>
            </a:fld>
            <a:endParaRPr lang="en-US" dirty="0"/>
          </a:p>
        </p:txBody>
      </p:sp>
    </p:spTree>
    <p:extLst>
      <p:ext uri="{BB962C8B-B14F-4D97-AF65-F5344CB8AC3E}">
        <p14:creationId xmlns:p14="http://schemas.microsoft.com/office/powerpoint/2010/main" val="22138168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IN" dirty="0"/>
              <a:t>ISO 12207 life-cycle</a:t>
            </a:r>
          </a:p>
        </p:txBody>
      </p:sp>
      <p:sp>
        <p:nvSpPr>
          <p:cNvPr id="2" name="Content Placeholder 1"/>
          <p:cNvSpPr>
            <a:spLocks noGrp="1"/>
          </p:cNvSpPr>
          <p:nvPr>
            <p:ph idx="1"/>
          </p:nvPr>
        </p:nvSpPr>
        <p:spPr/>
        <p:txBody>
          <a:bodyPr>
            <a:normAutofit fontScale="85000" lnSpcReduction="20000"/>
          </a:bodyPr>
          <a:lstStyle/>
          <a:p>
            <a:r>
              <a:rPr lang="en-US" dirty="0"/>
              <a:t>Architecture design</a:t>
            </a:r>
          </a:p>
          <a:p>
            <a:pPr lvl="1"/>
            <a:r>
              <a:rPr lang="en-US" sz="2800" dirty="0"/>
              <a:t>Based on system requirements</a:t>
            </a:r>
          </a:p>
          <a:p>
            <a:pPr lvl="1"/>
            <a:r>
              <a:rPr lang="en-US" sz="2800" dirty="0"/>
              <a:t>Defines components of system: hardware, software, organizational</a:t>
            </a:r>
          </a:p>
          <a:p>
            <a:pPr lvl="1"/>
            <a:r>
              <a:rPr lang="en-US" sz="2800" dirty="0"/>
              <a:t>Software requirements will come out of this</a:t>
            </a:r>
          </a:p>
          <a:p>
            <a:r>
              <a:rPr lang="en-US" dirty="0"/>
              <a:t>Detailed Design</a:t>
            </a:r>
          </a:p>
          <a:p>
            <a:pPr lvl="1"/>
            <a:r>
              <a:rPr lang="en-US" dirty="0"/>
              <a:t>Number of software units in each software component</a:t>
            </a:r>
          </a:p>
          <a:p>
            <a:r>
              <a:rPr lang="en-US" dirty="0"/>
              <a:t>Code and test</a:t>
            </a:r>
          </a:p>
          <a:p>
            <a:pPr lvl="1"/>
            <a:r>
              <a:rPr lang="en-US" sz="2800" dirty="0"/>
              <a:t>Of individual components</a:t>
            </a:r>
          </a:p>
          <a:p>
            <a:r>
              <a:rPr lang="en-US" dirty="0"/>
              <a:t>Integration</a:t>
            </a:r>
          </a:p>
          <a:p>
            <a:pPr lvl="1"/>
            <a:r>
              <a:rPr lang="en-US" sz="2800" dirty="0"/>
              <a:t>Putting the components together</a:t>
            </a:r>
          </a:p>
        </p:txBody>
      </p:sp>
      <p:sp>
        <p:nvSpPr>
          <p:cNvPr id="4" name="Date Placeholder 3"/>
          <p:cNvSpPr>
            <a:spLocks noGrp="1"/>
          </p:cNvSpPr>
          <p:nvPr>
            <p:ph type="dt" sz="half" idx="10"/>
          </p:nvPr>
        </p:nvSpPr>
        <p:spPr/>
        <p:txBody>
          <a:bodyPr/>
          <a:lstStyle/>
          <a:p>
            <a:fld id="{2310ECF0-824D-4A4E-8BEE-7E9A73FA70CD}" type="datetime3">
              <a:rPr lang="en-US" smtClean="0"/>
              <a:t>27 May 2021</a:t>
            </a:fld>
            <a:endParaRPr lang="en-US"/>
          </a:p>
        </p:txBody>
      </p:sp>
      <p:sp>
        <p:nvSpPr>
          <p:cNvPr id="5" name="Footer Placeholder 4"/>
          <p:cNvSpPr>
            <a:spLocks noGrp="1"/>
          </p:cNvSpPr>
          <p:nvPr>
            <p:ph type="ftr" sz="quarter" idx="11"/>
          </p:nvPr>
        </p:nvSpPr>
        <p:spPr/>
        <p:txBody>
          <a:bodyPr/>
          <a:lstStyle/>
          <a:p>
            <a:r>
              <a:rPr lang="en-US"/>
              <a:t>Software Project Management     Dr. D Evangelin Geetha      Dept. of MCA       RIT</a:t>
            </a:r>
          </a:p>
        </p:txBody>
      </p:sp>
      <p:sp>
        <p:nvSpPr>
          <p:cNvPr id="6" name="Slide Number Placeholder 5"/>
          <p:cNvSpPr>
            <a:spLocks noGrp="1"/>
          </p:cNvSpPr>
          <p:nvPr>
            <p:ph type="sldNum" sz="quarter" idx="12"/>
          </p:nvPr>
        </p:nvSpPr>
        <p:spPr/>
        <p:txBody>
          <a:bodyPr/>
          <a:lstStyle/>
          <a:p>
            <a:fld id="{4024F9E6-8BD1-4849-86DE-3CD23B63DC4B}" type="slidenum">
              <a:rPr lang="en-US" smtClean="0"/>
              <a:pPr/>
              <a:t>20</a:t>
            </a:fld>
            <a:endParaRPr lang="en-US"/>
          </a:p>
        </p:txBody>
      </p:sp>
    </p:spTree>
    <p:extLst>
      <p:ext uri="{BB962C8B-B14F-4D97-AF65-F5344CB8AC3E}">
        <p14:creationId xmlns:p14="http://schemas.microsoft.com/office/powerpoint/2010/main" val="13059219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IN" dirty="0"/>
              <a:t>ISO 12207 life-cycle</a:t>
            </a:r>
          </a:p>
        </p:txBody>
      </p:sp>
      <p:sp>
        <p:nvSpPr>
          <p:cNvPr id="2" name="Content Placeholder 1"/>
          <p:cNvSpPr>
            <a:spLocks noGrp="1"/>
          </p:cNvSpPr>
          <p:nvPr>
            <p:ph idx="1"/>
          </p:nvPr>
        </p:nvSpPr>
        <p:spPr/>
        <p:txBody>
          <a:bodyPr>
            <a:normAutofit fontScale="92500"/>
          </a:bodyPr>
          <a:lstStyle/>
          <a:p>
            <a:r>
              <a:rPr lang="en-US" dirty="0"/>
              <a:t>Qualification testing</a:t>
            </a:r>
          </a:p>
          <a:p>
            <a:pPr lvl="1"/>
            <a:r>
              <a:rPr lang="en-US" sz="2800" dirty="0"/>
              <a:t>Testing the system (not just the software)</a:t>
            </a:r>
          </a:p>
          <a:p>
            <a:r>
              <a:rPr lang="en-US" dirty="0"/>
              <a:t>Installation</a:t>
            </a:r>
          </a:p>
          <a:p>
            <a:pPr lvl="1"/>
            <a:r>
              <a:rPr lang="en-US" sz="2800" dirty="0"/>
              <a:t>The process of making the system operational</a:t>
            </a:r>
          </a:p>
          <a:p>
            <a:pPr lvl="1"/>
            <a:r>
              <a:rPr lang="en-US" sz="2800" dirty="0"/>
              <a:t>Includes setting up standing data, setting system parameters, installing on operational hardware platforms, user training </a:t>
            </a:r>
            <a:r>
              <a:rPr lang="en-US" sz="2800" dirty="0" err="1"/>
              <a:t>etc</a:t>
            </a:r>
            <a:endParaRPr lang="en-US" sz="2800" dirty="0"/>
          </a:p>
          <a:p>
            <a:r>
              <a:rPr lang="en-US" dirty="0"/>
              <a:t>Acceptance support</a:t>
            </a:r>
          </a:p>
          <a:p>
            <a:pPr lvl="1"/>
            <a:r>
              <a:rPr lang="en-US" sz="2800" dirty="0"/>
              <a:t>Including maintenance and enhancement</a:t>
            </a:r>
            <a:endParaRPr lang="en-IN" sz="2800" dirty="0"/>
          </a:p>
        </p:txBody>
      </p:sp>
      <p:sp>
        <p:nvSpPr>
          <p:cNvPr id="4" name="Date Placeholder 3"/>
          <p:cNvSpPr>
            <a:spLocks noGrp="1"/>
          </p:cNvSpPr>
          <p:nvPr>
            <p:ph type="dt" sz="half" idx="10"/>
          </p:nvPr>
        </p:nvSpPr>
        <p:spPr/>
        <p:txBody>
          <a:bodyPr/>
          <a:lstStyle/>
          <a:p>
            <a:fld id="{D502D12D-AABD-40C1-9DBE-1D8182D49673}" type="datetime3">
              <a:rPr lang="en-US" smtClean="0"/>
              <a:t>27 May 2021</a:t>
            </a:fld>
            <a:endParaRPr lang="en-US"/>
          </a:p>
        </p:txBody>
      </p:sp>
      <p:sp>
        <p:nvSpPr>
          <p:cNvPr id="5" name="Footer Placeholder 4"/>
          <p:cNvSpPr>
            <a:spLocks noGrp="1"/>
          </p:cNvSpPr>
          <p:nvPr>
            <p:ph type="ftr" sz="quarter" idx="11"/>
          </p:nvPr>
        </p:nvSpPr>
        <p:spPr/>
        <p:txBody>
          <a:bodyPr/>
          <a:lstStyle/>
          <a:p>
            <a:r>
              <a:rPr lang="en-US"/>
              <a:t>Software Project Management     Dr. D Evangelin Geetha      Dept. of MCA       RIT</a:t>
            </a:r>
          </a:p>
        </p:txBody>
      </p:sp>
      <p:sp>
        <p:nvSpPr>
          <p:cNvPr id="6" name="Slide Number Placeholder 5"/>
          <p:cNvSpPr>
            <a:spLocks noGrp="1"/>
          </p:cNvSpPr>
          <p:nvPr>
            <p:ph type="sldNum" sz="quarter" idx="12"/>
          </p:nvPr>
        </p:nvSpPr>
        <p:spPr/>
        <p:txBody>
          <a:bodyPr/>
          <a:lstStyle/>
          <a:p>
            <a:fld id="{4024F9E6-8BD1-4849-86DE-3CD23B63DC4B}" type="slidenum">
              <a:rPr lang="en-US" smtClean="0"/>
              <a:pPr/>
              <a:t>21</a:t>
            </a:fld>
            <a:endParaRPr lang="en-US"/>
          </a:p>
        </p:txBody>
      </p:sp>
    </p:spTree>
    <p:extLst>
      <p:ext uri="{BB962C8B-B14F-4D97-AF65-F5344CB8AC3E}">
        <p14:creationId xmlns:p14="http://schemas.microsoft.com/office/powerpoint/2010/main" val="24969279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ED52E-BC22-4430-B66A-6CBEF76FEE6B}"/>
              </a:ext>
            </a:extLst>
          </p:cNvPr>
          <p:cNvSpPr>
            <a:spLocks noGrp="1"/>
          </p:cNvSpPr>
          <p:nvPr>
            <p:ph type="title"/>
          </p:nvPr>
        </p:nvSpPr>
        <p:spPr>
          <a:xfrm>
            <a:off x="1306613" y="188914"/>
            <a:ext cx="9603275" cy="591671"/>
          </a:xfrm>
        </p:spPr>
        <p:txBody>
          <a:bodyPr>
            <a:normAutofit/>
          </a:bodyPr>
          <a:lstStyle/>
          <a:p>
            <a:r>
              <a:rPr lang="en-US" dirty="0"/>
              <a:t>Exercise 1.2</a:t>
            </a:r>
            <a:endParaRPr lang="en-IN" dirty="0"/>
          </a:p>
        </p:txBody>
      </p:sp>
      <p:sp>
        <p:nvSpPr>
          <p:cNvPr id="3" name="Content Placeholder 2">
            <a:extLst>
              <a:ext uri="{FF2B5EF4-FFF2-40B4-BE49-F238E27FC236}">
                <a16:creationId xmlns:a16="http://schemas.microsoft.com/office/drawing/2014/main" id="{B02640D6-F6DE-43E9-8BD2-B357340A8F03}"/>
              </a:ext>
            </a:extLst>
          </p:cNvPr>
          <p:cNvSpPr>
            <a:spLocks noGrp="1"/>
          </p:cNvSpPr>
          <p:nvPr>
            <p:ph idx="1"/>
          </p:nvPr>
        </p:nvSpPr>
        <p:spPr/>
        <p:txBody>
          <a:bodyPr>
            <a:normAutofit fontScale="85000" lnSpcReduction="10000"/>
          </a:bodyPr>
          <a:lstStyle/>
          <a:p>
            <a:r>
              <a:rPr lang="en-US" dirty="0" err="1"/>
              <a:t>Brightmouth</a:t>
            </a:r>
            <a:r>
              <a:rPr lang="en-US" dirty="0"/>
              <a:t> College is a higher education institution which used to be managed by a local government authority but has now become autonomous. Its payroll is still administered by the local authority and pay slips and other outputs are produced in the local authority’s computer </a:t>
            </a:r>
            <a:r>
              <a:rPr lang="en-US" dirty="0" err="1"/>
              <a:t>centre</a:t>
            </a:r>
            <a:r>
              <a:rPr lang="en-US" dirty="0"/>
              <a:t>. The authority now charges the college for this service. The college management are of the opinion that it would be cheaper to obtain an ‘off-the-shelf’ payroll package and do the payroll processing themselves.</a:t>
            </a:r>
          </a:p>
          <a:p>
            <a:r>
              <a:rPr lang="en-US" dirty="0"/>
              <a:t>What would be the main stages of the project to convert to independent payroll processing by the college? Bearing in mind that an off-the-shelf package is to be used, how would this project differ from one where the software was to be written from scratch?</a:t>
            </a:r>
          </a:p>
        </p:txBody>
      </p:sp>
      <p:sp>
        <p:nvSpPr>
          <p:cNvPr id="4" name="Date Placeholder 3">
            <a:extLst>
              <a:ext uri="{FF2B5EF4-FFF2-40B4-BE49-F238E27FC236}">
                <a16:creationId xmlns:a16="http://schemas.microsoft.com/office/drawing/2014/main" id="{D93CF9D9-FE7F-4C28-98E6-ED3CFDEE692C}"/>
              </a:ext>
            </a:extLst>
          </p:cNvPr>
          <p:cNvSpPr>
            <a:spLocks noGrp="1"/>
          </p:cNvSpPr>
          <p:nvPr>
            <p:ph type="dt" sz="half" idx="10"/>
          </p:nvPr>
        </p:nvSpPr>
        <p:spPr/>
        <p:txBody>
          <a:bodyPr/>
          <a:lstStyle/>
          <a:p>
            <a:fld id="{4DA3D7ED-4D6F-441B-A7AA-E3D1E9A9B49C}" type="datetime3">
              <a:rPr lang="en-US" smtClean="0"/>
              <a:t>27 May 2021</a:t>
            </a:fld>
            <a:endParaRPr lang="en-US" dirty="0"/>
          </a:p>
        </p:txBody>
      </p:sp>
      <p:sp>
        <p:nvSpPr>
          <p:cNvPr id="5" name="Footer Placeholder 4">
            <a:extLst>
              <a:ext uri="{FF2B5EF4-FFF2-40B4-BE49-F238E27FC236}">
                <a16:creationId xmlns:a16="http://schemas.microsoft.com/office/drawing/2014/main" id="{971F892F-F673-4ADD-9625-9C1F42BEDD04}"/>
              </a:ext>
            </a:extLst>
          </p:cNvPr>
          <p:cNvSpPr>
            <a:spLocks noGrp="1"/>
          </p:cNvSpPr>
          <p:nvPr>
            <p:ph type="ftr" sz="quarter" idx="11"/>
          </p:nvPr>
        </p:nvSpPr>
        <p:spPr/>
        <p:txBody>
          <a:bodyPr/>
          <a:lstStyle/>
          <a:p>
            <a:r>
              <a:rPr lang="en-US"/>
              <a:t>Software Project Management     Dr. D Evangelin Geetha      Dept. of MCA       RIT</a:t>
            </a:r>
            <a:endParaRPr lang="en-US" dirty="0"/>
          </a:p>
        </p:txBody>
      </p:sp>
      <p:sp>
        <p:nvSpPr>
          <p:cNvPr id="6" name="Slide Number Placeholder 5">
            <a:extLst>
              <a:ext uri="{FF2B5EF4-FFF2-40B4-BE49-F238E27FC236}">
                <a16:creationId xmlns:a16="http://schemas.microsoft.com/office/drawing/2014/main" id="{5D7C08AB-C64B-42D1-B7D3-5C27946E670D}"/>
              </a:ext>
            </a:extLst>
          </p:cNvPr>
          <p:cNvSpPr>
            <a:spLocks noGrp="1"/>
          </p:cNvSpPr>
          <p:nvPr>
            <p:ph type="sldNum" sz="quarter" idx="12"/>
          </p:nvPr>
        </p:nvSpPr>
        <p:spPr/>
        <p:txBody>
          <a:bodyPr/>
          <a:lstStyle/>
          <a:p>
            <a:fld id="{6D22F896-40B5-4ADD-8801-0D06FADFA095}" type="slidenum">
              <a:rPr lang="en-US" smtClean="0"/>
              <a:pPr/>
              <a:t>22</a:t>
            </a:fld>
            <a:endParaRPr lang="en-US" dirty="0"/>
          </a:p>
        </p:txBody>
      </p:sp>
    </p:spTree>
    <p:extLst>
      <p:ext uri="{BB962C8B-B14F-4D97-AF65-F5344CB8AC3E}">
        <p14:creationId xmlns:p14="http://schemas.microsoft.com/office/powerpoint/2010/main" val="23283845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ED52E-BC22-4430-B66A-6CBEF76FEE6B}"/>
              </a:ext>
            </a:extLst>
          </p:cNvPr>
          <p:cNvSpPr>
            <a:spLocks noGrp="1"/>
          </p:cNvSpPr>
          <p:nvPr>
            <p:ph type="title"/>
          </p:nvPr>
        </p:nvSpPr>
        <p:spPr>
          <a:xfrm>
            <a:off x="1306613" y="188914"/>
            <a:ext cx="9603275" cy="591671"/>
          </a:xfrm>
        </p:spPr>
        <p:txBody>
          <a:bodyPr>
            <a:normAutofit/>
          </a:bodyPr>
          <a:lstStyle/>
          <a:p>
            <a:r>
              <a:rPr lang="en-US" dirty="0"/>
              <a:t>Exercise 1.2 - Solution</a:t>
            </a:r>
            <a:endParaRPr lang="en-IN" dirty="0"/>
          </a:p>
        </p:txBody>
      </p:sp>
      <p:sp>
        <p:nvSpPr>
          <p:cNvPr id="3" name="Content Placeholder 2">
            <a:extLst>
              <a:ext uri="{FF2B5EF4-FFF2-40B4-BE49-F238E27FC236}">
                <a16:creationId xmlns:a16="http://schemas.microsoft.com/office/drawing/2014/main" id="{B02640D6-F6DE-43E9-8BD2-B357340A8F03}"/>
              </a:ext>
            </a:extLst>
          </p:cNvPr>
          <p:cNvSpPr>
            <a:spLocks noGrp="1"/>
          </p:cNvSpPr>
          <p:nvPr>
            <p:ph idx="1"/>
          </p:nvPr>
        </p:nvSpPr>
        <p:spPr/>
        <p:txBody>
          <a:bodyPr>
            <a:normAutofit lnSpcReduction="10000"/>
          </a:bodyPr>
          <a:lstStyle/>
          <a:p>
            <a:r>
              <a:rPr lang="en-US" dirty="0"/>
              <a:t>Project Evaluation</a:t>
            </a:r>
          </a:p>
          <a:p>
            <a:r>
              <a:rPr lang="en-US" dirty="0"/>
              <a:t>Planning</a:t>
            </a:r>
          </a:p>
          <a:p>
            <a:r>
              <a:rPr lang="en-US" dirty="0"/>
              <a:t>Requirements Elicitation and Analysis</a:t>
            </a:r>
          </a:p>
          <a:p>
            <a:r>
              <a:rPr lang="en-US" dirty="0"/>
              <a:t>Specification</a:t>
            </a:r>
          </a:p>
          <a:p>
            <a:r>
              <a:rPr lang="en-US" dirty="0"/>
              <a:t>Design/Coding</a:t>
            </a:r>
          </a:p>
          <a:p>
            <a:r>
              <a:rPr lang="en-US" dirty="0"/>
              <a:t>Verification and Validation</a:t>
            </a:r>
          </a:p>
          <a:p>
            <a:r>
              <a:rPr lang="en-US" dirty="0"/>
              <a:t>Implementation</a:t>
            </a:r>
          </a:p>
          <a:p>
            <a:r>
              <a:rPr lang="en-US" dirty="0"/>
              <a:t>Maintenance/Support</a:t>
            </a:r>
          </a:p>
        </p:txBody>
      </p:sp>
      <p:sp>
        <p:nvSpPr>
          <p:cNvPr id="4" name="Date Placeholder 3">
            <a:extLst>
              <a:ext uri="{FF2B5EF4-FFF2-40B4-BE49-F238E27FC236}">
                <a16:creationId xmlns:a16="http://schemas.microsoft.com/office/drawing/2014/main" id="{D93CF9D9-FE7F-4C28-98E6-ED3CFDEE692C}"/>
              </a:ext>
            </a:extLst>
          </p:cNvPr>
          <p:cNvSpPr>
            <a:spLocks noGrp="1"/>
          </p:cNvSpPr>
          <p:nvPr>
            <p:ph type="dt" sz="half" idx="10"/>
          </p:nvPr>
        </p:nvSpPr>
        <p:spPr/>
        <p:txBody>
          <a:bodyPr/>
          <a:lstStyle/>
          <a:p>
            <a:fld id="{4DA3D7ED-4D6F-441B-A7AA-E3D1E9A9B49C}" type="datetime3">
              <a:rPr lang="en-US" smtClean="0"/>
              <a:t>27 May 2021</a:t>
            </a:fld>
            <a:endParaRPr lang="en-US" dirty="0"/>
          </a:p>
        </p:txBody>
      </p:sp>
      <p:sp>
        <p:nvSpPr>
          <p:cNvPr id="5" name="Footer Placeholder 4">
            <a:extLst>
              <a:ext uri="{FF2B5EF4-FFF2-40B4-BE49-F238E27FC236}">
                <a16:creationId xmlns:a16="http://schemas.microsoft.com/office/drawing/2014/main" id="{971F892F-F673-4ADD-9625-9C1F42BEDD04}"/>
              </a:ext>
            </a:extLst>
          </p:cNvPr>
          <p:cNvSpPr>
            <a:spLocks noGrp="1"/>
          </p:cNvSpPr>
          <p:nvPr>
            <p:ph type="ftr" sz="quarter" idx="11"/>
          </p:nvPr>
        </p:nvSpPr>
        <p:spPr/>
        <p:txBody>
          <a:bodyPr/>
          <a:lstStyle/>
          <a:p>
            <a:r>
              <a:rPr lang="en-US"/>
              <a:t>Software Project Management     Dr. D Evangelin Geetha      Dept. of MCA       RIT</a:t>
            </a:r>
            <a:endParaRPr lang="en-US" dirty="0"/>
          </a:p>
        </p:txBody>
      </p:sp>
      <p:sp>
        <p:nvSpPr>
          <p:cNvPr id="6" name="Slide Number Placeholder 5">
            <a:extLst>
              <a:ext uri="{FF2B5EF4-FFF2-40B4-BE49-F238E27FC236}">
                <a16:creationId xmlns:a16="http://schemas.microsoft.com/office/drawing/2014/main" id="{5D7C08AB-C64B-42D1-B7D3-5C27946E670D}"/>
              </a:ext>
            </a:extLst>
          </p:cNvPr>
          <p:cNvSpPr>
            <a:spLocks noGrp="1"/>
          </p:cNvSpPr>
          <p:nvPr>
            <p:ph type="sldNum" sz="quarter" idx="12"/>
          </p:nvPr>
        </p:nvSpPr>
        <p:spPr/>
        <p:txBody>
          <a:bodyPr/>
          <a:lstStyle/>
          <a:p>
            <a:fld id="{6D22F896-40B5-4ADD-8801-0D06FADFA095}" type="slidenum">
              <a:rPr lang="en-US" smtClean="0"/>
              <a:pPr/>
              <a:t>23</a:t>
            </a:fld>
            <a:endParaRPr lang="en-US" dirty="0"/>
          </a:p>
        </p:txBody>
      </p:sp>
    </p:spTree>
    <p:extLst>
      <p:ext uri="{BB962C8B-B14F-4D97-AF65-F5344CB8AC3E}">
        <p14:creationId xmlns:p14="http://schemas.microsoft.com/office/powerpoint/2010/main" val="25484840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ED52E-BC22-4430-B66A-6CBEF76FEE6B}"/>
              </a:ext>
            </a:extLst>
          </p:cNvPr>
          <p:cNvSpPr>
            <a:spLocks noGrp="1"/>
          </p:cNvSpPr>
          <p:nvPr>
            <p:ph type="title"/>
          </p:nvPr>
        </p:nvSpPr>
        <p:spPr>
          <a:xfrm>
            <a:off x="1306613" y="188914"/>
            <a:ext cx="9603275" cy="591671"/>
          </a:xfrm>
        </p:spPr>
        <p:txBody>
          <a:bodyPr>
            <a:normAutofit/>
          </a:bodyPr>
          <a:lstStyle/>
          <a:p>
            <a:r>
              <a:rPr lang="en-US" dirty="0"/>
              <a:t>Exercise 1.3</a:t>
            </a:r>
            <a:endParaRPr lang="en-IN" dirty="0"/>
          </a:p>
        </p:txBody>
      </p:sp>
      <p:sp>
        <p:nvSpPr>
          <p:cNvPr id="3" name="Content Placeholder 2">
            <a:extLst>
              <a:ext uri="{FF2B5EF4-FFF2-40B4-BE49-F238E27FC236}">
                <a16:creationId xmlns:a16="http://schemas.microsoft.com/office/drawing/2014/main" id="{B02640D6-F6DE-43E9-8BD2-B357340A8F03}"/>
              </a:ext>
            </a:extLst>
          </p:cNvPr>
          <p:cNvSpPr>
            <a:spLocks noGrp="1"/>
          </p:cNvSpPr>
          <p:nvPr>
            <p:ph idx="1"/>
          </p:nvPr>
        </p:nvSpPr>
        <p:spPr/>
        <p:txBody>
          <a:bodyPr>
            <a:normAutofit/>
          </a:bodyPr>
          <a:lstStyle/>
          <a:p>
            <a:r>
              <a:rPr lang="en-US" dirty="0"/>
              <a:t>Assume that a software organization development has been asked to carry out a feasibility study to develop the payroll package for </a:t>
            </a:r>
            <a:r>
              <a:rPr lang="en-US" dirty="0" err="1"/>
              <a:t>Brightmouth</a:t>
            </a:r>
            <a:r>
              <a:rPr lang="en-US" dirty="0"/>
              <a:t> College. The development organization plans to develop the software by customizing one of its existing products. What are the main steps through which the project manager of the organization would carry out the feasibility study?</a:t>
            </a:r>
          </a:p>
        </p:txBody>
      </p:sp>
      <p:sp>
        <p:nvSpPr>
          <p:cNvPr id="4" name="Date Placeholder 3">
            <a:extLst>
              <a:ext uri="{FF2B5EF4-FFF2-40B4-BE49-F238E27FC236}">
                <a16:creationId xmlns:a16="http://schemas.microsoft.com/office/drawing/2014/main" id="{D93CF9D9-FE7F-4C28-98E6-ED3CFDEE692C}"/>
              </a:ext>
            </a:extLst>
          </p:cNvPr>
          <p:cNvSpPr>
            <a:spLocks noGrp="1"/>
          </p:cNvSpPr>
          <p:nvPr>
            <p:ph type="dt" sz="half" idx="10"/>
          </p:nvPr>
        </p:nvSpPr>
        <p:spPr/>
        <p:txBody>
          <a:bodyPr/>
          <a:lstStyle/>
          <a:p>
            <a:fld id="{4DA3D7ED-4D6F-441B-A7AA-E3D1E9A9B49C}" type="datetime3">
              <a:rPr lang="en-US" smtClean="0"/>
              <a:t>27 May 2021</a:t>
            </a:fld>
            <a:endParaRPr lang="en-US" dirty="0"/>
          </a:p>
        </p:txBody>
      </p:sp>
      <p:sp>
        <p:nvSpPr>
          <p:cNvPr id="5" name="Footer Placeholder 4">
            <a:extLst>
              <a:ext uri="{FF2B5EF4-FFF2-40B4-BE49-F238E27FC236}">
                <a16:creationId xmlns:a16="http://schemas.microsoft.com/office/drawing/2014/main" id="{971F892F-F673-4ADD-9625-9C1F42BEDD04}"/>
              </a:ext>
            </a:extLst>
          </p:cNvPr>
          <p:cNvSpPr>
            <a:spLocks noGrp="1"/>
          </p:cNvSpPr>
          <p:nvPr>
            <p:ph type="ftr" sz="quarter" idx="11"/>
          </p:nvPr>
        </p:nvSpPr>
        <p:spPr/>
        <p:txBody>
          <a:bodyPr/>
          <a:lstStyle/>
          <a:p>
            <a:r>
              <a:rPr lang="en-US"/>
              <a:t>Software Project Management     Dr. D Evangelin Geetha      Dept. of MCA       RIT</a:t>
            </a:r>
            <a:endParaRPr lang="en-US" dirty="0"/>
          </a:p>
        </p:txBody>
      </p:sp>
      <p:sp>
        <p:nvSpPr>
          <p:cNvPr id="6" name="Slide Number Placeholder 5">
            <a:extLst>
              <a:ext uri="{FF2B5EF4-FFF2-40B4-BE49-F238E27FC236}">
                <a16:creationId xmlns:a16="http://schemas.microsoft.com/office/drawing/2014/main" id="{5D7C08AB-C64B-42D1-B7D3-5C27946E670D}"/>
              </a:ext>
            </a:extLst>
          </p:cNvPr>
          <p:cNvSpPr>
            <a:spLocks noGrp="1"/>
          </p:cNvSpPr>
          <p:nvPr>
            <p:ph type="sldNum" sz="quarter" idx="12"/>
          </p:nvPr>
        </p:nvSpPr>
        <p:spPr/>
        <p:txBody>
          <a:bodyPr/>
          <a:lstStyle/>
          <a:p>
            <a:fld id="{6D22F896-40B5-4ADD-8801-0D06FADFA095}" type="slidenum">
              <a:rPr lang="en-US" smtClean="0"/>
              <a:pPr/>
              <a:t>24</a:t>
            </a:fld>
            <a:endParaRPr lang="en-US" dirty="0"/>
          </a:p>
        </p:txBody>
      </p:sp>
    </p:spTree>
    <p:extLst>
      <p:ext uri="{BB962C8B-B14F-4D97-AF65-F5344CB8AC3E}">
        <p14:creationId xmlns:p14="http://schemas.microsoft.com/office/powerpoint/2010/main" val="1853559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ED52E-BC22-4430-B66A-6CBEF76FEE6B}"/>
              </a:ext>
            </a:extLst>
          </p:cNvPr>
          <p:cNvSpPr>
            <a:spLocks noGrp="1"/>
          </p:cNvSpPr>
          <p:nvPr>
            <p:ph type="title"/>
          </p:nvPr>
        </p:nvSpPr>
        <p:spPr>
          <a:xfrm>
            <a:off x="1306613" y="188914"/>
            <a:ext cx="9603275" cy="591671"/>
          </a:xfrm>
        </p:spPr>
        <p:txBody>
          <a:bodyPr>
            <a:normAutofit/>
          </a:bodyPr>
          <a:lstStyle/>
          <a:p>
            <a:r>
              <a:rPr lang="en-US" dirty="0"/>
              <a:t>Exercise 1.3 - Solution</a:t>
            </a:r>
            <a:endParaRPr lang="en-IN" dirty="0"/>
          </a:p>
        </p:txBody>
      </p:sp>
      <p:sp>
        <p:nvSpPr>
          <p:cNvPr id="3" name="Content Placeholder 2">
            <a:extLst>
              <a:ext uri="{FF2B5EF4-FFF2-40B4-BE49-F238E27FC236}">
                <a16:creationId xmlns:a16="http://schemas.microsoft.com/office/drawing/2014/main" id="{B02640D6-F6DE-43E9-8BD2-B357340A8F03}"/>
              </a:ext>
            </a:extLst>
          </p:cNvPr>
          <p:cNvSpPr>
            <a:spLocks noGrp="1"/>
          </p:cNvSpPr>
          <p:nvPr>
            <p:ph idx="1"/>
          </p:nvPr>
        </p:nvSpPr>
        <p:spPr/>
        <p:txBody>
          <a:bodyPr>
            <a:normAutofit/>
          </a:bodyPr>
          <a:lstStyle/>
          <a:p>
            <a:r>
              <a:rPr lang="en-US" dirty="0" err="1"/>
              <a:t>Feasibilty</a:t>
            </a:r>
            <a:r>
              <a:rPr lang="en-US" dirty="0"/>
              <a:t> study</a:t>
            </a:r>
          </a:p>
          <a:p>
            <a:pPr lvl="1"/>
            <a:r>
              <a:rPr lang="en-US" dirty="0"/>
              <a:t>Discuss with stakeholders and understand the important features</a:t>
            </a:r>
          </a:p>
        </p:txBody>
      </p:sp>
      <p:sp>
        <p:nvSpPr>
          <p:cNvPr id="4" name="Date Placeholder 3">
            <a:extLst>
              <a:ext uri="{FF2B5EF4-FFF2-40B4-BE49-F238E27FC236}">
                <a16:creationId xmlns:a16="http://schemas.microsoft.com/office/drawing/2014/main" id="{D93CF9D9-FE7F-4C28-98E6-ED3CFDEE692C}"/>
              </a:ext>
            </a:extLst>
          </p:cNvPr>
          <p:cNvSpPr>
            <a:spLocks noGrp="1"/>
          </p:cNvSpPr>
          <p:nvPr>
            <p:ph type="dt" sz="half" idx="10"/>
          </p:nvPr>
        </p:nvSpPr>
        <p:spPr/>
        <p:txBody>
          <a:bodyPr/>
          <a:lstStyle/>
          <a:p>
            <a:fld id="{4DA3D7ED-4D6F-441B-A7AA-E3D1E9A9B49C}" type="datetime3">
              <a:rPr lang="en-US" smtClean="0"/>
              <a:t>27 May 2021</a:t>
            </a:fld>
            <a:endParaRPr lang="en-US" dirty="0"/>
          </a:p>
        </p:txBody>
      </p:sp>
      <p:sp>
        <p:nvSpPr>
          <p:cNvPr id="5" name="Footer Placeholder 4">
            <a:extLst>
              <a:ext uri="{FF2B5EF4-FFF2-40B4-BE49-F238E27FC236}">
                <a16:creationId xmlns:a16="http://schemas.microsoft.com/office/drawing/2014/main" id="{971F892F-F673-4ADD-9625-9C1F42BEDD04}"/>
              </a:ext>
            </a:extLst>
          </p:cNvPr>
          <p:cNvSpPr>
            <a:spLocks noGrp="1"/>
          </p:cNvSpPr>
          <p:nvPr>
            <p:ph type="ftr" sz="quarter" idx="11"/>
          </p:nvPr>
        </p:nvSpPr>
        <p:spPr/>
        <p:txBody>
          <a:bodyPr/>
          <a:lstStyle/>
          <a:p>
            <a:r>
              <a:rPr lang="en-US"/>
              <a:t>Software Project Management     Dr. D Evangelin Geetha      Dept. of MCA       RIT</a:t>
            </a:r>
            <a:endParaRPr lang="en-US" dirty="0"/>
          </a:p>
        </p:txBody>
      </p:sp>
      <p:sp>
        <p:nvSpPr>
          <p:cNvPr id="6" name="Slide Number Placeholder 5">
            <a:extLst>
              <a:ext uri="{FF2B5EF4-FFF2-40B4-BE49-F238E27FC236}">
                <a16:creationId xmlns:a16="http://schemas.microsoft.com/office/drawing/2014/main" id="{5D7C08AB-C64B-42D1-B7D3-5C27946E670D}"/>
              </a:ext>
            </a:extLst>
          </p:cNvPr>
          <p:cNvSpPr>
            <a:spLocks noGrp="1"/>
          </p:cNvSpPr>
          <p:nvPr>
            <p:ph type="sldNum" sz="quarter" idx="12"/>
          </p:nvPr>
        </p:nvSpPr>
        <p:spPr/>
        <p:txBody>
          <a:bodyPr/>
          <a:lstStyle/>
          <a:p>
            <a:fld id="{6D22F896-40B5-4ADD-8801-0D06FADFA095}" type="slidenum">
              <a:rPr lang="en-US" smtClean="0"/>
              <a:pPr/>
              <a:t>25</a:t>
            </a:fld>
            <a:endParaRPr lang="en-US" dirty="0"/>
          </a:p>
        </p:txBody>
      </p:sp>
    </p:spTree>
    <p:extLst>
      <p:ext uri="{BB962C8B-B14F-4D97-AF65-F5344CB8AC3E}">
        <p14:creationId xmlns:p14="http://schemas.microsoft.com/office/powerpoint/2010/main" val="31951192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Plans Methods and Methodologies</a:t>
            </a:r>
          </a:p>
        </p:txBody>
      </p:sp>
      <p:sp>
        <p:nvSpPr>
          <p:cNvPr id="2" name="Content Placeholder 1"/>
          <p:cNvSpPr>
            <a:spLocks noGrp="1"/>
          </p:cNvSpPr>
          <p:nvPr>
            <p:ph idx="1"/>
          </p:nvPr>
        </p:nvSpPr>
        <p:spPr/>
        <p:txBody>
          <a:bodyPr>
            <a:normAutofit/>
          </a:bodyPr>
          <a:lstStyle/>
          <a:p>
            <a:r>
              <a:rPr lang="en-IN" dirty="0"/>
              <a:t>Method – plan for an activity must be based on some idea of a method of work.</a:t>
            </a:r>
          </a:p>
          <a:p>
            <a:pPr lvl="1"/>
            <a:r>
              <a:rPr lang="en-IN" dirty="0"/>
              <a:t>Analyse requirements</a:t>
            </a:r>
          </a:p>
          <a:p>
            <a:pPr lvl="1"/>
            <a:r>
              <a:rPr lang="en-IN" dirty="0"/>
              <a:t>Devise and write test cases</a:t>
            </a:r>
          </a:p>
          <a:p>
            <a:pPr lvl="1"/>
            <a:r>
              <a:rPr lang="en-IN" dirty="0"/>
              <a:t>Create test scripts and expected results for each test case</a:t>
            </a:r>
          </a:p>
          <a:p>
            <a:pPr lvl="1"/>
            <a:r>
              <a:rPr lang="en-IN" dirty="0"/>
              <a:t>Compare the actual and expected results</a:t>
            </a:r>
          </a:p>
          <a:p>
            <a:r>
              <a:rPr lang="en-IN" dirty="0"/>
              <a:t>Method – type of activity</a:t>
            </a:r>
          </a:p>
          <a:p>
            <a:r>
              <a:rPr lang="en-IN" dirty="0"/>
              <a:t>Plan – takes the method and converts it to real activities.</a:t>
            </a:r>
          </a:p>
        </p:txBody>
      </p:sp>
      <p:sp>
        <p:nvSpPr>
          <p:cNvPr id="4" name="Date Placeholder 3"/>
          <p:cNvSpPr>
            <a:spLocks noGrp="1"/>
          </p:cNvSpPr>
          <p:nvPr>
            <p:ph type="dt" sz="half" idx="10"/>
          </p:nvPr>
        </p:nvSpPr>
        <p:spPr/>
        <p:txBody>
          <a:bodyPr/>
          <a:lstStyle/>
          <a:p>
            <a:fld id="{BFE3FAF2-C289-40BA-8B74-CF42A06E2227}" type="datetime3">
              <a:rPr lang="en-US" smtClean="0"/>
              <a:t>27 May 2021</a:t>
            </a:fld>
            <a:endParaRPr lang="en-US"/>
          </a:p>
        </p:txBody>
      </p:sp>
      <p:sp>
        <p:nvSpPr>
          <p:cNvPr id="5" name="Footer Placeholder 4"/>
          <p:cNvSpPr>
            <a:spLocks noGrp="1"/>
          </p:cNvSpPr>
          <p:nvPr>
            <p:ph type="ftr" sz="quarter" idx="11"/>
          </p:nvPr>
        </p:nvSpPr>
        <p:spPr/>
        <p:txBody>
          <a:bodyPr/>
          <a:lstStyle/>
          <a:p>
            <a:r>
              <a:rPr lang="en-US"/>
              <a:t>Software Project Management     Dr. D Evangelin Geetha      Dept. of MCA       RIT</a:t>
            </a:r>
          </a:p>
        </p:txBody>
      </p:sp>
      <p:sp>
        <p:nvSpPr>
          <p:cNvPr id="6" name="Slide Number Placeholder 5"/>
          <p:cNvSpPr>
            <a:spLocks noGrp="1"/>
          </p:cNvSpPr>
          <p:nvPr>
            <p:ph type="sldNum" sz="quarter" idx="12"/>
          </p:nvPr>
        </p:nvSpPr>
        <p:spPr/>
        <p:txBody>
          <a:bodyPr/>
          <a:lstStyle/>
          <a:p>
            <a:fld id="{4024F9E6-8BD1-4849-86DE-3CD23B63DC4B}" type="slidenum">
              <a:rPr lang="en-US" smtClean="0"/>
              <a:pPr/>
              <a:t>26</a:t>
            </a:fld>
            <a:endParaRPr lang="en-US"/>
          </a:p>
        </p:txBody>
      </p:sp>
    </p:spTree>
    <p:extLst>
      <p:ext uri="{BB962C8B-B14F-4D97-AF65-F5344CB8AC3E}">
        <p14:creationId xmlns:p14="http://schemas.microsoft.com/office/powerpoint/2010/main" val="23826464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Plans Methods and Methodologies</a:t>
            </a:r>
          </a:p>
        </p:txBody>
      </p:sp>
      <p:sp>
        <p:nvSpPr>
          <p:cNvPr id="2" name="Content Placeholder 1"/>
          <p:cNvSpPr>
            <a:spLocks noGrp="1"/>
          </p:cNvSpPr>
          <p:nvPr>
            <p:ph idx="1"/>
          </p:nvPr>
        </p:nvSpPr>
        <p:spPr/>
        <p:txBody>
          <a:bodyPr>
            <a:normAutofit/>
          </a:bodyPr>
          <a:lstStyle/>
          <a:p>
            <a:r>
              <a:rPr lang="en-IN" dirty="0"/>
              <a:t>For each activity, identify</a:t>
            </a:r>
          </a:p>
          <a:p>
            <a:pPr lvl="1"/>
            <a:r>
              <a:rPr lang="en-IN" dirty="0"/>
              <a:t>Its start and end dates</a:t>
            </a:r>
          </a:p>
          <a:p>
            <a:pPr lvl="1"/>
            <a:r>
              <a:rPr lang="en-IN" dirty="0"/>
              <a:t>Who will carry it out</a:t>
            </a:r>
          </a:p>
          <a:p>
            <a:pPr lvl="1"/>
            <a:r>
              <a:rPr lang="en-IN" dirty="0"/>
              <a:t>What tools and materials – including information  - will be needed</a:t>
            </a:r>
          </a:p>
          <a:p>
            <a:r>
              <a:rPr lang="en-IN" dirty="0"/>
              <a:t>Methodologies </a:t>
            </a:r>
          </a:p>
          <a:p>
            <a:pPr lvl="1"/>
            <a:r>
              <a:rPr lang="en-IN" dirty="0"/>
              <a:t>Groups of methods or techniques are grouped into </a:t>
            </a:r>
            <a:r>
              <a:rPr lang="en-IN" b="1" dirty="0"/>
              <a:t>methodologies (e. g. object-oriented design)</a:t>
            </a:r>
          </a:p>
        </p:txBody>
      </p:sp>
      <p:sp>
        <p:nvSpPr>
          <p:cNvPr id="4" name="Date Placeholder 3"/>
          <p:cNvSpPr>
            <a:spLocks noGrp="1"/>
          </p:cNvSpPr>
          <p:nvPr>
            <p:ph type="dt" sz="half" idx="10"/>
          </p:nvPr>
        </p:nvSpPr>
        <p:spPr/>
        <p:txBody>
          <a:bodyPr/>
          <a:lstStyle/>
          <a:p>
            <a:fld id="{A5193E75-286B-4909-88AE-C4FAF8391D15}" type="datetime3">
              <a:rPr lang="en-US" smtClean="0"/>
              <a:t>27 May 2021</a:t>
            </a:fld>
            <a:endParaRPr lang="en-US"/>
          </a:p>
        </p:txBody>
      </p:sp>
      <p:sp>
        <p:nvSpPr>
          <p:cNvPr id="5" name="Footer Placeholder 4"/>
          <p:cNvSpPr>
            <a:spLocks noGrp="1"/>
          </p:cNvSpPr>
          <p:nvPr>
            <p:ph type="ftr" sz="quarter" idx="11"/>
          </p:nvPr>
        </p:nvSpPr>
        <p:spPr/>
        <p:txBody>
          <a:bodyPr/>
          <a:lstStyle/>
          <a:p>
            <a:r>
              <a:rPr lang="en-US"/>
              <a:t>Software Project Management     Dr. D Evangelin Geetha      Dept. of MCA       RIT</a:t>
            </a:r>
          </a:p>
        </p:txBody>
      </p:sp>
      <p:sp>
        <p:nvSpPr>
          <p:cNvPr id="6" name="Slide Number Placeholder 5"/>
          <p:cNvSpPr>
            <a:spLocks noGrp="1"/>
          </p:cNvSpPr>
          <p:nvPr>
            <p:ph type="sldNum" sz="quarter" idx="12"/>
          </p:nvPr>
        </p:nvSpPr>
        <p:spPr/>
        <p:txBody>
          <a:bodyPr/>
          <a:lstStyle/>
          <a:p>
            <a:fld id="{4024F9E6-8BD1-4849-86DE-3CD23B63DC4B}" type="slidenum">
              <a:rPr lang="en-US" smtClean="0"/>
              <a:pPr/>
              <a:t>27</a:t>
            </a:fld>
            <a:endParaRPr lang="en-US"/>
          </a:p>
        </p:txBody>
      </p:sp>
    </p:spTree>
    <p:extLst>
      <p:ext uri="{BB962C8B-B14F-4D97-AF65-F5344CB8AC3E}">
        <p14:creationId xmlns:p14="http://schemas.microsoft.com/office/powerpoint/2010/main" val="14942512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a:t>Some ways of categorizing software projects</a:t>
            </a:r>
            <a:endParaRPr lang="zh-CN" altLang="en-US" dirty="0"/>
          </a:p>
        </p:txBody>
      </p:sp>
      <p:sp>
        <p:nvSpPr>
          <p:cNvPr id="2" name="内容占位符 1"/>
          <p:cNvSpPr>
            <a:spLocks noGrp="1"/>
          </p:cNvSpPr>
          <p:nvPr>
            <p:ph idx="1"/>
          </p:nvPr>
        </p:nvSpPr>
        <p:spPr/>
        <p:txBody>
          <a:bodyPr>
            <a:normAutofit fontScale="62500" lnSpcReduction="20000"/>
          </a:bodyPr>
          <a:lstStyle/>
          <a:p>
            <a:pPr marL="0" indent="0">
              <a:buNone/>
            </a:pPr>
            <a:r>
              <a:rPr lang="en-US" altLang="zh-CN" dirty="0"/>
              <a:t>Distinguishing different types of project is important as different types of task need different project approaches e.g.</a:t>
            </a:r>
          </a:p>
          <a:p>
            <a:r>
              <a:rPr lang="en-US" altLang="zh-CN" dirty="0"/>
              <a:t>Changes to the characteristics of software projects</a:t>
            </a:r>
          </a:p>
          <a:p>
            <a:pPr lvl="1"/>
            <a:r>
              <a:rPr lang="en-US" altLang="zh-CN" dirty="0"/>
              <a:t>Reusability </a:t>
            </a:r>
          </a:p>
          <a:p>
            <a:pPr lvl="1"/>
            <a:r>
              <a:rPr lang="en-US" altLang="zh-CN" dirty="0"/>
              <a:t>Customization</a:t>
            </a:r>
          </a:p>
          <a:p>
            <a:pPr lvl="1"/>
            <a:r>
              <a:rPr lang="en-US" altLang="zh-CN" dirty="0"/>
              <a:t>Customer participation</a:t>
            </a:r>
          </a:p>
          <a:p>
            <a:r>
              <a:rPr lang="en-US" altLang="zh-CN" dirty="0"/>
              <a:t>Compulsory vs. voluntary users</a:t>
            </a:r>
          </a:p>
          <a:p>
            <a:pPr lvl="1"/>
            <a:r>
              <a:rPr lang="en-US" altLang="zh-CN" dirty="0"/>
              <a:t>Supermarket transaction system vs. computer game</a:t>
            </a:r>
          </a:p>
          <a:p>
            <a:r>
              <a:rPr lang="en-US" altLang="zh-CN" dirty="0"/>
              <a:t>Information systems vs. embedded systems</a:t>
            </a:r>
          </a:p>
          <a:p>
            <a:pPr lvl="1"/>
            <a:r>
              <a:rPr lang="en-US" altLang="zh-CN" dirty="0"/>
              <a:t>Office system vs. machine control system</a:t>
            </a:r>
          </a:p>
          <a:p>
            <a:r>
              <a:rPr lang="en-US" altLang="zh-CN" dirty="0"/>
              <a:t>Software products versus services</a:t>
            </a:r>
          </a:p>
          <a:p>
            <a:pPr lvl="1"/>
            <a:endParaRPr lang="en-US" altLang="zh-CN" dirty="0"/>
          </a:p>
          <a:p>
            <a:r>
              <a:rPr lang="en-US" altLang="zh-CN" dirty="0"/>
              <a:t>Objectives vs. products</a:t>
            </a:r>
          </a:p>
          <a:p>
            <a:pPr lvl="1"/>
            <a:r>
              <a:rPr lang="en-US" altLang="zh-CN" dirty="0"/>
              <a:t>to meet certain objectives vs. to produce a product (course management system vs. anti-virus system)</a:t>
            </a:r>
            <a:endParaRPr lang="zh-CN" altLang="en-US" dirty="0"/>
          </a:p>
        </p:txBody>
      </p:sp>
      <p:sp>
        <p:nvSpPr>
          <p:cNvPr id="4" name="Date Placeholder 3"/>
          <p:cNvSpPr>
            <a:spLocks noGrp="1"/>
          </p:cNvSpPr>
          <p:nvPr>
            <p:ph type="dt" sz="half" idx="10"/>
          </p:nvPr>
        </p:nvSpPr>
        <p:spPr/>
        <p:txBody>
          <a:bodyPr/>
          <a:lstStyle/>
          <a:p>
            <a:fld id="{A88912AC-6757-4B7C-B262-3383F4CD3C1F}" type="datetime3">
              <a:rPr lang="en-US" smtClean="0"/>
              <a:t>27 May 2021</a:t>
            </a:fld>
            <a:endParaRPr lang="en-US"/>
          </a:p>
        </p:txBody>
      </p:sp>
      <p:sp>
        <p:nvSpPr>
          <p:cNvPr id="5" name="Footer Placeholder 4"/>
          <p:cNvSpPr>
            <a:spLocks noGrp="1"/>
          </p:cNvSpPr>
          <p:nvPr>
            <p:ph type="ftr" sz="quarter" idx="11"/>
          </p:nvPr>
        </p:nvSpPr>
        <p:spPr/>
        <p:txBody>
          <a:bodyPr/>
          <a:lstStyle/>
          <a:p>
            <a:r>
              <a:rPr lang="en-US"/>
              <a:t>Software Project Management     Dr. D Evangelin Geetha      Dept. of MCA       RIT</a:t>
            </a:r>
          </a:p>
        </p:txBody>
      </p:sp>
      <p:sp>
        <p:nvSpPr>
          <p:cNvPr id="6" name="Slide Number Placeholder 5"/>
          <p:cNvSpPr>
            <a:spLocks noGrp="1"/>
          </p:cNvSpPr>
          <p:nvPr>
            <p:ph type="sldNum" sz="quarter" idx="12"/>
          </p:nvPr>
        </p:nvSpPr>
        <p:spPr/>
        <p:txBody>
          <a:bodyPr/>
          <a:lstStyle/>
          <a:p>
            <a:fld id="{4024F9E6-8BD1-4849-86DE-3CD23B63DC4B}" type="slidenum">
              <a:rPr lang="en-US" smtClean="0"/>
              <a:pPr/>
              <a:t>28</a:t>
            </a:fld>
            <a:endParaRPr lang="en-US"/>
          </a:p>
        </p:txBody>
      </p:sp>
    </p:spTree>
    <p:extLst>
      <p:ext uri="{BB962C8B-B14F-4D97-AF65-F5344CB8AC3E}">
        <p14:creationId xmlns:p14="http://schemas.microsoft.com/office/powerpoint/2010/main" val="38484139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Project charter</a:t>
            </a:r>
          </a:p>
        </p:txBody>
      </p:sp>
      <p:sp>
        <p:nvSpPr>
          <p:cNvPr id="2" name="Content Placeholder 1"/>
          <p:cNvSpPr>
            <a:spLocks noGrp="1"/>
          </p:cNvSpPr>
          <p:nvPr>
            <p:ph idx="1"/>
          </p:nvPr>
        </p:nvSpPr>
        <p:spPr/>
        <p:txBody>
          <a:bodyPr>
            <a:normAutofit/>
          </a:bodyPr>
          <a:lstStyle/>
          <a:p>
            <a:r>
              <a:rPr lang="en-IN" dirty="0"/>
              <a:t>High-level document, authorizes the starting of a project </a:t>
            </a:r>
          </a:p>
          <a:p>
            <a:r>
              <a:rPr lang="en-IN" dirty="0"/>
              <a:t>Outlines </a:t>
            </a:r>
          </a:p>
          <a:p>
            <a:pPr lvl="1"/>
            <a:r>
              <a:rPr lang="en-IN" dirty="0"/>
              <a:t>the project objectives</a:t>
            </a:r>
          </a:p>
          <a:p>
            <a:pPr lvl="1"/>
            <a:r>
              <a:rPr lang="en-IN" dirty="0"/>
              <a:t>deliverables and </a:t>
            </a:r>
          </a:p>
          <a:p>
            <a:pPr lvl="1"/>
            <a:r>
              <a:rPr lang="en-IN" dirty="0"/>
              <a:t>the resources required</a:t>
            </a:r>
          </a:p>
          <a:p>
            <a:pPr lvl="1"/>
            <a:r>
              <a:rPr lang="en-IN" dirty="0"/>
              <a:t>Additionally</a:t>
            </a:r>
          </a:p>
          <a:p>
            <a:pPr lvl="2"/>
            <a:r>
              <a:rPr lang="en-IN" dirty="0"/>
              <a:t>The aspects that are out of scope</a:t>
            </a:r>
          </a:p>
          <a:p>
            <a:pPr lvl="2"/>
            <a:r>
              <a:rPr lang="en-IN" dirty="0"/>
              <a:t>Identifies main stakeholders – roles and responsibilities</a:t>
            </a:r>
          </a:p>
          <a:p>
            <a:endParaRPr lang="en-IN" dirty="0"/>
          </a:p>
          <a:p>
            <a:endParaRPr lang="en-IN" dirty="0"/>
          </a:p>
        </p:txBody>
      </p:sp>
      <p:sp>
        <p:nvSpPr>
          <p:cNvPr id="4" name="Date Placeholder 3"/>
          <p:cNvSpPr>
            <a:spLocks noGrp="1"/>
          </p:cNvSpPr>
          <p:nvPr>
            <p:ph type="dt" sz="half" idx="10"/>
          </p:nvPr>
        </p:nvSpPr>
        <p:spPr/>
        <p:txBody>
          <a:bodyPr/>
          <a:lstStyle/>
          <a:p>
            <a:fld id="{6E8B23FB-5D57-4753-8A26-FC5D4A786875}" type="datetime3">
              <a:rPr lang="en-US" smtClean="0"/>
              <a:t>27 May 2021</a:t>
            </a:fld>
            <a:endParaRPr lang="en-US"/>
          </a:p>
        </p:txBody>
      </p:sp>
      <p:sp>
        <p:nvSpPr>
          <p:cNvPr id="5" name="Footer Placeholder 4"/>
          <p:cNvSpPr>
            <a:spLocks noGrp="1"/>
          </p:cNvSpPr>
          <p:nvPr>
            <p:ph type="ftr" sz="quarter" idx="11"/>
          </p:nvPr>
        </p:nvSpPr>
        <p:spPr/>
        <p:txBody>
          <a:bodyPr/>
          <a:lstStyle/>
          <a:p>
            <a:r>
              <a:rPr lang="en-US"/>
              <a:t>Software Project Management     Dr. D Evangelin Geetha      Dept. of MCA       RIT</a:t>
            </a:r>
          </a:p>
        </p:txBody>
      </p:sp>
      <p:sp>
        <p:nvSpPr>
          <p:cNvPr id="6" name="Slide Number Placeholder 5"/>
          <p:cNvSpPr>
            <a:spLocks noGrp="1"/>
          </p:cNvSpPr>
          <p:nvPr>
            <p:ph type="sldNum" sz="quarter" idx="12"/>
          </p:nvPr>
        </p:nvSpPr>
        <p:spPr/>
        <p:txBody>
          <a:bodyPr/>
          <a:lstStyle/>
          <a:p>
            <a:fld id="{4024F9E6-8BD1-4849-86DE-3CD23B63DC4B}" type="slidenum">
              <a:rPr lang="en-US" smtClean="0"/>
              <a:pPr/>
              <a:t>29</a:t>
            </a:fld>
            <a:endParaRPr lang="en-US"/>
          </a:p>
        </p:txBody>
      </p:sp>
    </p:spTree>
    <p:extLst>
      <p:ext uri="{BB962C8B-B14F-4D97-AF65-F5344CB8AC3E}">
        <p14:creationId xmlns:p14="http://schemas.microsoft.com/office/powerpoint/2010/main" val="28985868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Project charter</a:t>
            </a:r>
          </a:p>
        </p:txBody>
      </p:sp>
      <p:sp>
        <p:nvSpPr>
          <p:cNvPr id="2" name="Content Placeholder 1"/>
          <p:cNvSpPr>
            <a:spLocks noGrp="1"/>
          </p:cNvSpPr>
          <p:nvPr>
            <p:ph idx="1"/>
          </p:nvPr>
        </p:nvSpPr>
        <p:spPr/>
        <p:txBody>
          <a:bodyPr>
            <a:normAutofit/>
          </a:bodyPr>
          <a:lstStyle/>
          <a:p>
            <a:r>
              <a:rPr lang="en-IN" dirty="0"/>
              <a:t>Project sponsor</a:t>
            </a:r>
          </a:p>
          <a:p>
            <a:pPr lvl="1"/>
            <a:r>
              <a:rPr lang="en-IN" dirty="0"/>
              <a:t>Champions the project</a:t>
            </a:r>
          </a:p>
          <a:p>
            <a:pPr lvl="1"/>
            <a:r>
              <a:rPr lang="en-IN" dirty="0"/>
              <a:t>Monitors the progress of the project</a:t>
            </a:r>
          </a:p>
          <a:p>
            <a:pPr lvl="1"/>
            <a:r>
              <a:rPr lang="en-IN" dirty="0"/>
              <a:t>Provides regular feedback to project manager</a:t>
            </a:r>
          </a:p>
          <a:p>
            <a:pPr lvl="1"/>
            <a:r>
              <a:rPr lang="en-IN" dirty="0"/>
              <a:t>Helps in removing obstacles faced by the project manager</a:t>
            </a:r>
          </a:p>
          <a:p>
            <a:r>
              <a:rPr lang="en-IN" dirty="0"/>
              <a:t>Project manager – responsible to prepare the project </a:t>
            </a:r>
            <a:r>
              <a:rPr lang="en-IN" dirty="0" err="1"/>
              <a:t>charte</a:t>
            </a:r>
            <a:endParaRPr lang="en-IN" dirty="0"/>
          </a:p>
          <a:p>
            <a:r>
              <a:rPr lang="en-IN" dirty="0"/>
              <a:t> </a:t>
            </a:r>
          </a:p>
          <a:p>
            <a:endParaRPr lang="en-IN" dirty="0"/>
          </a:p>
          <a:p>
            <a:endParaRPr lang="en-IN" dirty="0"/>
          </a:p>
          <a:p>
            <a:endParaRPr lang="en-IN" dirty="0"/>
          </a:p>
        </p:txBody>
      </p:sp>
      <p:sp>
        <p:nvSpPr>
          <p:cNvPr id="4" name="Date Placeholder 3"/>
          <p:cNvSpPr>
            <a:spLocks noGrp="1"/>
          </p:cNvSpPr>
          <p:nvPr>
            <p:ph type="dt" sz="half" idx="10"/>
          </p:nvPr>
        </p:nvSpPr>
        <p:spPr/>
        <p:txBody>
          <a:bodyPr/>
          <a:lstStyle/>
          <a:p>
            <a:fld id="{50388D6F-DD11-4A2F-B59E-BCE0B89136E7}" type="datetime3">
              <a:rPr lang="en-US" smtClean="0"/>
              <a:t>27 May 2021</a:t>
            </a:fld>
            <a:endParaRPr lang="en-US"/>
          </a:p>
        </p:txBody>
      </p:sp>
      <p:sp>
        <p:nvSpPr>
          <p:cNvPr id="5" name="Footer Placeholder 4"/>
          <p:cNvSpPr>
            <a:spLocks noGrp="1"/>
          </p:cNvSpPr>
          <p:nvPr>
            <p:ph type="ftr" sz="quarter" idx="11"/>
          </p:nvPr>
        </p:nvSpPr>
        <p:spPr/>
        <p:txBody>
          <a:bodyPr/>
          <a:lstStyle/>
          <a:p>
            <a:r>
              <a:rPr lang="en-US"/>
              <a:t>Software Project Management     Dr. D Evangelin Geetha      Dept. of MCA       RIT</a:t>
            </a:r>
          </a:p>
        </p:txBody>
      </p:sp>
      <p:sp>
        <p:nvSpPr>
          <p:cNvPr id="6" name="Slide Number Placeholder 5"/>
          <p:cNvSpPr>
            <a:spLocks noGrp="1"/>
          </p:cNvSpPr>
          <p:nvPr>
            <p:ph type="sldNum" sz="quarter" idx="12"/>
          </p:nvPr>
        </p:nvSpPr>
        <p:spPr/>
        <p:txBody>
          <a:bodyPr/>
          <a:lstStyle/>
          <a:p>
            <a:fld id="{4024F9E6-8BD1-4849-86DE-3CD23B63DC4B}" type="slidenum">
              <a:rPr lang="en-US" smtClean="0"/>
              <a:pPr/>
              <a:t>30</a:t>
            </a:fld>
            <a:endParaRPr lang="en-US"/>
          </a:p>
        </p:txBody>
      </p:sp>
    </p:spTree>
    <p:extLst>
      <p:ext uri="{BB962C8B-B14F-4D97-AF65-F5344CB8AC3E}">
        <p14:creationId xmlns:p14="http://schemas.microsoft.com/office/powerpoint/2010/main" val="40248893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Project charter</a:t>
            </a:r>
          </a:p>
        </p:txBody>
      </p:sp>
      <p:sp>
        <p:nvSpPr>
          <p:cNvPr id="2" name="Content Placeholder 1"/>
          <p:cNvSpPr>
            <a:spLocks noGrp="1"/>
          </p:cNvSpPr>
          <p:nvPr>
            <p:ph idx="1"/>
          </p:nvPr>
        </p:nvSpPr>
        <p:spPr/>
        <p:txBody>
          <a:bodyPr>
            <a:normAutofit lnSpcReduction="10000"/>
          </a:bodyPr>
          <a:lstStyle/>
          <a:p>
            <a:r>
              <a:rPr lang="en-IN" dirty="0"/>
              <a:t>Project charter - Not expected to change throughout the project life cycle</a:t>
            </a:r>
          </a:p>
          <a:p>
            <a:r>
              <a:rPr lang="en-IN" dirty="0"/>
              <a:t>Contents</a:t>
            </a:r>
          </a:p>
          <a:p>
            <a:pPr lvl="1"/>
            <a:r>
              <a:rPr lang="en-IN" dirty="0"/>
              <a:t>Overall objectives of the project</a:t>
            </a:r>
          </a:p>
          <a:p>
            <a:pPr lvl="1"/>
            <a:r>
              <a:rPr lang="en-IN" dirty="0"/>
              <a:t>Broad items within the scope and out of scope of the project</a:t>
            </a:r>
          </a:p>
          <a:p>
            <a:pPr lvl="1"/>
            <a:r>
              <a:rPr lang="en-IN" dirty="0"/>
              <a:t>Time schedule – start and completion date of the project</a:t>
            </a:r>
          </a:p>
          <a:p>
            <a:pPr lvl="1"/>
            <a:r>
              <a:rPr lang="en-IN" dirty="0"/>
              <a:t>Important stakeholders and their responsibilities</a:t>
            </a:r>
          </a:p>
          <a:p>
            <a:pPr lvl="1"/>
            <a:r>
              <a:rPr lang="en-IN" dirty="0"/>
              <a:t>Overview of the resources, overall budget</a:t>
            </a:r>
          </a:p>
          <a:p>
            <a:pPr lvl="1"/>
            <a:r>
              <a:rPr lang="en-IN" dirty="0"/>
              <a:t>Major risks and broad strategies to overcome that risks</a:t>
            </a:r>
          </a:p>
          <a:p>
            <a:pPr lvl="1"/>
            <a:endParaRPr lang="en-IN" dirty="0"/>
          </a:p>
          <a:p>
            <a:endParaRPr lang="en-IN" dirty="0"/>
          </a:p>
        </p:txBody>
      </p:sp>
      <p:sp>
        <p:nvSpPr>
          <p:cNvPr id="4" name="Date Placeholder 3"/>
          <p:cNvSpPr>
            <a:spLocks noGrp="1"/>
          </p:cNvSpPr>
          <p:nvPr>
            <p:ph type="dt" sz="half" idx="10"/>
          </p:nvPr>
        </p:nvSpPr>
        <p:spPr/>
        <p:txBody>
          <a:bodyPr/>
          <a:lstStyle/>
          <a:p>
            <a:fld id="{12E8A2F6-BA09-4077-AD87-5FC9578300E7}" type="datetime3">
              <a:rPr lang="en-US" smtClean="0"/>
              <a:t>27 May 2021</a:t>
            </a:fld>
            <a:endParaRPr lang="en-US"/>
          </a:p>
        </p:txBody>
      </p:sp>
      <p:sp>
        <p:nvSpPr>
          <p:cNvPr id="5" name="Footer Placeholder 4"/>
          <p:cNvSpPr>
            <a:spLocks noGrp="1"/>
          </p:cNvSpPr>
          <p:nvPr>
            <p:ph type="ftr" sz="quarter" idx="11"/>
          </p:nvPr>
        </p:nvSpPr>
        <p:spPr/>
        <p:txBody>
          <a:bodyPr/>
          <a:lstStyle/>
          <a:p>
            <a:r>
              <a:rPr lang="en-US"/>
              <a:t>Software Project Management     Dr. D Evangelin Geetha      Dept. of MCA       RIT</a:t>
            </a:r>
          </a:p>
        </p:txBody>
      </p:sp>
      <p:sp>
        <p:nvSpPr>
          <p:cNvPr id="6" name="Slide Number Placeholder 5"/>
          <p:cNvSpPr>
            <a:spLocks noGrp="1"/>
          </p:cNvSpPr>
          <p:nvPr>
            <p:ph type="sldNum" sz="quarter" idx="12"/>
          </p:nvPr>
        </p:nvSpPr>
        <p:spPr/>
        <p:txBody>
          <a:bodyPr/>
          <a:lstStyle/>
          <a:p>
            <a:fld id="{4024F9E6-8BD1-4849-86DE-3CD23B63DC4B}" type="slidenum">
              <a:rPr lang="en-US" smtClean="0"/>
              <a:pPr/>
              <a:t>31</a:t>
            </a:fld>
            <a:endParaRPr lang="en-US"/>
          </a:p>
        </p:txBody>
      </p:sp>
    </p:spTree>
    <p:extLst>
      <p:ext uri="{BB962C8B-B14F-4D97-AF65-F5344CB8AC3E}">
        <p14:creationId xmlns:p14="http://schemas.microsoft.com/office/powerpoint/2010/main" val="6859888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Stakeholders</a:t>
            </a:r>
          </a:p>
        </p:txBody>
      </p:sp>
      <p:sp>
        <p:nvSpPr>
          <p:cNvPr id="2" name="Content Placeholder 1"/>
          <p:cNvSpPr>
            <a:spLocks noGrp="1"/>
          </p:cNvSpPr>
          <p:nvPr>
            <p:ph idx="1"/>
          </p:nvPr>
        </p:nvSpPr>
        <p:spPr/>
        <p:txBody>
          <a:bodyPr>
            <a:normAutofit fontScale="92500" lnSpcReduction="10000"/>
          </a:bodyPr>
          <a:lstStyle/>
          <a:p>
            <a:r>
              <a:rPr lang="en-US" dirty="0"/>
              <a:t>These are people who have a stake or interest in the project</a:t>
            </a:r>
          </a:p>
          <a:p>
            <a:r>
              <a:rPr lang="en-US" dirty="0"/>
              <a:t>In general, they could be users/clients or developers/implementers</a:t>
            </a:r>
          </a:p>
          <a:p>
            <a:r>
              <a:rPr lang="en-US" dirty="0"/>
              <a:t>They could be:</a:t>
            </a:r>
          </a:p>
          <a:p>
            <a:pPr lvl="1"/>
            <a:r>
              <a:rPr lang="en-US" sz="2800" dirty="0"/>
              <a:t>Within the project team</a:t>
            </a:r>
          </a:p>
          <a:p>
            <a:pPr lvl="1"/>
            <a:r>
              <a:rPr lang="en-US" sz="2800" dirty="0"/>
              <a:t>Outside the project team, but within the same organization</a:t>
            </a:r>
          </a:p>
          <a:p>
            <a:pPr lvl="1"/>
            <a:r>
              <a:rPr lang="en-US" sz="2800" dirty="0"/>
              <a:t>Outside both the project team and the organization</a:t>
            </a:r>
          </a:p>
          <a:p>
            <a:r>
              <a:rPr lang="en-US" sz="3200" dirty="0"/>
              <a:t>Project leader</a:t>
            </a:r>
          </a:p>
          <a:p>
            <a:r>
              <a:rPr lang="en-US" sz="3200" dirty="0"/>
              <a:t>Communication plan</a:t>
            </a:r>
          </a:p>
          <a:p>
            <a:endParaRPr lang="en-US" sz="3200" dirty="0"/>
          </a:p>
          <a:p>
            <a:endParaRPr lang="en-IN" dirty="0"/>
          </a:p>
        </p:txBody>
      </p:sp>
      <p:sp>
        <p:nvSpPr>
          <p:cNvPr id="4" name="Date Placeholder 3"/>
          <p:cNvSpPr>
            <a:spLocks noGrp="1"/>
          </p:cNvSpPr>
          <p:nvPr>
            <p:ph type="dt" sz="half" idx="10"/>
          </p:nvPr>
        </p:nvSpPr>
        <p:spPr/>
        <p:txBody>
          <a:bodyPr/>
          <a:lstStyle/>
          <a:p>
            <a:fld id="{642446BC-EA7E-4ED3-A1B1-DE449FEA4B13}" type="datetime3">
              <a:rPr lang="en-US" smtClean="0"/>
              <a:t>27 May 2021</a:t>
            </a:fld>
            <a:endParaRPr lang="en-US"/>
          </a:p>
        </p:txBody>
      </p:sp>
      <p:sp>
        <p:nvSpPr>
          <p:cNvPr id="5" name="Footer Placeholder 4"/>
          <p:cNvSpPr>
            <a:spLocks noGrp="1"/>
          </p:cNvSpPr>
          <p:nvPr>
            <p:ph type="ftr" sz="quarter" idx="11"/>
          </p:nvPr>
        </p:nvSpPr>
        <p:spPr/>
        <p:txBody>
          <a:bodyPr/>
          <a:lstStyle/>
          <a:p>
            <a:r>
              <a:rPr lang="en-US"/>
              <a:t>Software Project Management     Dr. D Evangelin Geetha      Dept. of MCA       RIT</a:t>
            </a:r>
          </a:p>
        </p:txBody>
      </p:sp>
      <p:sp>
        <p:nvSpPr>
          <p:cNvPr id="6" name="Slide Number Placeholder 5"/>
          <p:cNvSpPr>
            <a:spLocks noGrp="1"/>
          </p:cNvSpPr>
          <p:nvPr>
            <p:ph type="sldNum" sz="quarter" idx="12"/>
          </p:nvPr>
        </p:nvSpPr>
        <p:spPr/>
        <p:txBody>
          <a:bodyPr/>
          <a:lstStyle/>
          <a:p>
            <a:fld id="{4024F9E6-8BD1-4849-86DE-3CD23B63DC4B}" type="slidenum">
              <a:rPr lang="en-US" smtClean="0"/>
              <a:pPr/>
              <a:t>32</a:t>
            </a:fld>
            <a:endParaRPr lang="en-US"/>
          </a:p>
        </p:txBody>
      </p:sp>
    </p:spTree>
    <p:extLst>
      <p:ext uri="{BB962C8B-B14F-4D97-AF65-F5344CB8AC3E}">
        <p14:creationId xmlns:p14="http://schemas.microsoft.com/office/powerpoint/2010/main" val="24615991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GB" altLang="en-US" dirty="0"/>
              <a:t>Setting objectives</a:t>
            </a:r>
            <a:endParaRPr lang="en-IN" dirty="0"/>
          </a:p>
        </p:txBody>
      </p:sp>
      <p:sp>
        <p:nvSpPr>
          <p:cNvPr id="2" name="Content Placeholder 1"/>
          <p:cNvSpPr>
            <a:spLocks noGrp="1"/>
          </p:cNvSpPr>
          <p:nvPr>
            <p:ph idx="1"/>
          </p:nvPr>
        </p:nvSpPr>
        <p:spPr/>
        <p:txBody>
          <a:bodyPr>
            <a:normAutofit fontScale="92500"/>
          </a:bodyPr>
          <a:lstStyle/>
          <a:p>
            <a:r>
              <a:rPr lang="en-US" dirty="0"/>
              <a:t>Answering the question ‘What do we have to do to have a success?’</a:t>
            </a:r>
          </a:p>
          <a:p>
            <a:r>
              <a:rPr lang="en-US" dirty="0"/>
              <a:t>Need for a project authority</a:t>
            </a:r>
          </a:p>
          <a:p>
            <a:pPr lvl="1"/>
            <a:r>
              <a:rPr lang="en-US" sz="2800" dirty="0"/>
              <a:t>Sets the project scope</a:t>
            </a:r>
          </a:p>
          <a:p>
            <a:pPr lvl="1"/>
            <a:r>
              <a:rPr lang="en-US" sz="2800" dirty="0"/>
              <a:t>Allocates/approves costs</a:t>
            </a:r>
          </a:p>
          <a:p>
            <a:r>
              <a:rPr lang="en-US" dirty="0"/>
              <a:t>Could be one person - or a group</a:t>
            </a:r>
          </a:p>
          <a:p>
            <a:pPr lvl="1"/>
            <a:r>
              <a:rPr lang="en-US" sz="2800" dirty="0"/>
              <a:t>Project Board</a:t>
            </a:r>
          </a:p>
          <a:p>
            <a:pPr lvl="1"/>
            <a:r>
              <a:rPr lang="en-US" sz="2800" dirty="0"/>
              <a:t>Project Management Board</a:t>
            </a:r>
          </a:p>
          <a:p>
            <a:pPr lvl="1"/>
            <a:r>
              <a:rPr lang="en-US" sz="2800" dirty="0"/>
              <a:t>Steering committee</a:t>
            </a:r>
          </a:p>
          <a:p>
            <a:endParaRPr lang="en-IN" dirty="0"/>
          </a:p>
        </p:txBody>
      </p:sp>
      <p:sp>
        <p:nvSpPr>
          <p:cNvPr id="4" name="Date Placeholder 3"/>
          <p:cNvSpPr>
            <a:spLocks noGrp="1"/>
          </p:cNvSpPr>
          <p:nvPr>
            <p:ph type="dt" sz="half" idx="10"/>
          </p:nvPr>
        </p:nvSpPr>
        <p:spPr/>
        <p:txBody>
          <a:bodyPr/>
          <a:lstStyle/>
          <a:p>
            <a:fld id="{D3484468-FABF-4D4C-8FC5-2EAB881493D7}" type="datetime3">
              <a:rPr lang="en-US" smtClean="0"/>
              <a:t>27 May 2021</a:t>
            </a:fld>
            <a:endParaRPr lang="en-US"/>
          </a:p>
        </p:txBody>
      </p:sp>
      <p:sp>
        <p:nvSpPr>
          <p:cNvPr id="5" name="Footer Placeholder 4"/>
          <p:cNvSpPr>
            <a:spLocks noGrp="1"/>
          </p:cNvSpPr>
          <p:nvPr>
            <p:ph type="ftr" sz="quarter" idx="11"/>
          </p:nvPr>
        </p:nvSpPr>
        <p:spPr/>
        <p:txBody>
          <a:bodyPr/>
          <a:lstStyle/>
          <a:p>
            <a:r>
              <a:rPr lang="en-US"/>
              <a:t>Software Project Management     Dr. D Evangelin Geetha      Dept. of MCA       RIT</a:t>
            </a:r>
          </a:p>
        </p:txBody>
      </p:sp>
      <p:sp>
        <p:nvSpPr>
          <p:cNvPr id="6" name="Slide Number Placeholder 5"/>
          <p:cNvSpPr>
            <a:spLocks noGrp="1"/>
          </p:cNvSpPr>
          <p:nvPr>
            <p:ph type="sldNum" sz="quarter" idx="12"/>
          </p:nvPr>
        </p:nvSpPr>
        <p:spPr/>
        <p:txBody>
          <a:bodyPr/>
          <a:lstStyle/>
          <a:p>
            <a:fld id="{4024F9E6-8BD1-4849-86DE-3CD23B63DC4B}" type="slidenum">
              <a:rPr lang="en-US" smtClean="0"/>
              <a:pPr/>
              <a:t>33</a:t>
            </a:fld>
            <a:endParaRPr lang="en-US"/>
          </a:p>
        </p:txBody>
      </p:sp>
    </p:spTree>
    <p:extLst>
      <p:ext uri="{BB962C8B-B14F-4D97-AF65-F5344CB8AC3E}">
        <p14:creationId xmlns:p14="http://schemas.microsoft.com/office/powerpoint/2010/main" val="33134077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Objectives</a:t>
            </a:r>
          </a:p>
        </p:txBody>
      </p:sp>
      <p:sp>
        <p:nvSpPr>
          <p:cNvPr id="2" name="Content Placeholder 1"/>
          <p:cNvSpPr>
            <a:spLocks noGrp="1"/>
          </p:cNvSpPr>
          <p:nvPr>
            <p:ph idx="1"/>
          </p:nvPr>
        </p:nvSpPr>
        <p:spPr/>
        <p:txBody>
          <a:bodyPr>
            <a:normAutofit fontScale="92500" lnSpcReduction="10000"/>
          </a:bodyPr>
          <a:lstStyle/>
          <a:p>
            <a:r>
              <a:rPr lang="en-US" dirty="0"/>
              <a:t>Informally, the objective of a project can be defined by completing the statement:</a:t>
            </a:r>
          </a:p>
          <a:p>
            <a:r>
              <a:rPr lang="en-US" dirty="0"/>
              <a:t>The project will be regarded as a success if………………………………..</a:t>
            </a:r>
          </a:p>
          <a:p>
            <a:pPr marL="0" indent="0">
              <a:buNone/>
            </a:pPr>
            <a:endParaRPr lang="en-US" dirty="0"/>
          </a:p>
          <a:p>
            <a:r>
              <a:rPr lang="en-US" dirty="0"/>
              <a:t>Rather like post-conditions for the project</a:t>
            </a:r>
          </a:p>
          <a:p>
            <a:endParaRPr lang="en-US" dirty="0"/>
          </a:p>
          <a:p>
            <a:r>
              <a:rPr lang="en-US" dirty="0"/>
              <a:t>Focus on what will be put in place, rather than how activities will be carried out</a:t>
            </a:r>
          </a:p>
          <a:p>
            <a:endParaRPr lang="en-IN" dirty="0"/>
          </a:p>
        </p:txBody>
      </p:sp>
      <p:sp>
        <p:nvSpPr>
          <p:cNvPr id="4" name="Date Placeholder 3"/>
          <p:cNvSpPr>
            <a:spLocks noGrp="1"/>
          </p:cNvSpPr>
          <p:nvPr>
            <p:ph type="dt" sz="half" idx="10"/>
          </p:nvPr>
        </p:nvSpPr>
        <p:spPr/>
        <p:txBody>
          <a:bodyPr/>
          <a:lstStyle/>
          <a:p>
            <a:fld id="{5FA1CF4B-1FC7-4CD9-BB7F-099D1E216467}" type="datetime3">
              <a:rPr lang="en-US" smtClean="0"/>
              <a:t>27 May 2021</a:t>
            </a:fld>
            <a:endParaRPr lang="en-US"/>
          </a:p>
        </p:txBody>
      </p:sp>
      <p:sp>
        <p:nvSpPr>
          <p:cNvPr id="5" name="Footer Placeholder 4"/>
          <p:cNvSpPr>
            <a:spLocks noGrp="1"/>
          </p:cNvSpPr>
          <p:nvPr>
            <p:ph type="ftr" sz="quarter" idx="11"/>
          </p:nvPr>
        </p:nvSpPr>
        <p:spPr/>
        <p:txBody>
          <a:bodyPr/>
          <a:lstStyle/>
          <a:p>
            <a:r>
              <a:rPr lang="en-US"/>
              <a:t>Software Project Management     Dr. D Evangelin Geetha      Dept. of MCA       RIT</a:t>
            </a:r>
          </a:p>
        </p:txBody>
      </p:sp>
      <p:sp>
        <p:nvSpPr>
          <p:cNvPr id="6" name="Slide Number Placeholder 5"/>
          <p:cNvSpPr>
            <a:spLocks noGrp="1"/>
          </p:cNvSpPr>
          <p:nvPr>
            <p:ph type="sldNum" sz="quarter" idx="12"/>
          </p:nvPr>
        </p:nvSpPr>
        <p:spPr/>
        <p:txBody>
          <a:bodyPr/>
          <a:lstStyle/>
          <a:p>
            <a:fld id="{4024F9E6-8BD1-4849-86DE-3CD23B63DC4B}" type="slidenum">
              <a:rPr lang="en-US" smtClean="0"/>
              <a:pPr/>
              <a:t>34</a:t>
            </a:fld>
            <a:endParaRPr lang="en-US"/>
          </a:p>
        </p:txBody>
      </p:sp>
    </p:spTree>
    <p:extLst>
      <p:ext uri="{BB962C8B-B14F-4D97-AF65-F5344CB8AC3E}">
        <p14:creationId xmlns:p14="http://schemas.microsoft.com/office/powerpoint/2010/main" val="30585325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Objectives should be </a:t>
            </a:r>
            <a:r>
              <a:rPr lang="en-IN" dirty="0">
                <a:solidFill>
                  <a:srgbClr val="0000CC"/>
                </a:solidFill>
              </a:rPr>
              <a:t>SMART</a:t>
            </a:r>
          </a:p>
        </p:txBody>
      </p:sp>
      <p:sp>
        <p:nvSpPr>
          <p:cNvPr id="2" name="Content Placeholder 1"/>
          <p:cNvSpPr>
            <a:spLocks noGrp="1"/>
          </p:cNvSpPr>
          <p:nvPr>
            <p:ph idx="1"/>
          </p:nvPr>
        </p:nvSpPr>
        <p:spPr/>
        <p:txBody>
          <a:bodyPr>
            <a:normAutofit fontScale="32500" lnSpcReduction="20000"/>
          </a:bodyPr>
          <a:lstStyle/>
          <a:p>
            <a:r>
              <a:rPr lang="en-US" sz="8600" dirty="0"/>
              <a:t>S – 	specific, that is, concrete and well-defined</a:t>
            </a:r>
          </a:p>
          <a:p>
            <a:r>
              <a:rPr lang="en-US" sz="8600" dirty="0"/>
              <a:t>M – 	measurable, that is, satisfaction of the  objective can be objectively judged</a:t>
            </a:r>
          </a:p>
          <a:p>
            <a:r>
              <a:rPr lang="en-US" sz="8600" dirty="0"/>
              <a:t>A – 	achievable, that is, it is within the power of the individual or group concerned to meet the target</a:t>
            </a:r>
          </a:p>
          <a:p>
            <a:r>
              <a:rPr lang="en-US" sz="8600" dirty="0"/>
              <a:t>R – 	relevant, the objective must relevant to the true purpose of the project</a:t>
            </a:r>
          </a:p>
          <a:p>
            <a:r>
              <a:rPr lang="en-US" sz="8600" dirty="0"/>
              <a:t>T – 	time constrained: there is defined point in time by which the objective should be achieved</a:t>
            </a:r>
          </a:p>
          <a:p>
            <a:endParaRPr lang="en-US" dirty="0"/>
          </a:p>
          <a:p>
            <a:endParaRPr lang="en-IN" dirty="0"/>
          </a:p>
        </p:txBody>
      </p:sp>
      <p:sp>
        <p:nvSpPr>
          <p:cNvPr id="4" name="Date Placeholder 3"/>
          <p:cNvSpPr>
            <a:spLocks noGrp="1"/>
          </p:cNvSpPr>
          <p:nvPr>
            <p:ph type="dt" sz="half" idx="10"/>
          </p:nvPr>
        </p:nvSpPr>
        <p:spPr/>
        <p:txBody>
          <a:bodyPr/>
          <a:lstStyle/>
          <a:p>
            <a:fld id="{8FA7815E-FF66-43D9-B35C-63370589C0F8}" type="datetime3">
              <a:rPr lang="en-US" smtClean="0"/>
              <a:t>27 May 2021</a:t>
            </a:fld>
            <a:endParaRPr lang="en-US"/>
          </a:p>
        </p:txBody>
      </p:sp>
      <p:sp>
        <p:nvSpPr>
          <p:cNvPr id="5" name="Footer Placeholder 4"/>
          <p:cNvSpPr>
            <a:spLocks noGrp="1"/>
          </p:cNvSpPr>
          <p:nvPr>
            <p:ph type="ftr" sz="quarter" idx="11"/>
          </p:nvPr>
        </p:nvSpPr>
        <p:spPr/>
        <p:txBody>
          <a:bodyPr/>
          <a:lstStyle/>
          <a:p>
            <a:r>
              <a:rPr lang="en-US"/>
              <a:t>Software Project Management     Dr. D Evangelin Geetha      Dept. of MCA       RIT</a:t>
            </a:r>
          </a:p>
        </p:txBody>
      </p:sp>
      <p:sp>
        <p:nvSpPr>
          <p:cNvPr id="6" name="Slide Number Placeholder 5"/>
          <p:cNvSpPr>
            <a:spLocks noGrp="1"/>
          </p:cNvSpPr>
          <p:nvPr>
            <p:ph type="sldNum" sz="quarter" idx="12"/>
          </p:nvPr>
        </p:nvSpPr>
        <p:spPr/>
        <p:txBody>
          <a:bodyPr/>
          <a:lstStyle/>
          <a:p>
            <a:fld id="{4024F9E6-8BD1-4849-86DE-3CD23B63DC4B}" type="slidenum">
              <a:rPr lang="en-US" smtClean="0"/>
              <a:pPr/>
              <a:t>35</a:t>
            </a:fld>
            <a:endParaRPr lang="en-US"/>
          </a:p>
        </p:txBody>
      </p:sp>
    </p:spTree>
    <p:extLst>
      <p:ext uri="{BB962C8B-B14F-4D97-AF65-F5344CB8AC3E}">
        <p14:creationId xmlns:p14="http://schemas.microsoft.com/office/powerpoint/2010/main" val="26324376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Goals/sub-objectives</a:t>
            </a:r>
          </a:p>
        </p:txBody>
      </p:sp>
      <p:sp>
        <p:nvSpPr>
          <p:cNvPr id="2" name="Content Placeholder 1"/>
          <p:cNvSpPr>
            <a:spLocks noGrp="1"/>
          </p:cNvSpPr>
          <p:nvPr>
            <p:ph idx="1"/>
          </p:nvPr>
        </p:nvSpPr>
        <p:spPr/>
        <p:txBody>
          <a:bodyPr/>
          <a:lstStyle/>
          <a:p>
            <a:r>
              <a:rPr lang="en-US" dirty="0"/>
              <a:t>These are steps along the way to achieving the objective. Informally, these can be defined by completing the sentence…</a:t>
            </a:r>
          </a:p>
          <a:p>
            <a:pPr marL="0" indent="0" algn="ctr">
              <a:buNone/>
            </a:pPr>
            <a:r>
              <a:rPr lang="en-US" b="1" dirty="0"/>
              <a:t>Objective X will be achieved </a:t>
            </a:r>
          </a:p>
          <a:p>
            <a:pPr marL="0" indent="0" algn="ctr">
              <a:buNone/>
            </a:pPr>
            <a:r>
              <a:rPr lang="en-US" b="1" dirty="0"/>
              <a:t>IF the following goals are all achieved</a:t>
            </a:r>
          </a:p>
          <a:p>
            <a:pPr marL="0" indent="0" algn="ctr">
              <a:buNone/>
            </a:pPr>
            <a:r>
              <a:rPr lang="en-US" b="1" dirty="0"/>
              <a:t>A……………</a:t>
            </a:r>
          </a:p>
          <a:p>
            <a:pPr marL="0" indent="0" algn="ctr">
              <a:buNone/>
            </a:pPr>
            <a:r>
              <a:rPr lang="en-US" b="1" dirty="0"/>
              <a:t>B……………</a:t>
            </a:r>
          </a:p>
          <a:p>
            <a:pPr marL="0" indent="0" algn="ctr">
              <a:buNone/>
            </a:pPr>
            <a:r>
              <a:rPr lang="en-US" b="1" dirty="0"/>
              <a:t>	  C…………… </a:t>
            </a:r>
            <a:r>
              <a:rPr lang="en-US" b="1" dirty="0" err="1"/>
              <a:t>etc</a:t>
            </a:r>
            <a:endParaRPr lang="en-US" b="1" dirty="0"/>
          </a:p>
        </p:txBody>
      </p:sp>
      <p:sp>
        <p:nvSpPr>
          <p:cNvPr id="4" name="Date Placeholder 3"/>
          <p:cNvSpPr>
            <a:spLocks noGrp="1"/>
          </p:cNvSpPr>
          <p:nvPr>
            <p:ph type="dt" sz="half" idx="10"/>
          </p:nvPr>
        </p:nvSpPr>
        <p:spPr/>
        <p:txBody>
          <a:bodyPr/>
          <a:lstStyle/>
          <a:p>
            <a:fld id="{A98D302D-579E-4A11-A02B-729DBB0EEFB3}" type="datetime3">
              <a:rPr lang="en-US" smtClean="0"/>
              <a:t>27 May 2021</a:t>
            </a:fld>
            <a:endParaRPr lang="en-US"/>
          </a:p>
        </p:txBody>
      </p:sp>
      <p:sp>
        <p:nvSpPr>
          <p:cNvPr id="5" name="Footer Placeholder 4"/>
          <p:cNvSpPr>
            <a:spLocks noGrp="1"/>
          </p:cNvSpPr>
          <p:nvPr>
            <p:ph type="ftr" sz="quarter" idx="11"/>
          </p:nvPr>
        </p:nvSpPr>
        <p:spPr/>
        <p:txBody>
          <a:bodyPr/>
          <a:lstStyle/>
          <a:p>
            <a:r>
              <a:rPr lang="en-US"/>
              <a:t>Software Project Management     Dr. D Evangelin Geetha      Dept. of MCA       RIT</a:t>
            </a:r>
          </a:p>
        </p:txBody>
      </p:sp>
      <p:sp>
        <p:nvSpPr>
          <p:cNvPr id="6" name="Slide Number Placeholder 5"/>
          <p:cNvSpPr>
            <a:spLocks noGrp="1"/>
          </p:cNvSpPr>
          <p:nvPr>
            <p:ph type="sldNum" sz="quarter" idx="12"/>
          </p:nvPr>
        </p:nvSpPr>
        <p:spPr/>
        <p:txBody>
          <a:bodyPr/>
          <a:lstStyle/>
          <a:p>
            <a:fld id="{4024F9E6-8BD1-4849-86DE-3CD23B63DC4B}" type="slidenum">
              <a:rPr lang="en-US" smtClean="0"/>
              <a:pPr/>
              <a:t>36</a:t>
            </a:fld>
            <a:endParaRPr lang="en-US"/>
          </a:p>
        </p:txBody>
      </p:sp>
    </p:spTree>
    <p:extLst>
      <p:ext uri="{BB962C8B-B14F-4D97-AF65-F5344CB8AC3E}">
        <p14:creationId xmlns:p14="http://schemas.microsoft.com/office/powerpoint/2010/main" val="13786249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Goals/sub-objectives continued</a:t>
            </a:r>
          </a:p>
        </p:txBody>
      </p:sp>
      <p:sp>
        <p:nvSpPr>
          <p:cNvPr id="2" name="Content Placeholder 1"/>
          <p:cNvSpPr>
            <a:spLocks noGrp="1"/>
          </p:cNvSpPr>
          <p:nvPr>
            <p:ph idx="1"/>
          </p:nvPr>
        </p:nvSpPr>
        <p:spPr/>
        <p:txBody>
          <a:bodyPr>
            <a:normAutofit/>
          </a:bodyPr>
          <a:lstStyle/>
          <a:p>
            <a:r>
              <a:rPr lang="en-US" dirty="0"/>
              <a:t>Often a goal can be allocated to an individual.</a:t>
            </a:r>
          </a:p>
          <a:p>
            <a:r>
              <a:rPr lang="en-US" dirty="0"/>
              <a:t>Individual may have the capability of achieving goal, but not the objective on their own e.g. </a:t>
            </a:r>
          </a:p>
          <a:p>
            <a:endParaRPr lang="en-US" dirty="0"/>
          </a:p>
          <a:p>
            <a:pPr lvl="1"/>
            <a:r>
              <a:rPr lang="en-US" sz="2800" dirty="0"/>
              <a:t>Objective – user satisfaction with software product</a:t>
            </a:r>
          </a:p>
          <a:p>
            <a:pPr lvl="1"/>
            <a:r>
              <a:rPr lang="en-US" sz="2800" dirty="0"/>
              <a:t>Analyst goal – accurate requirements </a:t>
            </a:r>
          </a:p>
          <a:p>
            <a:pPr lvl="1"/>
            <a:r>
              <a:rPr lang="en-US" sz="2800" dirty="0"/>
              <a:t>Developer goal – software that is reliable</a:t>
            </a:r>
          </a:p>
          <a:p>
            <a:endParaRPr lang="en-IN" dirty="0"/>
          </a:p>
        </p:txBody>
      </p:sp>
      <p:sp>
        <p:nvSpPr>
          <p:cNvPr id="4" name="Date Placeholder 3"/>
          <p:cNvSpPr>
            <a:spLocks noGrp="1"/>
          </p:cNvSpPr>
          <p:nvPr>
            <p:ph type="dt" sz="half" idx="10"/>
          </p:nvPr>
        </p:nvSpPr>
        <p:spPr/>
        <p:txBody>
          <a:bodyPr/>
          <a:lstStyle/>
          <a:p>
            <a:fld id="{7D5F2C43-F819-4539-B44A-DCCA00F22763}" type="datetime3">
              <a:rPr lang="en-US" smtClean="0"/>
              <a:t>27 May 2021</a:t>
            </a:fld>
            <a:endParaRPr lang="en-US"/>
          </a:p>
        </p:txBody>
      </p:sp>
      <p:sp>
        <p:nvSpPr>
          <p:cNvPr id="5" name="Footer Placeholder 4"/>
          <p:cNvSpPr>
            <a:spLocks noGrp="1"/>
          </p:cNvSpPr>
          <p:nvPr>
            <p:ph type="ftr" sz="quarter" idx="11"/>
          </p:nvPr>
        </p:nvSpPr>
        <p:spPr/>
        <p:txBody>
          <a:bodyPr/>
          <a:lstStyle/>
          <a:p>
            <a:r>
              <a:rPr lang="en-US"/>
              <a:t>Software Project Management     Dr. D Evangelin Geetha      Dept. of MCA       RIT</a:t>
            </a:r>
          </a:p>
        </p:txBody>
      </p:sp>
      <p:sp>
        <p:nvSpPr>
          <p:cNvPr id="6" name="Slide Number Placeholder 5"/>
          <p:cNvSpPr>
            <a:spLocks noGrp="1"/>
          </p:cNvSpPr>
          <p:nvPr>
            <p:ph type="sldNum" sz="quarter" idx="12"/>
          </p:nvPr>
        </p:nvSpPr>
        <p:spPr/>
        <p:txBody>
          <a:bodyPr/>
          <a:lstStyle/>
          <a:p>
            <a:fld id="{4024F9E6-8BD1-4849-86DE-3CD23B63DC4B}" type="slidenum">
              <a:rPr lang="en-US" smtClean="0"/>
              <a:pPr/>
              <a:t>37</a:t>
            </a:fld>
            <a:endParaRPr lang="en-US"/>
          </a:p>
        </p:txBody>
      </p:sp>
    </p:spTree>
    <p:extLst>
      <p:ext uri="{BB962C8B-B14F-4D97-AF65-F5344CB8AC3E}">
        <p14:creationId xmlns:p14="http://schemas.microsoft.com/office/powerpoint/2010/main" val="2093373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altLang="en-US" dirty="0"/>
              <a:t>Measures of effectiveness</a:t>
            </a:r>
            <a:endParaRPr lang="en-IN" dirty="0"/>
          </a:p>
        </p:txBody>
      </p:sp>
      <p:sp>
        <p:nvSpPr>
          <p:cNvPr id="2" name="Content Placeholder 1"/>
          <p:cNvSpPr>
            <a:spLocks noGrp="1"/>
          </p:cNvSpPr>
          <p:nvPr>
            <p:ph idx="1"/>
          </p:nvPr>
        </p:nvSpPr>
        <p:spPr/>
        <p:txBody>
          <a:bodyPr>
            <a:normAutofit/>
          </a:bodyPr>
          <a:lstStyle/>
          <a:p>
            <a:r>
              <a:rPr lang="en-US" dirty="0"/>
              <a:t>How do we know that the goal or objective has been achieved?</a:t>
            </a:r>
          </a:p>
          <a:p>
            <a:r>
              <a:rPr lang="en-US" dirty="0"/>
              <a:t>By a practical test, that can be objectively assessed.</a:t>
            </a:r>
          </a:p>
          <a:p>
            <a:pPr lvl="1"/>
            <a:r>
              <a:rPr lang="en-US" sz="2800" dirty="0"/>
              <a:t>e.g. for user satisfaction with software product:</a:t>
            </a:r>
          </a:p>
          <a:p>
            <a:r>
              <a:rPr lang="en-US" sz="3200" dirty="0"/>
              <a:t>Reliability</a:t>
            </a:r>
          </a:p>
          <a:p>
            <a:r>
              <a:rPr lang="en-US" sz="3200" dirty="0"/>
              <a:t>Performance</a:t>
            </a:r>
          </a:p>
          <a:p>
            <a:r>
              <a:rPr lang="en-US" sz="3200" dirty="0"/>
              <a:t>Predictive measures</a:t>
            </a:r>
            <a:endParaRPr lang="en-US" dirty="0"/>
          </a:p>
        </p:txBody>
      </p:sp>
      <p:sp>
        <p:nvSpPr>
          <p:cNvPr id="4" name="Date Placeholder 3"/>
          <p:cNvSpPr>
            <a:spLocks noGrp="1"/>
          </p:cNvSpPr>
          <p:nvPr>
            <p:ph type="dt" sz="half" idx="10"/>
          </p:nvPr>
        </p:nvSpPr>
        <p:spPr/>
        <p:txBody>
          <a:bodyPr/>
          <a:lstStyle/>
          <a:p>
            <a:fld id="{FF98AFD9-3F35-433A-A338-A1C53896BA4C}" type="datetime3">
              <a:rPr lang="en-US" smtClean="0"/>
              <a:t>27 May 2021</a:t>
            </a:fld>
            <a:endParaRPr lang="en-US"/>
          </a:p>
        </p:txBody>
      </p:sp>
      <p:sp>
        <p:nvSpPr>
          <p:cNvPr id="5" name="Footer Placeholder 4"/>
          <p:cNvSpPr>
            <a:spLocks noGrp="1"/>
          </p:cNvSpPr>
          <p:nvPr>
            <p:ph type="ftr" sz="quarter" idx="11"/>
          </p:nvPr>
        </p:nvSpPr>
        <p:spPr/>
        <p:txBody>
          <a:bodyPr/>
          <a:lstStyle/>
          <a:p>
            <a:r>
              <a:rPr lang="en-US"/>
              <a:t>Software Project Management     Dr. D Evangelin Geetha      Dept. of MCA       RIT</a:t>
            </a:r>
          </a:p>
        </p:txBody>
      </p:sp>
      <p:sp>
        <p:nvSpPr>
          <p:cNvPr id="6" name="Slide Number Placeholder 5"/>
          <p:cNvSpPr>
            <a:spLocks noGrp="1"/>
          </p:cNvSpPr>
          <p:nvPr>
            <p:ph type="sldNum" sz="quarter" idx="12"/>
          </p:nvPr>
        </p:nvSpPr>
        <p:spPr/>
        <p:txBody>
          <a:bodyPr/>
          <a:lstStyle/>
          <a:p>
            <a:fld id="{4024F9E6-8BD1-4849-86DE-3CD23B63DC4B}" type="slidenum">
              <a:rPr lang="en-US" smtClean="0"/>
              <a:pPr/>
              <a:t>38</a:t>
            </a:fld>
            <a:endParaRPr lang="en-US"/>
          </a:p>
        </p:txBody>
      </p:sp>
    </p:spTree>
    <p:extLst>
      <p:ext uri="{BB962C8B-B14F-4D97-AF65-F5344CB8AC3E}">
        <p14:creationId xmlns:p14="http://schemas.microsoft.com/office/powerpoint/2010/main" val="17059158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The business case</a:t>
            </a:r>
          </a:p>
        </p:txBody>
      </p:sp>
      <p:pic>
        <p:nvPicPr>
          <p:cNvPr id="6" name="Content Placeholder 5"/>
          <p:cNvPicPr>
            <a:picLocks noGrp="1" noChangeAspect="1"/>
          </p:cNvPicPr>
          <p:nvPr>
            <p:ph idx="1"/>
          </p:nvPr>
        </p:nvPicPr>
        <p:blipFill>
          <a:blip r:embed="rId2"/>
          <a:stretch>
            <a:fillRect/>
          </a:stretch>
        </p:blipFill>
        <p:spPr>
          <a:xfrm>
            <a:off x="1814823" y="1884363"/>
            <a:ext cx="3749365" cy="3938357"/>
          </a:xfrm>
          <a:prstGeom prst="rect">
            <a:avLst/>
          </a:prstGeom>
        </p:spPr>
      </p:pic>
      <p:sp>
        <p:nvSpPr>
          <p:cNvPr id="2" name="Date Placeholder 1"/>
          <p:cNvSpPr>
            <a:spLocks noGrp="1"/>
          </p:cNvSpPr>
          <p:nvPr>
            <p:ph type="dt" sz="half" idx="10"/>
          </p:nvPr>
        </p:nvSpPr>
        <p:spPr/>
        <p:txBody>
          <a:bodyPr/>
          <a:lstStyle/>
          <a:p>
            <a:fld id="{EACE08AE-9254-490F-99FE-02C49E52CFD0}" type="datetime3">
              <a:rPr lang="en-US" smtClean="0"/>
              <a:t>27 May 2021</a:t>
            </a:fld>
            <a:endParaRPr lang="en-US" dirty="0"/>
          </a:p>
        </p:txBody>
      </p:sp>
      <p:sp>
        <p:nvSpPr>
          <p:cNvPr id="4" name="Footer Placeholder 3"/>
          <p:cNvSpPr>
            <a:spLocks noGrp="1"/>
          </p:cNvSpPr>
          <p:nvPr>
            <p:ph type="ftr" sz="quarter" idx="11"/>
          </p:nvPr>
        </p:nvSpPr>
        <p:spPr/>
        <p:txBody>
          <a:bodyPr/>
          <a:lstStyle/>
          <a:p>
            <a:r>
              <a:rPr lang="en-US"/>
              <a:t>Software Project Management     Dr. D Evangelin Geetha      Dept. of MCA       RIT</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39</a:t>
            </a:fld>
            <a:endParaRPr lang="en-US" dirty="0"/>
          </a:p>
        </p:txBody>
      </p:sp>
      <p:sp>
        <p:nvSpPr>
          <p:cNvPr id="5" name="Content Placeholder 4"/>
          <p:cNvSpPr>
            <a:spLocks noGrp="1"/>
          </p:cNvSpPr>
          <p:nvPr>
            <p:ph sz="half" idx="4294967295"/>
          </p:nvPr>
        </p:nvSpPr>
        <p:spPr>
          <a:xfrm>
            <a:off x="6627813" y="1884363"/>
            <a:ext cx="5564187" cy="4214812"/>
          </a:xfrm>
        </p:spPr>
        <p:txBody>
          <a:bodyPr>
            <a:normAutofit fontScale="40000" lnSpcReduction="20000"/>
          </a:bodyPr>
          <a:lstStyle/>
          <a:p>
            <a:r>
              <a:rPr lang="en-US" sz="4400" dirty="0"/>
              <a:t>During project feasibility study</a:t>
            </a:r>
          </a:p>
          <a:p>
            <a:r>
              <a:rPr lang="en-US" sz="4400" dirty="0">
                <a:solidFill>
                  <a:srgbClr val="0000CC"/>
                </a:solidFill>
              </a:rPr>
              <a:t>Benefits = Effort + Expense ?</a:t>
            </a:r>
          </a:p>
          <a:p>
            <a:r>
              <a:rPr lang="en-US" sz="4400" dirty="0"/>
              <a:t>Benefits of delivered project must outweigh costs</a:t>
            </a:r>
          </a:p>
          <a:p>
            <a:r>
              <a:rPr lang="en-US" sz="4400" dirty="0"/>
              <a:t>E.g. web based application for sales</a:t>
            </a:r>
          </a:p>
          <a:p>
            <a:r>
              <a:rPr lang="en-US" sz="4400" dirty="0"/>
              <a:t>Costs include:</a:t>
            </a:r>
          </a:p>
          <a:p>
            <a:pPr lvl="1"/>
            <a:r>
              <a:rPr lang="en-US" sz="4400" dirty="0"/>
              <a:t>Development</a:t>
            </a:r>
          </a:p>
          <a:p>
            <a:pPr lvl="1"/>
            <a:r>
              <a:rPr lang="en-US" sz="4400" dirty="0"/>
              <a:t>Operation</a:t>
            </a:r>
          </a:p>
          <a:p>
            <a:r>
              <a:rPr lang="en-US" sz="4400" dirty="0"/>
              <a:t>Benefits</a:t>
            </a:r>
          </a:p>
          <a:p>
            <a:pPr lvl="1"/>
            <a:r>
              <a:rPr lang="en-US" sz="4400" dirty="0"/>
              <a:t>Quantifiable</a:t>
            </a:r>
          </a:p>
          <a:p>
            <a:pPr lvl="1"/>
            <a:r>
              <a:rPr lang="en-US" sz="4400" dirty="0"/>
              <a:t>Non-quantifiable</a:t>
            </a:r>
          </a:p>
          <a:p>
            <a:endParaRPr lang="en-IN" dirty="0"/>
          </a:p>
        </p:txBody>
      </p:sp>
    </p:spTree>
    <p:extLst>
      <p:ext uri="{BB962C8B-B14F-4D97-AF65-F5344CB8AC3E}">
        <p14:creationId xmlns:p14="http://schemas.microsoft.com/office/powerpoint/2010/main" val="15268660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The business case</a:t>
            </a:r>
          </a:p>
        </p:txBody>
      </p:sp>
      <p:sp>
        <p:nvSpPr>
          <p:cNvPr id="4" name="Content Placeholder 3"/>
          <p:cNvSpPr>
            <a:spLocks noGrp="1"/>
          </p:cNvSpPr>
          <p:nvPr>
            <p:ph idx="1"/>
          </p:nvPr>
        </p:nvSpPr>
        <p:spPr/>
        <p:txBody>
          <a:bodyPr/>
          <a:lstStyle/>
          <a:p>
            <a:r>
              <a:rPr lang="en-IN" dirty="0"/>
              <a:t>Project plan must ensure that the business case is kept intact</a:t>
            </a:r>
          </a:p>
          <a:p>
            <a:pPr lvl="1"/>
            <a:r>
              <a:rPr lang="en-IN" dirty="0">
                <a:solidFill>
                  <a:srgbClr val="0000CC"/>
                </a:solidFill>
              </a:rPr>
              <a:t>Development costs </a:t>
            </a:r>
            <a:r>
              <a:rPr lang="en-IN" dirty="0"/>
              <a:t>are not allowed to rise to a level which threatens to exceed the value of benefits</a:t>
            </a:r>
          </a:p>
          <a:p>
            <a:pPr lvl="1"/>
            <a:r>
              <a:rPr lang="en-IN" dirty="0">
                <a:solidFill>
                  <a:srgbClr val="0000CC"/>
                </a:solidFill>
              </a:rPr>
              <a:t>Features of the system </a:t>
            </a:r>
            <a:r>
              <a:rPr lang="en-IN" dirty="0"/>
              <a:t>are not reduced to a level where the expected benefits cannot be realized</a:t>
            </a:r>
          </a:p>
          <a:p>
            <a:pPr lvl="1"/>
            <a:r>
              <a:rPr lang="en-IN" dirty="0">
                <a:solidFill>
                  <a:srgbClr val="0000CC"/>
                </a:solidFill>
              </a:rPr>
              <a:t>Delivery date </a:t>
            </a:r>
            <a:r>
              <a:rPr lang="en-IN" dirty="0"/>
              <a:t>is not delayed so that there is an unacceptable loss of benefits</a:t>
            </a:r>
          </a:p>
        </p:txBody>
      </p:sp>
      <p:sp>
        <p:nvSpPr>
          <p:cNvPr id="3" name="Date Placeholder 2"/>
          <p:cNvSpPr>
            <a:spLocks noGrp="1"/>
          </p:cNvSpPr>
          <p:nvPr>
            <p:ph type="dt" sz="half" idx="10"/>
          </p:nvPr>
        </p:nvSpPr>
        <p:spPr/>
        <p:txBody>
          <a:bodyPr/>
          <a:lstStyle/>
          <a:p>
            <a:fld id="{A0982FAF-5F10-45CC-A499-880AB9B965CF}" type="datetime3">
              <a:rPr lang="en-US" smtClean="0"/>
              <a:t>27 May 2021</a:t>
            </a:fld>
            <a:endParaRPr lang="en-US" dirty="0"/>
          </a:p>
        </p:txBody>
      </p:sp>
      <p:sp>
        <p:nvSpPr>
          <p:cNvPr id="5" name="Footer Placeholder 4"/>
          <p:cNvSpPr>
            <a:spLocks noGrp="1"/>
          </p:cNvSpPr>
          <p:nvPr>
            <p:ph type="ftr" sz="quarter" idx="11"/>
          </p:nvPr>
        </p:nvSpPr>
        <p:spPr/>
        <p:txBody>
          <a:bodyPr/>
          <a:lstStyle/>
          <a:p>
            <a:r>
              <a:rPr lang="en-US"/>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40</a:t>
            </a:fld>
            <a:endParaRPr lang="en-US" dirty="0"/>
          </a:p>
        </p:txBody>
      </p:sp>
    </p:spTree>
    <p:extLst>
      <p:ext uri="{BB962C8B-B14F-4D97-AF65-F5344CB8AC3E}">
        <p14:creationId xmlns:p14="http://schemas.microsoft.com/office/powerpoint/2010/main" val="26207385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Project success and failure</a:t>
            </a:r>
            <a:endParaRPr lang="zh-CN" altLang="en-US" dirty="0"/>
          </a:p>
        </p:txBody>
      </p:sp>
      <p:sp>
        <p:nvSpPr>
          <p:cNvPr id="2" name="内容占位符 1"/>
          <p:cNvSpPr>
            <a:spLocks noGrp="1"/>
          </p:cNvSpPr>
          <p:nvPr>
            <p:ph idx="1"/>
          </p:nvPr>
        </p:nvSpPr>
        <p:spPr/>
        <p:txBody>
          <a:bodyPr/>
          <a:lstStyle/>
          <a:p>
            <a:r>
              <a:rPr lang="en-US" altLang="zh-CN" dirty="0"/>
              <a:t>The project plan should be designed to ensure project success</a:t>
            </a:r>
          </a:p>
          <a:p>
            <a:r>
              <a:rPr lang="en-US" altLang="zh-CN" dirty="0"/>
              <a:t>Project success can usually be summarized and delivering:</a:t>
            </a:r>
          </a:p>
          <a:p>
            <a:pPr lvl="1"/>
            <a:r>
              <a:rPr lang="en-US" altLang="zh-CN" sz="2800" dirty="0">
                <a:solidFill>
                  <a:srgbClr val="0000CC"/>
                </a:solidFill>
              </a:rPr>
              <a:t>The agreed functionality</a:t>
            </a:r>
          </a:p>
          <a:p>
            <a:pPr lvl="1"/>
            <a:r>
              <a:rPr lang="en-US" altLang="zh-CN" sz="2800" dirty="0">
                <a:solidFill>
                  <a:srgbClr val="0000CC"/>
                </a:solidFill>
              </a:rPr>
              <a:t>To the required level of quality</a:t>
            </a:r>
          </a:p>
          <a:p>
            <a:pPr lvl="1"/>
            <a:r>
              <a:rPr lang="en-US" altLang="zh-CN" sz="2800" dirty="0">
                <a:solidFill>
                  <a:srgbClr val="0000CC"/>
                </a:solidFill>
              </a:rPr>
              <a:t>On time</a:t>
            </a:r>
          </a:p>
          <a:p>
            <a:pPr lvl="1"/>
            <a:r>
              <a:rPr lang="en-US" altLang="zh-CN" sz="2800" dirty="0">
                <a:solidFill>
                  <a:srgbClr val="0000CC"/>
                </a:solidFill>
              </a:rPr>
              <a:t>Within budget</a:t>
            </a:r>
          </a:p>
          <a:p>
            <a:r>
              <a:rPr lang="en-US" altLang="zh-CN" dirty="0"/>
              <a:t>Project success vs. business success</a:t>
            </a:r>
          </a:p>
        </p:txBody>
      </p:sp>
      <p:sp>
        <p:nvSpPr>
          <p:cNvPr id="4" name="Date Placeholder 3"/>
          <p:cNvSpPr>
            <a:spLocks noGrp="1"/>
          </p:cNvSpPr>
          <p:nvPr>
            <p:ph type="dt" sz="half" idx="10"/>
          </p:nvPr>
        </p:nvSpPr>
        <p:spPr/>
        <p:txBody>
          <a:bodyPr/>
          <a:lstStyle/>
          <a:p>
            <a:fld id="{A2F81147-10E5-4B1D-80B9-9EB0BD699C32}" type="datetime3">
              <a:rPr lang="en-US" smtClean="0"/>
              <a:t>27 May 2021</a:t>
            </a:fld>
            <a:endParaRPr lang="en-US"/>
          </a:p>
        </p:txBody>
      </p:sp>
      <p:sp>
        <p:nvSpPr>
          <p:cNvPr id="5" name="Footer Placeholder 4"/>
          <p:cNvSpPr>
            <a:spLocks noGrp="1"/>
          </p:cNvSpPr>
          <p:nvPr>
            <p:ph type="ftr" sz="quarter" idx="11"/>
          </p:nvPr>
        </p:nvSpPr>
        <p:spPr/>
        <p:txBody>
          <a:bodyPr/>
          <a:lstStyle/>
          <a:p>
            <a:r>
              <a:rPr lang="en-US"/>
              <a:t>Software Project Management     Dr. D Evangelin Geetha      Dept. of MCA       RIT</a:t>
            </a:r>
          </a:p>
        </p:txBody>
      </p:sp>
      <p:sp>
        <p:nvSpPr>
          <p:cNvPr id="6" name="Slide Number Placeholder 5"/>
          <p:cNvSpPr>
            <a:spLocks noGrp="1"/>
          </p:cNvSpPr>
          <p:nvPr>
            <p:ph type="sldNum" sz="quarter" idx="12"/>
          </p:nvPr>
        </p:nvSpPr>
        <p:spPr/>
        <p:txBody>
          <a:bodyPr/>
          <a:lstStyle/>
          <a:p>
            <a:fld id="{4024F9E6-8BD1-4849-86DE-3CD23B63DC4B}" type="slidenum">
              <a:rPr lang="en-US" smtClean="0"/>
              <a:pPr/>
              <a:t>41</a:t>
            </a:fld>
            <a:endParaRPr lang="en-US"/>
          </a:p>
        </p:txBody>
      </p:sp>
    </p:spTree>
    <p:extLst>
      <p:ext uri="{BB962C8B-B14F-4D97-AF65-F5344CB8AC3E}">
        <p14:creationId xmlns:p14="http://schemas.microsoft.com/office/powerpoint/2010/main" val="32809529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zh-CN" dirty="0"/>
              <a:t>Project success and failure</a:t>
            </a:r>
            <a:endParaRPr lang="en-IN" dirty="0"/>
          </a:p>
        </p:txBody>
      </p:sp>
      <p:sp>
        <p:nvSpPr>
          <p:cNvPr id="2" name="Content Placeholder 1"/>
          <p:cNvSpPr>
            <a:spLocks noGrp="1"/>
          </p:cNvSpPr>
          <p:nvPr>
            <p:ph idx="1"/>
          </p:nvPr>
        </p:nvSpPr>
        <p:spPr/>
        <p:txBody>
          <a:bodyPr>
            <a:normAutofit fontScale="92500" lnSpcReduction="20000"/>
          </a:bodyPr>
          <a:lstStyle/>
          <a:p>
            <a:r>
              <a:rPr lang="en-IN" dirty="0"/>
              <a:t>Project objectives vs. Business Objectives</a:t>
            </a:r>
          </a:p>
          <a:p>
            <a:pPr lvl="1"/>
            <a:r>
              <a:rPr lang="en-IN" dirty="0"/>
              <a:t>Project could meet targets but application, once delivered could fail to meet the business case</a:t>
            </a:r>
          </a:p>
          <a:p>
            <a:pPr lvl="1"/>
            <a:r>
              <a:rPr lang="en-IN" dirty="0"/>
              <a:t>E.g. Computer Game, commercial website for Online Sales</a:t>
            </a:r>
          </a:p>
          <a:p>
            <a:r>
              <a:rPr lang="en-IN" dirty="0"/>
              <a:t>Success = value of benefits &gt; cost</a:t>
            </a:r>
          </a:p>
          <a:p>
            <a:r>
              <a:rPr lang="en-IN" dirty="0"/>
              <a:t>Value of benefits - Dependent on external factors, no. of customers</a:t>
            </a:r>
          </a:p>
          <a:p>
            <a:r>
              <a:rPr lang="en-IN" dirty="0"/>
              <a:t>Increasing development cost – reduces the profit</a:t>
            </a:r>
          </a:p>
          <a:p>
            <a:r>
              <a:rPr lang="en-IN" dirty="0"/>
              <a:t>Delay – reduces the amount of time </a:t>
            </a:r>
          </a:p>
          <a:p>
            <a:r>
              <a:rPr lang="en-IN" dirty="0">
                <a:solidFill>
                  <a:srgbClr val="FF0000"/>
                </a:solidFill>
              </a:rPr>
              <a:t>Success -&gt; Failure </a:t>
            </a:r>
            <a:r>
              <a:rPr lang="en-IN" dirty="0"/>
              <a:t>or </a:t>
            </a:r>
            <a:r>
              <a:rPr lang="en-IN" dirty="0">
                <a:solidFill>
                  <a:srgbClr val="FF0000"/>
                </a:solidFill>
              </a:rPr>
              <a:t>Failure -&gt; Success</a:t>
            </a:r>
          </a:p>
          <a:p>
            <a:pPr lvl="1"/>
            <a:r>
              <a:rPr lang="en-IN" dirty="0"/>
              <a:t>Solution ?</a:t>
            </a:r>
          </a:p>
        </p:txBody>
      </p:sp>
      <p:sp>
        <p:nvSpPr>
          <p:cNvPr id="5" name="Date Placeholder 4"/>
          <p:cNvSpPr>
            <a:spLocks noGrp="1"/>
          </p:cNvSpPr>
          <p:nvPr>
            <p:ph type="dt" sz="half" idx="10"/>
          </p:nvPr>
        </p:nvSpPr>
        <p:spPr/>
        <p:txBody>
          <a:bodyPr/>
          <a:lstStyle/>
          <a:p>
            <a:fld id="{43B718E4-90AF-48CE-A406-4EBE6AD27B75}" type="datetime3">
              <a:rPr lang="en-US" smtClean="0"/>
              <a:t>27 May 2021</a:t>
            </a:fld>
            <a:endParaRPr lang="en-US"/>
          </a:p>
        </p:txBody>
      </p:sp>
      <p:sp>
        <p:nvSpPr>
          <p:cNvPr id="6" name="Footer Placeholder 5"/>
          <p:cNvSpPr>
            <a:spLocks noGrp="1"/>
          </p:cNvSpPr>
          <p:nvPr>
            <p:ph type="ftr" sz="quarter" idx="11"/>
          </p:nvPr>
        </p:nvSpPr>
        <p:spPr/>
        <p:txBody>
          <a:bodyPr/>
          <a:lstStyle/>
          <a:p>
            <a:r>
              <a:rPr lang="en-US"/>
              <a:t>Software Project Management     Dr. D Evangelin Geetha      Dept. of MCA       RIT</a:t>
            </a:r>
          </a:p>
        </p:txBody>
      </p:sp>
      <p:sp>
        <p:nvSpPr>
          <p:cNvPr id="7" name="Slide Number Placeholder 6"/>
          <p:cNvSpPr>
            <a:spLocks noGrp="1"/>
          </p:cNvSpPr>
          <p:nvPr>
            <p:ph type="sldNum" sz="quarter" idx="12"/>
          </p:nvPr>
        </p:nvSpPr>
        <p:spPr/>
        <p:txBody>
          <a:bodyPr/>
          <a:lstStyle/>
          <a:p>
            <a:fld id="{4024F9E6-8BD1-4849-86DE-3CD23B63DC4B}" type="slidenum">
              <a:rPr lang="en-US" smtClean="0"/>
              <a:pPr/>
              <a:t>42</a:t>
            </a:fld>
            <a:endParaRPr lang="en-US"/>
          </a:p>
        </p:txBody>
      </p:sp>
      <p:sp>
        <p:nvSpPr>
          <p:cNvPr id="4" name="内容占位符 1"/>
          <p:cNvSpPr txBox="1">
            <a:spLocks/>
          </p:cNvSpPr>
          <p:nvPr/>
        </p:nvSpPr>
        <p:spPr>
          <a:xfrm>
            <a:off x="7551974" y="780585"/>
            <a:ext cx="4538546" cy="539668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24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2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2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24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US" altLang="zh-CN" dirty="0"/>
              <a:t>Project Objectives</a:t>
            </a:r>
          </a:p>
          <a:p>
            <a:pPr lvl="1"/>
            <a:r>
              <a:rPr lang="en-US" altLang="zh-CN" sz="2800" dirty="0">
                <a:solidFill>
                  <a:srgbClr val="0000CC"/>
                </a:solidFill>
              </a:rPr>
              <a:t>The agreed functionality</a:t>
            </a:r>
          </a:p>
          <a:p>
            <a:pPr lvl="1"/>
            <a:r>
              <a:rPr lang="en-US" altLang="zh-CN" sz="2800" dirty="0">
                <a:solidFill>
                  <a:srgbClr val="0000CC"/>
                </a:solidFill>
              </a:rPr>
              <a:t>To the required level of quality</a:t>
            </a:r>
          </a:p>
          <a:p>
            <a:pPr lvl="1"/>
            <a:r>
              <a:rPr lang="en-US" altLang="zh-CN" sz="2800" dirty="0">
                <a:solidFill>
                  <a:srgbClr val="0000CC"/>
                </a:solidFill>
              </a:rPr>
              <a:t>On time</a:t>
            </a:r>
          </a:p>
          <a:p>
            <a:pPr lvl="1"/>
            <a:r>
              <a:rPr lang="en-US" altLang="zh-CN" sz="2800" dirty="0">
                <a:solidFill>
                  <a:srgbClr val="0000CC"/>
                </a:solidFill>
              </a:rPr>
              <a:t>Within budget</a:t>
            </a:r>
          </a:p>
          <a:p>
            <a:r>
              <a:rPr lang="en-US" altLang="zh-CN" dirty="0"/>
              <a:t>Business Objective</a:t>
            </a:r>
          </a:p>
          <a:p>
            <a:pPr lvl="1"/>
            <a:r>
              <a:rPr lang="en-US" dirty="0">
                <a:solidFill>
                  <a:srgbClr val="0000CC"/>
                </a:solidFill>
              </a:rPr>
              <a:t>Benefits = Effort + Expense ?</a:t>
            </a:r>
          </a:p>
        </p:txBody>
      </p:sp>
    </p:spTree>
    <p:extLst>
      <p:ext uri="{BB962C8B-B14F-4D97-AF65-F5344CB8AC3E}">
        <p14:creationId xmlns:p14="http://schemas.microsoft.com/office/powerpoint/2010/main" val="29507163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zh-CN" dirty="0"/>
              <a:t>Project success and failure</a:t>
            </a:r>
            <a:endParaRPr lang="en-IN" dirty="0"/>
          </a:p>
        </p:txBody>
      </p:sp>
      <p:sp>
        <p:nvSpPr>
          <p:cNvPr id="2" name="Content Placeholder 1"/>
          <p:cNvSpPr>
            <a:spLocks noGrp="1"/>
          </p:cNvSpPr>
          <p:nvPr>
            <p:ph idx="1"/>
          </p:nvPr>
        </p:nvSpPr>
        <p:spPr/>
        <p:txBody>
          <a:bodyPr>
            <a:normAutofit fontScale="92500" lnSpcReduction="20000"/>
          </a:bodyPr>
          <a:lstStyle/>
          <a:p>
            <a:r>
              <a:rPr lang="en-IN" dirty="0"/>
              <a:t>Solution</a:t>
            </a:r>
          </a:p>
          <a:p>
            <a:pPr lvl="1"/>
            <a:r>
              <a:rPr lang="en-IN" dirty="0"/>
              <a:t>Having a broader view of projects that includes business issues</a:t>
            </a:r>
          </a:p>
          <a:p>
            <a:pPr lvl="1"/>
            <a:r>
              <a:rPr lang="en-IN" dirty="0" err="1"/>
              <a:t>E.g</a:t>
            </a:r>
            <a:r>
              <a:rPr lang="en-IN" dirty="0"/>
              <a:t> e-commerce website</a:t>
            </a:r>
          </a:p>
          <a:p>
            <a:pPr lvl="2"/>
            <a:r>
              <a:rPr lang="en-IN" dirty="0"/>
              <a:t>Market surveys </a:t>
            </a:r>
          </a:p>
          <a:p>
            <a:pPr lvl="2"/>
            <a:r>
              <a:rPr lang="en-IN" dirty="0"/>
              <a:t>Competitor analysis</a:t>
            </a:r>
          </a:p>
          <a:p>
            <a:pPr lvl="2"/>
            <a:r>
              <a:rPr lang="en-IN" dirty="0"/>
              <a:t>Focus groups</a:t>
            </a:r>
          </a:p>
          <a:p>
            <a:pPr lvl="2"/>
            <a:r>
              <a:rPr lang="en-IN" dirty="0"/>
              <a:t>Prototyping </a:t>
            </a:r>
          </a:p>
          <a:p>
            <a:pPr lvl="2"/>
            <a:r>
              <a:rPr lang="en-IN" dirty="0"/>
              <a:t>Evaluation by potential users</a:t>
            </a:r>
          </a:p>
          <a:p>
            <a:r>
              <a:rPr lang="en-IN" dirty="0"/>
              <a:t>Consequence on subsequent projects</a:t>
            </a:r>
          </a:p>
          <a:p>
            <a:r>
              <a:rPr lang="en-IN" dirty="0"/>
              <a:t>Customer Relationships</a:t>
            </a:r>
          </a:p>
          <a:p>
            <a:pPr lvl="1"/>
            <a:r>
              <a:rPr lang="en-IN" dirty="0"/>
              <a:t>Expensive to acquire new clients than it is to retain existing ones</a:t>
            </a:r>
          </a:p>
        </p:txBody>
      </p:sp>
      <p:sp>
        <p:nvSpPr>
          <p:cNvPr id="4" name="Date Placeholder 3"/>
          <p:cNvSpPr>
            <a:spLocks noGrp="1"/>
          </p:cNvSpPr>
          <p:nvPr>
            <p:ph type="dt" sz="half" idx="10"/>
          </p:nvPr>
        </p:nvSpPr>
        <p:spPr/>
        <p:txBody>
          <a:bodyPr/>
          <a:lstStyle/>
          <a:p>
            <a:fld id="{73CADEC1-8A05-4FCA-9093-BF995D22AC8D}" type="datetime3">
              <a:rPr lang="en-US" smtClean="0"/>
              <a:t>27 May 2021</a:t>
            </a:fld>
            <a:endParaRPr lang="en-US"/>
          </a:p>
        </p:txBody>
      </p:sp>
      <p:sp>
        <p:nvSpPr>
          <p:cNvPr id="5" name="Footer Placeholder 4"/>
          <p:cNvSpPr>
            <a:spLocks noGrp="1"/>
          </p:cNvSpPr>
          <p:nvPr>
            <p:ph type="ftr" sz="quarter" idx="11"/>
          </p:nvPr>
        </p:nvSpPr>
        <p:spPr/>
        <p:txBody>
          <a:bodyPr/>
          <a:lstStyle/>
          <a:p>
            <a:r>
              <a:rPr lang="en-US"/>
              <a:t>Software Project Management     Dr. D Evangelin Geetha      Dept. of MCA       RIT</a:t>
            </a:r>
          </a:p>
        </p:txBody>
      </p:sp>
      <p:sp>
        <p:nvSpPr>
          <p:cNvPr id="6" name="Slide Number Placeholder 5"/>
          <p:cNvSpPr>
            <a:spLocks noGrp="1"/>
          </p:cNvSpPr>
          <p:nvPr>
            <p:ph type="sldNum" sz="quarter" idx="12"/>
          </p:nvPr>
        </p:nvSpPr>
        <p:spPr/>
        <p:txBody>
          <a:bodyPr/>
          <a:lstStyle/>
          <a:p>
            <a:fld id="{4024F9E6-8BD1-4849-86DE-3CD23B63DC4B}" type="slidenum">
              <a:rPr lang="en-US" smtClean="0"/>
              <a:pPr/>
              <a:t>43</a:t>
            </a:fld>
            <a:endParaRPr lang="en-US"/>
          </a:p>
        </p:txBody>
      </p:sp>
    </p:spTree>
    <p:extLst>
      <p:ext uri="{BB962C8B-B14F-4D97-AF65-F5344CB8AC3E}">
        <p14:creationId xmlns:p14="http://schemas.microsoft.com/office/powerpoint/2010/main" val="3154107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3"/>
          <p:cNvSpPr>
            <a:spLocks noGrp="1"/>
          </p:cNvSpPr>
          <p:nvPr>
            <p:ph type="sldNum"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BB82FB1-919F-4AA3-9D47-BF4AC78A8466}" type="slidenum">
              <a:rPr lang="en-US" altLang="en-US">
                <a:latin typeface="Times New Roman" panose="02020603050405020304" pitchFamily="18" charset="0"/>
              </a:rPr>
              <a:pPr/>
              <a:t>44</a:t>
            </a:fld>
            <a:endParaRPr lang="en-US" altLang="en-US">
              <a:latin typeface="Times New Roman" panose="02020603050405020304" pitchFamily="18" charset="0"/>
            </a:endParaRPr>
          </a:p>
        </p:txBody>
      </p:sp>
      <p:sp>
        <p:nvSpPr>
          <p:cNvPr id="26627" name="Rectangle 2"/>
          <p:cNvSpPr>
            <a:spLocks noGrp="1" noChangeArrowheads="1"/>
          </p:cNvSpPr>
          <p:nvPr>
            <p:ph type="title"/>
          </p:nvPr>
        </p:nvSpPr>
        <p:spPr>
          <a:xfrm>
            <a:off x="2208213" y="260350"/>
            <a:ext cx="7772400" cy="1143000"/>
          </a:xfrm>
        </p:spPr>
        <p:txBody>
          <a:bodyPr/>
          <a:lstStyle/>
          <a:p>
            <a:pPr eaLnBrk="1" hangingPunct="1"/>
            <a:r>
              <a:rPr lang="en-GB" altLang="en-US" dirty="0"/>
              <a:t>What is management?</a:t>
            </a:r>
          </a:p>
        </p:txBody>
      </p:sp>
      <p:sp>
        <p:nvSpPr>
          <p:cNvPr id="26628" name="Rectangle 3"/>
          <p:cNvSpPr>
            <a:spLocks noGrp="1" noChangeArrowheads="1"/>
          </p:cNvSpPr>
          <p:nvPr>
            <p:ph type="body" idx="1"/>
          </p:nvPr>
        </p:nvSpPr>
        <p:spPr>
          <a:xfrm>
            <a:off x="1225047" y="1403350"/>
            <a:ext cx="8755566" cy="5936536"/>
          </a:xfrm>
        </p:spPr>
        <p:txBody>
          <a:bodyPr>
            <a:normAutofit fontScale="55000" lnSpcReduction="20000"/>
          </a:bodyPr>
          <a:lstStyle/>
          <a:p>
            <a:pPr eaLnBrk="1" hangingPunct="1">
              <a:buFontTx/>
              <a:buNone/>
            </a:pPr>
            <a:r>
              <a:rPr lang="en-GB" altLang="en-US" sz="4400" dirty="0"/>
              <a:t>This involves the following activities:</a:t>
            </a:r>
          </a:p>
          <a:p>
            <a:pPr eaLnBrk="1" hangingPunct="1"/>
            <a:r>
              <a:rPr lang="en-GB" altLang="en-US" sz="4400" dirty="0">
                <a:solidFill>
                  <a:srgbClr val="0000CC"/>
                </a:solidFill>
              </a:rPr>
              <a:t>Planning</a:t>
            </a:r>
            <a:r>
              <a:rPr lang="en-GB" altLang="en-US" sz="4400" dirty="0"/>
              <a:t> – deciding what is to be done</a:t>
            </a:r>
          </a:p>
          <a:p>
            <a:pPr eaLnBrk="1" hangingPunct="1"/>
            <a:r>
              <a:rPr lang="en-GB" altLang="en-US" sz="4400" dirty="0"/>
              <a:t>Organizing – making arrangements</a:t>
            </a:r>
          </a:p>
          <a:p>
            <a:pPr eaLnBrk="1" hangingPunct="1"/>
            <a:r>
              <a:rPr lang="en-GB" altLang="en-US" sz="4400" dirty="0"/>
              <a:t>Staffing – selecting the right people for the job</a:t>
            </a:r>
          </a:p>
          <a:p>
            <a:pPr eaLnBrk="1" hangingPunct="1"/>
            <a:r>
              <a:rPr lang="en-GB" altLang="en-US" sz="4400" dirty="0"/>
              <a:t>Directing – giving instructions</a:t>
            </a:r>
          </a:p>
          <a:p>
            <a:r>
              <a:rPr lang="en-GB" altLang="en-US" sz="4400" dirty="0">
                <a:solidFill>
                  <a:srgbClr val="0000CC"/>
                </a:solidFill>
              </a:rPr>
              <a:t>Monitoring</a:t>
            </a:r>
            <a:r>
              <a:rPr lang="en-GB" altLang="en-US" sz="4400" dirty="0"/>
              <a:t> – checking on progress</a:t>
            </a:r>
          </a:p>
          <a:p>
            <a:r>
              <a:rPr lang="en-GB" altLang="en-US" sz="4400" dirty="0">
                <a:solidFill>
                  <a:srgbClr val="0000CC"/>
                </a:solidFill>
              </a:rPr>
              <a:t>Controlling</a:t>
            </a:r>
            <a:r>
              <a:rPr lang="en-GB" altLang="en-US" sz="4400" dirty="0"/>
              <a:t> – taking action to remedy hold-ups</a:t>
            </a:r>
          </a:p>
          <a:p>
            <a:r>
              <a:rPr lang="en-GB" altLang="en-US" sz="4400" dirty="0"/>
              <a:t>Innovating – coming up with solutions when problems emerge</a:t>
            </a:r>
          </a:p>
          <a:p>
            <a:r>
              <a:rPr lang="en-GB" altLang="en-US" sz="4400" dirty="0"/>
              <a:t>Representing – liaising with clients, users, developers and other stakeholders</a:t>
            </a:r>
          </a:p>
          <a:p>
            <a:pPr eaLnBrk="1" hangingPunct="1"/>
            <a:endParaRPr lang="en-GB" altLang="en-US" dirty="0"/>
          </a:p>
          <a:p>
            <a:pPr eaLnBrk="1" hangingPunct="1">
              <a:buFontTx/>
              <a:buNone/>
            </a:pPr>
            <a:r>
              <a:rPr lang="en-GB" altLang="en-US" dirty="0"/>
              <a:t>							</a:t>
            </a:r>
          </a:p>
          <a:p>
            <a:pPr eaLnBrk="1" hangingPunct="1"/>
            <a:endParaRPr lang="en-GB" altLang="en-US" dirty="0"/>
          </a:p>
        </p:txBody>
      </p:sp>
      <p:sp>
        <p:nvSpPr>
          <p:cNvPr id="2" name="Date Placeholder 1"/>
          <p:cNvSpPr>
            <a:spLocks noGrp="1"/>
          </p:cNvSpPr>
          <p:nvPr>
            <p:ph type="dt" sz="half" idx="10"/>
          </p:nvPr>
        </p:nvSpPr>
        <p:spPr/>
        <p:txBody>
          <a:bodyPr/>
          <a:lstStyle/>
          <a:p>
            <a:fld id="{14721EEF-DED7-4103-AA2B-ED5E26A07980}" type="datetime3">
              <a:rPr lang="en-US" smtClean="0"/>
              <a:t>27 May 2021</a:t>
            </a:fld>
            <a:endParaRPr lang="en-US" dirty="0"/>
          </a:p>
        </p:txBody>
      </p:sp>
      <p:sp>
        <p:nvSpPr>
          <p:cNvPr id="3" name="Footer Placeholder 2"/>
          <p:cNvSpPr>
            <a:spLocks noGrp="1"/>
          </p:cNvSpPr>
          <p:nvPr>
            <p:ph type="ftr" sz="quarter" idx="11"/>
          </p:nvPr>
        </p:nvSpPr>
        <p:spPr/>
        <p:txBody>
          <a:bodyPr/>
          <a:lstStyle/>
          <a:p>
            <a:r>
              <a:rPr lang="en-US"/>
              <a:t>Software Project Management     Dr. D Evangelin Geetha      Dept. of MCA       RIT</a:t>
            </a:r>
            <a:endParaRPr lang="en-US" dirty="0"/>
          </a:p>
        </p:txBody>
      </p:sp>
    </p:spTree>
    <p:extLst>
      <p:ext uri="{BB962C8B-B14F-4D97-AF65-F5344CB8AC3E}">
        <p14:creationId xmlns:p14="http://schemas.microsoft.com/office/powerpoint/2010/main" val="2544835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3"/>
          <p:cNvSpPr>
            <a:spLocks noGrp="1"/>
          </p:cNvSpPr>
          <p:nvPr>
            <p:ph type="sldNum"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135B80B-529D-4EE8-9F20-812553524FA7}" type="slidenum">
              <a:rPr lang="en-US" altLang="en-US">
                <a:latin typeface="Times New Roman" panose="02020603050405020304" pitchFamily="18" charset="0"/>
              </a:rPr>
              <a:pPr/>
              <a:t>45</a:t>
            </a:fld>
            <a:endParaRPr lang="en-US" altLang="en-US">
              <a:latin typeface="Times New Roman" panose="02020603050405020304" pitchFamily="18" charset="0"/>
            </a:endParaRPr>
          </a:p>
        </p:txBody>
      </p:sp>
      <p:sp>
        <p:nvSpPr>
          <p:cNvPr id="28675" name="Rectangle 2"/>
          <p:cNvSpPr>
            <a:spLocks noGrp="1" noChangeArrowheads="1"/>
          </p:cNvSpPr>
          <p:nvPr>
            <p:ph type="title"/>
          </p:nvPr>
        </p:nvSpPr>
        <p:spPr>
          <a:xfrm>
            <a:off x="2208213" y="260350"/>
            <a:ext cx="7772400" cy="787865"/>
          </a:xfrm>
        </p:spPr>
        <p:txBody>
          <a:bodyPr>
            <a:normAutofit/>
          </a:bodyPr>
          <a:lstStyle/>
          <a:p>
            <a:pPr eaLnBrk="1" hangingPunct="1"/>
            <a:r>
              <a:rPr lang="en-GB" altLang="en-US" sz="4000" dirty="0"/>
              <a:t>What is management?</a:t>
            </a:r>
          </a:p>
        </p:txBody>
      </p:sp>
      <p:sp>
        <p:nvSpPr>
          <p:cNvPr id="29" name="TextBox 28"/>
          <p:cNvSpPr txBox="1"/>
          <p:nvPr/>
        </p:nvSpPr>
        <p:spPr>
          <a:xfrm>
            <a:off x="3501483" y="1048215"/>
            <a:ext cx="5803012" cy="369332"/>
          </a:xfrm>
          <a:prstGeom prst="rect">
            <a:avLst/>
          </a:prstGeom>
          <a:noFill/>
        </p:spPr>
        <p:txBody>
          <a:bodyPr wrap="square" rtlCol="0">
            <a:spAutoFit/>
          </a:bodyPr>
          <a:lstStyle/>
          <a:p>
            <a:r>
              <a:rPr lang="en-IN" dirty="0"/>
              <a:t>Principal Project Management Processes</a:t>
            </a:r>
          </a:p>
        </p:txBody>
      </p:sp>
      <p:grpSp>
        <p:nvGrpSpPr>
          <p:cNvPr id="46" name="Group 45"/>
          <p:cNvGrpSpPr/>
          <p:nvPr/>
        </p:nvGrpSpPr>
        <p:grpSpPr>
          <a:xfrm>
            <a:off x="1435121" y="2155785"/>
            <a:ext cx="9935736" cy="3434576"/>
            <a:chOff x="1435121" y="2155785"/>
            <a:chExt cx="9935736" cy="3434576"/>
          </a:xfrm>
        </p:grpSpPr>
        <p:sp>
          <p:nvSpPr>
            <p:cNvPr id="2" name="Rectangle 1"/>
            <p:cNvSpPr/>
            <p:nvPr/>
          </p:nvSpPr>
          <p:spPr>
            <a:xfrm>
              <a:off x="1435121" y="2155785"/>
              <a:ext cx="9935736" cy="3434576"/>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3" name="Rectangle 2"/>
            <p:cNvSpPr/>
            <p:nvPr/>
          </p:nvSpPr>
          <p:spPr>
            <a:xfrm>
              <a:off x="1851103" y="2319102"/>
              <a:ext cx="1862254" cy="6579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Initiating Process</a:t>
              </a:r>
            </a:p>
          </p:txBody>
        </p:sp>
        <p:sp>
          <p:nvSpPr>
            <p:cNvPr id="4" name="Rectangle 3"/>
            <p:cNvSpPr/>
            <p:nvPr/>
          </p:nvSpPr>
          <p:spPr>
            <a:xfrm>
              <a:off x="4605454" y="2319102"/>
              <a:ext cx="3423424" cy="4611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Planning Process</a:t>
              </a:r>
            </a:p>
          </p:txBody>
        </p:sp>
        <p:sp>
          <p:nvSpPr>
            <p:cNvPr id="5" name="Rectangle 4"/>
            <p:cNvSpPr/>
            <p:nvPr/>
          </p:nvSpPr>
          <p:spPr>
            <a:xfrm>
              <a:off x="4705815" y="3278459"/>
              <a:ext cx="1611351" cy="7917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Executing Process</a:t>
              </a:r>
            </a:p>
          </p:txBody>
        </p:sp>
        <p:sp>
          <p:nvSpPr>
            <p:cNvPr id="6" name="Rectangle 5"/>
            <p:cNvSpPr/>
            <p:nvPr/>
          </p:nvSpPr>
          <p:spPr>
            <a:xfrm>
              <a:off x="6634976" y="3278459"/>
              <a:ext cx="1393902" cy="7917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Controlling Process</a:t>
              </a:r>
            </a:p>
          </p:txBody>
        </p:sp>
        <p:sp>
          <p:nvSpPr>
            <p:cNvPr id="7" name="Rectangle 6"/>
            <p:cNvSpPr/>
            <p:nvPr/>
          </p:nvSpPr>
          <p:spPr>
            <a:xfrm>
              <a:off x="8887522" y="3278459"/>
              <a:ext cx="1338146" cy="7917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Project Closing</a:t>
              </a:r>
            </a:p>
          </p:txBody>
        </p:sp>
        <p:cxnSp>
          <p:nvCxnSpPr>
            <p:cNvPr id="9" name="Straight Connector 8"/>
            <p:cNvCxnSpPr/>
            <p:nvPr/>
          </p:nvCxnSpPr>
          <p:spPr>
            <a:xfrm flipH="1">
              <a:off x="1572322" y="2319102"/>
              <a:ext cx="11151" cy="2810459"/>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a:off x="4144538" y="2319101"/>
              <a:ext cx="11151" cy="2810459"/>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H="1">
              <a:off x="8477715" y="2319102"/>
              <a:ext cx="11151" cy="2810459"/>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10660566" y="2319102"/>
              <a:ext cx="11151" cy="2810459"/>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1851103" y="4572000"/>
              <a:ext cx="2040673" cy="369332"/>
            </a:xfrm>
            <a:prstGeom prst="rect">
              <a:avLst/>
            </a:prstGeom>
            <a:noFill/>
          </p:spPr>
          <p:txBody>
            <a:bodyPr wrap="square" rtlCol="0">
              <a:spAutoFit/>
            </a:bodyPr>
            <a:lstStyle/>
            <a:p>
              <a:r>
                <a:rPr lang="en-IN" dirty="0"/>
                <a:t>Project Initiation</a:t>
              </a:r>
            </a:p>
          </p:txBody>
        </p:sp>
        <p:sp>
          <p:nvSpPr>
            <p:cNvPr id="17" name="TextBox 16"/>
            <p:cNvSpPr txBox="1"/>
            <p:nvPr/>
          </p:nvSpPr>
          <p:spPr>
            <a:xfrm>
              <a:off x="5513465" y="4572000"/>
              <a:ext cx="2040673" cy="369332"/>
            </a:xfrm>
            <a:prstGeom prst="rect">
              <a:avLst/>
            </a:prstGeom>
            <a:noFill/>
          </p:spPr>
          <p:txBody>
            <a:bodyPr wrap="square" rtlCol="0">
              <a:spAutoFit/>
            </a:bodyPr>
            <a:lstStyle/>
            <a:p>
              <a:r>
                <a:rPr lang="en-IN" dirty="0"/>
                <a:t>Project Execution</a:t>
              </a:r>
            </a:p>
          </p:txBody>
        </p:sp>
        <p:sp>
          <p:nvSpPr>
            <p:cNvPr id="18" name="TextBox 17"/>
            <p:cNvSpPr txBox="1"/>
            <p:nvPr/>
          </p:nvSpPr>
          <p:spPr>
            <a:xfrm>
              <a:off x="8745345" y="4572000"/>
              <a:ext cx="2040673" cy="369332"/>
            </a:xfrm>
            <a:prstGeom prst="rect">
              <a:avLst/>
            </a:prstGeom>
            <a:noFill/>
          </p:spPr>
          <p:txBody>
            <a:bodyPr wrap="square" rtlCol="0">
              <a:spAutoFit/>
            </a:bodyPr>
            <a:lstStyle/>
            <a:p>
              <a:r>
                <a:rPr lang="en-IN" dirty="0"/>
                <a:t>Project Closing</a:t>
              </a:r>
            </a:p>
          </p:txBody>
        </p:sp>
        <p:cxnSp>
          <p:nvCxnSpPr>
            <p:cNvPr id="12" name="Straight Arrow Connector 11"/>
            <p:cNvCxnSpPr>
              <a:stCxn id="10" idx="1"/>
            </p:cNvCxnSpPr>
            <p:nvPr/>
          </p:nvCxnSpPr>
          <p:spPr>
            <a:xfrm flipH="1">
              <a:off x="1583473" y="4756666"/>
              <a:ext cx="26763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3501483" y="4756666"/>
              <a:ext cx="64305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H="1">
              <a:off x="4155689" y="4756666"/>
              <a:ext cx="135580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7331927" y="4756666"/>
              <a:ext cx="11457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18" idx="1"/>
            </p:cNvCxnSpPr>
            <p:nvPr/>
          </p:nvCxnSpPr>
          <p:spPr>
            <a:xfrm flipH="1">
              <a:off x="8488866" y="4756666"/>
              <a:ext cx="25647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10314878" y="4756666"/>
              <a:ext cx="3456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3" idx="3"/>
            </p:cNvCxnSpPr>
            <p:nvPr/>
          </p:nvCxnSpPr>
          <p:spPr>
            <a:xfrm>
              <a:off x="3713357" y="2648063"/>
              <a:ext cx="8920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5397190" y="2780253"/>
              <a:ext cx="11151" cy="4982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6" idx="0"/>
            </p:cNvCxnSpPr>
            <p:nvPr/>
          </p:nvCxnSpPr>
          <p:spPr>
            <a:xfrm flipH="1" flipV="1">
              <a:off x="7322634" y="2780253"/>
              <a:ext cx="9293" cy="4982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flipV="1">
              <a:off x="6327389" y="3557239"/>
              <a:ext cx="307587" cy="149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flipH="1">
              <a:off x="6327389" y="3858323"/>
              <a:ext cx="307587" cy="147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a:off x="8028878" y="3674327"/>
              <a:ext cx="85864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8" name="Date Placeholder 7"/>
          <p:cNvSpPr>
            <a:spLocks noGrp="1"/>
          </p:cNvSpPr>
          <p:nvPr>
            <p:ph type="dt" sz="half" idx="10"/>
          </p:nvPr>
        </p:nvSpPr>
        <p:spPr/>
        <p:txBody>
          <a:bodyPr/>
          <a:lstStyle/>
          <a:p>
            <a:fld id="{1FCB853D-6D13-4660-86A6-EFE15CD566BB}" type="datetime3">
              <a:rPr lang="en-US" smtClean="0"/>
              <a:t>27 May 2021</a:t>
            </a:fld>
            <a:endParaRPr lang="en-US" dirty="0"/>
          </a:p>
        </p:txBody>
      </p:sp>
      <p:sp>
        <p:nvSpPr>
          <p:cNvPr id="11" name="Footer Placeholder 10"/>
          <p:cNvSpPr>
            <a:spLocks noGrp="1"/>
          </p:cNvSpPr>
          <p:nvPr>
            <p:ph type="ftr" sz="quarter" idx="11"/>
          </p:nvPr>
        </p:nvSpPr>
        <p:spPr/>
        <p:txBody>
          <a:bodyPr/>
          <a:lstStyle/>
          <a:p>
            <a:r>
              <a:rPr lang="en-US"/>
              <a:t>Software Project Management     Dr. D Evangelin Geetha      Dept. of MCA       RIT</a:t>
            </a:r>
            <a:endParaRPr lang="en-US" dirty="0"/>
          </a:p>
        </p:txBody>
      </p:sp>
    </p:spTree>
    <p:extLst>
      <p:ext uri="{BB962C8B-B14F-4D97-AF65-F5344CB8AC3E}">
        <p14:creationId xmlns:p14="http://schemas.microsoft.com/office/powerpoint/2010/main" val="37213935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BF138-2438-4B30-8E86-F7C4882B4F9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5973DD1-6593-40E8-BFF9-262F90201C55}"/>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316FF051-3413-4C53-A64F-883ECCB69330}"/>
              </a:ext>
            </a:extLst>
          </p:cNvPr>
          <p:cNvSpPr>
            <a:spLocks noGrp="1"/>
          </p:cNvSpPr>
          <p:nvPr>
            <p:ph type="dt" sz="half" idx="10"/>
          </p:nvPr>
        </p:nvSpPr>
        <p:spPr/>
        <p:txBody>
          <a:bodyPr/>
          <a:lstStyle/>
          <a:p>
            <a:fld id="{4DA3D7ED-4D6F-441B-A7AA-E3D1E9A9B49C}" type="datetime3">
              <a:rPr lang="en-US" smtClean="0"/>
              <a:t>27 May 2021</a:t>
            </a:fld>
            <a:endParaRPr lang="en-US" dirty="0"/>
          </a:p>
        </p:txBody>
      </p:sp>
      <p:sp>
        <p:nvSpPr>
          <p:cNvPr id="5" name="Footer Placeholder 4">
            <a:extLst>
              <a:ext uri="{FF2B5EF4-FFF2-40B4-BE49-F238E27FC236}">
                <a16:creationId xmlns:a16="http://schemas.microsoft.com/office/drawing/2014/main" id="{44791800-6E20-416B-A4F3-A1A7EBE82BB4}"/>
              </a:ext>
            </a:extLst>
          </p:cNvPr>
          <p:cNvSpPr>
            <a:spLocks noGrp="1"/>
          </p:cNvSpPr>
          <p:nvPr>
            <p:ph type="ftr" sz="quarter" idx="11"/>
          </p:nvPr>
        </p:nvSpPr>
        <p:spPr/>
        <p:txBody>
          <a:bodyPr/>
          <a:lstStyle/>
          <a:p>
            <a:r>
              <a:rPr lang="en-US"/>
              <a:t>Software Project Management     Dr. D Evangelin Geetha      Dept. of MCA       RIT</a:t>
            </a:r>
            <a:endParaRPr lang="en-US" dirty="0"/>
          </a:p>
        </p:txBody>
      </p:sp>
      <p:sp>
        <p:nvSpPr>
          <p:cNvPr id="6" name="Slide Number Placeholder 5">
            <a:extLst>
              <a:ext uri="{FF2B5EF4-FFF2-40B4-BE49-F238E27FC236}">
                <a16:creationId xmlns:a16="http://schemas.microsoft.com/office/drawing/2014/main" id="{3FAEB3A7-E259-4FD8-A781-3D2B0A6A9741}"/>
              </a:ext>
            </a:extLst>
          </p:cNvPr>
          <p:cNvSpPr>
            <a:spLocks noGrp="1"/>
          </p:cNvSpPr>
          <p:nvPr>
            <p:ph type="sldNum" sz="quarter" idx="12"/>
          </p:nvPr>
        </p:nvSpPr>
        <p:spPr/>
        <p:txBody>
          <a:bodyPr/>
          <a:lstStyle/>
          <a:p>
            <a:fld id="{6D22F896-40B5-4ADD-8801-0D06FADFA095}" type="slidenum">
              <a:rPr lang="en-US" smtClean="0"/>
              <a:pPr/>
              <a:t>46</a:t>
            </a:fld>
            <a:endParaRPr lang="en-US" dirty="0"/>
          </a:p>
        </p:txBody>
      </p:sp>
    </p:spTree>
    <p:extLst>
      <p:ext uri="{BB962C8B-B14F-4D97-AF65-F5344CB8AC3E}">
        <p14:creationId xmlns:p14="http://schemas.microsoft.com/office/powerpoint/2010/main" val="16937690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40789" y="347319"/>
            <a:ext cx="9603275" cy="1049235"/>
          </a:xfrm>
        </p:spPr>
        <p:txBody>
          <a:bodyPr/>
          <a:lstStyle/>
          <a:p>
            <a:r>
              <a:rPr lang="en-GB" altLang="en-US" dirty="0"/>
              <a:t>What is management?</a:t>
            </a:r>
            <a:endParaRPr lang="en-IN" dirty="0"/>
          </a:p>
        </p:txBody>
      </p:sp>
      <p:sp>
        <p:nvSpPr>
          <p:cNvPr id="3" name="Content Placeholder 2"/>
          <p:cNvSpPr>
            <a:spLocks noGrp="1"/>
          </p:cNvSpPr>
          <p:nvPr>
            <p:ph idx="1"/>
          </p:nvPr>
        </p:nvSpPr>
        <p:spPr>
          <a:xfrm>
            <a:off x="1451579" y="1583473"/>
            <a:ext cx="9603275" cy="3882872"/>
          </a:xfrm>
        </p:spPr>
        <p:txBody>
          <a:bodyPr>
            <a:normAutofit fontScale="92500" lnSpcReduction="20000"/>
          </a:bodyPr>
          <a:lstStyle/>
          <a:p>
            <a:r>
              <a:rPr lang="en-IN" dirty="0"/>
              <a:t>Project Planning</a:t>
            </a:r>
          </a:p>
          <a:p>
            <a:pPr lvl="1"/>
            <a:r>
              <a:rPr lang="en-IN" dirty="0"/>
              <a:t>Estimation</a:t>
            </a:r>
          </a:p>
          <a:p>
            <a:pPr lvl="2"/>
            <a:r>
              <a:rPr lang="en-IN" dirty="0"/>
              <a:t>Cost</a:t>
            </a:r>
          </a:p>
          <a:p>
            <a:pPr lvl="2"/>
            <a:r>
              <a:rPr lang="en-IN" dirty="0"/>
              <a:t>Duration</a:t>
            </a:r>
          </a:p>
          <a:p>
            <a:pPr lvl="2"/>
            <a:r>
              <a:rPr lang="en-IN" dirty="0"/>
              <a:t>Effort</a:t>
            </a:r>
          </a:p>
          <a:p>
            <a:pPr lvl="1"/>
            <a:r>
              <a:rPr lang="en-IN" dirty="0"/>
              <a:t>Scheduling and Staffing</a:t>
            </a:r>
          </a:p>
          <a:p>
            <a:pPr lvl="2"/>
            <a:r>
              <a:rPr lang="en-IN" dirty="0"/>
              <a:t>Scheduling</a:t>
            </a:r>
          </a:p>
          <a:p>
            <a:pPr lvl="2"/>
            <a:r>
              <a:rPr lang="en-IN" dirty="0"/>
              <a:t>Staffing</a:t>
            </a:r>
          </a:p>
          <a:p>
            <a:pPr lvl="2"/>
            <a:r>
              <a:rPr lang="en-IN" dirty="0"/>
              <a:t>Risk Management</a:t>
            </a:r>
          </a:p>
          <a:p>
            <a:pPr lvl="2"/>
            <a:r>
              <a:rPr lang="en-IN" dirty="0"/>
              <a:t>Miscellaneous plans</a:t>
            </a:r>
          </a:p>
        </p:txBody>
      </p:sp>
      <p:sp>
        <p:nvSpPr>
          <p:cNvPr id="4" name="Date Placeholder 3"/>
          <p:cNvSpPr>
            <a:spLocks noGrp="1"/>
          </p:cNvSpPr>
          <p:nvPr>
            <p:ph type="dt" sz="half" idx="10"/>
          </p:nvPr>
        </p:nvSpPr>
        <p:spPr/>
        <p:txBody>
          <a:bodyPr/>
          <a:lstStyle/>
          <a:p>
            <a:fld id="{AB3B0621-AE99-460D-A859-258B969C28DF}" type="datetime3">
              <a:rPr lang="en-US" smtClean="0"/>
              <a:t>27 May 2021</a:t>
            </a:fld>
            <a:endParaRPr lang="en-US" dirty="0"/>
          </a:p>
        </p:txBody>
      </p:sp>
      <p:sp>
        <p:nvSpPr>
          <p:cNvPr id="5" name="Footer Placeholder 4"/>
          <p:cNvSpPr>
            <a:spLocks noGrp="1"/>
          </p:cNvSpPr>
          <p:nvPr>
            <p:ph type="ftr" sz="quarter" idx="11"/>
          </p:nvPr>
        </p:nvSpPr>
        <p:spPr/>
        <p:txBody>
          <a:bodyPr/>
          <a:lstStyle/>
          <a:p>
            <a:r>
              <a:rPr lang="en-US"/>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47</a:t>
            </a:fld>
            <a:endParaRPr lang="en-US" dirty="0"/>
          </a:p>
        </p:txBody>
      </p:sp>
    </p:spTree>
    <p:extLst>
      <p:ext uri="{BB962C8B-B14F-4D97-AF65-F5344CB8AC3E}">
        <p14:creationId xmlns:p14="http://schemas.microsoft.com/office/powerpoint/2010/main" val="24694683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375379" y="1"/>
            <a:ext cx="9603275" cy="512955"/>
          </a:xfrm>
        </p:spPr>
        <p:txBody>
          <a:bodyPr>
            <a:normAutofit fontScale="90000"/>
          </a:bodyPr>
          <a:lstStyle/>
          <a:p>
            <a:pPr algn="ctr"/>
            <a:r>
              <a:rPr lang="en-IN" dirty="0"/>
              <a:t>Management control</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9821" y="512956"/>
            <a:ext cx="5854390" cy="55867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2922827" y="6266330"/>
            <a:ext cx="6508377" cy="461665"/>
          </a:xfrm>
          <a:prstGeom prst="rect">
            <a:avLst/>
          </a:prstGeom>
          <a:noFill/>
        </p:spPr>
        <p:txBody>
          <a:bodyPr wrap="square" rtlCol="0">
            <a:spAutoFit/>
          </a:bodyPr>
          <a:lstStyle/>
          <a:p>
            <a:pPr algn="ctr"/>
            <a:r>
              <a:rPr lang="en-IN" sz="2400" dirty="0">
                <a:solidFill>
                  <a:schemeClr val="bg1"/>
                </a:solidFill>
              </a:rPr>
              <a:t>The Project Control Cycle</a:t>
            </a:r>
          </a:p>
        </p:txBody>
      </p:sp>
      <p:sp>
        <p:nvSpPr>
          <p:cNvPr id="3" name="Date Placeholder 2"/>
          <p:cNvSpPr>
            <a:spLocks noGrp="1"/>
          </p:cNvSpPr>
          <p:nvPr>
            <p:ph type="dt" sz="half" idx="10"/>
          </p:nvPr>
        </p:nvSpPr>
        <p:spPr/>
        <p:txBody>
          <a:bodyPr/>
          <a:lstStyle/>
          <a:p>
            <a:fld id="{B1E715EA-B089-4FF4-BF8A-D63B951A8BF8}" type="datetime3">
              <a:rPr lang="en-US" smtClean="0"/>
              <a:t>27 May 2021</a:t>
            </a:fld>
            <a:endParaRPr lang="en-US" dirty="0"/>
          </a:p>
        </p:txBody>
      </p:sp>
      <p:sp>
        <p:nvSpPr>
          <p:cNvPr id="6" name="Footer Placeholder 5"/>
          <p:cNvSpPr>
            <a:spLocks noGrp="1"/>
          </p:cNvSpPr>
          <p:nvPr>
            <p:ph type="ftr" sz="quarter" idx="11"/>
          </p:nvPr>
        </p:nvSpPr>
        <p:spPr/>
        <p:txBody>
          <a:bodyPr/>
          <a:lstStyle/>
          <a:p>
            <a:r>
              <a:rPr lang="en-US"/>
              <a:t>Software Project Management     Dr. D Evangelin Geetha      Dept. of MCA       RIT</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48</a:t>
            </a:fld>
            <a:endParaRPr lang="en-US" dirty="0"/>
          </a:p>
        </p:txBody>
      </p:sp>
    </p:spTree>
    <p:extLst>
      <p:ext uri="{BB962C8B-B14F-4D97-AF65-F5344CB8AC3E}">
        <p14:creationId xmlns:p14="http://schemas.microsoft.com/office/powerpoint/2010/main" val="27373243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Exercise 1.11</a:t>
            </a:r>
          </a:p>
        </p:txBody>
      </p:sp>
      <p:sp>
        <p:nvSpPr>
          <p:cNvPr id="3" name="Content Placeholder 2"/>
          <p:cNvSpPr>
            <a:spLocks noGrp="1"/>
          </p:cNvSpPr>
          <p:nvPr>
            <p:ph idx="1"/>
          </p:nvPr>
        </p:nvSpPr>
        <p:spPr/>
        <p:txBody>
          <a:bodyPr>
            <a:normAutofit fontScale="92500" lnSpcReduction="10000"/>
          </a:bodyPr>
          <a:lstStyle/>
          <a:p>
            <a:r>
              <a:rPr lang="en-IN" dirty="0"/>
              <a:t>An ICT project is to replace locally held paper-based records with a centrally organized database. Staff in a large number of offices that are geographically dispersed need training and will then have to use the new ICT system to set up the backlog of manual records on the new database. The system cannot be properly operational until the last record has been transferred. The new system will only be successful if new transactions can be processed within certain time cycles.</a:t>
            </a:r>
          </a:p>
          <a:p>
            <a:r>
              <a:rPr lang="en-IN" dirty="0"/>
              <a:t>Identify the data that you would collect to ensure that during execution of the project things were going to plan.</a:t>
            </a:r>
          </a:p>
        </p:txBody>
      </p:sp>
      <p:sp>
        <p:nvSpPr>
          <p:cNvPr id="4" name="Date Placeholder 3"/>
          <p:cNvSpPr>
            <a:spLocks noGrp="1"/>
          </p:cNvSpPr>
          <p:nvPr>
            <p:ph type="dt" sz="half" idx="10"/>
          </p:nvPr>
        </p:nvSpPr>
        <p:spPr/>
        <p:txBody>
          <a:bodyPr/>
          <a:lstStyle/>
          <a:p>
            <a:fld id="{CE8782DF-0092-49C7-A9E2-1D71E97BF671}" type="datetime3">
              <a:rPr lang="en-US" smtClean="0"/>
              <a:t>27 May 2021</a:t>
            </a:fld>
            <a:endParaRPr lang="en-US" dirty="0"/>
          </a:p>
        </p:txBody>
      </p:sp>
      <p:sp>
        <p:nvSpPr>
          <p:cNvPr id="5" name="Footer Placeholder 4"/>
          <p:cNvSpPr>
            <a:spLocks noGrp="1"/>
          </p:cNvSpPr>
          <p:nvPr>
            <p:ph type="ftr" sz="quarter" idx="11"/>
          </p:nvPr>
        </p:nvSpPr>
        <p:spPr/>
        <p:txBody>
          <a:bodyPr/>
          <a:lstStyle/>
          <a:p>
            <a:r>
              <a:rPr lang="en-US"/>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49</a:t>
            </a:fld>
            <a:endParaRPr lang="en-US" dirty="0"/>
          </a:p>
        </p:txBody>
      </p:sp>
    </p:spTree>
    <p:extLst>
      <p:ext uri="{BB962C8B-B14F-4D97-AF65-F5344CB8AC3E}">
        <p14:creationId xmlns:p14="http://schemas.microsoft.com/office/powerpoint/2010/main" val="17150700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Management control</a:t>
            </a:r>
          </a:p>
        </p:txBody>
      </p:sp>
      <p:sp>
        <p:nvSpPr>
          <p:cNvPr id="2" name="Content Placeholder 1"/>
          <p:cNvSpPr>
            <a:spLocks noGrp="1"/>
          </p:cNvSpPr>
          <p:nvPr>
            <p:ph idx="1"/>
          </p:nvPr>
        </p:nvSpPr>
        <p:spPr/>
        <p:txBody>
          <a:bodyPr>
            <a:normAutofit fontScale="62500" lnSpcReduction="20000"/>
          </a:bodyPr>
          <a:lstStyle/>
          <a:p>
            <a:pPr marL="0" indent="0">
              <a:buNone/>
            </a:pPr>
            <a:r>
              <a:rPr lang="en-US" dirty="0"/>
              <a:t>Involves the local managers in data collection</a:t>
            </a:r>
          </a:p>
          <a:p>
            <a:r>
              <a:rPr lang="en-US" dirty="0"/>
              <a:t>Data collection</a:t>
            </a:r>
          </a:p>
          <a:p>
            <a:r>
              <a:rPr lang="en-US" dirty="0"/>
              <a:t>Data – the raw details </a:t>
            </a:r>
          </a:p>
          <a:p>
            <a:pPr marL="0" indent="0">
              <a:buNone/>
            </a:pPr>
            <a:r>
              <a:rPr lang="en-US" dirty="0"/>
              <a:t>	e.g. ‘6,000 documents processed at location X’</a:t>
            </a:r>
          </a:p>
          <a:p>
            <a:endParaRPr lang="en-US" dirty="0"/>
          </a:p>
          <a:p>
            <a:r>
              <a:rPr lang="en-US" dirty="0"/>
              <a:t>Data Processing</a:t>
            </a:r>
          </a:p>
          <a:p>
            <a:pPr marL="0" indent="0">
              <a:buNone/>
            </a:pPr>
            <a:r>
              <a:rPr lang="en-US" dirty="0"/>
              <a:t>	Information – the data is processed to produce something that is meaningful and useful</a:t>
            </a:r>
          </a:p>
          <a:p>
            <a:pPr marL="0" indent="0">
              <a:buNone/>
            </a:pPr>
            <a:r>
              <a:rPr lang="en-US" dirty="0"/>
              <a:t>	e.g. ‘productivity is 100 documents a day’</a:t>
            </a:r>
          </a:p>
          <a:p>
            <a:pPr marL="0" indent="0">
              <a:buNone/>
            </a:pPr>
            <a:endParaRPr lang="en-US" dirty="0"/>
          </a:p>
          <a:p>
            <a:r>
              <a:rPr lang="en-US" dirty="0"/>
              <a:t>Comparison with objectives/goals </a:t>
            </a:r>
          </a:p>
          <a:p>
            <a:pPr marL="0" indent="0">
              <a:buNone/>
            </a:pPr>
            <a:r>
              <a:rPr lang="en-US" dirty="0"/>
              <a:t>	e.g. we will not meet target of processing all documents by 31st March</a:t>
            </a:r>
          </a:p>
          <a:p>
            <a:endParaRPr lang="en-IN" dirty="0"/>
          </a:p>
        </p:txBody>
      </p:sp>
      <p:sp>
        <p:nvSpPr>
          <p:cNvPr id="4" name="Date Placeholder 3"/>
          <p:cNvSpPr>
            <a:spLocks noGrp="1"/>
          </p:cNvSpPr>
          <p:nvPr>
            <p:ph type="dt" sz="half" idx="10"/>
          </p:nvPr>
        </p:nvSpPr>
        <p:spPr/>
        <p:txBody>
          <a:bodyPr/>
          <a:lstStyle/>
          <a:p>
            <a:fld id="{55070291-6DF8-49DF-8EA3-DAB9267A25B0}" type="datetime3">
              <a:rPr lang="en-US" smtClean="0"/>
              <a:t>27 May 2021</a:t>
            </a:fld>
            <a:endParaRPr lang="en-US"/>
          </a:p>
        </p:txBody>
      </p:sp>
      <p:sp>
        <p:nvSpPr>
          <p:cNvPr id="5" name="Footer Placeholder 4"/>
          <p:cNvSpPr>
            <a:spLocks noGrp="1"/>
          </p:cNvSpPr>
          <p:nvPr>
            <p:ph type="ftr" sz="quarter" idx="11"/>
          </p:nvPr>
        </p:nvSpPr>
        <p:spPr/>
        <p:txBody>
          <a:bodyPr/>
          <a:lstStyle/>
          <a:p>
            <a:r>
              <a:rPr lang="en-US"/>
              <a:t>Software Project Management     Dr. D Evangelin Geetha      Dept. of MCA       RIT</a:t>
            </a:r>
          </a:p>
        </p:txBody>
      </p:sp>
      <p:sp>
        <p:nvSpPr>
          <p:cNvPr id="6" name="Slide Number Placeholder 5"/>
          <p:cNvSpPr>
            <a:spLocks noGrp="1"/>
          </p:cNvSpPr>
          <p:nvPr>
            <p:ph type="sldNum" sz="quarter" idx="12"/>
          </p:nvPr>
        </p:nvSpPr>
        <p:spPr/>
        <p:txBody>
          <a:bodyPr/>
          <a:lstStyle/>
          <a:p>
            <a:fld id="{4024F9E6-8BD1-4849-86DE-3CD23B63DC4B}" type="slidenum">
              <a:rPr lang="en-US" smtClean="0"/>
              <a:pPr/>
              <a:t>50</a:t>
            </a:fld>
            <a:endParaRPr lang="en-US"/>
          </a:p>
        </p:txBody>
      </p:sp>
    </p:spTree>
    <p:extLst>
      <p:ext uri="{BB962C8B-B14F-4D97-AF65-F5344CB8AC3E}">
        <p14:creationId xmlns:p14="http://schemas.microsoft.com/office/powerpoint/2010/main" val="26360451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8" y="135446"/>
            <a:ext cx="9603275" cy="589383"/>
          </a:xfrm>
        </p:spPr>
        <p:txBody>
          <a:bodyPr/>
          <a:lstStyle/>
          <a:p>
            <a:r>
              <a:rPr lang="en-US" altLang="zh-CN" dirty="0"/>
              <a:t>Management control</a:t>
            </a:r>
            <a:endParaRPr lang="en-IN" dirty="0"/>
          </a:p>
        </p:txBody>
      </p:sp>
      <p:sp>
        <p:nvSpPr>
          <p:cNvPr id="3" name="Content Placeholder 2"/>
          <p:cNvSpPr>
            <a:spLocks noGrp="1"/>
          </p:cNvSpPr>
          <p:nvPr>
            <p:ph idx="1"/>
          </p:nvPr>
        </p:nvSpPr>
        <p:spPr>
          <a:xfrm>
            <a:off x="1451577" y="1895707"/>
            <a:ext cx="9603275" cy="3804813"/>
          </a:xfrm>
        </p:spPr>
        <p:txBody>
          <a:bodyPr>
            <a:normAutofit fontScale="85000" lnSpcReduction="10000"/>
          </a:bodyPr>
          <a:lstStyle/>
          <a:p>
            <a:r>
              <a:rPr lang="en-US" dirty="0"/>
              <a:t>Making decisions/plans – against target not achieved according to estimation</a:t>
            </a:r>
          </a:p>
          <a:p>
            <a:r>
              <a:rPr lang="en-US" dirty="0"/>
              <a:t>Modelling – working out the probable outcomes of various decisions</a:t>
            </a:r>
          </a:p>
          <a:p>
            <a:pPr lvl="1"/>
            <a:r>
              <a:rPr lang="en-US" dirty="0"/>
              <a:t>e.g. if we employ two more staff at location X how quickly can we get the documents processed?</a:t>
            </a:r>
          </a:p>
          <a:p>
            <a:pPr lvl="1"/>
            <a:r>
              <a:rPr lang="en-US" dirty="0"/>
              <a:t>Moving staff from one location to another</a:t>
            </a:r>
          </a:p>
          <a:p>
            <a:r>
              <a:rPr lang="en-US" dirty="0"/>
              <a:t>Implementation – carrying out the remedial actions that have been decided upon</a:t>
            </a:r>
          </a:p>
          <a:p>
            <a:endParaRPr lang="en-IN" dirty="0"/>
          </a:p>
        </p:txBody>
      </p:sp>
      <p:sp>
        <p:nvSpPr>
          <p:cNvPr id="4" name="Date Placeholder 3"/>
          <p:cNvSpPr>
            <a:spLocks noGrp="1"/>
          </p:cNvSpPr>
          <p:nvPr>
            <p:ph type="dt" sz="half" idx="10"/>
          </p:nvPr>
        </p:nvSpPr>
        <p:spPr/>
        <p:txBody>
          <a:bodyPr/>
          <a:lstStyle/>
          <a:p>
            <a:fld id="{0E164C08-E0CD-40DE-B611-FEABE9BDC115}" type="datetime3">
              <a:rPr lang="en-US" smtClean="0"/>
              <a:t>27 May 2021</a:t>
            </a:fld>
            <a:endParaRPr lang="en-US" dirty="0"/>
          </a:p>
        </p:txBody>
      </p:sp>
      <p:sp>
        <p:nvSpPr>
          <p:cNvPr id="5" name="Footer Placeholder 4"/>
          <p:cNvSpPr>
            <a:spLocks noGrp="1"/>
          </p:cNvSpPr>
          <p:nvPr>
            <p:ph type="ftr" sz="quarter" idx="11"/>
          </p:nvPr>
        </p:nvSpPr>
        <p:spPr/>
        <p:txBody>
          <a:bodyPr/>
          <a:lstStyle/>
          <a:p>
            <a:r>
              <a:rPr lang="en-US"/>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51</a:t>
            </a:fld>
            <a:endParaRPr lang="en-US" dirty="0"/>
          </a:p>
        </p:txBody>
      </p:sp>
    </p:spTree>
    <p:extLst>
      <p:ext uri="{BB962C8B-B14F-4D97-AF65-F5344CB8AC3E}">
        <p14:creationId xmlns:p14="http://schemas.microsoft.com/office/powerpoint/2010/main" val="21378545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Management control</a:t>
            </a:r>
            <a:endParaRPr lang="en-IN" dirty="0"/>
          </a:p>
        </p:txBody>
      </p:sp>
      <p:sp>
        <p:nvSpPr>
          <p:cNvPr id="3" name="Content Placeholder 2"/>
          <p:cNvSpPr>
            <a:spLocks noGrp="1"/>
          </p:cNvSpPr>
          <p:nvPr>
            <p:ph idx="1"/>
          </p:nvPr>
        </p:nvSpPr>
        <p:spPr/>
        <p:txBody>
          <a:bodyPr/>
          <a:lstStyle/>
          <a:p>
            <a:r>
              <a:rPr lang="en-IN" dirty="0"/>
              <a:t>Project plan is dynamic</a:t>
            </a:r>
          </a:p>
          <a:p>
            <a:r>
              <a:rPr lang="en-IN" dirty="0"/>
              <a:t>Need constant adjustment</a:t>
            </a:r>
          </a:p>
          <a:p>
            <a:r>
              <a:rPr lang="en-IN" dirty="0">
                <a:solidFill>
                  <a:srgbClr val="0000CC"/>
                </a:solidFill>
              </a:rPr>
              <a:t>A good plan provides a foundation for a good project, but nothing without intelligent execution</a:t>
            </a:r>
          </a:p>
        </p:txBody>
      </p:sp>
      <p:sp>
        <p:nvSpPr>
          <p:cNvPr id="4" name="Date Placeholder 3"/>
          <p:cNvSpPr>
            <a:spLocks noGrp="1"/>
          </p:cNvSpPr>
          <p:nvPr>
            <p:ph type="dt" sz="half" idx="10"/>
          </p:nvPr>
        </p:nvSpPr>
        <p:spPr/>
        <p:txBody>
          <a:bodyPr/>
          <a:lstStyle/>
          <a:p>
            <a:fld id="{220ACBCC-7914-4495-A150-75C53A4B311A}" type="datetime3">
              <a:rPr lang="en-US" smtClean="0"/>
              <a:t>27 May 2021</a:t>
            </a:fld>
            <a:endParaRPr lang="en-US" dirty="0"/>
          </a:p>
        </p:txBody>
      </p:sp>
      <p:sp>
        <p:nvSpPr>
          <p:cNvPr id="5" name="Footer Placeholder 4"/>
          <p:cNvSpPr>
            <a:spLocks noGrp="1"/>
          </p:cNvSpPr>
          <p:nvPr>
            <p:ph type="ftr" sz="quarter" idx="11"/>
          </p:nvPr>
        </p:nvSpPr>
        <p:spPr/>
        <p:txBody>
          <a:bodyPr/>
          <a:lstStyle/>
          <a:p>
            <a:r>
              <a:rPr lang="en-US"/>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52</a:t>
            </a:fld>
            <a:endParaRPr lang="en-US" dirty="0"/>
          </a:p>
        </p:txBody>
      </p:sp>
    </p:spTree>
    <p:extLst>
      <p:ext uri="{BB962C8B-B14F-4D97-AF65-F5344CB8AC3E}">
        <p14:creationId xmlns:p14="http://schemas.microsoft.com/office/powerpoint/2010/main" val="378385710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Software development and project management life cycles</a:t>
            </a:r>
          </a:p>
        </p:txBody>
      </p:sp>
      <p:sp>
        <p:nvSpPr>
          <p:cNvPr id="4" name="Rounded Rectangle 3"/>
          <p:cNvSpPr/>
          <p:nvPr/>
        </p:nvSpPr>
        <p:spPr>
          <a:xfrm>
            <a:off x="1075765" y="2084294"/>
            <a:ext cx="10475259" cy="3953435"/>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IN"/>
          </a:p>
        </p:txBody>
      </p:sp>
      <p:cxnSp>
        <p:nvCxnSpPr>
          <p:cNvPr id="6" name="Straight Connector 5"/>
          <p:cNvCxnSpPr/>
          <p:nvPr/>
        </p:nvCxnSpPr>
        <p:spPr>
          <a:xfrm>
            <a:off x="2944906" y="2111188"/>
            <a:ext cx="53788" cy="3913094"/>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4034118" y="2918012"/>
            <a:ext cx="6736976" cy="5513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Software development process</a:t>
            </a:r>
          </a:p>
        </p:txBody>
      </p:sp>
      <p:sp>
        <p:nvSpPr>
          <p:cNvPr id="8" name="Rectangle 7"/>
          <p:cNvSpPr/>
          <p:nvPr/>
        </p:nvSpPr>
        <p:spPr>
          <a:xfrm>
            <a:off x="2998694" y="3785346"/>
            <a:ext cx="7772400" cy="5513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Project management processes</a:t>
            </a:r>
          </a:p>
        </p:txBody>
      </p:sp>
      <p:cxnSp>
        <p:nvCxnSpPr>
          <p:cNvPr id="9" name="Straight Connector 8"/>
          <p:cNvCxnSpPr/>
          <p:nvPr/>
        </p:nvCxnSpPr>
        <p:spPr>
          <a:xfrm>
            <a:off x="10717306" y="2124635"/>
            <a:ext cx="53788" cy="3913094"/>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5459840" y="2336658"/>
            <a:ext cx="3200400" cy="369332"/>
          </a:xfrm>
          <a:prstGeom prst="rect">
            <a:avLst/>
          </a:prstGeom>
          <a:noFill/>
        </p:spPr>
        <p:txBody>
          <a:bodyPr wrap="square" rtlCol="0">
            <a:spAutoFit/>
          </a:bodyPr>
          <a:lstStyle/>
          <a:p>
            <a:pPr algn="ctr"/>
            <a:r>
              <a:rPr lang="en-IN" dirty="0"/>
              <a:t>Software development life cycle</a:t>
            </a:r>
          </a:p>
        </p:txBody>
      </p:sp>
      <p:sp>
        <p:nvSpPr>
          <p:cNvPr id="11" name="TextBox 10"/>
          <p:cNvSpPr txBox="1"/>
          <p:nvPr/>
        </p:nvSpPr>
        <p:spPr>
          <a:xfrm>
            <a:off x="5459840" y="4548696"/>
            <a:ext cx="2931125" cy="369332"/>
          </a:xfrm>
          <a:prstGeom prst="rect">
            <a:avLst/>
          </a:prstGeom>
          <a:noFill/>
        </p:spPr>
        <p:txBody>
          <a:bodyPr wrap="square" rtlCol="0">
            <a:spAutoFit/>
          </a:bodyPr>
          <a:lstStyle/>
          <a:p>
            <a:pPr algn="ctr"/>
            <a:r>
              <a:rPr lang="en-IN" dirty="0"/>
              <a:t>Project management life cycle</a:t>
            </a:r>
          </a:p>
        </p:txBody>
      </p:sp>
      <p:sp>
        <p:nvSpPr>
          <p:cNvPr id="12" name="TextBox 11"/>
          <p:cNvSpPr txBox="1"/>
          <p:nvPr/>
        </p:nvSpPr>
        <p:spPr>
          <a:xfrm>
            <a:off x="6179424" y="5130049"/>
            <a:ext cx="1761231" cy="369332"/>
          </a:xfrm>
          <a:prstGeom prst="rect">
            <a:avLst/>
          </a:prstGeom>
          <a:noFill/>
        </p:spPr>
        <p:txBody>
          <a:bodyPr wrap="square" rtlCol="0">
            <a:spAutoFit/>
          </a:bodyPr>
          <a:lstStyle/>
          <a:p>
            <a:pPr algn="ctr"/>
            <a:r>
              <a:rPr lang="en-IN" dirty="0"/>
              <a:t>Project life cycle</a:t>
            </a:r>
          </a:p>
        </p:txBody>
      </p:sp>
      <p:cxnSp>
        <p:nvCxnSpPr>
          <p:cNvPr id="14" name="Straight Arrow Connector 13"/>
          <p:cNvCxnSpPr>
            <a:stCxn id="10" idx="1"/>
          </p:cNvCxnSpPr>
          <p:nvPr/>
        </p:nvCxnSpPr>
        <p:spPr>
          <a:xfrm flipH="1">
            <a:off x="2971800" y="2521324"/>
            <a:ext cx="24880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8593005" y="2521324"/>
            <a:ext cx="2097407" cy="136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11" idx="1"/>
          </p:cNvCxnSpPr>
          <p:nvPr/>
        </p:nvCxnSpPr>
        <p:spPr>
          <a:xfrm flipH="1">
            <a:off x="2998694" y="4733362"/>
            <a:ext cx="246114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11" idx="3"/>
          </p:cNvCxnSpPr>
          <p:nvPr/>
        </p:nvCxnSpPr>
        <p:spPr>
          <a:xfrm>
            <a:off x="8390965" y="4733362"/>
            <a:ext cx="238012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2998694" y="5314715"/>
            <a:ext cx="318073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7940655" y="5314715"/>
            <a:ext cx="283043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1170227" y="2823010"/>
            <a:ext cx="1256967" cy="646331"/>
          </a:xfrm>
          <a:prstGeom prst="rect">
            <a:avLst/>
          </a:prstGeom>
          <a:noFill/>
        </p:spPr>
        <p:txBody>
          <a:bodyPr wrap="square" rtlCol="0">
            <a:spAutoFit/>
          </a:bodyPr>
          <a:lstStyle/>
          <a:p>
            <a:r>
              <a:rPr lang="en-IN" dirty="0"/>
              <a:t>Developers carry out</a:t>
            </a:r>
          </a:p>
        </p:txBody>
      </p:sp>
      <p:sp>
        <p:nvSpPr>
          <p:cNvPr id="29" name="TextBox 28"/>
          <p:cNvSpPr txBox="1"/>
          <p:nvPr/>
        </p:nvSpPr>
        <p:spPr>
          <a:xfrm>
            <a:off x="1153586" y="3690344"/>
            <a:ext cx="1256967" cy="646331"/>
          </a:xfrm>
          <a:prstGeom prst="rect">
            <a:avLst/>
          </a:prstGeom>
          <a:noFill/>
        </p:spPr>
        <p:txBody>
          <a:bodyPr wrap="square" rtlCol="0">
            <a:spAutoFit/>
          </a:bodyPr>
          <a:lstStyle/>
          <a:p>
            <a:r>
              <a:rPr lang="en-IN" dirty="0"/>
              <a:t>Managers carry out</a:t>
            </a:r>
          </a:p>
        </p:txBody>
      </p:sp>
      <p:cxnSp>
        <p:nvCxnSpPr>
          <p:cNvPr id="31" name="Straight Arrow Connector 30"/>
          <p:cNvCxnSpPr/>
          <p:nvPr/>
        </p:nvCxnSpPr>
        <p:spPr>
          <a:xfrm>
            <a:off x="2410553" y="3193676"/>
            <a:ext cx="534353" cy="0"/>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29" idx="3"/>
          </p:cNvCxnSpPr>
          <p:nvPr/>
        </p:nvCxnSpPr>
        <p:spPr>
          <a:xfrm flipV="1">
            <a:off x="2410553" y="4010349"/>
            <a:ext cx="547800" cy="3161"/>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3" name="Date Placeholder 2"/>
          <p:cNvSpPr>
            <a:spLocks noGrp="1"/>
          </p:cNvSpPr>
          <p:nvPr>
            <p:ph type="dt" sz="half" idx="10"/>
          </p:nvPr>
        </p:nvSpPr>
        <p:spPr/>
        <p:txBody>
          <a:bodyPr/>
          <a:lstStyle/>
          <a:p>
            <a:fld id="{628BE971-4A3D-4171-B37B-C56C7A010383}" type="datetime3">
              <a:rPr lang="en-US" smtClean="0"/>
              <a:t>27 May 2021</a:t>
            </a:fld>
            <a:endParaRPr lang="en-US" dirty="0"/>
          </a:p>
        </p:txBody>
      </p:sp>
      <p:sp>
        <p:nvSpPr>
          <p:cNvPr id="5" name="Footer Placeholder 4"/>
          <p:cNvSpPr>
            <a:spLocks noGrp="1"/>
          </p:cNvSpPr>
          <p:nvPr>
            <p:ph type="ftr" sz="quarter" idx="11"/>
          </p:nvPr>
        </p:nvSpPr>
        <p:spPr/>
        <p:txBody>
          <a:bodyPr/>
          <a:lstStyle/>
          <a:p>
            <a:r>
              <a:rPr lang="en-US"/>
              <a:t>Software Project Management     Dr. D Evangelin Geetha      Dept. of MCA       RIT</a:t>
            </a:r>
            <a:endParaRPr lang="en-US" dirty="0"/>
          </a:p>
        </p:txBody>
      </p:sp>
      <p:sp>
        <p:nvSpPr>
          <p:cNvPr id="13" name="Slide Number Placeholder 12"/>
          <p:cNvSpPr>
            <a:spLocks noGrp="1"/>
          </p:cNvSpPr>
          <p:nvPr>
            <p:ph type="sldNum" sz="quarter" idx="12"/>
          </p:nvPr>
        </p:nvSpPr>
        <p:spPr/>
        <p:txBody>
          <a:bodyPr/>
          <a:lstStyle/>
          <a:p>
            <a:fld id="{6D22F896-40B5-4ADD-8801-0D06FADFA095}" type="slidenum">
              <a:rPr lang="en-US" smtClean="0"/>
              <a:pPr/>
              <a:t>53</a:t>
            </a:fld>
            <a:endParaRPr lang="en-US" dirty="0"/>
          </a:p>
        </p:txBody>
      </p:sp>
    </p:spTree>
    <p:extLst>
      <p:ext uri="{BB962C8B-B14F-4D97-AF65-F5344CB8AC3E}">
        <p14:creationId xmlns:p14="http://schemas.microsoft.com/office/powerpoint/2010/main" val="41846654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8" y="589367"/>
            <a:ext cx="9603275" cy="1049235"/>
          </a:xfrm>
        </p:spPr>
        <p:txBody>
          <a:bodyPr/>
          <a:lstStyle/>
          <a:p>
            <a:r>
              <a:rPr lang="en-IN" dirty="0"/>
              <a:t>Software development and project management life cycles</a:t>
            </a:r>
          </a:p>
        </p:txBody>
      </p:sp>
      <p:sp>
        <p:nvSpPr>
          <p:cNvPr id="4" name="Rounded Rectangle 3"/>
          <p:cNvSpPr/>
          <p:nvPr/>
        </p:nvSpPr>
        <p:spPr>
          <a:xfrm>
            <a:off x="1075765" y="2084294"/>
            <a:ext cx="10475259" cy="3953435"/>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IN" dirty="0"/>
          </a:p>
        </p:txBody>
      </p:sp>
      <p:sp>
        <p:nvSpPr>
          <p:cNvPr id="5" name="TextBox 4"/>
          <p:cNvSpPr txBox="1"/>
          <p:nvPr/>
        </p:nvSpPr>
        <p:spPr>
          <a:xfrm>
            <a:off x="5029534" y="2545084"/>
            <a:ext cx="2931125" cy="369332"/>
          </a:xfrm>
          <a:prstGeom prst="rect">
            <a:avLst/>
          </a:prstGeom>
          <a:noFill/>
        </p:spPr>
        <p:txBody>
          <a:bodyPr wrap="square" rtlCol="0">
            <a:spAutoFit/>
          </a:bodyPr>
          <a:lstStyle/>
          <a:p>
            <a:pPr algn="ctr"/>
            <a:r>
              <a:rPr lang="en-IN" dirty="0"/>
              <a:t>Project management life cycle</a:t>
            </a:r>
          </a:p>
        </p:txBody>
      </p:sp>
      <p:cxnSp>
        <p:nvCxnSpPr>
          <p:cNvPr id="6" name="Straight Arrow Connector 5"/>
          <p:cNvCxnSpPr>
            <a:stCxn id="5" idx="1"/>
          </p:cNvCxnSpPr>
          <p:nvPr/>
        </p:nvCxnSpPr>
        <p:spPr>
          <a:xfrm flipH="1" flipV="1">
            <a:off x="1640542" y="2702860"/>
            <a:ext cx="3388992" cy="26890"/>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a:stCxn id="5" idx="3"/>
          </p:cNvCxnSpPr>
          <p:nvPr/>
        </p:nvCxnSpPr>
        <p:spPr>
          <a:xfrm flipV="1">
            <a:off x="7960659" y="2702860"/>
            <a:ext cx="3213847" cy="26890"/>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2144806" y="3175442"/>
            <a:ext cx="1708481" cy="5916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Initiating Phase</a:t>
            </a:r>
          </a:p>
        </p:txBody>
      </p:sp>
      <p:sp>
        <p:nvSpPr>
          <p:cNvPr id="15" name="Rectangle 14"/>
          <p:cNvSpPr/>
          <p:nvPr/>
        </p:nvSpPr>
        <p:spPr>
          <a:xfrm>
            <a:off x="4229100" y="3175442"/>
            <a:ext cx="1708481" cy="5916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Planning Phase</a:t>
            </a:r>
          </a:p>
        </p:txBody>
      </p:sp>
      <p:sp>
        <p:nvSpPr>
          <p:cNvPr id="16" name="Rectangle 15"/>
          <p:cNvSpPr/>
          <p:nvPr/>
        </p:nvSpPr>
        <p:spPr>
          <a:xfrm>
            <a:off x="6313394" y="3175442"/>
            <a:ext cx="2768462" cy="5916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Executing Phase</a:t>
            </a:r>
          </a:p>
        </p:txBody>
      </p:sp>
      <p:sp>
        <p:nvSpPr>
          <p:cNvPr id="17" name="Rectangle 16"/>
          <p:cNvSpPr/>
          <p:nvPr/>
        </p:nvSpPr>
        <p:spPr>
          <a:xfrm>
            <a:off x="9276838" y="3175442"/>
            <a:ext cx="1708481" cy="5916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Closing Phase</a:t>
            </a:r>
          </a:p>
        </p:txBody>
      </p:sp>
      <p:sp>
        <p:nvSpPr>
          <p:cNvPr id="18" name="Rectangle 17"/>
          <p:cNvSpPr/>
          <p:nvPr/>
        </p:nvSpPr>
        <p:spPr>
          <a:xfrm>
            <a:off x="4229100" y="4089840"/>
            <a:ext cx="1708481" cy="5916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Requirements analysis</a:t>
            </a:r>
          </a:p>
        </p:txBody>
      </p:sp>
      <p:sp>
        <p:nvSpPr>
          <p:cNvPr id="19" name="Rectangle 18"/>
          <p:cNvSpPr/>
          <p:nvPr/>
        </p:nvSpPr>
        <p:spPr>
          <a:xfrm>
            <a:off x="6181582" y="4089840"/>
            <a:ext cx="918466" cy="5916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Design</a:t>
            </a:r>
          </a:p>
        </p:txBody>
      </p:sp>
      <p:sp>
        <p:nvSpPr>
          <p:cNvPr id="20" name="Rectangle 19"/>
          <p:cNvSpPr/>
          <p:nvPr/>
        </p:nvSpPr>
        <p:spPr>
          <a:xfrm>
            <a:off x="7344048" y="4089840"/>
            <a:ext cx="1080533" cy="5916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Develop</a:t>
            </a:r>
          </a:p>
        </p:txBody>
      </p:sp>
      <p:sp>
        <p:nvSpPr>
          <p:cNvPr id="21" name="Rectangle 20"/>
          <p:cNvSpPr/>
          <p:nvPr/>
        </p:nvSpPr>
        <p:spPr>
          <a:xfrm>
            <a:off x="8668581" y="4061011"/>
            <a:ext cx="918466" cy="5916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Test</a:t>
            </a:r>
          </a:p>
        </p:txBody>
      </p:sp>
      <p:sp>
        <p:nvSpPr>
          <p:cNvPr id="22" name="Rectangle 21"/>
          <p:cNvSpPr/>
          <p:nvPr/>
        </p:nvSpPr>
        <p:spPr>
          <a:xfrm>
            <a:off x="9831047" y="4089840"/>
            <a:ext cx="1080533" cy="5916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Delivery</a:t>
            </a:r>
          </a:p>
        </p:txBody>
      </p:sp>
      <p:sp>
        <p:nvSpPr>
          <p:cNvPr id="23" name="TextBox 22"/>
          <p:cNvSpPr txBox="1"/>
          <p:nvPr/>
        </p:nvSpPr>
        <p:spPr>
          <a:xfrm>
            <a:off x="5681008" y="5002073"/>
            <a:ext cx="3200400" cy="369332"/>
          </a:xfrm>
          <a:prstGeom prst="rect">
            <a:avLst/>
          </a:prstGeom>
          <a:noFill/>
        </p:spPr>
        <p:txBody>
          <a:bodyPr wrap="square" rtlCol="0">
            <a:spAutoFit/>
          </a:bodyPr>
          <a:lstStyle/>
          <a:p>
            <a:pPr algn="ctr"/>
            <a:r>
              <a:rPr lang="en-IN" dirty="0"/>
              <a:t>Software development life cycle</a:t>
            </a:r>
          </a:p>
        </p:txBody>
      </p:sp>
      <p:cxnSp>
        <p:nvCxnSpPr>
          <p:cNvPr id="24" name="Straight Arrow Connector 23"/>
          <p:cNvCxnSpPr>
            <a:stCxn id="23" idx="1"/>
          </p:cNvCxnSpPr>
          <p:nvPr/>
        </p:nvCxnSpPr>
        <p:spPr>
          <a:xfrm flipH="1" flipV="1">
            <a:off x="4229100" y="5174953"/>
            <a:ext cx="1451908" cy="11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8814173" y="5186739"/>
            <a:ext cx="2097407" cy="136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Date Placeholder 2"/>
          <p:cNvSpPr>
            <a:spLocks noGrp="1"/>
          </p:cNvSpPr>
          <p:nvPr>
            <p:ph type="dt" sz="half" idx="10"/>
          </p:nvPr>
        </p:nvSpPr>
        <p:spPr/>
        <p:txBody>
          <a:bodyPr/>
          <a:lstStyle/>
          <a:p>
            <a:fld id="{EA338153-2E63-4413-A1C1-1156DAF21A5A}" type="datetime3">
              <a:rPr lang="en-US" smtClean="0"/>
              <a:t>27 May 2021</a:t>
            </a:fld>
            <a:endParaRPr lang="en-US" dirty="0"/>
          </a:p>
        </p:txBody>
      </p:sp>
      <p:sp>
        <p:nvSpPr>
          <p:cNvPr id="8" name="Footer Placeholder 7"/>
          <p:cNvSpPr>
            <a:spLocks noGrp="1"/>
          </p:cNvSpPr>
          <p:nvPr>
            <p:ph type="ftr" sz="quarter" idx="11"/>
          </p:nvPr>
        </p:nvSpPr>
        <p:spPr/>
        <p:txBody>
          <a:bodyPr/>
          <a:lstStyle/>
          <a:p>
            <a:r>
              <a:rPr lang="en-US"/>
              <a:t>Software Project Management     Dr. D Evangelin Geetha      Dept. of MCA       RIT</a:t>
            </a:r>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54</a:t>
            </a:fld>
            <a:endParaRPr lang="en-US" dirty="0"/>
          </a:p>
        </p:txBody>
      </p:sp>
    </p:spTree>
    <p:extLst>
      <p:ext uri="{BB962C8B-B14F-4D97-AF65-F5344CB8AC3E}">
        <p14:creationId xmlns:p14="http://schemas.microsoft.com/office/powerpoint/2010/main" val="238443181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Project Management life cycle</a:t>
            </a:r>
          </a:p>
        </p:txBody>
      </p:sp>
      <p:sp>
        <p:nvSpPr>
          <p:cNvPr id="3" name="Content Placeholder 2"/>
          <p:cNvSpPr>
            <a:spLocks noGrp="1"/>
          </p:cNvSpPr>
          <p:nvPr>
            <p:ph idx="1"/>
          </p:nvPr>
        </p:nvSpPr>
        <p:spPr/>
        <p:txBody>
          <a:bodyPr/>
          <a:lstStyle/>
          <a:p>
            <a:r>
              <a:rPr lang="en-IN" dirty="0"/>
              <a:t>Project Initiation</a:t>
            </a:r>
          </a:p>
          <a:p>
            <a:r>
              <a:rPr lang="en-IN" dirty="0"/>
              <a:t>Project planning</a:t>
            </a:r>
          </a:p>
          <a:p>
            <a:r>
              <a:rPr lang="en-IN" dirty="0"/>
              <a:t>Project execution</a:t>
            </a:r>
          </a:p>
          <a:p>
            <a:r>
              <a:rPr lang="en-IN" dirty="0"/>
              <a:t>Project closure</a:t>
            </a:r>
          </a:p>
        </p:txBody>
      </p:sp>
      <p:sp>
        <p:nvSpPr>
          <p:cNvPr id="4" name="Date Placeholder 3"/>
          <p:cNvSpPr>
            <a:spLocks noGrp="1"/>
          </p:cNvSpPr>
          <p:nvPr>
            <p:ph type="dt" sz="half" idx="10"/>
          </p:nvPr>
        </p:nvSpPr>
        <p:spPr/>
        <p:txBody>
          <a:bodyPr/>
          <a:lstStyle/>
          <a:p>
            <a:fld id="{8C4AE750-A356-400B-9514-E772E4BC0F7B}" type="datetime3">
              <a:rPr lang="en-US" smtClean="0"/>
              <a:t>27 May 2021</a:t>
            </a:fld>
            <a:endParaRPr lang="en-US" dirty="0"/>
          </a:p>
        </p:txBody>
      </p:sp>
      <p:sp>
        <p:nvSpPr>
          <p:cNvPr id="5" name="Footer Placeholder 4"/>
          <p:cNvSpPr>
            <a:spLocks noGrp="1"/>
          </p:cNvSpPr>
          <p:nvPr>
            <p:ph type="ftr" sz="quarter" idx="11"/>
          </p:nvPr>
        </p:nvSpPr>
        <p:spPr/>
        <p:txBody>
          <a:bodyPr/>
          <a:lstStyle/>
          <a:p>
            <a:r>
              <a:rPr lang="en-US"/>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55</a:t>
            </a:fld>
            <a:endParaRPr lang="en-US" dirty="0"/>
          </a:p>
        </p:txBody>
      </p:sp>
    </p:spTree>
    <p:extLst>
      <p:ext uri="{BB962C8B-B14F-4D97-AF65-F5344CB8AC3E}">
        <p14:creationId xmlns:p14="http://schemas.microsoft.com/office/powerpoint/2010/main" val="26876822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Project Management life cycle</a:t>
            </a:r>
          </a:p>
        </p:txBody>
      </p:sp>
      <p:sp>
        <p:nvSpPr>
          <p:cNvPr id="3" name="Content Placeholder 2"/>
          <p:cNvSpPr>
            <a:spLocks noGrp="1"/>
          </p:cNvSpPr>
          <p:nvPr>
            <p:ph idx="1"/>
          </p:nvPr>
        </p:nvSpPr>
        <p:spPr/>
        <p:txBody>
          <a:bodyPr>
            <a:normAutofit/>
          </a:bodyPr>
          <a:lstStyle/>
          <a:p>
            <a:r>
              <a:rPr lang="en-IN" dirty="0"/>
              <a:t>Project Initiation</a:t>
            </a:r>
          </a:p>
          <a:p>
            <a:pPr lvl="1"/>
            <a:r>
              <a:rPr lang="en-IN" dirty="0"/>
              <a:t>Project Concept development</a:t>
            </a:r>
          </a:p>
          <a:p>
            <a:pPr lvl="1"/>
            <a:r>
              <a:rPr lang="en-IN" dirty="0"/>
              <a:t>W5HH Principle (Boehm)</a:t>
            </a:r>
          </a:p>
          <a:p>
            <a:pPr lvl="2"/>
            <a:r>
              <a:rPr lang="en-IN" dirty="0"/>
              <a:t>Why</a:t>
            </a:r>
          </a:p>
          <a:p>
            <a:pPr lvl="2"/>
            <a:r>
              <a:rPr lang="en-IN" dirty="0"/>
              <a:t>What</a:t>
            </a:r>
          </a:p>
          <a:p>
            <a:pPr lvl="2"/>
            <a:r>
              <a:rPr lang="en-IN" dirty="0"/>
              <a:t>When</a:t>
            </a:r>
          </a:p>
          <a:p>
            <a:pPr lvl="2"/>
            <a:r>
              <a:rPr lang="en-IN" dirty="0"/>
              <a:t>Who</a:t>
            </a:r>
          </a:p>
          <a:p>
            <a:pPr lvl="2"/>
            <a:r>
              <a:rPr lang="en-IN" dirty="0"/>
              <a:t>Where </a:t>
            </a:r>
          </a:p>
          <a:p>
            <a:pPr lvl="2"/>
            <a:r>
              <a:rPr lang="en-IN" dirty="0"/>
              <a:t>How will the job be done technically and managerially</a:t>
            </a:r>
          </a:p>
          <a:p>
            <a:pPr lvl="2"/>
            <a:r>
              <a:rPr lang="en-IN" dirty="0"/>
              <a:t>How much of each resource is needed?</a:t>
            </a:r>
          </a:p>
        </p:txBody>
      </p:sp>
      <p:sp>
        <p:nvSpPr>
          <p:cNvPr id="4" name="Date Placeholder 3"/>
          <p:cNvSpPr>
            <a:spLocks noGrp="1"/>
          </p:cNvSpPr>
          <p:nvPr>
            <p:ph type="dt" sz="half" idx="10"/>
          </p:nvPr>
        </p:nvSpPr>
        <p:spPr/>
        <p:txBody>
          <a:bodyPr/>
          <a:lstStyle/>
          <a:p>
            <a:fld id="{79568F9E-9D7B-4F04-853B-A4B676195FCE}" type="datetime3">
              <a:rPr lang="en-US" smtClean="0"/>
              <a:t>27 May 2021</a:t>
            </a:fld>
            <a:endParaRPr lang="en-US" dirty="0"/>
          </a:p>
        </p:txBody>
      </p:sp>
      <p:sp>
        <p:nvSpPr>
          <p:cNvPr id="5" name="Footer Placeholder 4"/>
          <p:cNvSpPr>
            <a:spLocks noGrp="1"/>
          </p:cNvSpPr>
          <p:nvPr>
            <p:ph type="ftr" sz="quarter" idx="11"/>
          </p:nvPr>
        </p:nvSpPr>
        <p:spPr/>
        <p:txBody>
          <a:bodyPr/>
          <a:lstStyle/>
          <a:p>
            <a:r>
              <a:rPr lang="en-US"/>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56</a:t>
            </a:fld>
            <a:endParaRPr lang="en-US" dirty="0"/>
          </a:p>
        </p:txBody>
      </p:sp>
    </p:spTree>
    <p:extLst>
      <p:ext uri="{BB962C8B-B14F-4D97-AF65-F5344CB8AC3E}">
        <p14:creationId xmlns:p14="http://schemas.microsoft.com/office/powerpoint/2010/main" val="303529604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Project Management life cycle</a:t>
            </a:r>
          </a:p>
        </p:txBody>
      </p:sp>
      <p:sp>
        <p:nvSpPr>
          <p:cNvPr id="3" name="Content Placeholder 2"/>
          <p:cNvSpPr>
            <a:spLocks noGrp="1"/>
          </p:cNvSpPr>
          <p:nvPr>
            <p:ph idx="1"/>
          </p:nvPr>
        </p:nvSpPr>
        <p:spPr/>
        <p:txBody>
          <a:bodyPr>
            <a:normAutofit/>
          </a:bodyPr>
          <a:lstStyle/>
          <a:p>
            <a:r>
              <a:rPr lang="en-IN" dirty="0"/>
              <a:t>Project Initiation</a:t>
            </a:r>
          </a:p>
          <a:p>
            <a:pPr lvl="1"/>
            <a:r>
              <a:rPr lang="en-IN" dirty="0"/>
              <a:t>Project bidding</a:t>
            </a:r>
          </a:p>
          <a:p>
            <a:pPr lvl="2"/>
            <a:r>
              <a:rPr lang="en-IN" dirty="0"/>
              <a:t>Request for Quotation (RFQ) – RFT: Request for Tender</a:t>
            </a:r>
          </a:p>
          <a:p>
            <a:pPr lvl="2"/>
            <a:r>
              <a:rPr lang="en-IN" dirty="0"/>
              <a:t>Request For Proposal (RFP)</a:t>
            </a:r>
          </a:p>
          <a:p>
            <a:pPr lvl="2"/>
            <a:r>
              <a:rPr lang="en-IN" dirty="0"/>
              <a:t>Request for Information (RFI)</a:t>
            </a:r>
          </a:p>
          <a:p>
            <a:pPr lvl="2"/>
            <a:endParaRPr lang="en-IN" dirty="0"/>
          </a:p>
        </p:txBody>
      </p:sp>
      <p:sp>
        <p:nvSpPr>
          <p:cNvPr id="4" name="Date Placeholder 3"/>
          <p:cNvSpPr>
            <a:spLocks noGrp="1"/>
          </p:cNvSpPr>
          <p:nvPr>
            <p:ph type="dt" sz="half" idx="10"/>
          </p:nvPr>
        </p:nvSpPr>
        <p:spPr/>
        <p:txBody>
          <a:bodyPr/>
          <a:lstStyle/>
          <a:p>
            <a:fld id="{5921E686-CE60-4E6A-8942-9E0C3C08E8E1}" type="datetime3">
              <a:rPr lang="en-US" smtClean="0"/>
              <a:t>27 May 2021</a:t>
            </a:fld>
            <a:endParaRPr lang="en-US" dirty="0"/>
          </a:p>
        </p:txBody>
      </p:sp>
      <p:sp>
        <p:nvSpPr>
          <p:cNvPr id="5" name="Footer Placeholder 4"/>
          <p:cNvSpPr>
            <a:spLocks noGrp="1"/>
          </p:cNvSpPr>
          <p:nvPr>
            <p:ph type="ftr" sz="quarter" idx="11"/>
          </p:nvPr>
        </p:nvSpPr>
        <p:spPr/>
        <p:txBody>
          <a:bodyPr/>
          <a:lstStyle/>
          <a:p>
            <a:r>
              <a:rPr lang="en-US"/>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57</a:t>
            </a:fld>
            <a:endParaRPr lang="en-US" dirty="0"/>
          </a:p>
        </p:txBody>
      </p:sp>
    </p:spTree>
    <p:extLst>
      <p:ext uri="{BB962C8B-B14F-4D97-AF65-F5344CB8AC3E}">
        <p14:creationId xmlns:p14="http://schemas.microsoft.com/office/powerpoint/2010/main" val="7960112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Project Management life cycle</a:t>
            </a:r>
          </a:p>
        </p:txBody>
      </p:sp>
      <p:sp>
        <p:nvSpPr>
          <p:cNvPr id="3" name="Content Placeholder 2"/>
          <p:cNvSpPr>
            <a:spLocks noGrp="1"/>
          </p:cNvSpPr>
          <p:nvPr>
            <p:ph idx="1"/>
          </p:nvPr>
        </p:nvSpPr>
        <p:spPr/>
        <p:txBody>
          <a:bodyPr/>
          <a:lstStyle/>
          <a:p>
            <a:r>
              <a:rPr lang="en-IN" dirty="0"/>
              <a:t>Project planning</a:t>
            </a:r>
          </a:p>
          <a:p>
            <a:pPr lvl="1"/>
            <a:r>
              <a:rPr lang="en-IN" dirty="0"/>
              <a:t>Project plan</a:t>
            </a:r>
          </a:p>
          <a:p>
            <a:pPr lvl="1"/>
            <a:r>
              <a:rPr lang="en-IN" dirty="0"/>
              <a:t>Resource plan</a:t>
            </a:r>
          </a:p>
          <a:p>
            <a:pPr lvl="1"/>
            <a:r>
              <a:rPr lang="en-IN" dirty="0"/>
              <a:t>Financial plan</a:t>
            </a:r>
          </a:p>
          <a:p>
            <a:pPr lvl="1"/>
            <a:r>
              <a:rPr lang="en-IN" dirty="0"/>
              <a:t>Quality plan</a:t>
            </a:r>
          </a:p>
          <a:p>
            <a:pPr lvl="1"/>
            <a:r>
              <a:rPr lang="en-IN" dirty="0"/>
              <a:t>Risk plan</a:t>
            </a:r>
          </a:p>
        </p:txBody>
      </p:sp>
      <p:sp>
        <p:nvSpPr>
          <p:cNvPr id="4" name="Date Placeholder 3"/>
          <p:cNvSpPr>
            <a:spLocks noGrp="1"/>
          </p:cNvSpPr>
          <p:nvPr>
            <p:ph type="dt" sz="half" idx="10"/>
          </p:nvPr>
        </p:nvSpPr>
        <p:spPr/>
        <p:txBody>
          <a:bodyPr/>
          <a:lstStyle/>
          <a:p>
            <a:fld id="{93477322-B5F6-401B-8B33-162B712307C2}" type="datetime3">
              <a:rPr lang="en-US" smtClean="0"/>
              <a:t>27 May 2021</a:t>
            </a:fld>
            <a:endParaRPr lang="en-US" dirty="0"/>
          </a:p>
        </p:txBody>
      </p:sp>
      <p:sp>
        <p:nvSpPr>
          <p:cNvPr id="5" name="Footer Placeholder 4"/>
          <p:cNvSpPr>
            <a:spLocks noGrp="1"/>
          </p:cNvSpPr>
          <p:nvPr>
            <p:ph type="ftr" sz="quarter" idx="11"/>
          </p:nvPr>
        </p:nvSpPr>
        <p:spPr/>
        <p:txBody>
          <a:bodyPr/>
          <a:lstStyle/>
          <a:p>
            <a:r>
              <a:rPr lang="en-US"/>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58</a:t>
            </a:fld>
            <a:endParaRPr lang="en-US" dirty="0"/>
          </a:p>
        </p:txBody>
      </p:sp>
    </p:spTree>
    <p:extLst>
      <p:ext uri="{BB962C8B-B14F-4D97-AF65-F5344CB8AC3E}">
        <p14:creationId xmlns:p14="http://schemas.microsoft.com/office/powerpoint/2010/main" val="279949605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Project Management life cycle</a:t>
            </a:r>
          </a:p>
        </p:txBody>
      </p:sp>
      <p:sp>
        <p:nvSpPr>
          <p:cNvPr id="3" name="Content Placeholder 2"/>
          <p:cNvSpPr>
            <a:spLocks noGrp="1"/>
          </p:cNvSpPr>
          <p:nvPr>
            <p:ph idx="1"/>
          </p:nvPr>
        </p:nvSpPr>
        <p:spPr/>
        <p:txBody>
          <a:bodyPr/>
          <a:lstStyle/>
          <a:p>
            <a:r>
              <a:rPr lang="en-IN" dirty="0"/>
              <a:t>Project execution</a:t>
            </a:r>
          </a:p>
          <a:p>
            <a:r>
              <a:rPr lang="en-IN" dirty="0"/>
              <a:t>Project closure</a:t>
            </a:r>
          </a:p>
        </p:txBody>
      </p:sp>
      <p:sp>
        <p:nvSpPr>
          <p:cNvPr id="4" name="Date Placeholder 3"/>
          <p:cNvSpPr>
            <a:spLocks noGrp="1"/>
          </p:cNvSpPr>
          <p:nvPr>
            <p:ph type="dt" sz="half" idx="10"/>
          </p:nvPr>
        </p:nvSpPr>
        <p:spPr/>
        <p:txBody>
          <a:bodyPr/>
          <a:lstStyle/>
          <a:p>
            <a:fld id="{88964F73-7DF3-48B7-8EDD-80A54BB9E40C}" type="datetime3">
              <a:rPr lang="en-US" smtClean="0"/>
              <a:t>27 May 2021</a:t>
            </a:fld>
            <a:endParaRPr lang="en-US" dirty="0"/>
          </a:p>
        </p:txBody>
      </p:sp>
      <p:sp>
        <p:nvSpPr>
          <p:cNvPr id="5" name="Footer Placeholder 4"/>
          <p:cNvSpPr>
            <a:spLocks noGrp="1"/>
          </p:cNvSpPr>
          <p:nvPr>
            <p:ph type="ftr" sz="quarter" idx="11"/>
          </p:nvPr>
        </p:nvSpPr>
        <p:spPr/>
        <p:txBody>
          <a:bodyPr/>
          <a:lstStyle/>
          <a:p>
            <a:r>
              <a:rPr lang="en-US"/>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59</a:t>
            </a:fld>
            <a:endParaRPr lang="en-US" dirty="0"/>
          </a:p>
        </p:txBody>
      </p:sp>
    </p:spTree>
    <p:extLst>
      <p:ext uri="{BB962C8B-B14F-4D97-AF65-F5344CB8AC3E}">
        <p14:creationId xmlns:p14="http://schemas.microsoft.com/office/powerpoint/2010/main" val="382253562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804520"/>
            <a:ext cx="9603275" cy="611686"/>
          </a:xfrm>
        </p:spPr>
        <p:txBody>
          <a:bodyPr/>
          <a:lstStyle/>
          <a:p>
            <a:r>
              <a:rPr lang="en-IN" dirty="0"/>
              <a:t>Key points </a:t>
            </a:r>
          </a:p>
        </p:txBody>
      </p:sp>
      <p:sp>
        <p:nvSpPr>
          <p:cNvPr id="3" name="Content Placeholder 2"/>
          <p:cNvSpPr>
            <a:spLocks noGrp="1"/>
          </p:cNvSpPr>
          <p:nvPr>
            <p:ph idx="1"/>
          </p:nvPr>
        </p:nvSpPr>
        <p:spPr>
          <a:xfrm>
            <a:off x="1451579" y="1817649"/>
            <a:ext cx="9603275" cy="3648697"/>
          </a:xfrm>
        </p:spPr>
        <p:txBody>
          <a:bodyPr>
            <a:normAutofit lnSpcReduction="10000"/>
          </a:bodyPr>
          <a:lstStyle/>
          <a:p>
            <a:r>
              <a:rPr lang="en-US" dirty="0"/>
              <a:t>Projects are non-routine - thus uncertain</a:t>
            </a:r>
          </a:p>
          <a:p>
            <a:r>
              <a:rPr lang="en-US" dirty="0"/>
              <a:t>The particular problems of projects e.g.  lack of visibility</a:t>
            </a:r>
          </a:p>
          <a:p>
            <a:r>
              <a:rPr lang="en-US" dirty="0"/>
              <a:t>Clear objectives are essential which can be objectively assessed</a:t>
            </a:r>
          </a:p>
          <a:p>
            <a:r>
              <a:rPr lang="en-US" dirty="0"/>
              <a:t>Stuff happens. Not usually possible to keep precisely plan – need for control</a:t>
            </a:r>
          </a:p>
          <a:p>
            <a:r>
              <a:rPr lang="en-US" dirty="0"/>
              <a:t>Communicate, communicate, communicate!</a:t>
            </a:r>
          </a:p>
          <a:p>
            <a:pPr marL="0" indent="0">
              <a:buNone/>
            </a:pPr>
            <a:endParaRPr lang="en-IN" dirty="0"/>
          </a:p>
        </p:txBody>
      </p:sp>
      <p:sp>
        <p:nvSpPr>
          <p:cNvPr id="4" name="Date Placeholder 3"/>
          <p:cNvSpPr>
            <a:spLocks noGrp="1"/>
          </p:cNvSpPr>
          <p:nvPr>
            <p:ph type="dt" sz="half" idx="10"/>
          </p:nvPr>
        </p:nvSpPr>
        <p:spPr/>
        <p:txBody>
          <a:bodyPr/>
          <a:lstStyle/>
          <a:p>
            <a:fld id="{E1E451CD-709D-4685-BEF8-B32E76A0D571}" type="datetime3">
              <a:rPr lang="en-US" smtClean="0"/>
              <a:t>27 May 2021</a:t>
            </a:fld>
            <a:endParaRPr lang="en-US" dirty="0"/>
          </a:p>
        </p:txBody>
      </p:sp>
      <p:sp>
        <p:nvSpPr>
          <p:cNvPr id="5" name="Footer Placeholder 4"/>
          <p:cNvSpPr>
            <a:spLocks noGrp="1"/>
          </p:cNvSpPr>
          <p:nvPr>
            <p:ph type="ftr" sz="quarter" idx="11"/>
          </p:nvPr>
        </p:nvSpPr>
        <p:spPr/>
        <p:txBody>
          <a:bodyPr/>
          <a:lstStyle/>
          <a:p>
            <a:r>
              <a:rPr lang="en-US"/>
              <a:t>Software Project Management     Dr. D Evangelin Geetha      Dept. of MCA       RIT</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60</a:t>
            </a:fld>
            <a:endParaRPr lang="en-US" dirty="0"/>
          </a:p>
        </p:txBody>
      </p:sp>
    </p:spTree>
    <p:extLst>
      <p:ext uri="{BB962C8B-B14F-4D97-AF65-F5344CB8AC3E}">
        <p14:creationId xmlns:p14="http://schemas.microsoft.com/office/powerpoint/2010/main" val="2855681220"/>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TM10001114[[fn=Gallery]]</Template>
  <TotalTime>2384</TotalTime>
  <Words>3895</Words>
  <Application>Microsoft Office PowerPoint</Application>
  <PresentationFormat>Widescreen</PresentationFormat>
  <Paragraphs>624</Paragraphs>
  <Slides>60</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60</vt:i4>
      </vt:variant>
    </vt:vector>
  </HeadingPairs>
  <TitlesOfParts>
    <vt:vector size="65" baseType="lpstr">
      <vt:lpstr>Arial</vt:lpstr>
      <vt:lpstr>Calibri</vt:lpstr>
      <vt:lpstr>Gill Sans MT</vt:lpstr>
      <vt:lpstr>Times New Roman</vt:lpstr>
      <vt:lpstr>Gallery</vt:lpstr>
      <vt:lpstr>Software Project Management Introduction</vt:lpstr>
      <vt:lpstr>About the course</vt:lpstr>
      <vt:lpstr>Assessment</vt:lpstr>
      <vt:lpstr>About the course</vt:lpstr>
      <vt:lpstr>Main Scopes of SPM</vt:lpstr>
      <vt:lpstr>Introduction to SPM</vt:lpstr>
      <vt:lpstr>what is software project management?</vt:lpstr>
      <vt:lpstr>Why is SPM important?</vt:lpstr>
      <vt:lpstr>What is a project?</vt:lpstr>
      <vt:lpstr>What is a project?</vt:lpstr>
      <vt:lpstr>Exercise 1.1</vt:lpstr>
      <vt:lpstr>Exercise 1.1 - Solution</vt:lpstr>
      <vt:lpstr>Project Constraints</vt:lpstr>
      <vt:lpstr>Software prj vs. other types of prj</vt:lpstr>
      <vt:lpstr>Contract Management and Technical Project Management</vt:lpstr>
      <vt:lpstr>Activities covered by SPM</vt:lpstr>
      <vt:lpstr>Activities covered by SPM</vt:lpstr>
      <vt:lpstr>The software development life-cycle (ISO 12207)</vt:lpstr>
      <vt:lpstr>ISO 12207 life-cycle</vt:lpstr>
      <vt:lpstr>ISO 12207 life-cycle</vt:lpstr>
      <vt:lpstr>ISO 12207 life-cycle</vt:lpstr>
      <vt:lpstr>Exercise 1.2</vt:lpstr>
      <vt:lpstr>Exercise 1.2 - Solution</vt:lpstr>
      <vt:lpstr>Exercise 1.3</vt:lpstr>
      <vt:lpstr>Exercise 1.3 - Solution</vt:lpstr>
      <vt:lpstr>Plans Methods and Methodologies</vt:lpstr>
      <vt:lpstr>Plans Methods and Methodologies</vt:lpstr>
      <vt:lpstr>Some ways of categorizing software projects</vt:lpstr>
      <vt:lpstr>Project charter</vt:lpstr>
      <vt:lpstr>Project charter</vt:lpstr>
      <vt:lpstr>Project charter</vt:lpstr>
      <vt:lpstr>Stakeholders</vt:lpstr>
      <vt:lpstr>Setting objectives</vt:lpstr>
      <vt:lpstr>Objectives</vt:lpstr>
      <vt:lpstr>Objectives should be SMART</vt:lpstr>
      <vt:lpstr>Goals/sub-objectives</vt:lpstr>
      <vt:lpstr>Goals/sub-objectives continued</vt:lpstr>
      <vt:lpstr>Measures of effectiveness</vt:lpstr>
      <vt:lpstr>The business case</vt:lpstr>
      <vt:lpstr>The business case</vt:lpstr>
      <vt:lpstr>Project success and failure</vt:lpstr>
      <vt:lpstr>Project success and failure</vt:lpstr>
      <vt:lpstr>Project success and failure</vt:lpstr>
      <vt:lpstr>What is management?</vt:lpstr>
      <vt:lpstr>What is management?</vt:lpstr>
      <vt:lpstr>PowerPoint Presentation</vt:lpstr>
      <vt:lpstr>What is management?</vt:lpstr>
      <vt:lpstr>Management control</vt:lpstr>
      <vt:lpstr>Exercise 1.11</vt:lpstr>
      <vt:lpstr>Management control</vt:lpstr>
      <vt:lpstr>Management control</vt:lpstr>
      <vt:lpstr>Management control</vt:lpstr>
      <vt:lpstr>Software development and project management life cycles</vt:lpstr>
      <vt:lpstr>Software development and project management life cycles</vt:lpstr>
      <vt:lpstr>Project Management life cycle</vt:lpstr>
      <vt:lpstr>Project Management life cycle</vt:lpstr>
      <vt:lpstr>Project Management life cycle</vt:lpstr>
      <vt:lpstr>Project Management life cycle</vt:lpstr>
      <vt:lpstr>Project Management life cycle</vt:lpstr>
      <vt:lpstr>Key points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Project Management</dc:title>
  <dc:creator>Evangelin D</dc:creator>
  <cp:lastModifiedBy>ise msrit</cp:lastModifiedBy>
  <cp:revision>201</cp:revision>
  <dcterms:created xsi:type="dcterms:W3CDTF">2019-08-23T04:10:40Z</dcterms:created>
  <dcterms:modified xsi:type="dcterms:W3CDTF">2021-05-27T04:30:42Z</dcterms:modified>
</cp:coreProperties>
</file>