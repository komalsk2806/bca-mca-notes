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1" r:id="rId12"/>
    <p:sldId id="270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721" autoAdjust="0"/>
  </p:normalViewPr>
  <p:slideViewPr>
    <p:cSldViewPr snapToGrid="0">
      <p:cViewPr varScale="1">
        <p:scale>
          <a:sx n="86" d="100"/>
          <a:sy n="86" d="100"/>
        </p:scale>
        <p:origin x="1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B3128-46BE-4F05-B90D-E0A81F2C74CE}" type="datetimeFigureOut">
              <a:rPr lang="en-IN" smtClean="0"/>
              <a:t>21-08-2021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1995B-7B11-49A8-9854-153F0D04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8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80" y="0"/>
            <a:ext cx="8637073" cy="3181082"/>
          </a:xfrm>
        </p:spPr>
        <p:txBody>
          <a:bodyPr>
            <a:normAutofit/>
          </a:bodyPr>
          <a:lstStyle/>
          <a:p>
            <a:r>
              <a:rPr lang="en-IN" sz="4800" dirty="0" smtClean="0"/>
              <a:t>Software Project Management </a:t>
            </a:r>
            <a:br>
              <a:rPr lang="en-IN" sz="4800" dirty="0" smtClean="0"/>
            </a:br>
            <a:r>
              <a:rPr lang="en-IN" sz="4800" dirty="0" smtClean="0">
                <a:solidFill>
                  <a:srgbClr val="0000CC"/>
                </a:solidFill>
              </a:rPr>
              <a:t>working in teams</a:t>
            </a:r>
            <a:endParaRPr lang="en-IN" sz="4800" dirty="0">
              <a:solidFill>
                <a:srgbClr val="0000C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44438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 smtClean="0"/>
              <a:t>Dr.</a:t>
            </a:r>
            <a:r>
              <a:rPr lang="en-IN" dirty="0" smtClean="0"/>
              <a:t> D Evangelin </a:t>
            </a:r>
            <a:r>
              <a:rPr lang="en-IN" dirty="0" err="1" smtClean="0"/>
              <a:t>geetha</a:t>
            </a:r>
            <a:endParaRPr lang="en-IN" dirty="0" smtClean="0"/>
          </a:p>
          <a:p>
            <a:r>
              <a:rPr lang="en-IN" dirty="0" smtClean="0"/>
              <a:t>Associate professor</a:t>
            </a:r>
          </a:p>
          <a:p>
            <a:r>
              <a:rPr lang="en-IN" dirty="0" smtClean="0"/>
              <a:t>Department of master of computer applications</a:t>
            </a:r>
          </a:p>
          <a:p>
            <a:r>
              <a:rPr lang="en-IN" dirty="0" err="1" smtClean="0"/>
              <a:t>Ramaiak</a:t>
            </a:r>
            <a:r>
              <a:rPr lang="en-IN" dirty="0" smtClean="0"/>
              <a:t> institute of technology</a:t>
            </a:r>
          </a:p>
          <a:p>
            <a:r>
              <a:rPr lang="en-IN" dirty="0" smtClean="0"/>
              <a:t>Bangalore - 560054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00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Improve group working</a:t>
            </a:r>
          </a:p>
          <a:p>
            <a:r>
              <a:rPr lang="en-US" dirty="0" smtClean="0"/>
              <a:t>Analyze the coordination needs of a project</a:t>
            </a:r>
          </a:p>
          <a:p>
            <a:r>
              <a:rPr lang="en-US" dirty="0" smtClean="0"/>
              <a:t>Select the best communications genres to support the coordination needs of a project</a:t>
            </a:r>
          </a:p>
          <a:p>
            <a:r>
              <a:rPr lang="en-US" dirty="0" smtClean="0"/>
              <a:t>Draw up a communication plan</a:t>
            </a:r>
          </a:p>
          <a:p>
            <a:r>
              <a:rPr lang="en-US" dirty="0" smtClean="0"/>
              <a:t>Evaluate the characteristics of the various team structures </a:t>
            </a:r>
          </a:p>
          <a:p>
            <a:r>
              <a:rPr lang="en-US" dirty="0" smtClean="0"/>
              <a:t>Use the most appropriate leadership styles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33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Co-located</a:t>
            </a:r>
          </a:p>
          <a:p>
            <a:r>
              <a:rPr lang="en-US" dirty="0" smtClean="0"/>
              <a:t>Communication genres</a:t>
            </a:r>
          </a:p>
          <a:p>
            <a:r>
              <a:rPr lang="en-US" dirty="0" smtClean="0"/>
              <a:t>Communication plan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25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556" y="0"/>
            <a:ext cx="9603275" cy="555930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556" y="555930"/>
            <a:ext cx="9603275" cy="4962291"/>
          </a:xfrm>
        </p:spPr>
        <p:txBody>
          <a:bodyPr/>
          <a:lstStyle/>
          <a:p>
            <a:r>
              <a:rPr lang="en-IN" dirty="0" smtClean="0"/>
              <a:t>Identify project scope and objectives</a:t>
            </a:r>
          </a:p>
          <a:p>
            <a:r>
              <a:rPr lang="en-IN" dirty="0" smtClean="0"/>
              <a:t>Identify project infrastructure</a:t>
            </a:r>
          </a:p>
          <a:p>
            <a:r>
              <a:rPr lang="en-IN" dirty="0" smtClean="0"/>
              <a:t>Analyse project characteristics</a:t>
            </a:r>
          </a:p>
          <a:p>
            <a:r>
              <a:rPr lang="en-IN" dirty="0" smtClean="0"/>
              <a:t>Estimate effort for each activity</a:t>
            </a:r>
          </a:p>
          <a:p>
            <a:r>
              <a:rPr lang="en-IN" dirty="0" smtClean="0"/>
              <a:t>Identify activity risks</a:t>
            </a:r>
          </a:p>
          <a:p>
            <a:r>
              <a:rPr lang="en-IN" dirty="0" smtClean="0"/>
              <a:t>Allocate resources </a:t>
            </a:r>
          </a:p>
          <a:p>
            <a:r>
              <a:rPr lang="en-IN" dirty="0" smtClean="0"/>
              <a:t>Review/publicize plan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221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2731" y="702528"/>
            <a:ext cx="9603275" cy="568712"/>
          </a:xfrm>
        </p:spPr>
        <p:txBody>
          <a:bodyPr/>
          <a:lstStyle/>
          <a:p>
            <a:r>
              <a:rPr lang="en-IN" dirty="0" smtClean="0"/>
              <a:t>Becoming a team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008" y="2051824"/>
            <a:ext cx="9603275" cy="3914078"/>
          </a:xfrm>
        </p:spPr>
        <p:txBody>
          <a:bodyPr/>
          <a:lstStyle/>
          <a:p>
            <a:r>
              <a:rPr lang="en-IN" dirty="0" smtClean="0"/>
              <a:t>Forming</a:t>
            </a:r>
          </a:p>
          <a:p>
            <a:r>
              <a:rPr lang="en-IN" dirty="0" smtClean="0"/>
              <a:t>Storming</a:t>
            </a:r>
          </a:p>
          <a:p>
            <a:r>
              <a:rPr lang="en-IN" dirty="0" smtClean="0"/>
              <a:t>Norming</a:t>
            </a:r>
          </a:p>
          <a:p>
            <a:r>
              <a:rPr lang="en-IN" dirty="0" smtClean="0"/>
              <a:t>Performing</a:t>
            </a:r>
          </a:p>
          <a:p>
            <a:r>
              <a:rPr lang="en-IN" dirty="0" smtClean="0"/>
              <a:t>Adjourning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27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45140"/>
          </a:xfrm>
        </p:spPr>
        <p:txBody>
          <a:bodyPr/>
          <a:lstStyle/>
          <a:p>
            <a:r>
              <a:rPr lang="en-IN" dirty="0"/>
              <a:t>Becoming a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Belbin – teams needed a balance of different types of people </a:t>
            </a:r>
          </a:p>
          <a:p>
            <a:pPr lvl="1"/>
            <a:r>
              <a:rPr lang="en-IN" dirty="0" smtClean="0"/>
              <a:t>The chair</a:t>
            </a:r>
          </a:p>
          <a:p>
            <a:pPr lvl="1"/>
            <a:r>
              <a:rPr lang="en-IN" dirty="0" smtClean="0"/>
              <a:t>The plant</a:t>
            </a:r>
          </a:p>
          <a:p>
            <a:pPr lvl="1"/>
            <a:r>
              <a:rPr lang="en-IN" dirty="0" smtClean="0"/>
              <a:t>The monitor-evaluator</a:t>
            </a:r>
          </a:p>
          <a:p>
            <a:pPr lvl="1"/>
            <a:r>
              <a:rPr lang="en-IN" dirty="0" smtClean="0"/>
              <a:t>The shaper</a:t>
            </a:r>
          </a:p>
          <a:p>
            <a:pPr lvl="1"/>
            <a:r>
              <a:rPr lang="en-IN" dirty="0" smtClean="0"/>
              <a:t>The team worker</a:t>
            </a:r>
          </a:p>
          <a:p>
            <a:pPr lvl="1"/>
            <a:r>
              <a:rPr lang="en-IN" dirty="0" smtClean="0"/>
              <a:t>The resource investigator</a:t>
            </a:r>
          </a:p>
          <a:p>
            <a:pPr lvl="1"/>
            <a:r>
              <a:rPr lang="en-IN" dirty="0" smtClean="0"/>
              <a:t>The complete-finisher</a:t>
            </a:r>
          </a:p>
          <a:p>
            <a:pPr lvl="1"/>
            <a:r>
              <a:rPr lang="en-IN" dirty="0" smtClean="0"/>
              <a:t>The company worker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185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Becoming a </a:t>
            </a:r>
            <a:r>
              <a:rPr lang="en-IN" dirty="0" smtClean="0"/>
              <a:t>team-Group performance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Group tasks</a:t>
            </a:r>
          </a:p>
          <a:p>
            <a:pPr lvl="1"/>
            <a:r>
              <a:rPr lang="en-IN" dirty="0" smtClean="0"/>
              <a:t>Additive tasks</a:t>
            </a:r>
          </a:p>
          <a:p>
            <a:pPr lvl="1"/>
            <a:r>
              <a:rPr lang="en-IN" dirty="0" smtClean="0"/>
              <a:t>Compensatory tasks</a:t>
            </a:r>
          </a:p>
          <a:p>
            <a:pPr lvl="1"/>
            <a:r>
              <a:rPr lang="en-IN" dirty="0" smtClean="0"/>
              <a:t>Disjunctive tasks</a:t>
            </a:r>
          </a:p>
          <a:p>
            <a:pPr lvl="1"/>
            <a:r>
              <a:rPr lang="en-IN" dirty="0" smtClean="0"/>
              <a:t>Conjunctive tasks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030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Decision making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Structured </a:t>
            </a:r>
          </a:p>
          <a:p>
            <a:r>
              <a:rPr lang="en-IN" dirty="0" smtClean="0"/>
              <a:t>Unstructured </a:t>
            </a:r>
          </a:p>
          <a:p>
            <a:r>
              <a:rPr lang="en-IN" dirty="0" smtClean="0"/>
              <a:t>Another way</a:t>
            </a:r>
          </a:p>
          <a:p>
            <a:pPr lvl="1"/>
            <a:r>
              <a:rPr lang="en-IN" dirty="0" smtClean="0"/>
              <a:t>Amount of risk and uncertainty that is involved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943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</a:t>
            </a:r>
            <a:r>
              <a:rPr lang="en-IN" dirty="0" smtClean="0"/>
              <a:t>making – some mental obstacles to good decision making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Faulty heuristics</a:t>
            </a:r>
          </a:p>
          <a:p>
            <a:r>
              <a:rPr lang="en-IN" dirty="0" smtClean="0"/>
              <a:t>Escalation of commitment </a:t>
            </a:r>
          </a:p>
          <a:p>
            <a:r>
              <a:rPr lang="en-IN" dirty="0" smtClean="0"/>
              <a:t>Information overload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209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706" y="0"/>
            <a:ext cx="9603275" cy="1049235"/>
          </a:xfrm>
        </p:spPr>
        <p:txBody>
          <a:bodyPr/>
          <a:lstStyle/>
          <a:p>
            <a:r>
              <a:rPr lang="en-IN" dirty="0"/>
              <a:t>Decision </a:t>
            </a:r>
            <a:r>
              <a:rPr lang="en-IN" dirty="0" smtClean="0"/>
              <a:t>making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9705" y="621829"/>
            <a:ext cx="9603275" cy="5522493"/>
          </a:xfrm>
        </p:spPr>
        <p:txBody>
          <a:bodyPr>
            <a:normAutofit/>
          </a:bodyPr>
          <a:lstStyle/>
          <a:p>
            <a:r>
              <a:rPr lang="en-IN" dirty="0" smtClean="0"/>
              <a:t>Group </a:t>
            </a:r>
            <a:r>
              <a:rPr lang="en-IN" dirty="0"/>
              <a:t>decision </a:t>
            </a:r>
            <a:r>
              <a:rPr lang="en-IN" dirty="0" smtClean="0"/>
              <a:t>making</a:t>
            </a:r>
          </a:p>
          <a:p>
            <a:pPr lvl="1"/>
            <a:r>
              <a:rPr lang="en-IN" dirty="0" smtClean="0"/>
              <a:t>Group or individual</a:t>
            </a:r>
          </a:p>
          <a:p>
            <a:r>
              <a:rPr lang="en-IN" dirty="0" smtClean="0"/>
              <a:t>Obstacles to good group </a:t>
            </a:r>
            <a:r>
              <a:rPr lang="en-IN" dirty="0"/>
              <a:t>decision </a:t>
            </a:r>
            <a:r>
              <a:rPr lang="en-IN" dirty="0" smtClean="0"/>
              <a:t>making</a:t>
            </a:r>
          </a:p>
          <a:p>
            <a:pPr lvl="1"/>
            <a:r>
              <a:rPr lang="en-IN" dirty="0" smtClean="0"/>
              <a:t>Time consuming</a:t>
            </a:r>
          </a:p>
          <a:p>
            <a:pPr lvl="1"/>
            <a:r>
              <a:rPr lang="en-IN" dirty="0" smtClean="0"/>
              <a:t>People Modify their personal judgements</a:t>
            </a:r>
          </a:p>
          <a:p>
            <a:pPr lvl="1"/>
            <a:r>
              <a:rPr lang="en-IN" dirty="0" smtClean="0"/>
              <a:t>Risky shift    </a:t>
            </a:r>
          </a:p>
          <a:p>
            <a:r>
              <a:rPr lang="en-IN" dirty="0"/>
              <a:t>Measures to reduce the disadvantages of group decision making</a:t>
            </a:r>
          </a:p>
          <a:p>
            <a:pPr lvl="1"/>
            <a:r>
              <a:rPr lang="en-IN" dirty="0"/>
              <a:t>Delphi </a:t>
            </a:r>
            <a:r>
              <a:rPr lang="en-IN" dirty="0" smtClean="0"/>
              <a:t>Technique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5474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Organization and team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Department structure</a:t>
            </a:r>
          </a:p>
          <a:p>
            <a:r>
              <a:rPr lang="en-IN" dirty="0" smtClean="0"/>
              <a:t>Team structure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0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Organization and team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Department structure</a:t>
            </a:r>
          </a:p>
          <a:p>
            <a:pPr lvl="1"/>
            <a:r>
              <a:rPr lang="en-IN" dirty="0" smtClean="0"/>
              <a:t>Functional</a:t>
            </a:r>
          </a:p>
          <a:p>
            <a:pPr lvl="1"/>
            <a:r>
              <a:rPr lang="en-IN" dirty="0" smtClean="0"/>
              <a:t>Project and</a:t>
            </a:r>
          </a:p>
          <a:p>
            <a:pPr lvl="1"/>
            <a:r>
              <a:rPr lang="en-IN" dirty="0" smtClean="0"/>
              <a:t>Matrix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287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Organization and team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228600" lvl="1">
              <a:spcBef>
                <a:spcPts val="1000"/>
              </a:spcBef>
            </a:pPr>
            <a:r>
              <a:rPr lang="en-IN" dirty="0" smtClean="0"/>
              <a:t>Functional format</a:t>
            </a:r>
          </a:p>
          <a:p>
            <a:pPr marL="685800" lvl="2">
              <a:spcBef>
                <a:spcPts val="1000"/>
              </a:spcBef>
            </a:pPr>
            <a:r>
              <a:rPr lang="en-IN" dirty="0" smtClean="0"/>
              <a:t>Ease of staffing</a:t>
            </a:r>
          </a:p>
          <a:p>
            <a:pPr marL="685800" lvl="2">
              <a:spcBef>
                <a:spcPts val="1000"/>
              </a:spcBef>
            </a:pPr>
            <a:r>
              <a:rPr lang="en-IN" dirty="0" smtClean="0"/>
              <a:t>Production of good quality documents</a:t>
            </a:r>
          </a:p>
          <a:p>
            <a:pPr marL="685800" lvl="2">
              <a:spcBef>
                <a:spcPts val="1000"/>
              </a:spcBef>
            </a:pPr>
            <a:r>
              <a:rPr lang="en-IN" dirty="0" smtClean="0"/>
              <a:t>Job specialization</a:t>
            </a:r>
          </a:p>
          <a:p>
            <a:pPr marL="685800" lvl="2">
              <a:spcBef>
                <a:spcPts val="1000"/>
              </a:spcBef>
            </a:pPr>
            <a:r>
              <a:rPr lang="en-IN" dirty="0" smtClean="0"/>
              <a:t>Efficient handling of the problems associated with manpower turnover</a:t>
            </a:r>
          </a:p>
          <a:p>
            <a:pPr marL="685800" lvl="2">
              <a:spcBef>
                <a:spcPts val="1000"/>
              </a:spcBef>
            </a:pPr>
            <a:r>
              <a:rPr lang="en-IN" smtClean="0"/>
              <a:t>Career planning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302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Organization and team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Team structure</a:t>
            </a:r>
          </a:p>
          <a:p>
            <a:pPr lvl="1"/>
            <a:r>
              <a:rPr lang="en-IN" dirty="0" smtClean="0"/>
              <a:t>Democratic</a:t>
            </a:r>
          </a:p>
          <a:p>
            <a:pPr lvl="1"/>
            <a:r>
              <a:rPr lang="en-IN" dirty="0" smtClean="0"/>
              <a:t>Chief programmer team</a:t>
            </a:r>
          </a:p>
          <a:p>
            <a:pPr lvl="1"/>
            <a:r>
              <a:rPr lang="en-IN" smtClean="0"/>
              <a:t>Mixed team </a:t>
            </a:r>
            <a:endParaRPr lang="en-IN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41854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4052</TotalTime>
  <Words>274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Gill Sans MT</vt:lpstr>
      <vt:lpstr>Gallery</vt:lpstr>
      <vt:lpstr>Software Project Management  working in teams</vt:lpstr>
      <vt:lpstr>Learning objectives</vt:lpstr>
      <vt:lpstr>introduction</vt:lpstr>
      <vt:lpstr>introduction</vt:lpstr>
      <vt:lpstr>Becoming a team</vt:lpstr>
      <vt:lpstr>Becoming a team</vt:lpstr>
      <vt:lpstr>Becoming a team-Group performance</vt:lpstr>
      <vt:lpstr>Decision making</vt:lpstr>
      <vt:lpstr>Decision making – some mental obstacles to good decision making</vt:lpstr>
      <vt:lpstr>Decision making</vt:lpstr>
      <vt:lpstr>Organization and team structures</vt:lpstr>
      <vt:lpstr>Organization and team structures</vt:lpstr>
      <vt:lpstr>Organization and team structures</vt:lpstr>
      <vt:lpstr>Organization and team structures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Management</dc:title>
  <dc:creator>Evangelin D</dc:creator>
  <cp:lastModifiedBy>Evangelin D</cp:lastModifiedBy>
  <cp:revision>568</cp:revision>
  <dcterms:created xsi:type="dcterms:W3CDTF">2019-08-23T04:10:40Z</dcterms:created>
  <dcterms:modified xsi:type="dcterms:W3CDTF">2021-08-21T04:15:21Z</dcterms:modified>
</cp:coreProperties>
</file>