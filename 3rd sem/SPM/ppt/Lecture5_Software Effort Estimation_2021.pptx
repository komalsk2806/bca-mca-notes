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8"/>
  </p:notesMasterIdLst>
  <p:sldIdLst>
    <p:sldId id="256" r:id="rId2"/>
    <p:sldId id="257" r:id="rId3"/>
    <p:sldId id="258" r:id="rId4"/>
    <p:sldId id="259" r:id="rId5"/>
    <p:sldId id="260" r:id="rId6"/>
    <p:sldId id="261" r:id="rId7"/>
    <p:sldId id="262" r:id="rId8"/>
    <p:sldId id="263" r:id="rId9"/>
    <p:sldId id="264" r:id="rId10"/>
    <p:sldId id="269" r:id="rId11"/>
    <p:sldId id="268" r:id="rId12"/>
    <p:sldId id="267" r:id="rId13"/>
    <p:sldId id="270" r:id="rId14"/>
    <p:sldId id="271" r:id="rId15"/>
    <p:sldId id="266" r:id="rId16"/>
    <p:sldId id="272" r:id="rId17"/>
    <p:sldId id="265" r:id="rId18"/>
    <p:sldId id="273" r:id="rId19"/>
    <p:sldId id="274" r:id="rId20"/>
    <p:sldId id="275" r:id="rId21"/>
    <p:sldId id="276" r:id="rId22"/>
    <p:sldId id="277" r:id="rId23"/>
    <p:sldId id="278" r:id="rId24"/>
    <p:sldId id="279" r:id="rId25"/>
    <p:sldId id="280" r:id="rId26"/>
    <p:sldId id="281" r:id="rId27"/>
    <p:sldId id="321" r:id="rId28"/>
    <p:sldId id="282" r:id="rId29"/>
    <p:sldId id="283" r:id="rId30"/>
    <p:sldId id="284" r:id="rId31"/>
    <p:sldId id="307" r:id="rId32"/>
    <p:sldId id="287" r:id="rId33"/>
    <p:sldId id="288" r:id="rId34"/>
    <p:sldId id="289" r:id="rId35"/>
    <p:sldId id="290" r:id="rId36"/>
    <p:sldId id="291" r:id="rId37"/>
    <p:sldId id="292" r:id="rId38"/>
    <p:sldId id="293" r:id="rId39"/>
    <p:sldId id="294" r:id="rId40"/>
    <p:sldId id="311" r:id="rId41"/>
    <p:sldId id="312" r:id="rId42"/>
    <p:sldId id="313" r:id="rId43"/>
    <p:sldId id="314" r:id="rId44"/>
    <p:sldId id="315" r:id="rId45"/>
    <p:sldId id="316" r:id="rId46"/>
    <p:sldId id="317" r:id="rId47"/>
    <p:sldId id="297" r:id="rId48"/>
    <p:sldId id="299" r:id="rId49"/>
    <p:sldId id="296" r:id="rId50"/>
    <p:sldId id="295" r:id="rId51"/>
    <p:sldId id="308" r:id="rId52"/>
    <p:sldId id="309" r:id="rId53"/>
    <p:sldId id="319" r:id="rId54"/>
    <p:sldId id="310" r:id="rId55"/>
    <p:sldId id="318" r:id="rId56"/>
    <p:sldId id="320" r:id="rId5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270" autoAdjust="0"/>
    <p:restoredTop sz="94660"/>
  </p:normalViewPr>
  <p:slideViewPr>
    <p:cSldViewPr snapToGrid="0">
      <p:cViewPr varScale="1">
        <p:scale>
          <a:sx n="91" d="100"/>
          <a:sy n="91" d="100"/>
        </p:scale>
        <p:origin x="504" y="90"/>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6B3128-46BE-4F05-B90D-E0A81F2C74CE}" type="datetimeFigureOut">
              <a:rPr lang="en-IN" smtClean="0"/>
              <a:t>23-06-2021</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91995B-7B11-49A8-9854-153F0D049CDE}" type="slidenum">
              <a:rPr lang="en-IN" smtClean="0"/>
              <a:t>‹#›</a:t>
            </a:fld>
            <a:endParaRPr lang="en-IN"/>
          </a:p>
        </p:txBody>
      </p:sp>
    </p:spTree>
    <p:extLst>
      <p:ext uri="{BB962C8B-B14F-4D97-AF65-F5344CB8AC3E}">
        <p14:creationId xmlns:p14="http://schemas.microsoft.com/office/powerpoint/2010/main" val="3293280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6/23/2021</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nchor="t"/>
          <a:lstStyle>
            <a:lvl1pPr>
              <a:defRPr sz="2800"/>
            </a:lvl1pPr>
            <a:lvl2pPr>
              <a:defRPr sz="2400"/>
            </a:lvl2pPr>
            <a:lvl3pPr>
              <a:defRPr sz="2000"/>
            </a:lvl3pPr>
            <a:lvl4pPr>
              <a:defRPr sz="2000"/>
            </a:lvl4pPr>
            <a:lvl5pPr>
              <a:defRPr sz="20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8A87A34-81AB-432B-8DAE-1953F412C126}" type="datetimeFigureOut">
              <a:rPr lang="en-US" dirty="0"/>
              <a:t>6/23/2021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6/23/2021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6/23/2021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6/23/2021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6/23/2021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6/23/2021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6/23/2021</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6/23/2021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6/23/2021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6/23/2021</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24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2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2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24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17780" y="0"/>
            <a:ext cx="8637073" cy="2386361"/>
          </a:xfrm>
        </p:spPr>
        <p:txBody>
          <a:bodyPr>
            <a:normAutofit/>
          </a:bodyPr>
          <a:lstStyle/>
          <a:p>
            <a:r>
              <a:rPr lang="en-IN" sz="4000" dirty="0"/>
              <a:t>Software Project Management</a:t>
            </a:r>
            <a:r>
              <a:rPr lang="en-IN" sz="4800" dirty="0"/>
              <a:t> </a:t>
            </a:r>
            <a:br>
              <a:rPr lang="en-IN" sz="4800" dirty="0"/>
            </a:br>
            <a:r>
              <a:rPr lang="en-IN" sz="4400" dirty="0">
                <a:solidFill>
                  <a:srgbClr val="0000CC"/>
                </a:solidFill>
              </a:rPr>
              <a:t>Software effort estimation</a:t>
            </a:r>
          </a:p>
        </p:txBody>
      </p:sp>
      <p:sp>
        <p:nvSpPr>
          <p:cNvPr id="3" name="Subtitle 2"/>
          <p:cNvSpPr>
            <a:spLocks noGrp="1"/>
          </p:cNvSpPr>
          <p:nvPr>
            <p:ph type="subTitle" idx="1"/>
          </p:nvPr>
        </p:nvSpPr>
        <p:spPr>
          <a:xfrm>
            <a:off x="2417780" y="3531204"/>
            <a:ext cx="8637072" cy="1944438"/>
          </a:xfrm>
        </p:spPr>
        <p:txBody>
          <a:bodyPr>
            <a:normAutofit fontScale="85000" lnSpcReduction="20000"/>
          </a:bodyPr>
          <a:lstStyle/>
          <a:p>
            <a:r>
              <a:rPr lang="en-IN" dirty="0" err="1"/>
              <a:t>Dr.</a:t>
            </a:r>
            <a:r>
              <a:rPr lang="en-IN" dirty="0"/>
              <a:t> D Evangelin </a:t>
            </a:r>
            <a:r>
              <a:rPr lang="en-IN" dirty="0" err="1"/>
              <a:t>geetha</a:t>
            </a:r>
            <a:endParaRPr lang="en-IN" dirty="0"/>
          </a:p>
          <a:p>
            <a:r>
              <a:rPr lang="en-IN" dirty="0"/>
              <a:t>Associate professor</a:t>
            </a:r>
          </a:p>
          <a:p>
            <a:r>
              <a:rPr lang="en-IN" dirty="0"/>
              <a:t>Department of master of computer applications</a:t>
            </a:r>
          </a:p>
          <a:p>
            <a:r>
              <a:rPr lang="en-IN" dirty="0" err="1"/>
              <a:t>Ramaiak</a:t>
            </a:r>
            <a:r>
              <a:rPr lang="en-IN" dirty="0"/>
              <a:t> institute of technology</a:t>
            </a:r>
          </a:p>
          <a:p>
            <a:r>
              <a:rPr lang="en-IN" dirty="0"/>
              <a:t>Bangalore - 560054</a:t>
            </a:r>
          </a:p>
        </p:txBody>
      </p:sp>
    </p:spTree>
    <p:extLst>
      <p:ext uri="{BB962C8B-B14F-4D97-AF65-F5344CB8AC3E}">
        <p14:creationId xmlns:p14="http://schemas.microsoft.com/office/powerpoint/2010/main" val="35170040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Learning objectives</a:t>
            </a:r>
          </a:p>
        </p:txBody>
      </p:sp>
      <p:sp>
        <p:nvSpPr>
          <p:cNvPr id="3" name="Content Placeholder 2"/>
          <p:cNvSpPr>
            <a:spLocks noGrp="1"/>
          </p:cNvSpPr>
          <p:nvPr>
            <p:ph idx="1"/>
          </p:nvPr>
        </p:nvSpPr>
        <p:spPr/>
        <p:txBody>
          <a:bodyPr>
            <a:normAutofit fontScale="77500" lnSpcReduction="20000"/>
          </a:bodyPr>
          <a:lstStyle/>
          <a:p>
            <a:r>
              <a:rPr lang="en-IN" dirty="0"/>
              <a:t>Avoid the dangers of unrealistic estimates</a:t>
            </a:r>
          </a:p>
          <a:p>
            <a:r>
              <a:rPr lang="en-IN" dirty="0"/>
              <a:t>Understand the range of estimating methods that can be used</a:t>
            </a:r>
          </a:p>
          <a:p>
            <a:r>
              <a:rPr lang="en-IN" dirty="0"/>
              <a:t>Estimate projects using a bottom-up approach</a:t>
            </a:r>
          </a:p>
          <a:p>
            <a:r>
              <a:rPr lang="en-IN" dirty="0"/>
              <a:t>Estimate the effort needed to implement software using a procedural programming language</a:t>
            </a:r>
          </a:p>
          <a:p>
            <a:r>
              <a:rPr lang="en-IN" dirty="0"/>
              <a:t>Count the function points for a system</a:t>
            </a:r>
          </a:p>
          <a:p>
            <a:r>
              <a:rPr lang="en-IN" dirty="0"/>
              <a:t>Understand the COCOMO II approach and use it to estimate project </a:t>
            </a:r>
            <a:r>
              <a:rPr lang="en-IN" dirty="0" err="1"/>
              <a:t>effore</a:t>
            </a:r>
            <a:endParaRPr lang="en-IN" dirty="0"/>
          </a:p>
        </p:txBody>
      </p:sp>
    </p:spTree>
    <p:extLst>
      <p:ext uri="{BB962C8B-B14F-4D97-AF65-F5344CB8AC3E}">
        <p14:creationId xmlns:p14="http://schemas.microsoft.com/office/powerpoint/2010/main" val="41175971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makes a successful project?</a:t>
            </a:r>
          </a:p>
        </p:txBody>
      </p:sp>
      <p:sp>
        <p:nvSpPr>
          <p:cNvPr id="3" name="Content Placeholder 2"/>
          <p:cNvSpPr>
            <a:spLocks noGrp="1"/>
          </p:cNvSpPr>
          <p:nvPr>
            <p:ph idx="1"/>
          </p:nvPr>
        </p:nvSpPr>
        <p:spPr/>
        <p:txBody>
          <a:bodyPr>
            <a:normAutofit fontScale="92500" lnSpcReduction="20000"/>
          </a:bodyPr>
          <a:lstStyle/>
          <a:p>
            <a:r>
              <a:rPr lang="en-US" dirty="0"/>
              <a:t>Delivering: </a:t>
            </a:r>
          </a:p>
          <a:p>
            <a:pPr lvl="1"/>
            <a:r>
              <a:rPr lang="en-US" dirty="0"/>
              <a:t>agreed functionality </a:t>
            </a:r>
          </a:p>
          <a:p>
            <a:pPr lvl="1"/>
            <a:r>
              <a:rPr lang="en-US" dirty="0"/>
              <a:t>on time </a:t>
            </a:r>
          </a:p>
          <a:p>
            <a:pPr lvl="1"/>
            <a:r>
              <a:rPr lang="en-US" dirty="0"/>
              <a:t>at the agreed cost </a:t>
            </a:r>
          </a:p>
          <a:p>
            <a:pPr lvl="1"/>
            <a:r>
              <a:rPr lang="en-US" dirty="0"/>
              <a:t>with the required quality </a:t>
            </a:r>
          </a:p>
          <a:p>
            <a:r>
              <a:rPr lang="en-US" dirty="0"/>
              <a:t>Stages: </a:t>
            </a:r>
          </a:p>
          <a:p>
            <a:pPr lvl="1"/>
            <a:r>
              <a:rPr lang="en-US" dirty="0"/>
              <a:t>set targets </a:t>
            </a:r>
          </a:p>
          <a:p>
            <a:pPr lvl="1"/>
            <a:r>
              <a:rPr lang="en-US" dirty="0"/>
              <a:t>Attempt to achieve targets</a:t>
            </a:r>
            <a:endParaRPr lang="en-IN" dirty="0"/>
          </a:p>
        </p:txBody>
      </p:sp>
    </p:spTree>
    <p:extLst>
      <p:ext uri="{BB962C8B-B14F-4D97-AF65-F5344CB8AC3E}">
        <p14:creationId xmlns:p14="http://schemas.microsoft.com/office/powerpoint/2010/main" val="428879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Software effort estimation: Introduction</a:t>
            </a:r>
          </a:p>
        </p:txBody>
      </p:sp>
      <p:sp>
        <p:nvSpPr>
          <p:cNvPr id="3" name="Content Placeholder 2"/>
          <p:cNvSpPr>
            <a:spLocks noGrp="1"/>
          </p:cNvSpPr>
          <p:nvPr>
            <p:ph idx="1"/>
          </p:nvPr>
        </p:nvSpPr>
        <p:spPr/>
        <p:txBody>
          <a:bodyPr/>
          <a:lstStyle/>
          <a:p>
            <a:r>
              <a:rPr lang="en-IN" dirty="0">
                <a:solidFill>
                  <a:srgbClr val="0000CC"/>
                </a:solidFill>
              </a:rPr>
              <a:t>Effort</a:t>
            </a:r>
            <a:r>
              <a:rPr lang="en-IN" dirty="0"/>
              <a:t> – affect cost</a:t>
            </a:r>
          </a:p>
          <a:p>
            <a:r>
              <a:rPr lang="en-IN" dirty="0">
                <a:solidFill>
                  <a:srgbClr val="0000CC"/>
                </a:solidFill>
              </a:rPr>
              <a:t>Activity duration </a:t>
            </a:r>
            <a:r>
              <a:rPr lang="en-IN" dirty="0"/>
              <a:t>– affect the delivery time</a:t>
            </a:r>
          </a:p>
          <a:p>
            <a:pPr marL="0" indent="0">
              <a:buNone/>
            </a:pPr>
            <a:endParaRPr lang="en-IN" dirty="0"/>
          </a:p>
          <a:p>
            <a:endParaRPr lang="en-IN" dirty="0"/>
          </a:p>
        </p:txBody>
      </p:sp>
    </p:spTree>
    <p:extLst>
      <p:ext uri="{BB962C8B-B14F-4D97-AF65-F5344CB8AC3E}">
        <p14:creationId xmlns:p14="http://schemas.microsoft.com/office/powerpoint/2010/main" val="11229124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Difficulties in estimation</a:t>
            </a:r>
          </a:p>
        </p:txBody>
      </p:sp>
      <p:sp>
        <p:nvSpPr>
          <p:cNvPr id="3" name="Content Placeholder 2"/>
          <p:cNvSpPr>
            <a:spLocks noGrp="1"/>
          </p:cNvSpPr>
          <p:nvPr>
            <p:ph idx="1"/>
          </p:nvPr>
        </p:nvSpPr>
        <p:spPr/>
        <p:txBody>
          <a:bodyPr/>
          <a:lstStyle/>
          <a:p>
            <a:r>
              <a:rPr lang="en-IN" dirty="0"/>
              <a:t>Complexity and invisibility of software</a:t>
            </a:r>
          </a:p>
          <a:p>
            <a:r>
              <a:rPr lang="en-IN" dirty="0"/>
              <a:t>Subjective nature of estimating</a:t>
            </a:r>
          </a:p>
          <a:p>
            <a:pPr lvl="1"/>
            <a:r>
              <a:rPr lang="en-IN" dirty="0"/>
              <a:t>Underestimate or over-estimate</a:t>
            </a:r>
          </a:p>
          <a:p>
            <a:pPr lvl="1"/>
            <a:r>
              <a:rPr lang="en-IN" dirty="0"/>
              <a:t>Political implications</a:t>
            </a:r>
          </a:p>
          <a:p>
            <a:pPr lvl="1"/>
            <a:r>
              <a:rPr lang="en-IN" dirty="0"/>
              <a:t>Changing technology</a:t>
            </a:r>
          </a:p>
          <a:p>
            <a:pPr lvl="1"/>
            <a:r>
              <a:rPr lang="en-IN" dirty="0"/>
              <a:t>Lack of </a:t>
            </a:r>
            <a:r>
              <a:rPr lang="en-IN" dirty="0" err="1"/>
              <a:t>homogenety</a:t>
            </a:r>
            <a:endParaRPr lang="en-IN" dirty="0"/>
          </a:p>
          <a:p>
            <a:endParaRPr lang="en-IN" dirty="0"/>
          </a:p>
          <a:p>
            <a:endParaRPr lang="en-IN" dirty="0"/>
          </a:p>
        </p:txBody>
      </p:sp>
    </p:spTree>
    <p:extLst>
      <p:ext uri="{BB962C8B-B14F-4D97-AF65-F5344CB8AC3E}">
        <p14:creationId xmlns:p14="http://schemas.microsoft.com/office/powerpoint/2010/main" val="40149188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Difficulties in estimation</a:t>
            </a:r>
          </a:p>
        </p:txBody>
      </p:sp>
      <p:sp>
        <p:nvSpPr>
          <p:cNvPr id="3" name="Content Placeholder 2"/>
          <p:cNvSpPr>
            <a:spLocks noGrp="1"/>
          </p:cNvSpPr>
          <p:nvPr>
            <p:ph idx="1"/>
          </p:nvPr>
        </p:nvSpPr>
        <p:spPr/>
        <p:txBody>
          <a:bodyPr>
            <a:normAutofit fontScale="77500" lnSpcReduction="20000"/>
          </a:bodyPr>
          <a:lstStyle/>
          <a:p>
            <a:r>
              <a:rPr lang="en-IN" dirty="0"/>
              <a:t>Political implications</a:t>
            </a:r>
          </a:p>
          <a:p>
            <a:pPr lvl="1"/>
            <a:r>
              <a:rPr lang="en-IN" dirty="0"/>
              <a:t>Different groups have different objectives</a:t>
            </a:r>
          </a:p>
          <a:p>
            <a:pPr lvl="1"/>
            <a:r>
              <a:rPr lang="en-IN" dirty="0">
                <a:solidFill>
                  <a:srgbClr val="0000CC"/>
                </a:solidFill>
              </a:rPr>
              <a:t>Suggestion: </a:t>
            </a:r>
            <a:r>
              <a:rPr lang="en-IN" dirty="0"/>
              <a:t>Estimates be produced by a specialist estimating group</a:t>
            </a:r>
          </a:p>
          <a:p>
            <a:pPr lvl="2"/>
            <a:r>
              <a:rPr lang="en-IN" dirty="0"/>
              <a:t>Developers </a:t>
            </a:r>
          </a:p>
          <a:p>
            <a:r>
              <a:rPr lang="en-IN" dirty="0"/>
              <a:t>Changing technology</a:t>
            </a:r>
          </a:p>
          <a:p>
            <a:pPr lvl="1"/>
            <a:r>
              <a:rPr lang="en-IN" dirty="0"/>
              <a:t>Experience of previous projects cannot be used</a:t>
            </a:r>
          </a:p>
          <a:p>
            <a:r>
              <a:rPr lang="en-IN" dirty="0"/>
              <a:t>Lack of homogeneity of project experience</a:t>
            </a:r>
          </a:p>
          <a:p>
            <a:pPr lvl="1"/>
            <a:r>
              <a:rPr lang="en-IN" dirty="0"/>
              <a:t>Other differences between projects.</a:t>
            </a:r>
          </a:p>
          <a:p>
            <a:pPr lvl="1"/>
            <a:r>
              <a:rPr lang="en-IN" dirty="0"/>
              <a:t>E.g.  ‘testing’</a:t>
            </a:r>
          </a:p>
        </p:txBody>
      </p:sp>
    </p:spTree>
    <p:extLst>
      <p:ext uri="{BB962C8B-B14F-4D97-AF65-F5344CB8AC3E}">
        <p14:creationId xmlns:p14="http://schemas.microsoft.com/office/powerpoint/2010/main" val="3088794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Where are the Estimates done?</a:t>
            </a:r>
          </a:p>
        </p:txBody>
      </p:sp>
      <p:sp>
        <p:nvSpPr>
          <p:cNvPr id="3" name="Content Placeholder 2"/>
          <p:cNvSpPr>
            <a:spLocks noGrp="1"/>
          </p:cNvSpPr>
          <p:nvPr>
            <p:ph idx="1"/>
          </p:nvPr>
        </p:nvSpPr>
        <p:spPr/>
        <p:txBody>
          <a:bodyPr/>
          <a:lstStyle/>
          <a:p>
            <a:r>
              <a:rPr lang="en-IN" dirty="0"/>
              <a:t>Strategic planning</a:t>
            </a:r>
          </a:p>
          <a:p>
            <a:r>
              <a:rPr lang="en-IN" dirty="0"/>
              <a:t>Feasibility study</a:t>
            </a:r>
          </a:p>
          <a:p>
            <a:r>
              <a:rPr lang="en-IN" dirty="0"/>
              <a:t>System specification</a:t>
            </a:r>
          </a:p>
          <a:p>
            <a:r>
              <a:rPr lang="en-IN" dirty="0"/>
              <a:t>Evaluation of suppliers’ proposals</a:t>
            </a:r>
          </a:p>
          <a:p>
            <a:r>
              <a:rPr lang="en-IN" dirty="0"/>
              <a:t>Project planning</a:t>
            </a:r>
          </a:p>
        </p:txBody>
      </p:sp>
    </p:spTree>
    <p:extLst>
      <p:ext uri="{BB962C8B-B14F-4D97-AF65-F5344CB8AC3E}">
        <p14:creationId xmlns:p14="http://schemas.microsoft.com/office/powerpoint/2010/main" val="3649576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Problems with over and under estimates</a:t>
            </a:r>
          </a:p>
        </p:txBody>
      </p:sp>
      <p:sp>
        <p:nvSpPr>
          <p:cNvPr id="3" name="Content Placeholder 2"/>
          <p:cNvSpPr>
            <a:spLocks noGrp="1"/>
          </p:cNvSpPr>
          <p:nvPr>
            <p:ph idx="1"/>
          </p:nvPr>
        </p:nvSpPr>
        <p:spPr/>
        <p:txBody>
          <a:bodyPr/>
          <a:lstStyle/>
          <a:p>
            <a:r>
              <a:rPr lang="en-IN" dirty="0"/>
              <a:t>Parkinson’s Law:</a:t>
            </a:r>
          </a:p>
          <a:p>
            <a:pPr lvl="1"/>
            <a:r>
              <a:rPr lang="en-IN" dirty="0"/>
              <a:t>Work expands to fill the time available</a:t>
            </a:r>
          </a:p>
          <a:p>
            <a:r>
              <a:rPr lang="en-IN" dirty="0"/>
              <a:t>Brooks’ Law:</a:t>
            </a:r>
          </a:p>
          <a:p>
            <a:pPr lvl="1"/>
            <a:r>
              <a:rPr lang="en-IN" dirty="0"/>
              <a:t>Disproportionately with the number of staff</a:t>
            </a:r>
          </a:p>
          <a:p>
            <a:pPr lvl="1"/>
            <a:r>
              <a:rPr lang="en-IN" dirty="0"/>
              <a:t>‘putting more people on a late job makes it later’</a:t>
            </a:r>
          </a:p>
        </p:txBody>
      </p:sp>
    </p:spTree>
    <p:extLst>
      <p:ext uri="{BB962C8B-B14F-4D97-AF65-F5344CB8AC3E}">
        <p14:creationId xmlns:p14="http://schemas.microsoft.com/office/powerpoint/2010/main" val="837639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Problems with over and under estimates</a:t>
            </a:r>
          </a:p>
        </p:txBody>
      </p:sp>
      <p:sp>
        <p:nvSpPr>
          <p:cNvPr id="3" name="Content Placeholder 2"/>
          <p:cNvSpPr>
            <a:spLocks noGrp="1"/>
          </p:cNvSpPr>
          <p:nvPr>
            <p:ph idx="1"/>
          </p:nvPr>
        </p:nvSpPr>
        <p:spPr/>
        <p:txBody>
          <a:bodyPr>
            <a:normAutofit fontScale="92500"/>
          </a:bodyPr>
          <a:lstStyle/>
          <a:p>
            <a:r>
              <a:rPr lang="en-IN" dirty="0"/>
              <a:t>Danger with the under-estimate is the effect on quality</a:t>
            </a:r>
          </a:p>
          <a:p>
            <a:r>
              <a:rPr lang="en-IN" dirty="0">
                <a:solidFill>
                  <a:srgbClr val="0000CC"/>
                </a:solidFill>
              </a:rPr>
              <a:t>Weinberg’s zeroth law of reliability</a:t>
            </a:r>
          </a:p>
          <a:p>
            <a:pPr lvl="1"/>
            <a:r>
              <a:rPr lang="en-IN" dirty="0"/>
              <a:t>‘if a system does not have to be reliable, it can meet any other objective’</a:t>
            </a:r>
          </a:p>
          <a:p>
            <a:r>
              <a:rPr lang="en-IN" dirty="0">
                <a:solidFill>
                  <a:srgbClr val="0000CC"/>
                </a:solidFill>
              </a:rPr>
              <a:t>Motivation and morale </a:t>
            </a:r>
            <a:r>
              <a:rPr lang="en-IN" dirty="0"/>
              <a:t>are enhanced where targets are achievable</a:t>
            </a:r>
          </a:p>
          <a:p>
            <a:r>
              <a:rPr lang="en-IN" dirty="0"/>
              <a:t>An estimate is not really a prediction, it is a </a:t>
            </a:r>
            <a:r>
              <a:rPr lang="en-IN" dirty="0">
                <a:solidFill>
                  <a:srgbClr val="0000CC"/>
                </a:solidFill>
              </a:rPr>
              <a:t>management goal</a:t>
            </a:r>
          </a:p>
          <a:p>
            <a:endParaRPr lang="en-IN" dirty="0"/>
          </a:p>
        </p:txBody>
      </p:sp>
    </p:spTree>
    <p:extLst>
      <p:ext uri="{BB962C8B-B14F-4D97-AF65-F5344CB8AC3E}">
        <p14:creationId xmlns:p14="http://schemas.microsoft.com/office/powerpoint/2010/main" val="25470275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The basis for software estimating</a:t>
            </a:r>
          </a:p>
        </p:txBody>
      </p:sp>
      <p:sp>
        <p:nvSpPr>
          <p:cNvPr id="3" name="Content Placeholder 2"/>
          <p:cNvSpPr>
            <a:spLocks noGrp="1"/>
          </p:cNvSpPr>
          <p:nvPr>
            <p:ph idx="1"/>
          </p:nvPr>
        </p:nvSpPr>
        <p:spPr/>
        <p:txBody>
          <a:bodyPr/>
          <a:lstStyle/>
          <a:p>
            <a:r>
              <a:rPr lang="en-IN" dirty="0"/>
              <a:t>The need for historical data</a:t>
            </a:r>
          </a:p>
          <a:p>
            <a:r>
              <a:rPr lang="en-IN" dirty="0"/>
              <a:t>Parameters to be estimated</a:t>
            </a:r>
          </a:p>
          <a:p>
            <a:r>
              <a:rPr lang="en-IN" dirty="0"/>
              <a:t>Measure of work</a:t>
            </a:r>
          </a:p>
          <a:p>
            <a:r>
              <a:rPr lang="en-IN" dirty="0"/>
              <a:t>Measure </a:t>
            </a:r>
            <a:r>
              <a:rPr lang="en-IN"/>
              <a:t>of effort</a:t>
            </a:r>
          </a:p>
          <a:p>
            <a:endParaRPr lang="en-IN"/>
          </a:p>
        </p:txBody>
      </p:sp>
    </p:spTree>
    <p:extLst>
      <p:ext uri="{BB962C8B-B14F-4D97-AF65-F5344CB8AC3E}">
        <p14:creationId xmlns:p14="http://schemas.microsoft.com/office/powerpoint/2010/main" val="27167048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8555" y="280412"/>
            <a:ext cx="9603275" cy="622837"/>
          </a:xfrm>
        </p:spPr>
        <p:txBody>
          <a:bodyPr/>
          <a:lstStyle/>
          <a:p>
            <a:r>
              <a:rPr lang="en-IN" dirty="0"/>
              <a:t>The basis for software estimating</a:t>
            </a:r>
          </a:p>
        </p:txBody>
      </p:sp>
      <p:sp>
        <p:nvSpPr>
          <p:cNvPr id="3" name="Content Placeholder 2"/>
          <p:cNvSpPr>
            <a:spLocks noGrp="1"/>
          </p:cNvSpPr>
          <p:nvPr>
            <p:ph idx="1"/>
          </p:nvPr>
        </p:nvSpPr>
        <p:spPr>
          <a:xfrm>
            <a:off x="1228554" y="1268599"/>
            <a:ext cx="9603275" cy="3450613"/>
          </a:xfrm>
        </p:spPr>
        <p:txBody>
          <a:bodyPr/>
          <a:lstStyle/>
          <a:p>
            <a:r>
              <a:rPr lang="en-IN" dirty="0"/>
              <a:t>The need for historical data</a:t>
            </a:r>
          </a:p>
          <a:p>
            <a:pPr lvl="1"/>
            <a:r>
              <a:rPr lang="en-IN" dirty="0"/>
              <a:t>Information about past projects</a:t>
            </a:r>
          </a:p>
          <a:p>
            <a:pPr lvl="1"/>
            <a:r>
              <a:rPr lang="en-IN" dirty="0"/>
              <a:t>Differences in programming languages and experience of staff</a:t>
            </a:r>
          </a:p>
          <a:p>
            <a:pPr lvl="1"/>
            <a:r>
              <a:rPr lang="en-IN" dirty="0"/>
              <a:t>Externally maintained datasets of project performance data can be accessed</a:t>
            </a:r>
          </a:p>
          <a:p>
            <a:pPr lvl="1"/>
            <a:r>
              <a:rPr lang="en-IN" dirty="0"/>
              <a:t>International Software Benchmarking Standards Group (ISBSG)</a:t>
            </a:r>
          </a:p>
          <a:p>
            <a:pPr lvl="1"/>
            <a:endParaRPr lang="en-IN" dirty="0"/>
          </a:p>
        </p:txBody>
      </p:sp>
    </p:spTree>
    <p:extLst>
      <p:ext uri="{BB962C8B-B14F-4D97-AF65-F5344CB8AC3E}">
        <p14:creationId xmlns:p14="http://schemas.microsoft.com/office/powerpoint/2010/main" val="29087285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The basis for software estimating</a:t>
            </a:r>
          </a:p>
        </p:txBody>
      </p:sp>
      <p:sp>
        <p:nvSpPr>
          <p:cNvPr id="3" name="Content Placeholder 2"/>
          <p:cNvSpPr>
            <a:spLocks noGrp="1"/>
          </p:cNvSpPr>
          <p:nvPr>
            <p:ph idx="1"/>
          </p:nvPr>
        </p:nvSpPr>
        <p:spPr/>
        <p:txBody>
          <a:bodyPr/>
          <a:lstStyle/>
          <a:p>
            <a:r>
              <a:rPr lang="en-IN" dirty="0"/>
              <a:t>Parameters to be estimated</a:t>
            </a:r>
          </a:p>
          <a:p>
            <a:pPr lvl="1"/>
            <a:r>
              <a:rPr lang="en-IN" dirty="0"/>
              <a:t>Effort and duration</a:t>
            </a:r>
          </a:p>
          <a:p>
            <a:pPr lvl="1"/>
            <a:r>
              <a:rPr lang="en-IN" dirty="0"/>
              <a:t>Duration – measured in months</a:t>
            </a:r>
          </a:p>
          <a:p>
            <a:pPr lvl="1"/>
            <a:r>
              <a:rPr lang="en-IN" dirty="0"/>
              <a:t>Effort – Work-month (</a:t>
            </a:r>
            <a:r>
              <a:rPr lang="en-IN" dirty="0" err="1"/>
              <a:t>wm</a:t>
            </a:r>
            <a:r>
              <a:rPr lang="en-IN" dirty="0"/>
              <a:t>) or person-month (pm)</a:t>
            </a:r>
          </a:p>
          <a:p>
            <a:pPr marL="457200" lvl="1" indent="0">
              <a:buNone/>
            </a:pPr>
            <a:endParaRPr lang="en-IN" dirty="0"/>
          </a:p>
        </p:txBody>
      </p:sp>
    </p:spTree>
    <p:extLst>
      <p:ext uri="{BB962C8B-B14F-4D97-AF65-F5344CB8AC3E}">
        <p14:creationId xmlns:p14="http://schemas.microsoft.com/office/powerpoint/2010/main" val="1948633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The basis for software estimating</a:t>
            </a:r>
          </a:p>
        </p:txBody>
      </p:sp>
      <p:sp>
        <p:nvSpPr>
          <p:cNvPr id="3" name="Content Placeholder 2"/>
          <p:cNvSpPr>
            <a:spLocks noGrp="1"/>
          </p:cNvSpPr>
          <p:nvPr>
            <p:ph idx="1"/>
          </p:nvPr>
        </p:nvSpPr>
        <p:spPr>
          <a:xfrm>
            <a:off x="1451579" y="1360450"/>
            <a:ext cx="9603275" cy="4105896"/>
          </a:xfrm>
        </p:spPr>
        <p:txBody>
          <a:bodyPr>
            <a:normAutofit lnSpcReduction="10000"/>
          </a:bodyPr>
          <a:lstStyle/>
          <a:p>
            <a:r>
              <a:rPr lang="en-IN" dirty="0"/>
              <a:t>Person Month</a:t>
            </a:r>
          </a:p>
          <a:p>
            <a:pPr lvl="1"/>
            <a:r>
              <a:rPr lang="en-US" dirty="0"/>
              <a:t>Suppose a project is estimated to take 300 person-months to develop: </a:t>
            </a:r>
          </a:p>
          <a:p>
            <a:pPr lvl="2"/>
            <a:r>
              <a:rPr lang="en-US" sz="2400" dirty="0"/>
              <a:t>Is one person working for 30 days same as 30 persons working for 1 day?</a:t>
            </a:r>
          </a:p>
          <a:p>
            <a:pPr lvl="2"/>
            <a:r>
              <a:rPr lang="en-US" sz="2400" dirty="0"/>
              <a:t>No? why? </a:t>
            </a:r>
          </a:p>
          <a:p>
            <a:pPr lvl="1"/>
            <a:r>
              <a:rPr lang="en-US" dirty="0"/>
              <a:t>How many hours is a man month: </a:t>
            </a:r>
          </a:p>
          <a:p>
            <a:pPr lvl="2"/>
            <a:r>
              <a:rPr lang="en-US" sz="2600" dirty="0"/>
              <a:t>Default Value: 152 hours per month</a:t>
            </a:r>
          </a:p>
          <a:p>
            <a:pPr lvl="2"/>
            <a:r>
              <a:rPr lang="en-US" sz="2600" dirty="0"/>
              <a:t>19 days at 8 hours per day</a:t>
            </a:r>
            <a:endParaRPr lang="en-IN" sz="2600" dirty="0"/>
          </a:p>
        </p:txBody>
      </p:sp>
    </p:spTree>
    <p:extLst>
      <p:ext uri="{BB962C8B-B14F-4D97-AF65-F5344CB8AC3E}">
        <p14:creationId xmlns:p14="http://schemas.microsoft.com/office/powerpoint/2010/main" val="36805126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The basis for software estimating</a:t>
            </a:r>
          </a:p>
        </p:txBody>
      </p:sp>
      <p:sp>
        <p:nvSpPr>
          <p:cNvPr id="4" name="Content Placeholder 3"/>
          <p:cNvSpPr>
            <a:spLocks noGrp="1"/>
          </p:cNvSpPr>
          <p:nvPr>
            <p:ph idx="1"/>
          </p:nvPr>
        </p:nvSpPr>
        <p:spPr/>
        <p:txBody>
          <a:bodyPr/>
          <a:lstStyle/>
          <a:p>
            <a:r>
              <a:rPr lang="en-US" dirty="0"/>
              <a:t>Why Person-Month and not Person-days or Person years?</a:t>
            </a:r>
          </a:p>
          <a:p>
            <a:pPr lvl="1"/>
            <a:r>
              <a:rPr lang="en-US" dirty="0"/>
              <a:t>Modern Projects typically take a few months to complete... </a:t>
            </a:r>
          </a:p>
          <a:p>
            <a:pPr lvl="1"/>
            <a:r>
              <a:rPr lang="en-US" dirty="0"/>
              <a:t>Person-years is clearly unsuitable. </a:t>
            </a:r>
          </a:p>
          <a:p>
            <a:pPr lvl="1"/>
            <a:r>
              <a:rPr lang="en-US" dirty="0"/>
              <a:t>Person-days would make monitoring and estimation overhead large and tedious.</a:t>
            </a:r>
            <a:endParaRPr lang="en-IN" dirty="0"/>
          </a:p>
        </p:txBody>
      </p:sp>
    </p:spTree>
    <p:extLst>
      <p:ext uri="{BB962C8B-B14F-4D97-AF65-F5344CB8AC3E}">
        <p14:creationId xmlns:p14="http://schemas.microsoft.com/office/powerpoint/2010/main" val="11734436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The basis for software estimating</a:t>
            </a:r>
          </a:p>
        </p:txBody>
      </p:sp>
      <p:sp>
        <p:nvSpPr>
          <p:cNvPr id="3" name="Content Placeholder 2"/>
          <p:cNvSpPr>
            <a:spLocks noGrp="1"/>
          </p:cNvSpPr>
          <p:nvPr>
            <p:ph idx="1"/>
          </p:nvPr>
        </p:nvSpPr>
        <p:spPr/>
        <p:txBody>
          <a:bodyPr/>
          <a:lstStyle/>
          <a:p>
            <a:r>
              <a:rPr lang="en-IN" dirty="0"/>
              <a:t>Measure of work</a:t>
            </a:r>
          </a:p>
          <a:p>
            <a:pPr lvl="1"/>
            <a:r>
              <a:rPr lang="en-IN" dirty="0"/>
              <a:t>Size of the project</a:t>
            </a:r>
          </a:p>
          <a:p>
            <a:pPr lvl="1"/>
            <a:r>
              <a:rPr lang="en-IN" dirty="0"/>
              <a:t>Work is characterized by cost and time</a:t>
            </a:r>
          </a:p>
          <a:p>
            <a:pPr lvl="1"/>
            <a:r>
              <a:rPr lang="en-IN" dirty="0"/>
              <a:t>First estimate size and then estimate cost and time</a:t>
            </a:r>
          </a:p>
          <a:p>
            <a:pPr lvl="1"/>
            <a:r>
              <a:rPr lang="en-IN" dirty="0"/>
              <a:t>Size – independent variable</a:t>
            </a:r>
          </a:p>
          <a:p>
            <a:pPr lvl="1"/>
            <a:r>
              <a:rPr lang="en-IN" dirty="0"/>
              <a:t>Cost and time – dependent variables</a:t>
            </a:r>
          </a:p>
        </p:txBody>
      </p:sp>
    </p:spTree>
    <p:extLst>
      <p:ext uri="{BB962C8B-B14F-4D97-AF65-F5344CB8AC3E}">
        <p14:creationId xmlns:p14="http://schemas.microsoft.com/office/powerpoint/2010/main" val="19423181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6614" y="101994"/>
            <a:ext cx="9603275" cy="645140"/>
          </a:xfrm>
        </p:spPr>
        <p:txBody>
          <a:bodyPr/>
          <a:lstStyle/>
          <a:p>
            <a:r>
              <a:rPr lang="en-IN" dirty="0"/>
              <a:t>The basis for software estimating</a:t>
            </a:r>
          </a:p>
        </p:txBody>
      </p:sp>
      <p:sp>
        <p:nvSpPr>
          <p:cNvPr id="3" name="Content Placeholder 2"/>
          <p:cNvSpPr>
            <a:spLocks noGrp="1"/>
          </p:cNvSpPr>
          <p:nvPr>
            <p:ph idx="1"/>
          </p:nvPr>
        </p:nvSpPr>
        <p:spPr>
          <a:xfrm>
            <a:off x="1451579" y="1326996"/>
            <a:ext cx="9603275" cy="4139350"/>
          </a:xfrm>
        </p:spPr>
        <p:txBody>
          <a:bodyPr>
            <a:normAutofit fontScale="92500" lnSpcReduction="10000"/>
          </a:bodyPr>
          <a:lstStyle/>
          <a:p>
            <a:r>
              <a:rPr lang="en-IN" dirty="0"/>
              <a:t>Measure of work – ‘Project Size’</a:t>
            </a:r>
          </a:p>
          <a:p>
            <a:pPr lvl="1"/>
            <a:r>
              <a:rPr lang="en-IN" dirty="0"/>
              <a:t>Measure of problem complexity in terms of effort and time</a:t>
            </a:r>
          </a:p>
          <a:p>
            <a:pPr lvl="1"/>
            <a:r>
              <a:rPr lang="en-IN" dirty="0"/>
              <a:t>Metrics</a:t>
            </a:r>
          </a:p>
          <a:p>
            <a:pPr lvl="2"/>
            <a:r>
              <a:rPr lang="en-IN" dirty="0"/>
              <a:t>Source Lines of Code (SLOC)</a:t>
            </a:r>
          </a:p>
          <a:p>
            <a:pPr lvl="3"/>
            <a:r>
              <a:rPr lang="en-IN" dirty="0"/>
              <a:t>No precise definition</a:t>
            </a:r>
          </a:p>
          <a:p>
            <a:pPr lvl="3"/>
            <a:r>
              <a:rPr lang="en-IN" dirty="0"/>
              <a:t>Difficult to estimate at start of a project</a:t>
            </a:r>
          </a:p>
          <a:p>
            <a:pPr lvl="3"/>
            <a:r>
              <a:rPr lang="en-IN" dirty="0"/>
              <a:t>Only a code measure</a:t>
            </a:r>
          </a:p>
          <a:p>
            <a:pPr lvl="3"/>
            <a:r>
              <a:rPr lang="en-IN" dirty="0"/>
              <a:t>Programmer – dependent</a:t>
            </a:r>
          </a:p>
          <a:p>
            <a:pPr lvl="3"/>
            <a:r>
              <a:rPr lang="en-IN" dirty="0"/>
              <a:t>Does not consider code complexity</a:t>
            </a:r>
          </a:p>
          <a:p>
            <a:pPr lvl="2"/>
            <a:r>
              <a:rPr lang="en-IN" dirty="0"/>
              <a:t>Function Point (FP)</a:t>
            </a:r>
          </a:p>
          <a:p>
            <a:pPr lvl="2"/>
            <a:endParaRPr lang="en-IN" dirty="0"/>
          </a:p>
          <a:p>
            <a:endParaRPr lang="en-IN" dirty="0"/>
          </a:p>
        </p:txBody>
      </p:sp>
    </p:spTree>
    <p:extLst>
      <p:ext uri="{BB962C8B-B14F-4D97-AF65-F5344CB8AC3E}">
        <p14:creationId xmlns:p14="http://schemas.microsoft.com/office/powerpoint/2010/main" val="37946057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5101" y="113144"/>
            <a:ext cx="9603275" cy="589384"/>
          </a:xfrm>
        </p:spPr>
        <p:txBody>
          <a:bodyPr/>
          <a:lstStyle/>
          <a:p>
            <a:r>
              <a:rPr lang="en-IN" dirty="0"/>
              <a:t>The basis for software estimating</a:t>
            </a:r>
          </a:p>
        </p:txBody>
      </p:sp>
      <p:sp>
        <p:nvSpPr>
          <p:cNvPr id="3" name="Content Placeholder 2"/>
          <p:cNvSpPr>
            <a:spLocks noGrp="1"/>
          </p:cNvSpPr>
          <p:nvPr>
            <p:ph idx="1"/>
          </p:nvPr>
        </p:nvSpPr>
        <p:spPr>
          <a:xfrm>
            <a:off x="0" y="1271239"/>
            <a:ext cx="6400800" cy="4072443"/>
          </a:xfrm>
        </p:spPr>
        <p:txBody>
          <a:bodyPr/>
          <a:lstStyle/>
          <a:p>
            <a:r>
              <a:rPr lang="en-IN" dirty="0"/>
              <a:t>Measure of effort</a:t>
            </a:r>
          </a:p>
          <a:p>
            <a:pPr lvl="1"/>
            <a:r>
              <a:rPr lang="en-IN" dirty="0"/>
              <a:t>Person-Month (PM)</a:t>
            </a:r>
          </a:p>
          <a:p>
            <a:pPr lvl="1"/>
            <a:r>
              <a:rPr lang="en-IN" dirty="0"/>
              <a:t>100 PM</a:t>
            </a:r>
          </a:p>
          <a:p>
            <a:pPr lvl="1"/>
            <a:r>
              <a:rPr lang="en-IN" dirty="0"/>
              <a:t>Why progress can not be measured as the product of men and months?</a:t>
            </a:r>
          </a:p>
          <a:p>
            <a:pPr lvl="2"/>
            <a:r>
              <a:rPr lang="en-IN" dirty="0"/>
              <a:t>Effort in communications dominate actual work</a:t>
            </a:r>
          </a:p>
          <a:p>
            <a:pPr lvl="2"/>
            <a:r>
              <a:rPr lang="en-IN" dirty="0"/>
              <a:t>2 parts: Training and intercommunications</a:t>
            </a:r>
          </a:p>
          <a:p>
            <a:pPr lvl="2"/>
            <a:r>
              <a:rPr lang="en-IN" dirty="0"/>
              <a:t>Pairwise communication - n(n-1)/2</a:t>
            </a:r>
          </a:p>
          <a:p>
            <a:pPr lvl="1"/>
            <a:endParaRPr lang="en-IN" dirty="0"/>
          </a:p>
          <a:p>
            <a:endParaRPr lang="en-IN" dirty="0"/>
          </a:p>
        </p:txBody>
      </p:sp>
      <p:pic>
        <p:nvPicPr>
          <p:cNvPr id="4"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7370586" y="711839"/>
            <a:ext cx="3724509" cy="5918319"/>
          </a:xfrm>
          <a:prstGeom prst="rect">
            <a:avLst/>
          </a:prstGeom>
        </p:spPr>
      </p:pic>
    </p:spTree>
    <p:extLst>
      <p:ext uri="{BB962C8B-B14F-4D97-AF65-F5344CB8AC3E}">
        <p14:creationId xmlns:p14="http://schemas.microsoft.com/office/powerpoint/2010/main" val="21692348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IN" dirty="0"/>
              <a:t>Software effort estimation techniques</a:t>
            </a:r>
          </a:p>
        </p:txBody>
      </p:sp>
      <p:sp>
        <p:nvSpPr>
          <p:cNvPr id="7" name="Content Placeholder 6"/>
          <p:cNvSpPr>
            <a:spLocks noGrp="1"/>
          </p:cNvSpPr>
          <p:nvPr>
            <p:ph idx="1"/>
          </p:nvPr>
        </p:nvSpPr>
        <p:spPr/>
        <p:txBody>
          <a:bodyPr>
            <a:normAutofit fontScale="92500" lnSpcReduction="20000"/>
          </a:bodyPr>
          <a:lstStyle/>
          <a:p>
            <a:r>
              <a:rPr lang="en-IN" dirty="0"/>
              <a:t>Barry Boehm:</a:t>
            </a:r>
          </a:p>
          <a:p>
            <a:pPr lvl="1"/>
            <a:r>
              <a:rPr lang="en-IN" dirty="0"/>
              <a:t>Algorithmic models</a:t>
            </a:r>
          </a:p>
          <a:p>
            <a:pPr lvl="1"/>
            <a:r>
              <a:rPr lang="en-IN" dirty="0"/>
              <a:t>Expert judgement</a:t>
            </a:r>
          </a:p>
          <a:p>
            <a:pPr lvl="1"/>
            <a:r>
              <a:rPr lang="en-IN" dirty="0"/>
              <a:t>Analogy</a:t>
            </a:r>
          </a:p>
          <a:p>
            <a:pPr lvl="1"/>
            <a:r>
              <a:rPr lang="en-IN" dirty="0"/>
              <a:t>Parkinson</a:t>
            </a:r>
          </a:p>
          <a:p>
            <a:pPr lvl="1"/>
            <a:r>
              <a:rPr lang="en-IN" dirty="0"/>
              <a:t>Price to win</a:t>
            </a:r>
          </a:p>
          <a:p>
            <a:pPr lvl="1"/>
            <a:r>
              <a:rPr lang="en-IN" dirty="0"/>
              <a:t>Top-down</a:t>
            </a:r>
          </a:p>
          <a:p>
            <a:pPr lvl="1"/>
            <a:r>
              <a:rPr lang="en-IN"/>
              <a:t>Bottom-up</a:t>
            </a:r>
          </a:p>
        </p:txBody>
      </p:sp>
    </p:spTree>
    <p:extLst>
      <p:ext uri="{BB962C8B-B14F-4D97-AF65-F5344CB8AC3E}">
        <p14:creationId xmlns:p14="http://schemas.microsoft.com/office/powerpoint/2010/main" val="21617063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Bottom-up estimating</a:t>
            </a:r>
          </a:p>
        </p:txBody>
      </p:sp>
      <p:sp>
        <p:nvSpPr>
          <p:cNvPr id="3" name="Content Placeholder 2"/>
          <p:cNvSpPr>
            <a:spLocks noGrp="1"/>
          </p:cNvSpPr>
          <p:nvPr>
            <p:ph idx="1"/>
          </p:nvPr>
        </p:nvSpPr>
        <p:spPr/>
        <p:txBody>
          <a:bodyPr/>
          <a:lstStyle/>
          <a:p>
            <a:r>
              <a:rPr lang="en-US" dirty="0"/>
              <a:t>Break the project into its component tasks</a:t>
            </a:r>
          </a:p>
          <a:p>
            <a:r>
              <a:rPr lang="en-US" dirty="0"/>
              <a:t>Task could be done in a week or two</a:t>
            </a:r>
          </a:p>
          <a:p>
            <a:r>
              <a:rPr lang="en-US" dirty="0"/>
              <a:t>Best at the later stages</a:t>
            </a:r>
          </a:p>
          <a:p>
            <a:r>
              <a:rPr lang="en-US" dirty="0"/>
              <a:t>Top-down – Work Break down structure</a:t>
            </a:r>
          </a:p>
          <a:p>
            <a:endParaRPr lang="en-US" dirty="0"/>
          </a:p>
        </p:txBody>
      </p:sp>
    </p:spTree>
    <p:extLst>
      <p:ext uri="{BB962C8B-B14F-4D97-AF65-F5344CB8AC3E}">
        <p14:creationId xmlns:p14="http://schemas.microsoft.com/office/powerpoint/2010/main" val="7040024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Bottom-up estimating</a:t>
            </a:r>
          </a:p>
        </p:txBody>
      </p:sp>
      <p:sp>
        <p:nvSpPr>
          <p:cNvPr id="3" name="Content Placeholder 2"/>
          <p:cNvSpPr>
            <a:spLocks noGrp="1"/>
          </p:cNvSpPr>
          <p:nvPr>
            <p:ph idx="1"/>
          </p:nvPr>
        </p:nvSpPr>
        <p:spPr/>
        <p:txBody>
          <a:bodyPr/>
          <a:lstStyle/>
          <a:p>
            <a:r>
              <a:rPr lang="en-US" dirty="0"/>
              <a:t>A procedural code-oriented approach</a:t>
            </a:r>
          </a:p>
          <a:p>
            <a:pPr lvl="1"/>
            <a:r>
              <a:rPr lang="en-US" dirty="0"/>
              <a:t>Envisage the number and type of software modules in the final system</a:t>
            </a:r>
          </a:p>
          <a:p>
            <a:pPr lvl="1"/>
            <a:r>
              <a:rPr lang="en-US" dirty="0"/>
              <a:t>Estimate the SLOC of each identified module</a:t>
            </a:r>
          </a:p>
          <a:p>
            <a:pPr lvl="1"/>
            <a:r>
              <a:rPr lang="en-US" dirty="0"/>
              <a:t>Estimate the work content, taking into account complexity and technical difficulty</a:t>
            </a:r>
          </a:p>
          <a:p>
            <a:pPr lvl="1"/>
            <a:r>
              <a:rPr lang="en-US" dirty="0"/>
              <a:t>Calculate the work-days effort</a:t>
            </a:r>
          </a:p>
        </p:txBody>
      </p:sp>
    </p:spTree>
    <p:extLst>
      <p:ext uri="{BB962C8B-B14F-4D97-AF65-F5344CB8AC3E}">
        <p14:creationId xmlns:p14="http://schemas.microsoft.com/office/powerpoint/2010/main" val="32302808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top-down approach and parametric models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77500" lnSpcReduction="20000"/>
              </a:bodyPr>
              <a:lstStyle/>
              <a:p>
                <a:r>
                  <a:rPr lang="en-US" dirty="0"/>
                  <a:t>Top-down approach associated with parametric (or algorithmic) models.</a:t>
                </a:r>
              </a:p>
              <a:p>
                <a14:m>
                  <m:oMath xmlns:m="http://schemas.openxmlformats.org/officeDocument/2006/math">
                    <m:r>
                      <a:rPr lang="en-US" b="0" i="1" smtClean="0">
                        <a:latin typeface="Cambria Math"/>
                      </a:rPr>
                      <m:t>𝑒𝑓𝑓𝑜𝑟𝑡</m:t>
                    </m:r>
                    <m:r>
                      <a:rPr lang="en-US" b="0" i="1" smtClean="0">
                        <a:latin typeface="Cambria Math"/>
                      </a:rPr>
                      <m:t>=</m:t>
                    </m:r>
                    <m:d>
                      <m:dPr>
                        <m:ctrlPr>
                          <a:rPr lang="en-US" b="0" i="1" smtClean="0">
                            <a:latin typeface="Cambria Math" panose="02040503050406030204" pitchFamily="18" charset="0"/>
                          </a:rPr>
                        </m:ctrlPr>
                      </m:dPr>
                      <m:e>
                        <m:r>
                          <a:rPr lang="en-US" b="0" i="1" smtClean="0">
                            <a:latin typeface="Cambria Math"/>
                          </a:rPr>
                          <m:t>𝑠𝑦𝑠𝑡𝑒𝑚</m:t>
                        </m:r>
                        <m:r>
                          <a:rPr lang="en-US" b="0" i="1" smtClean="0">
                            <a:latin typeface="Cambria Math"/>
                          </a:rPr>
                          <m:t> </m:t>
                        </m:r>
                        <m:r>
                          <a:rPr lang="en-US" b="0" i="1" smtClean="0">
                            <a:latin typeface="Cambria Math"/>
                          </a:rPr>
                          <m:t>𝑠𝑖𝑧𝑒</m:t>
                        </m:r>
                      </m:e>
                    </m:d>
                    <m:r>
                      <a:rPr lang="en-US" b="0" i="1" smtClean="0">
                        <a:latin typeface="Cambria Math"/>
                        <a:ea typeface="Cambria Math"/>
                      </a:rPr>
                      <m:t>×</m:t>
                    </m:r>
                    <m:d>
                      <m:dPr>
                        <m:ctrlPr>
                          <a:rPr lang="en-US" b="0" i="1" smtClean="0">
                            <a:latin typeface="Cambria Math" panose="02040503050406030204" pitchFamily="18" charset="0"/>
                            <a:ea typeface="Cambria Math"/>
                          </a:rPr>
                        </m:ctrlPr>
                      </m:dPr>
                      <m:e>
                        <m:r>
                          <a:rPr lang="en-US" b="0" i="1" smtClean="0">
                            <a:latin typeface="Cambria Math"/>
                            <a:ea typeface="Cambria Math"/>
                          </a:rPr>
                          <m:t>𝑝𝑟𝑜𝑑𝑢𝑐𝑡𝑖𝑣𝑖𝑡𝑦</m:t>
                        </m:r>
                        <m:r>
                          <a:rPr lang="en-US" b="0" i="1" smtClean="0">
                            <a:latin typeface="Cambria Math"/>
                            <a:ea typeface="Cambria Math"/>
                          </a:rPr>
                          <m:t> </m:t>
                        </m:r>
                        <m:r>
                          <a:rPr lang="en-US" b="0" i="1" smtClean="0">
                            <a:latin typeface="Cambria Math"/>
                            <a:ea typeface="Cambria Math"/>
                          </a:rPr>
                          <m:t>𝑟𝑎𝑡𝑒</m:t>
                        </m:r>
                      </m:e>
                    </m:d>
                  </m:oMath>
                </a14:m>
                <a:endParaRPr lang="en-US" dirty="0"/>
              </a:p>
              <a:p>
                <a14:m>
                  <m:oMath xmlns:m="http://schemas.openxmlformats.org/officeDocument/2006/math">
                    <m:r>
                      <a:rPr lang="en-US" b="0" i="1" smtClean="0">
                        <a:latin typeface="Cambria Math"/>
                      </a:rPr>
                      <m:t>𝑝𝑟𝑜𝑑𝑢𝑐𝑡𝑖𝑣𝑖𝑡𝑦</m:t>
                    </m:r>
                    <m:r>
                      <a:rPr lang="en-US" b="0" i="1" smtClean="0">
                        <a:latin typeface="Cambria Math"/>
                      </a:rPr>
                      <m:t>=</m:t>
                    </m:r>
                    <m:r>
                      <a:rPr lang="en-US" b="0" i="1" smtClean="0">
                        <a:latin typeface="Cambria Math"/>
                      </a:rPr>
                      <m:t>𝑒𝑓𝑓𝑜𝑟𝑡</m:t>
                    </m:r>
                    <m:r>
                      <a:rPr lang="en-US" b="0" i="1" smtClean="0">
                        <a:latin typeface="Cambria Math"/>
                      </a:rPr>
                      <m:t>/</m:t>
                    </m:r>
                    <m:r>
                      <a:rPr lang="en-US" b="0" i="1" smtClean="0">
                        <a:latin typeface="Cambria Math"/>
                      </a:rPr>
                      <m:t>𝑠𝑖𝑧𝑒</m:t>
                    </m:r>
                  </m:oMath>
                </a14:m>
                <a:endParaRPr lang="en-US" dirty="0"/>
              </a:p>
              <a:p>
                <a14:m>
                  <m:oMath xmlns:m="http://schemas.openxmlformats.org/officeDocument/2006/math">
                    <m:r>
                      <a:rPr lang="en-US" b="0" i="1" smtClean="0">
                        <a:latin typeface="Cambria Math"/>
                      </a:rPr>
                      <m:t>𝑒𝑓𝑓𝑜𝑟𝑡</m:t>
                    </m:r>
                    <m:r>
                      <a:rPr lang="en-US" b="0" i="1" smtClean="0">
                        <a:latin typeface="Cambria Math"/>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𝑐𝑜𝑛𝑠𝑡𝑎𝑛𝑡</m:t>
                            </m:r>
                          </m:e>
                          <m:sub>
                            <m:r>
                              <a:rPr lang="en-US" b="0" i="1" smtClean="0">
                                <a:latin typeface="Cambria Math"/>
                              </a:rPr>
                              <m:t>1</m:t>
                            </m:r>
                          </m:sub>
                        </m:sSub>
                      </m:e>
                    </m:d>
                    <m:r>
                      <a:rPr lang="en-US" b="0" i="1" smtClean="0">
                        <a:latin typeface="Cambria Math"/>
                      </a:rPr>
                      <m:t>+</m:t>
                    </m:r>
                    <m:d>
                      <m:dPr>
                        <m:ctrlPr>
                          <a:rPr lang="en-US" b="0" i="1" smtClean="0">
                            <a:latin typeface="Cambria Math" panose="02040503050406030204" pitchFamily="18" charset="0"/>
                          </a:rPr>
                        </m:ctrlPr>
                      </m:dPr>
                      <m:e>
                        <m:r>
                          <a:rPr lang="en-US" b="0" i="1" smtClean="0">
                            <a:latin typeface="Cambria Math"/>
                          </a:rPr>
                          <m:t>𝑠𝑖𝑧𝑒</m:t>
                        </m:r>
                        <m:r>
                          <a:rPr lang="en-US" b="0" i="1" smtClean="0">
                            <a:latin typeface="Cambria Math"/>
                            <a:ea typeface="Cambria Math"/>
                          </a:rPr>
                          <m:t>×</m:t>
                        </m:r>
                        <m:sSub>
                          <m:sSubPr>
                            <m:ctrlPr>
                              <a:rPr lang="en-US" b="0" i="1" smtClean="0">
                                <a:latin typeface="Cambria Math" panose="02040503050406030204" pitchFamily="18" charset="0"/>
                                <a:ea typeface="Cambria Math"/>
                              </a:rPr>
                            </m:ctrlPr>
                          </m:sSubPr>
                          <m:e>
                            <m:r>
                              <a:rPr lang="en-US" b="0" i="1" smtClean="0">
                                <a:latin typeface="Cambria Math"/>
                                <a:ea typeface="Cambria Math"/>
                              </a:rPr>
                              <m:t>𝑐𝑜𝑛𝑠𝑡𝑎𝑛𝑡</m:t>
                            </m:r>
                          </m:e>
                          <m:sub>
                            <m:r>
                              <a:rPr lang="en-US" b="0" i="1" smtClean="0">
                                <a:latin typeface="Cambria Math"/>
                                <a:ea typeface="Cambria Math"/>
                              </a:rPr>
                              <m:t>2</m:t>
                            </m:r>
                          </m:sub>
                        </m:sSub>
                      </m:e>
                    </m:d>
                  </m:oMath>
                </a14:m>
                <a:endParaRPr lang="en-US" b="0" dirty="0">
                  <a:ea typeface="Cambria Math"/>
                </a:endParaRPr>
              </a:p>
              <a:p>
                <a:r>
                  <a:rPr lang="en-US" dirty="0"/>
                  <a:t>2 KLOC</a:t>
                </a:r>
              </a:p>
              <a:p>
                <a:r>
                  <a:rPr lang="en-US" dirty="0"/>
                  <a:t>Person 1 – 40*2 = 80 days - Effort</a:t>
                </a:r>
              </a:p>
              <a:p>
                <a:r>
                  <a:rPr lang="en-US" dirty="0"/>
                  <a:t>Person II – 55*2 = 110 days</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98" t="-1237" b="-2120"/>
                </a:stretch>
              </a:blipFill>
            </p:spPr>
            <p:txBody>
              <a:bodyPr/>
              <a:lstStyle/>
              <a:p>
                <a:r>
                  <a:rPr lang="en-IN">
                    <a:noFill/>
                  </a:rPr>
                  <a:t> </a:t>
                </a:r>
              </a:p>
            </p:txBody>
          </p:sp>
        </mc:Fallback>
      </mc:AlternateContent>
      <p:sp>
        <p:nvSpPr>
          <p:cNvPr id="4" name="TextBox 3">
            <a:extLst>
              <a:ext uri="{FF2B5EF4-FFF2-40B4-BE49-F238E27FC236}">
                <a16:creationId xmlns:a16="http://schemas.microsoft.com/office/drawing/2014/main" id="{3C1B2A8B-35C7-4981-8F6D-ECC1068DB538}"/>
              </a:ext>
            </a:extLst>
          </p:cNvPr>
          <p:cNvSpPr txBox="1"/>
          <p:nvPr/>
        </p:nvSpPr>
        <p:spPr>
          <a:xfrm>
            <a:off x="4500438" y="5343277"/>
            <a:ext cx="7418567" cy="523220"/>
          </a:xfrm>
          <a:prstGeom prst="rect">
            <a:avLst/>
          </a:prstGeom>
          <a:noFill/>
        </p:spPr>
        <p:txBody>
          <a:bodyPr wrap="square" rtlCol="0">
            <a:spAutoFit/>
          </a:bodyPr>
          <a:lstStyle/>
          <a:p>
            <a:r>
              <a:rPr lang="en-US" sz="2800" dirty="0"/>
              <a:t>Eqn. of a straight line is y=</a:t>
            </a:r>
            <a:r>
              <a:rPr lang="en-US" sz="2800" dirty="0" err="1"/>
              <a:t>mx+c</a:t>
            </a:r>
            <a:endParaRPr lang="en-IN" sz="2800" dirty="0"/>
          </a:p>
        </p:txBody>
      </p:sp>
    </p:spTree>
    <p:extLst>
      <p:ext uri="{BB962C8B-B14F-4D97-AF65-F5344CB8AC3E}">
        <p14:creationId xmlns:p14="http://schemas.microsoft.com/office/powerpoint/2010/main" val="23351417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Expert </a:t>
            </a:r>
            <a:r>
              <a:rPr lang="en-US" dirty="0" err="1"/>
              <a:t>judgement</a:t>
            </a:r>
            <a:endParaRPr lang="en-US" dirty="0"/>
          </a:p>
        </p:txBody>
      </p:sp>
      <p:sp>
        <p:nvSpPr>
          <p:cNvPr id="3" name="Content Placeholder 2"/>
          <p:cNvSpPr>
            <a:spLocks noGrp="1"/>
          </p:cNvSpPr>
          <p:nvPr>
            <p:ph idx="1"/>
          </p:nvPr>
        </p:nvSpPr>
        <p:spPr/>
        <p:txBody>
          <a:bodyPr/>
          <a:lstStyle/>
          <a:p>
            <a:r>
              <a:rPr lang="en-US" dirty="0"/>
              <a:t>From a knowledgeable person</a:t>
            </a:r>
          </a:p>
          <a:p>
            <a:r>
              <a:rPr lang="en-US" dirty="0"/>
              <a:t>Effort needed to change an existing piece of software</a:t>
            </a:r>
          </a:p>
        </p:txBody>
      </p:sp>
    </p:spTree>
    <p:extLst>
      <p:ext uri="{BB962C8B-B14F-4D97-AF65-F5344CB8AC3E}">
        <p14:creationId xmlns:p14="http://schemas.microsoft.com/office/powerpoint/2010/main" val="7368143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Estimating by analogy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55000" lnSpcReduction="20000"/>
              </a:bodyPr>
              <a:lstStyle/>
              <a:p>
                <a:r>
                  <a:rPr lang="en-US" sz="5100" dirty="0"/>
                  <a:t>Also called as case-based reasoning</a:t>
                </a:r>
              </a:p>
              <a:p>
                <a:r>
                  <a:rPr lang="en-US" sz="5100" dirty="0"/>
                  <a:t>Estimator identifies differences between the target and the source and adjusts the base estimate for the new </a:t>
                </a:r>
              </a:p>
              <a:p>
                <a:r>
                  <a:rPr lang="en-US" sz="5100" dirty="0"/>
                  <a:t>Euclidean distance</a:t>
                </a:r>
              </a:p>
              <a:p>
                <a14:m>
                  <m:oMath xmlns:m="http://schemas.openxmlformats.org/officeDocument/2006/math">
                    <m:r>
                      <a:rPr lang="en-IN" b="0" i="1" smtClean="0">
                        <a:latin typeface="Cambria Math" panose="02040503050406030204" pitchFamily="18" charset="0"/>
                      </a:rPr>
                      <m:t>𝑑𝑖𝑠𝑡𝑎𝑛𝑐𝑒</m:t>
                    </m:r>
                    <m:r>
                      <a:rPr lang="en-IN" b="0" i="1" smtClean="0">
                        <a:latin typeface="Cambria Math" panose="02040503050406030204" pitchFamily="18" charset="0"/>
                      </a:rPr>
                      <m:t>=</m:t>
                    </m:r>
                    <m:rad>
                      <m:radPr>
                        <m:degHide m:val="on"/>
                        <m:ctrlPr>
                          <a:rPr lang="en-IN" b="0" i="1" smtClean="0">
                            <a:latin typeface="Cambria Math" panose="02040503050406030204" pitchFamily="18" charset="0"/>
                          </a:rPr>
                        </m:ctrlPr>
                      </m:radPr>
                      <m:deg/>
                      <m:e>
                        <m:d>
                          <m:dPr>
                            <m:ctrlPr>
                              <a:rPr lang="en-IN" b="0" i="1" smtClean="0">
                                <a:latin typeface="Cambria Math" panose="02040503050406030204" pitchFamily="18" charset="0"/>
                              </a:rPr>
                            </m:ctrlPr>
                          </m:dPr>
                          <m:e>
                            <m:d>
                              <m:dPr>
                                <m:ctrlPr>
                                  <a:rPr lang="en-IN" b="0" i="1" smtClean="0">
                                    <a:latin typeface="Cambria Math" panose="02040503050406030204" pitchFamily="18" charset="0"/>
                                  </a:rPr>
                                </m:ctrlPr>
                              </m:dPr>
                              <m:e>
                                <m:sSup>
                                  <m:sSupPr>
                                    <m:ctrlPr>
                                      <a:rPr lang="en-IN" b="0" i="1" smtClean="0">
                                        <a:latin typeface="Cambria Math" panose="02040503050406030204" pitchFamily="18" charset="0"/>
                                      </a:rPr>
                                    </m:ctrlPr>
                                  </m:sSupPr>
                                  <m:e>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𝑡𝑎𝑟𝑔𝑒𝑡</m:t>
                                            </m:r>
                                            <m:r>
                                              <a:rPr lang="en-IN" b="0" i="1" smtClean="0">
                                                <a:latin typeface="Cambria Math" panose="02040503050406030204" pitchFamily="18" charset="0"/>
                                              </a:rPr>
                                              <m:t>_</m:t>
                                            </m:r>
                                            <m:r>
                                              <a:rPr lang="en-IN" b="0" i="1" smtClean="0">
                                                <a:latin typeface="Cambria Math" panose="02040503050406030204" pitchFamily="18" charset="0"/>
                                              </a:rPr>
                                              <m:t>𝑝𝑎𝑟𝑎𝑚𝑒𝑡𝑒𝑟</m:t>
                                            </m:r>
                                          </m:e>
                                          <m:sub>
                                            <m:r>
                                              <a:rPr lang="en-IN" b="0" i="1" smtClean="0">
                                                <a:latin typeface="Cambria Math" panose="02040503050406030204" pitchFamily="18" charset="0"/>
                                              </a:rPr>
                                              <m:t>1</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𝑠𝑜𝑢𝑟𝑐𝑒</m:t>
                                            </m:r>
                                            <m:r>
                                              <a:rPr lang="en-IN" b="0" i="1" smtClean="0">
                                                <a:latin typeface="Cambria Math" panose="02040503050406030204" pitchFamily="18" charset="0"/>
                                              </a:rPr>
                                              <m:t>_</m:t>
                                            </m:r>
                                            <m:r>
                                              <a:rPr lang="en-IN" b="0" i="1" smtClean="0">
                                                <a:latin typeface="Cambria Math" panose="02040503050406030204" pitchFamily="18" charset="0"/>
                                              </a:rPr>
                                              <m:t>𝑝𝑎𝑟𝑎𝑚𝑒𝑡𝑒𝑟</m:t>
                                            </m:r>
                                          </m:e>
                                          <m:sub>
                                            <m:r>
                                              <a:rPr lang="en-IN" b="0" i="1" smtClean="0">
                                                <a:latin typeface="Cambria Math" panose="02040503050406030204" pitchFamily="18" charset="0"/>
                                              </a:rPr>
                                              <m:t>1</m:t>
                                            </m:r>
                                          </m:sub>
                                        </m:sSub>
                                      </m:e>
                                    </m:d>
                                  </m:e>
                                  <m:sup>
                                    <m:r>
                                      <a:rPr lang="en-IN" b="0" i="1" smtClean="0">
                                        <a:latin typeface="Cambria Math" panose="02040503050406030204" pitchFamily="18" charset="0"/>
                                      </a:rPr>
                                      <m:t>2</m:t>
                                    </m:r>
                                  </m:sup>
                                </m:sSup>
                                <m:r>
                                  <a:rPr lang="en-IN" b="0" i="1" smtClean="0">
                                    <a:latin typeface="Cambria Math" panose="02040503050406030204" pitchFamily="18" charset="0"/>
                                  </a:rPr>
                                  <m:t>+…+</m:t>
                                </m:r>
                                <m:sSup>
                                  <m:sSupPr>
                                    <m:ctrlPr>
                                      <a:rPr lang="en-IN" b="0" i="1" smtClean="0">
                                        <a:latin typeface="Cambria Math" panose="02040503050406030204" pitchFamily="18" charset="0"/>
                                      </a:rPr>
                                    </m:ctrlPr>
                                  </m:sSupPr>
                                  <m:e>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𝑡𝑎𝑟𝑔𝑒𝑡</m:t>
                                            </m:r>
                                            <m:r>
                                              <a:rPr lang="en-IN" b="0" i="1" smtClean="0">
                                                <a:latin typeface="Cambria Math" panose="02040503050406030204" pitchFamily="18" charset="0"/>
                                              </a:rPr>
                                              <m:t>_</m:t>
                                            </m:r>
                                            <m:r>
                                              <a:rPr lang="en-IN" b="0" i="1" smtClean="0">
                                                <a:latin typeface="Cambria Math" panose="02040503050406030204" pitchFamily="18" charset="0"/>
                                              </a:rPr>
                                              <m:t>𝑝𝑎𝑟𝑎𝑚𝑒𝑡𝑒𝑟</m:t>
                                            </m:r>
                                          </m:e>
                                          <m:sub>
                                            <m:r>
                                              <a:rPr lang="en-IN" b="0" i="1" smtClean="0">
                                                <a:latin typeface="Cambria Math" panose="02040503050406030204" pitchFamily="18" charset="0"/>
                                              </a:rPr>
                                              <m:t>𝑛</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𝑠𝑜𝑢𝑟𝑐𝑒</m:t>
                                            </m:r>
                                            <m:r>
                                              <a:rPr lang="en-IN" b="0" i="1" smtClean="0">
                                                <a:latin typeface="Cambria Math" panose="02040503050406030204" pitchFamily="18" charset="0"/>
                                              </a:rPr>
                                              <m:t>_</m:t>
                                            </m:r>
                                            <m:r>
                                              <a:rPr lang="en-IN" b="0" i="1" smtClean="0">
                                                <a:latin typeface="Cambria Math" panose="02040503050406030204" pitchFamily="18" charset="0"/>
                                              </a:rPr>
                                              <m:t>𝑝𝑎𝑟𝑎𝑚𝑒𝑡𝑒𝑟</m:t>
                                            </m:r>
                                          </m:e>
                                          <m:sub>
                                            <m:r>
                                              <a:rPr lang="en-IN" b="0" i="1" smtClean="0">
                                                <a:latin typeface="Cambria Math" panose="02040503050406030204" pitchFamily="18" charset="0"/>
                                              </a:rPr>
                                              <m:t>𝑛</m:t>
                                            </m:r>
                                          </m:sub>
                                        </m:sSub>
                                      </m:e>
                                    </m:d>
                                  </m:e>
                                  <m:sup>
                                    <m:r>
                                      <a:rPr lang="en-IN" b="0" i="1" smtClean="0">
                                        <a:latin typeface="Cambria Math" panose="02040503050406030204" pitchFamily="18" charset="0"/>
                                      </a:rPr>
                                      <m:t>2</m:t>
                                    </m:r>
                                  </m:sup>
                                </m:sSup>
                              </m:e>
                            </m:d>
                          </m:e>
                        </m:d>
                      </m:e>
                    </m:rad>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143" t="-1943"/>
                </a:stretch>
              </a:blipFill>
            </p:spPr>
            <p:txBody>
              <a:bodyPr/>
              <a:lstStyle/>
              <a:p>
                <a:r>
                  <a:rPr lang="en-IN">
                    <a:noFill/>
                  </a:rPr>
                  <a:t> </a:t>
                </a:r>
              </a:p>
            </p:txBody>
          </p:sp>
        </mc:Fallback>
      </mc:AlternateContent>
    </p:spTree>
    <p:extLst>
      <p:ext uri="{BB962C8B-B14F-4D97-AF65-F5344CB8AC3E}">
        <p14:creationId xmlns:p14="http://schemas.microsoft.com/office/powerpoint/2010/main" val="18412635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62" y="258110"/>
            <a:ext cx="9603275" cy="567081"/>
          </a:xfrm>
        </p:spPr>
        <p:txBody>
          <a:bodyPr/>
          <a:lstStyle/>
          <a:p>
            <a:r>
              <a:rPr lang="en-US" dirty="0"/>
              <a:t>Estimating by analogy</a:t>
            </a:r>
            <a:endParaRPr lang="en-IN" dirty="0"/>
          </a:p>
        </p:txBody>
      </p:sp>
      <p:sp>
        <p:nvSpPr>
          <p:cNvPr id="3" name="Content Placeholder 2"/>
          <p:cNvSpPr>
            <a:spLocks noGrp="1"/>
          </p:cNvSpPr>
          <p:nvPr>
            <p:ph idx="1"/>
          </p:nvPr>
        </p:nvSpPr>
        <p:spPr>
          <a:xfrm>
            <a:off x="1295462" y="1179390"/>
            <a:ext cx="9603275" cy="4619244"/>
          </a:xfrm>
        </p:spPr>
        <p:txBody>
          <a:bodyPr/>
          <a:lstStyle/>
          <a:p>
            <a:r>
              <a:rPr lang="en-IN" dirty="0"/>
              <a:t>Example</a:t>
            </a:r>
          </a:p>
          <a:p>
            <a:r>
              <a:rPr lang="en-IN" dirty="0"/>
              <a:t>The new project is known to require 7 inputs and 15 outputs. One of the past cases, project A has 8 inputs and 17 outputs.  Project B has 5 inputs and 10 outputs. What would be the Euclidean distance between the projects A and B and target project. Which one is better?</a:t>
            </a:r>
          </a:p>
        </p:txBody>
      </p:sp>
    </p:spTree>
    <p:extLst>
      <p:ext uri="{BB962C8B-B14F-4D97-AF65-F5344CB8AC3E}">
        <p14:creationId xmlns:p14="http://schemas.microsoft.com/office/powerpoint/2010/main" val="15154181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01993"/>
            <a:ext cx="9603275" cy="578232"/>
          </a:xfrm>
        </p:spPr>
        <p:txBody>
          <a:bodyPr/>
          <a:lstStyle/>
          <a:p>
            <a:r>
              <a:rPr lang="en-US" dirty="0"/>
              <a:t>Estimating by analogy</a:t>
            </a:r>
            <a:endParaRPr lang="en-IN"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451579" y="1081668"/>
                <a:ext cx="9603275" cy="4384677"/>
              </a:xfrm>
            </p:spPr>
            <p:txBody>
              <a:bodyPr>
                <a:normAutofit fontScale="85000" lnSpcReduction="10000"/>
              </a:bodyPr>
              <a:lstStyle/>
              <a:p>
                <a:r>
                  <a:rPr lang="en-IN" dirty="0"/>
                  <a:t>Euclidean distance project A</a:t>
                </a:r>
              </a:p>
              <a:p>
                <a14:m>
                  <m:oMath xmlns:m="http://schemas.openxmlformats.org/officeDocument/2006/math">
                    <m:r>
                      <a:rPr lang="en-IN" b="0" i="1" smtClean="0">
                        <a:latin typeface="Cambria Math" panose="02040503050406030204" pitchFamily="18" charset="0"/>
                      </a:rPr>
                      <m:t>𝑑𝑖𝑠𝑡𝑎𝑛𝑐𝑒</m:t>
                    </m:r>
                    <m:r>
                      <a:rPr lang="en-IN" b="0" i="1" smtClean="0">
                        <a:latin typeface="Cambria Math" panose="02040503050406030204" pitchFamily="18" charset="0"/>
                      </a:rPr>
                      <m:t>=</m:t>
                    </m:r>
                    <m:rad>
                      <m:radPr>
                        <m:degHide m:val="on"/>
                        <m:ctrlPr>
                          <a:rPr lang="en-IN" b="0" i="1" smtClean="0">
                            <a:latin typeface="Cambria Math" panose="02040503050406030204" pitchFamily="18" charset="0"/>
                          </a:rPr>
                        </m:ctrlPr>
                      </m:radPr>
                      <m:deg/>
                      <m:e>
                        <m:d>
                          <m:dPr>
                            <m:ctrlPr>
                              <a:rPr lang="en-IN" b="0" i="1" smtClean="0">
                                <a:latin typeface="Cambria Math" panose="02040503050406030204" pitchFamily="18" charset="0"/>
                              </a:rPr>
                            </m:ctrlPr>
                          </m:dPr>
                          <m:e>
                            <m:sSup>
                              <m:sSupPr>
                                <m:ctrlPr>
                                  <a:rPr lang="en-IN" b="0" i="1" smtClean="0">
                                    <a:latin typeface="Cambria Math" panose="02040503050406030204" pitchFamily="18" charset="0"/>
                                  </a:rPr>
                                </m:ctrlPr>
                              </m:sSupPr>
                              <m:e>
                                <m:d>
                                  <m:dPr>
                                    <m:ctrlPr>
                                      <a:rPr lang="en-IN" b="0" i="1" smtClean="0">
                                        <a:latin typeface="Cambria Math" panose="02040503050406030204" pitchFamily="18" charset="0"/>
                                      </a:rPr>
                                    </m:ctrlPr>
                                  </m:dPr>
                                  <m:e>
                                    <m:r>
                                      <a:rPr lang="en-IN" b="0" i="1" smtClean="0">
                                        <a:latin typeface="Cambria Math" panose="02040503050406030204" pitchFamily="18" charset="0"/>
                                      </a:rPr>
                                      <m:t>7−8</m:t>
                                    </m:r>
                                  </m:e>
                                </m:d>
                              </m:e>
                              <m:sup>
                                <m:r>
                                  <a:rPr lang="en-IN" b="0" i="1" smtClean="0">
                                    <a:latin typeface="Cambria Math" panose="02040503050406030204" pitchFamily="18" charset="0"/>
                                  </a:rPr>
                                  <m:t>2</m:t>
                                </m:r>
                              </m:sup>
                            </m:sSup>
                            <m:r>
                              <a:rPr lang="en-IN" b="0" i="1" smtClean="0">
                                <a:latin typeface="Cambria Math" panose="02040503050406030204" pitchFamily="18" charset="0"/>
                              </a:rPr>
                              <m:t>+</m:t>
                            </m:r>
                            <m:sSup>
                              <m:sSupPr>
                                <m:ctrlPr>
                                  <a:rPr lang="en-IN" b="0" i="1" smtClean="0">
                                    <a:latin typeface="Cambria Math" panose="02040503050406030204" pitchFamily="18" charset="0"/>
                                  </a:rPr>
                                </m:ctrlPr>
                              </m:sSupPr>
                              <m:e>
                                <m:d>
                                  <m:dPr>
                                    <m:ctrlPr>
                                      <a:rPr lang="en-IN" b="0" i="1" smtClean="0">
                                        <a:latin typeface="Cambria Math" panose="02040503050406030204" pitchFamily="18" charset="0"/>
                                      </a:rPr>
                                    </m:ctrlPr>
                                  </m:dPr>
                                  <m:e>
                                    <m:r>
                                      <a:rPr lang="en-IN" b="0" i="1" smtClean="0">
                                        <a:latin typeface="Cambria Math" panose="02040503050406030204" pitchFamily="18" charset="0"/>
                                      </a:rPr>
                                      <m:t>15−17</m:t>
                                    </m:r>
                                  </m:e>
                                </m:d>
                              </m:e>
                              <m:sup>
                                <m:r>
                                  <a:rPr lang="en-IN" b="0" i="1" smtClean="0">
                                    <a:latin typeface="Cambria Math" panose="02040503050406030204" pitchFamily="18" charset="0"/>
                                  </a:rPr>
                                  <m:t>2</m:t>
                                </m:r>
                              </m:sup>
                            </m:sSup>
                          </m:e>
                        </m:d>
                      </m:e>
                    </m:rad>
                  </m:oMath>
                </a14:m>
                <a:endParaRPr lang="en-IN" dirty="0"/>
              </a:p>
              <a:p>
                <a:pPr marL="0" indent="0">
                  <a:buNone/>
                </a:pPr>
                <a:r>
                  <a:rPr lang="en-IN" dirty="0"/>
                  <a:t>		=</a:t>
                </a:r>
                <a14:m>
                  <m:oMath xmlns:m="http://schemas.openxmlformats.org/officeDocument/2006/math">
                    <m:rad>
                      <m:radPr>
                        <m:degHide m:val="on"/>
                        <m:ctrlPr>
                          <a:rPr lang="en-IN" i="1" smtClean="0">
                            <a:latin typeface="Cambria Math" panose="02040503050406030204" pitchFamily="18" charset="0"/>
                          </a:rPr>
                        </m:ctrlPr>
                      </m:radPr>
                      <m:deg/>
                      <m:e>
                        <m:r>
                          <a:rPr lang="en-IN" b="0" i="1" smtClean="0">
                            <a:latin typeface="Cambria Math" panose="02040503050406030204" pitchFamily="18" charset="0"/>
                          </a:rPr>
                          <m:t>1+4</m:t>
                        </m:r>
                      </m:e>
                    </m:rad>
                  </m:oMath>
                </a14:m>
                <a:endParaRPr lang="en-IN" dirty="0"/>
              </a:p>
              <a:p>
                <a:pPr marL="0" indent="0">
                  <a:buNone/>
                </a:pPr>
                <a:r>
                  <a:rPr lang="en-IN" dirty="0"/>
                  <a:t>		</a:t>
                </a:r>
                <a14:m>
                  <m:oMath xmlns:m="http://schemas.openxmlformats.org/officeDocument/2006/math">
                    <m:r>
                      <a:rPr lang="en-IN" b="0" i="1" smtClean="0">
                        <a:latin typeface="Cambria Math" panose="02040503050406030204" pitchFamily="18" charset="0"/>
                      </a:rPr>
                      <m:t>=</m:t>
                    </m:r>
                    <m:rad>
                      <m:radPr>
                        <m:degHide m:val="on"/>
                        <m:ctrlPr>
                          <a:rPr lang="en-IN" b="0" i="1" smtClean="0">
                            <a:latin typeface="Cambria Math" panose="02040503050406030204" pitchFamily="18" charset="0"/>
                          </a:rPr>
                        </m:ctrlPr>
                      </m:radPr>
                      <m:deg/>
                      <m:e>
                        <m:r>
                          <a:rPr lang="en-IN" b="0" i="1" smtClean="0">
                            <a:latin typeface="Cambria Math" panose="02040503050406030204" pitchFamily="18" charset="0"/>
                          </a:rPr>
                          <m:t>5</m:t>
                        </m:r>
                      </m:e>
                    </m:rad>
                  </m:oMath>
                </a14:m>
                <a:endParaRPr lang="en-IN" dirty="0"/>
              </a:p>
              <a:p>
                <a:pPr marL="0" indent="0">
                  <a:buNone/>
                </a:pPr>
                <a:r>
                  <a:rPr lang="en-IN" dirty="0"/>
                  <a:t>		</a:t>
                </a:r>
                <a14:m>
                  <m:oMath xmlns:m="http://schemas.openxmlformats.org/officeDocument/2006/math">
                    <m:r>
                      <a:rPr lang="en-IN" b="0" i="1" smtClean="0">
                        <a:latin typeface="Cambria Math" panose="02040503050406030204" pitchFamily="18" charset="0"/>
                      </a:rPr>
                      <m:t>=2.24</m:t>
                    </m:r>
                  </m:oMath>
                </a14:m>
                <a:endParaRPr lang="en-IN" dirty="0"/>
              </a:p>
              <a:p>
                <a:pPr marL="0" indent="0">
                  <a:buNone/>
                </a:pPr>
                <a:r>
                  <a:rPr lang="en-US" dirty="0"/>
                  <a:t>A new module has 7 inputs, 1 entity type access and 7 outputs. Which of the modules A to E is the closest analogy in terms of Euclidean distance?</a:t>
                </a:r>
                <a:endParaRPr lang="en-IN" dirty="0"/>
              </a:p>
              <a:p>
                <a:pPr marL="0" indent="0">
                  <a:buNone/>
                </a:pPr>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451579" y="1081668"/>
                <a:ext cx="9603275" cy="4384677"/>
              </a:xfrm>
              <a:blipFill>
                <a:blip r:embed="rId2"/>
                <a:stretch>
                  <a:fillRect l="-952" t="-833" r="-1714"/>
                </a:stretch>
              </a:blipFill>
            </p:spPr>
            <p:txBody>
              <a:bodyPr/>
              <a:lstStyle/>
              <a:p>
                <a:r>
                  <a:rPr lang="en-IN">
                    <a:noFill/>
                  </a:rPr>
                  <a:t> </a:t>
                </a:r>
              </a:p>
            </p:txBody>
          </p:sp>
        </mc:Fallback>
      </mc:AlternateContent>
      <p:graphicFrame>
        <p:nvGraphicFramePr>
          <p:cNvPr id="4" name="Table 3"/>
          <p:cNvGraphicFramePr>
            <a:graphicFrameLocks noGrp="1"/>
          </p:cNvGraphicFramePr>
          <p:nvPr>
            <p:extLst>
              <p:ext uri="{D42A27DB-BD31-4B8C-83A1-F6EECF244321}">
                <p14:modId xmlns:p14="http://schemas.microsoft.com/office/powerpoint/2010/main" val="249722621"/>
              </p:ext>
            </p:extLst>
          </p:nvPr>
        </p:nvGraphicFramePr>
        <p:xfrm>
          <a:off x="7611204" y="2043838"/>
          <a:ext cx="4809323" cy="2090928"/>
        </p:xfrm>
        <a:graphic>
          <a:graphicData uri="http://schemas.openxmlformats.org/drawingml/2006/table">
            <a:tbl>
              <a:tblPr firstRow="1" bandRow="1">
                <a:tableStyleId>{5C22544A-7EE6-4342-B048-85BDC9FD1C3A}</a:tableStyleId>
              </a:tblPr>
              <a:tblGrid>
                <a:gridCol w="1297461">
                  <a:extLst>
                    <a:ext uri="{9D8B030D-6E8A-4147-A177-3AD203B41FA5}">
                      <a16:colId xmlns:a16="http://schemas.microsoft.com/office/drawing/2014/main" val="2319411270"/>
                    </a:ext>
                  </a:extLst>
                </a:gridCol>
                <a:gridCol w="1297461">
                  <a:extLst>
                    <a:ext uri="{9D8B030D-6E8A-4147-A177-3AD203B41FA5}">
                      <a16:colId xmlns:a16="http://schemas.microsoft.com/office/drawing/2014/main" val="3981176597"/>
                    </a:ext>
                  </a:extLst>
                </a:gridCol>
                <a:gridCol w="1297461">
                  <a:extLst>
                    <a:ext uri="{9D8B030D-6E8A-4147-A177-3AD203B41FA5}">
                      <a16:colId xmlns:a16="http://schemas.microsoft.com/office/drawing/2014/main" val="179541586"/>
                    </a:ext>
                  </a:extLst>
                </a:gridCol>
                <a:gridCol w="916940">
                  <a:extLst>
                    <a:ext uri="{9D8B030D-6E8A-4147-A177-3AD203B41FA5}">
                      <a16:colId xmlns:a16="http://schemas.microsoft.com/office/drawing/2014/main" val="3764943187"/>
                    </a:ext>
                  </a:extLst>
                </a:gridCol>
              </a:tblGrid>
              <a:tr h="0">
                <a:tc>
                  <a:txBody>
                    <a:bodyPr/>
                    <a:lstStyle/>
                    <a:p>
                      <a:pPr algn="ctr">
                        <a:lnSpc>
                          <a:spcPct val="115000"/>
                        </a:lnSpc>
                        <a:spcAft>
                          <a:spcPts val="0"/>
                        </a:spcAft>
                      </a:pPr>
                      <a:r>
                        <a:rPr lang="en-US" sz="1100">
                          <a:effectLst/>
                        </a:rPr>
                        <a:t>Module</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457200" algn="ctr">
                        <a:lnSpc>
                          <a:spcPct val="115000"/>
                        </a:lnSpc>
                        <a:spcAft>
                          <a:spcPts val="0"/>
                        </a:spcAft>
                      </a:pPr>
                      <a:r>
                        <a:rPr lang="en-US" sz="1100">
                          <a:effectLst/>
                        </a:rPr>
                        <a:t>Inputs</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457200" algn="ctr">
                        <a:lnSpc>
                          <a:spcPct val="115000"/>
                        </a:lnSpc>
                        <a:spcAft>
                          <a:spcPts val="0"/>
                        </a:spcAft>
                      </a:pPr>
                      <a:r>
                        <a:rPr lang="en-US" sz="1100">
                          <a:effectLst/>
                        </a:rPr>
                        <a:t>Entity Type Accessed</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457200" algn="ctr">
                        <a:lnSpc>
                          <a:spcPct val="115000"/>
                        </a:lnSpc>
                        <a:spcAft>
                          <a:spcPts val="0"/>
                        </a:spcAft>
                      </a:pPr>
                      <a:r>
                        <a:rPr lang="en-US" sz="1100">
                          <a:effectLst/>
                        </a:rPr>
                        <a:t>Outputs</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25434214"/>
                  </a:ext>
                </a:extLst>
              </a:tr>
              <a:tr h="139065">
                <a:tc>
                  <a:txBody>
                    <a:bodyPr/>
                    <a:lstStyle/>
                    <a:p>
                      <a:pPr marL="457200" algn="ctr">
                        <a:lnSpc>
                          <a:spcPct val="115000"/>
                        </a:lnSpc>
                        <a:spcAft>
                          <a:spcPts val="0"/>
                        </a:spcAft>
                      </a:pPr>
                      <a:r>
                        <a:rPr lang="en-US" sz="1100">
                          <a:effectLst/>
                        </a:rPr>
                        <a:t>A</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457200" algn="just">
                        <a:lnSpc>
                          <a:spcPct val="115000"/>
                        </a:lnSpc>
                        <a:spcAft>
                          <a:spcPts val="0"/>
                        </a:spcAft>
                      </a:pPr>
                      <a:r>
                        <a:rPr lang="en-US" sz="1100">
                          <a:effectLst/>
                        </a:rPr>
                        <a:t>1</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457200" algn="just">
                        <a:lnSpc>
                          <a:spcPct val="115000"/>
                        </a:lnSpc>
                        <a:spcAft>
                          <a:spcPts val="0"/>
                        </a:spcAft>
                      </a:pPr>
                      <a:r>
                        <a:rPr lang="en-US" sz="1100">
                          <a:effectLst/>
                        </a:rPr>
                        <a:t>2</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457200" algn="just">
                        <a:lnSpc>
                          <a:spcPct val="115000"/>
                        </a:lnSpc>
                        <a:spcAft>
                          <a:spcPts val="0"/>
                        </a:spcAft>
                      </a:pPr>
                      <a:r>
                        <a:rPr lang="en-US" sz="1100">
                          <a:effectLst/>
                        </a:rPr>
                        <a:t>10</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21897031"/>
                  </a:ext>
                </a:extLst>
              </a:tr>
              <a:tr h="0">
                <a:tc>
                  <a:txBody>
                    <a:bodyPr/>
                    <a:lstStyle/>
                    <a:p>
                      <a:pPr marL="457200" algn="ctr">
                        <a:lnSpc>
                          <a:spcPct val="115000"/>
                        </a:lnSpc>
                        <a:spcAft>
                          <a:spcPts val="0"/>
                        </a:spcAft>
                      </a:pPr>
                      <a:r>
                        <a:rPr lang="en-US" sz="1100">
                          <a:effectLst/>
                        </a:rPr>
                        <a:t>B</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457200" algn="just">
                        <a:lnSpc>
                          <a:spcPct val="115000"/>
                        </a:lnSpc>
                        <a:spcAft>
                          <a:spcPts val="0"/>
                        </a:spcAft>
                      </a:pPr>
                      <a:r>
                        <a:rPr lang="en-US" sz="1100">
                          <a:effectLst/>
                        </a:rPr>
                        <a:t>10</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457200" algn="just">
                        <a:lnSpc>
                          <a:spcPct val="115000"/>
                        </a:lnSpc>
                        <a:spcAft>
                          <a:spcPts val="0"/>
                        </a:spcAft>
                      </a:pPr>
                      <a:r>
                        <a:rPr lang="en-US" sz="1100">
                          <a:effectLst/>
                        </a:rPr>
                        <a:t>2</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457200" algn="just">
                        <a:lnSpc>
                          <a:spcPct val="115000"/>
                        </a:lnSpc>
                        <a:spcAft>
                          <a:spcPts val="0"/>
                        </a:spcAft>
                      </a:pPr>
                      <a:r>
                        <a:rPr lang="en-US" sz="1100">
                          <a:effectLst/>
                        </a:rPr>
                        <a:t>1</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46954902"/>
                  </a:ext>
                </a:extLst>
              </a:tr>
              <a:tr h="167005">
                <a:tc>
                  <a:txBody>
                    <a:bodyPr/>
                    <a:lstStyle/>
                    <a:p>
                      <a:pPr marL="457200" algn="ctr">
                        <a:lnSpc>
                          <a:spcPct val="115000"/>
                        </a:lnSpc>
                        <a:spcAft>
                          <a:spcPts val="0"/>
                        </a:spcAft>
                      </a:pPr>
                      <a:r>
                        <a:rPr lang="en-US" sz="1100">
                          <a:effectLst/>
                        </a:rPr>
                        <a:t>C</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457200" algn="just">
                        <a:lnSpc>
                          <a:spcPct val="115000"/>
                        </a:lnSpc>
                        <a:spcAft>
                          <a:spcPts val="0"/>
                        </a:spcAft>
                      </a:pPr>
                      <a:r>
                        <a:rPr lang="en-US" sz="1100">
                          <a:effectLst/>
                        </a:rPr>
                        <a:t>5</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457200" algn="just">
                        <a:lnSpc>
                          <a:spcPct val="115000"/>
                        </a:lnSpc>
                        <a:spcAft>
                          <a:spcPts val="0"/>
                        </a:spcAft>
                      </a:pPr>
                      <a:r>
                        <a:rPr lang="en-US" sz="1100">
                          <a:effectLst/>
                        </a:rPr>
                        <a:t>1</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457200" algn="just">
                        <a:lnSpc>
                          <a:spcPct val="115000"/>
                        </a:lnSpc>
                        <a:spcAft>
                          <a:spcPts val="0"/>
                        </a:spcAft>
                      </a:pPr>
                      <a:r>
                        <a:rPr lang="en-US" sz="1100">
                          <a:effectLst/>
                        </a:rPr>
                        <a:t>1</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65981912"/>
                  </a:ext>
                </a:extLst>
              </a:tr>
              <a:tr h="144145">
                <a:tc>
                  <a:txBody>
                    <a:bodyPr/>
                    <a:lstStyle/>
                    <a:p>
                      <a:pPr marL="457200" algn="ctr">
                        <a:lnSpc>
                          <a:spcPct val="115000"/>
                        </a:lnSpc>
                        <a:spcAft>
                          <a:spcPts val="0"/>
                        </a:spcAft>
                      </a:pPr>
                      <a:r>
                        <a:rPr lang="en-US" sz="1100">
                          <a:effectLst/>
                        </a:rPr>
                        <a:t>D</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457200" algn="just">
                        <a:lnSpc>
                          <a:spcPct val="115000"/>
                        </a:lnSpc>
                        <a:spcAft>
                          <a:spcPts val="0"/>
                        </a:spcAft>
                      </a:pPr>
                      <a:r>
                        <a:rPr lang="en-US" sz="1100">
                          <a:effectLst/>
                        </a:rPr>
                        <a:t>2</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457200" algn="just">
                        <a:lnSpc>
                          <a:spcPct val="115000"/>
                        </a:lnSpc>
                        <a:spcAft>
                          <a:spcPts val="0"/>
                        </a:spcAft>
                      </a:pPr>
                      <a:r>
                        <a:rPr lang="en-US" sz="1100">
                          <a:effectLst/>
                        </a:rPr>
                        <a:t>3</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457200" algn="just">
                        <a:lnSpc>
                          <a:spcPct val="115000"/>
                        </a:lnSpc>
                        <a:spcAft>
                          <a:spcPts val="0"/>
                        </a:spcAft>
                      </a:pPr>
                      <a:r>
                        <a:rPr lang="en-US" sz="1100">
                          <a:effectLst/>
                        </a:rPr>
                        <a:t>11</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28890946"/>
                  </a:ext>
                </a:extLst>
              </a:tr>
              <a:tr h="0">
                <a:tc>
                  <a:txBody>
                    <a:bodyPr/>
                    <a:lstStyle/>
                    <a:p>
                      <a:pPr marL="457200" algn="ctr">
                        <a:lnSpc>
                          <a:spcPct val="115000"/>
                        </a:lnSpc>
                        <a:spcAft>
                          <a:spcPts val="0"/>
                        </a:spcAft>
                      </a:pPr>
                      <a:r>
                        <a:rPr lang="en-US" sz="1100">
                          <a:effectLst/>
                        </a:rPr>
                        <a:t>E</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457200" algn="just">
                        <a:lnSpc>
                          <a:spcPct val="115000"/>
                        </a:lnSpc>
                        <a:spcAft>
                          <a:spcPts val="0"/>
                        </a:spcAft>
                      </a:pPr>
                      <a:r>
                        <a:rPr lang="en-US" sz="1100">
                          <a:effectLst/>
                        </a:rPr>
                        <a:t>1</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457200" algn="just">
                        <a:lnSpc>
                          <a:spcPct val="115000"/>
                        </a:lnSpc>
                        <a:spcAft>
                          <a:spcPts val="0"/>
                        </a:spcAft>
                      </a:pPr>
                      <a:r>
                        <a:rPr lang="en-US" sz="1100">
                          <a:effectLst/>
                        </a:rPr>
                        <a:t>3</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457200" algn="just">
                        <a:lnSpc>
                          <a:spcPct val="115000"/>
                        </a:lnSpc>
                        <a:spcAft>
                          <a:spcPts val="0"/>
                        </a:spcAft>
                      </a:pPr>
                      <a:r>
                        <a:rPr lang="en-US" sz="1100" dirty="0">
                          <a:effectLst/>
                        </a:rPr>
                        <a:t>20</a:t>
                      </a:r>
                      <a:endParaRPr lang="en-IN"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61397821"/>
                  </a:ext>
                </a:extLst>
              </a:tr>
            </a:tbl>
          </a:graphicData>
        </a:graphic>
      </p:graphicFrame>
    </p:spTree>
    <p:extLst>
      <p:ext uri="{BB962C8B-B14F-4D97-AF65-F5344CB8AC3E}">
        <p14:creationId xmlns:p14="http://schemas.microsoft.com/office/powerpoint/2010/main" val="30078640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01993"/>
            <a:ext cx="9603275" cy="578232"/>
          </a:xfrm>
        </p:spPr>
        <p:txBody>
          <a:bodyPr/>
          <a:lstStyle/>
          <a:p>
            <a:r>
              <a:rPr lang="en-US" dirty="0"/>
              <a:t>Estimating by analogy</a:t>
            </a:r>
            <a:endParaRPr lang="en-IN"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451579" y="1081668"/>
                <a:ext cx="9603275" cy="4384677"/>
              </a:xfrm>
            </p:spPr>
            <p:txBody>
              <a:bodyPr>
                <a:normAutofit lnSpcReduction="10000"/>
              </a:bodyPr>
              <a:lstStyle/>
              <a:p>
                <a:r>
                  <a:rPr lang="en-IN" dirty="0"/>
                  <a:t>Euclidean distance project B</a:t>
                </a:r>
              </a:p>
              <a:p>
                <a14:m>
                  <m:oMath xmlns:m="http://schemas.openxmlformats.org/officeDocument/2006/math">
                    <m:r>
                      <a:rPr lang="en-IN" b="0" i="1" smtClean="0">
                        <a:latin typeface="Cambria Math" panose="02040503050406030204" pitchFamily="18" charset="0"/>
                      </a:rPr>
                      <m:t>𝑑𝑖𝑠𝑡𝑎𝑛𝑐𝑒</m:t>
                    </m:r>
                    <m:r>
                      <a:rPr lang="en-IN" b="0" i="1" smtClean="0">
                        <a:latin typeface="Cambria Math" panose="02040503050406030204" pitchFamily="18" charset="0"/>
                      </a:rPr>
                      <m:t>=</m:t>
                    </m:r>
                    <m:rad>
                      <m:radPr>
                        <m:degHide m:val="on"/>
                        <m:ctrlPr>
                          <a:rPr lang="en-IN" b="0" i="1" smtClean="0">
                            <a:latin typeface="Cambria Math" panose="02040503050406030204" pitchFamily="18" charset="0"/>
                          </a:rPr>
                        </m:ctrlPr>
                      </m:radPr>
                      <m:deg/>
                      <m:e>
                        <m:d>
                          <m:dPr>
                            <m:ctrlPr>
                              <a:rPr lang="en-IN" b="0" i="1" smtClean="0">
                                <a:latin typeface="Cambria Math" panose="02040503050406030204" pitchFamily="18" charset="0"/>
                              </a:rPr>
                            </m:ctrlPr>
                          </m:dPr>
                          <m:e>
                            <m:sSup>
                              <m:sSupPr>
                                <m:ctrlPr>
                                  <a:rPr lang="en-IN" b="0" i="1" smtClean="0">
                                    <a:latin typeface="Cambria Math" panose="02040503050406030204" pitchFamily="18" charset="0"/>
                                  </a:rPr>
                                </m:ctrlPr>
                              </m:sSupPr>
                              <m:e>
                                <m:d>
                                  <m:dPr>
                                    <m:ctrlPr>
                                      <a:rPr lang="en-IN" b="0" i="1" smtClean="0">
                                        <a:latin typeface="Cambria Math" panose="02040503050406030204" pitchFamily="18" charset="0"/>
                                      </a:rPr>
                                    </m:ctrlPr>
                                  </m:dPr>
                                  <m:e>
                                    <m:r>
                                      <a:rPr lang="en-IN" b="0" i="1" smtClean="0">
                                        <a:latin typeface="Cambria Math" panose="02040503050406030204" pitchFamily="18" charset="0"/>
                                      </a:rPr>
                                      <m:t>7−5</m:t>
                                    </m:r>
                                  </m:e>
                                </m:d>
                              </m:e>
                              <m:sup>
                                <m:r>
                                  <a:rPr lang="en-IN" b="0" i="1" smtClean="0">
                                    <a:latin typeface="Cambria Math" panose="02040503050406030204" pitchFamily="18" charset="0"/>
                                  </a:rPr>
                                  <m:t>2</m:t>
                                </m:r>
                              </m:sup>
                            </m:sSup>
                            <m:r>
                              <a:rPr lang="en-IN" b="0" i="1" smtClean="0">
                                <a:latin typeface="Cambria Math" panose="02040503050406030204" pitchFamily="18" charset="0"/>
                              </a:rPr>
                              <m:t>+</m:t>
                            </m:r>
                            <m:sSup>
                              <m:sSupPr>
                                <m:ctrlPr>
                                  <a:rPr lang="en-IN" b="0" i="1" smtClean="0">
                                    <a:latin typeface="Cambria Math" panose="02040503050406030204" pitchFamily="18" charset="0"/>
                                  </a:rPr>
                                </m:ctrlPr>
                              </m:sSupPr>
                              <m:e>
                                <m:d>
                                  <m:dPr>
                                    <m:ctrlPr>
                                      <a:rPr lang="en-IN" b="0" i="1" smtClean="0">
                                        <a:latin typeface="Cambria Math" panose="02040503050406030204" pitchFamily="18" charset="0"/>
                                      </a:rPr>
                                    </m:ctrlPr>
                                  </m:dPr>
                                  <m:e>
                                    <m:r>
                                      <a:rPr lang="en-IN" b="0" i="1" smtClean="0">
                                        <a:latin typeface="Cambria Math" panose="02040503050406030204" pitchFamily="18" charset="0"/>
                                      </a:rPr>
                                      <m:t>15−10</m:t>
                                    </m:r>
                                  </m:e>
                                </m:d>
                              </m:e>
                              <m:sup>
                                <m:r>
                                  <a:rPr lang="en-IN" b="0" i="1" smtClean="0">
                                    <a:latin typeface="Cambria Math" panose="02040503050406030204" pitchFamily="18" charset="0"/>
                                  </a:rPr>
                                  <m:t>2</m:t>
                                </m:r>
                              </m:sup>
                            </m:sSup>
                          </m:e>
                        </m:d>
                      </m:e>
                    </m:rad>
                  </m:oMath>
                </a14:m>
                <a:endParaRPr lang="en-IN" dirty="0"/>
              </a:p>
              <a:p>
                <a:pPr marL="0" indent="0">
                  <a:buNone/>
                </a:pPr>
                <a:r>
                  <a:rPr lang="en-IN" dirty="0"/>
                  <a:t>		=</a:t>
                </a:r>
                <a14:m>
                  <m:oMath xmlns:m="http://schemas.openxmlformats.org/officeDocument/2006/math">
                    <m:rad>
                      <m:radPr>
                        <m:degHide m:val="on"/>
                        <m:ctrlPr>
                          <a:rPr lang="en-IN" i="1" smtClean="0">
                            <a:latin typeface="Cambria Math" panose="02040503050406030204" pitchFamily="18" charset="0"/>
                          </a:rPr>
                        </m:ctrlPr>
                      </m:radPr>
                      <m:deg/>
                      <m:e>
                        <m:r>
                          <a:rPr lang="en-IN" b="0" i="1" smtClean="0">
                            <a:latin typeface="Cambria Math" panose="02040503050406030204" pitchFamily="18" charset="0"/>
                          </a:rPr>
                          <m:t>4+25</m:t>
                        </m:r>
                      </m:e>
                    </m:rad>
                  </m:oMath>
                </a14:m>
                <a:endParaRPr lang="en-IN" dirty="0"/>
              </a:p>
              <a:p>
                <a:pPr marL="0" indent="0">
                  <a:buNone/>
                </a:pPr>
                <a:r>
                  <a:rPr lang="en-IN" dirty="0"/>
                  <a:t>		</a:t>
                </a:r>
                <a14:m>
                  <m:oMath xmlns:m="http://schemas.openxmlformats.org/officeDocument/2006/math">
                    <m:r>
                      <a:rPr lang="en-IN" b="0" i="1" smtClean="0">
                        <a:latin typeface="Cambria Math" panose="02040503050406030204" pitchFamily="18" charset="0"/>
                      </a:rPr>
                      <m:t>=</m:t>
                    </m:r>
                    <m:rad>
                      <m:radPr>
                        <m:degHide m:val="on"/>
                        <m:ctrlPr>
                          <a:rPr lang="en-IN" b="0" i="1" smtClean="0">
                            <a:latin typeface="Cambria Math" panose="02040503050406030204" pitchFamily="18" charset="0"/>
                          </a:rPr>
                        </m:ctrlPr>
                      </m:radPr>
                      <m:deg/>
                      <m:e>
                        <m:r>
                          <a:rPr lang="en-IN" b="0" i="1" smtClean="0">
                            <a:latin typeface="Cambria Math" panose="02040503050406030204" pitchFamily="18" charset="0"/>
                          </a:rPr>
                          <m:t>29</m:t>
                        </m:r>
                      </m:e>
                    </m:rad>
                  </m:oMath>
                </a14:m>
                <a:endParaRPr lang="en-IN" dirty="0"/>
              </a:p>
              <a:p>
                <a:pPr marL="0" indent="0">
                  <a:buNone/>
                </a:pPr>
                <a:r>
                  <a:rPr lang="en-IN" dirty="0"/>
                  <a:t>		</a:t>
                </a:r>
                <a14:m>
                  <m:oMath xmlns:m="http://schemas.openxmlformats.org/officeDocument/2006/math">
                    <m:r>
                      <a:rPr lang="en-IN" b="0" i="1" smtClean="0">
                        <a:latin typeface="Cambria Math" panose="02040503050406030204" pitchFamily="18" charset="0"/>
                      </a:rPr>
                      <m:t>=5.39</m:t>
                    </m:r>
                  </m:oMath>
                </a14:m>
                <a:endParaRPr lang="en-IN" dirty="0"/>
              </a:p>
              <a:p>
                <a:pPr marL="0" indent="0">
                  <a:buNone/>
                </a:pPr>
                <a:r>
                  <a:rPr lang="en-IN" dirty="0">
                    <a:solidFill>
                      <a:srgbClr val="0000CC"/>
                    </a:solidFill>
                  </a:rPr>
                  <a:t>Project A is Better</a:t>
                </a:r>
              </a:p>
              <a:p>
                <a:pPr marL="0" indent="0">
                  <a:buNone/>
                </a:pPr>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451579" y="1081668"/>
                <a:ext cx="9603275" cy="4384677"/>
              </a:xfrm>
              <a:blipFill>
                <a:blip r:embed="rId2"/>
                <a:stretch>
                  <a:fillRect l="-1270" t="-1111"/>
                </a:stretch>
              </a:blipFill>
            </p:spPr>
            <p:txBody>
              <a:bodyPr/>
              <a:lstStyle/>
              <a:p>
                <a:r>
                  <a:rPr lang="en-IN">
                    <a:noFill/>
                  </a:rPr>
                  <a:t> </a:t>
                </a:r>
              </a:p>
            </p:txBody>
          </p:sp>
        </mc:Fallback>
      </mc:AlternateContent>
    </p:spTree>
    <p:extLst>
      <p:ext uri="{BB962C8B-B14F-4D97-AF65-F5344CB8AC3E}">
        <p14:creationId xmlns:p14="http://schemas.microsoft.com/office/powerpoint/2010/main" val="24905970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01993"/>
            <a:ext cx="9603275" cy="578232"/>
          </a:xfrm>
        </p:spPr>
        <p:txBody>
          <a:bodyPr/>
          <a:lstStyle/>
          <a:p>
            <a:r>
              <a:rPr lang="en-US" dirty="0"/>
              <a:t>Estimating by analogy</a:t>
            </a:r>
            <a:endParaRPr lang="en-IN"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451579" y="1081668"/>
                <a:ext cx="9603275" cy="4384677"/>
              </a:xfrm>
            </p:spPr>
            <p:txBody>
              <a:bodyPr>
                <a:normAutofit fontScale="85000" lnSpcReduction="10000"/>
              </a:bodyPr>
              <a:lstStyle/>
              <a:p>
                <a:r>
                  <a:rPr lang="en-IN" dirty="0" smtClean="0"/>
                  <a:t>Euclidean distance project A</a:t>
                </a:r>
              </a:p>
              <a:p>
                <a14:m>
                  <m:oMath xmlns:m="http://schemas.openxmlformats.org/officeDocument/2006/math">
                    <m:r>
                      <a:rPr lang="en-IN" b="0" i="1" smtClean="0">
                        <a:latin typeface="Cambria Math" panose="02040503050406030204" pitchFamily="18" charset="0"/>
                      </a:rPr>
                      <m:t>𝑑𝑖𝑠𝑡𝑎𝑛𝑐𝑒</m:t>
                    </m:r>
                    <m:r>
                      <a:rPr lang="en-IN" b="0" i="1" smtClean="0">
                        <a:latin typeface="Cambria Math" panose="02040503050406030204" pitchFamily="18" charset="0"/>
                      </a:rPr>
                      <m:t>=</m:t>
                    </m:r>
                    <m:rad>
                      <m:radPr>
                        <m:degHide m:val="on"/>
                        <m:ctrlPr>
                          <a:rPr lang="en-IN" b="0" i="1" smtClean="0">
                            <a:latin typeface="Cambria Math" panose="02040503050406030204" pitchFamily="18" charset="0"/>
                          </a:rPr>
                        </m:ctrlPr>
                      </m:radPr>
                      <m:deg/>
                      <m:e>
                        <m:d>
                          <m:dPr>
                            <m:ctrlPr>
                              <a:rPr lang="en-IN" b="0" i="1" smtClean="0">
                                <a:latin typeface="Cambria Math" panose="02040503050406030204" pitchFamily="18" charset="0"/>
                              </a:rPr>
                            </m:ctrlPr>
                          </m:dPr>
                          <m:e>
                            <m:sSup>
                              <m:sSupPr>
                                <m:ctrlPr>
                                  <a:rPr lang="en-IN" b="0" i="1" smtClean="0">
                                    <a:latin typeface="Cambria Math" panose="02040503050406030204" pitchFamily="18" charset="0"/>
                                  </a:rPr>
                                </m:ctrlPr>
                              </m:sSupPr>
                              <m:e>
                                <m:d>
                                  <m:dPr>
                                    <m:ctrlPr>
                                      <a:rPr lang="en-IN" b="0" i="1" smtClean="0">
                                        <a:latin typeface="Cambria Math" panose="02040503050406030204" pitchFamily="18" charset="0"/>
                                      </a:rPr>
                                    </m:ctrlPr>
                                  </m:dPr>
                                  <m:e>
                                    <m:r>
                                      <a:rPr lang="en-IN" b="0" i="1" smtClean="0">
                                        <a:latin typeface="Cambria Math" panose="02040503050406030204" pitchFamily="18" charset="0"/>
                                      </a:rPr>
                                      <m:t>7−1</m:t>
                                    </m:r>
                                  </m:e>
                                </m:d>
                              </m:e>
                              <m:sup>
                                <m:r>
                                  <a:rPr lang="en-IN" b="0" i="1" smtClean="0">
                                    <a:latin typeface="Cambria Math" panose="02040503050406030204" pitchFamily="18" charset="0"/>
                                  </a:rPr>
                                  <m:t>2</m:t>
                                </m:r>
                              </m:sup>
                            </m:sSup>
                            <m:r>
                              <a:rPr lang="en-IN" b="0" i="1" smtClean="0">
                                <a:latin typeface="Cambria Math" panose="02040503050406030204" pitchFamily="18" charset="0"/>
                              </a:rPr>
                              <m:t>+</m:t>
                            </m:r>
                            <m:sSup>
                              <m:sSupPr>
                                <m:ctrlPr>
                                  <a:rPr lang="en-IN" b="0" i="1" smtClean="0">
                                    <a:latin typeface="Cambria Math" panose="02040503050406030204" pitchFamily="18" charset="0"/>
                                  </a:rPr>
                                </m:ctrlPr>
                              </m:sSupPr>
                              <m:e>
                                <m:d>
                                  <m:dPr>
                                    <m:ctrlPr>
                                      <a:rPr lang="en-IN" b="0" i="1" smtClean="0">
                                        <a:latin typeface="Cambria Math" panose="02040503050406030204" pitchFamily="18" charset="0"/>
                                      </a:rPr>
                                    </m:ctrlPr>
                                  </m:dPr>
                                  <m:e>
                                    <m:r>
                                      <a:rPr lang="en-IN" b="0" i="1" smtClean="0">
                                        <a:latin typeface="Cambria Math" panose="02040503050406030204" pitchFamily="18" charset="0"/>
                                      </a:rPr>
                                      <m:t>1−2</m:t>
                                    </m:r>
                                  </m:e>
                                </m:d>
                              </m:e>
                              <m:sup>
                                <m:r>
                                  <a:rPr lang="en-IN" b="0" i="1" smtClean="0">
                                    <a:latin typeface="Cambria Math" panose="02040503050406030204" pitchFamily="18" charset="0"/>
                                  </a:rPr>
                                  <m:t>2</m:t>
                                </m:r>
                              </m:sup>
                            </m:sSup>
                            <m:r>
                              <a:rPr lang="en-IN" b="0" i="1" smtClean="0">
                                <a:latin typeface="Cambria Math" panose="02040503050406030204" pitchFamily="18" charset="0"/>
                              </a:rPr>
                              <m:t>+(7−10</m:t>
                            </m:r>
                          </m:e>
                        </m:d>
                      </m:e>
                    </m:rad>
                  </m:oMath>
                </a14:m>
                <a:r>
                  <a:rPr lang="en-IN" baseline="30000" dirty="0" smtClean="0"/>
                  <a:t>2</a:t>
                </a:r>
                <a:endParaRPr lang="en-IN" baseline="30000" dirty="0"/>
              </a:p>
              <a:p>
                <a:pPr marL="0" indent="0">
                  <a:buNone/>
                </a:pPr>
                <a:r>
                  <a:rPr lang="en-IN" dirty="0"/>
                  <a:t>		=</a:t>
                </a:r>
                <a14:m>
                  <m:oMath xmlns:m="http://schemas.openxmlformats.org/officeDocument/2006/math">
                    <m:rad>
                      <m:radPr>
                        <m:degHide m:val="on"/>
                        <m:ctrlPr>
                          <a:rPr lang="en-IN" i="1" smtClean="0">
                            <a:latin typeface="Cambria Math" panose="02040503050406030204" pitchFamily="18" charset="0"/>
                          </a:rPr>
                        </m:ctrlPr>
                      </m:radPr>
                      <m:deg/>
                      <m:e/>
                    </m:rad>
                  </m:oMath>
                </a14:m>
                <a:endParaRPr lang="en-IN" dirty="0"/>
              </a:p>
              <a:p>
                <a:pPr marL="0" indent="0">
                  <a:buNone/>
                </a:pPr>
                <a:r>
                  <a:rPr lang="en-IN" dirty="0"/>
                  <a:t>		</a:t>
                </a:r>
                <a14:m>
                  <m:oMath xmlns:m="http://schemas.openxmlformats.org/officeDocument/2006/math">
                    <m:r>
                      <a:rPr lang="en-IN" b="0" i="1" smtClean="0">
                        <a:latin typeface="Cambria Math" panose="02040503050406030204" pitchFamily="18" charset="0"/>
                      </a:rPr>
                      <m:t>=</m:t>
                    </m:r>
                    <m:rad>
                      <m:radPr>
                        <m:degHide m:val="on"/>
                        <m:ctrlPr>
                          <a:rPr lang="en-IN" b="0" i="1" smtClean="0">
                            <a:latin typeface="Cambria Math" panose="02040503050406030204" pitchFamily="18" charset="0"/>
                          </a:rPr>
                        </m:ctrlPr>
                      </m:radPr>
                      <m:deg/>
                      <m:e>
                        <m:r>
                          <a:rPr lang="en-IN" b="0" i="1" smtClean="0">
                            <a:latin typeface="Cambria Math" panose="02040503050406030204" pitchFamily="18" charset="0"/>
                          </a:rPr>
                          <m:t>46</m:t>
                        </m:r>
                      </m:e>
                    </m:rad>
                  </m:oMath>
                </a14:m>
                <a:endParaRPr lang="en-IN" dirty="0"/>
              </a:p>
              <a:p>
                <a:pPr marL="0" indent="0">
                  <a:buNone/>
                </a:pPr>
                <a:r>
                  <a:rPr lang="en-IN" dirty="0"/>
                  <a:t>		</a:t>
                </a:r>
                <a14:m>
                  <m:oMath xmlns:m="http://schemas.openxmlformats.org/officeDocument/2006/math">
                    <m:r>
                      <a:rPr lang="en-IN" b="0" i="1" smtClean="0">
                        <a:latin typeface="Cambria Math" panose="02040503050406030204" pitchFamily="18" charset="0"/>
                      </a:rPr>
                      <m:t>=6.78</m:t>
                    </m:r>
                  </m:oMath>
                </a14:m>
                <a:endParaRPr lang="en-IN" dirty="0"/>
              </a:p>
              <a:p>
                <a:pPr marL="0" indent="0">
                  <a:buNone/>
                </a:pPr>
                <a:r>
                  <a:rPr lang="en-US" dirty="0"/>
                  <a:t>A new module has 7 inputs, 1 entity type access and 7 outputs. Which of the modules A to E is the closest analogy in terms of Euclidean distance?</a:t>
                </a:r>
                <a:endParaRPr lang="en-IN" dirty="0"/>
              </a:p>
              <a:p>
                <a:pPr marL="0" indent="0">
                  <a:buNone/>
                </a:pPr>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451579" y="1081668"/>
                <a:ext cx="9603275" cy="4384677"/>
              </a:xfrm>
              <a:blipFill>
                <a:blip r:embed="rId2"/>
                <a:stretch>
                  <a:fillRect l="-952" t="-833" r="-1714"/>
                </a:stretch>
              </a:blipFill>
            </p:spPr>
            <p:txBody>
              <a:bodyPr/>
              <a:lstStyle/>
              <a:p>
                <a:r>
                  <a:rPr lang="en-IN">
                    <a:noFill/>
                  </a:rPr>
                  <a:t> </a:t>
                </a:r>
              </a:p>
            </p:txBody>
          </p:sp>
        </mc:Fallback>
      </mc:AlternateContent>
      <p:graphicFrame>
        <p:nvGraphicFramePr>
          <p:cNvPr id="4" name="Table 3"/>
          <p:cNvGraphicFramePr>
            <a:graphicFrameLocks noGrp="1"/>
          </p:cNvGraphicFramePr>
          <p:nvPr>
            <p:extLst>
              <p:ext uri="{D42A27DB-BD31-4B8C-83A1-F6EECF244321}">
                <p14:modId xmlns:p14="http://schemas.microsoft.com/office/powerpoint/2010/main" val="3454470559"/>
              </p:ext>
            </p:extLst>
          </p:nvPr>
        </p:nvGraphicFramePr>
        <p:xfrm>
          <a:off x="8113987" y="2043838"/>
          <a:ext cx="4306540" cy="2283714"/>
        </p:xfrm>
        <a:graphic>
          <a:graphicData uri="http://schemas.openxmlformats.org/drawingml/2006/table">
            <a:tbl>
              <a:tblPr firstRow="1" bandRow="1">
                <a:tableStyleId>{5C22544A-7EE6-4342-B048-85BDC9FD1C3A}</a:tableStyleId>
              </a:tblPr>
              <a:tblGrid>
                <a:gridCol w="1161820">
                  <a:extLst>
                    <a:ext uri="{9D8B030D-6E8A-4147-A177-3AD203B41FA5}">
                      <a16:colId xmlns:a16="http://schemas.microsoft.com/office/drawing/2014/main" val="2319411270"/>
                    </a:ext>
                  </a:extLst>
                </a:gridCol>
                <a:gridCol w="1161820">
                  <a:extLst>
                    <a:ext uri="{9D8B030D-6E8A-4147-A177-3AD203B41FA5}">
                      <a16:colId xmlns:a16="http://schemas.microsoft.com/office/drawing/2014/main" val="3981176597"/>
                    </a:ext>
                  </a:extLst>
                </a:gridCol>
                <a:gridCol w="1161820">
                  <a:extLst>
                    <a:ext uri="{9D8B030D-6E8A-4147-A177-3AD203B41FA5}">
                      <a16:colId xmlns:a16="http://schemas.microsoft.com/office/drawing/2014/main" val="179541586"/>
                    </a:ext>
                  </a:extLst>
                </a:gridCol>
                <a:gridCol w="821080">
                  <a:extLst>
                    <a:ext uri="{9D8B030D-6E8A-4147-A177-3AD203B41FA5}">
                      <a16:colId xmlns:a16="http://schemas.microsoft.com/office/drawing/2014/main" val="3764943187"/>
                    </a:ext>
                  </a:extLst>
                </a:gridCol>
              </a:tblGrid>
              <a:tr h="0">
                <a:tc>
                  <a:txBody>
                    <a:bodyPr/>
                    <a:lstStyle/>
                    <a:p>
                      <a:pPr algn="ctr">
                        <a:lnSpc>
                          <a:spcPct val="115000"/>
                        </a:lnSpc>
                        <a:spcAft>
                          <a:spcPts val="0"/>
                        </a:spcAft>
                      </a:pPr>
                      <a:r>
                        <a:rPr lang="en-US" sz="1100" dirty="0">
                          <a:effectLst/>
                        </a:rPr>
                        <a:t>Module</a:t>
                      </a:r>
                      <a:endParaRPr lang="en-IN"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457200" algn="ctr">
                        <a:lnSpc>
                          <a:spcPct val="115000"/>
                        </a:lnSpc>
                        <a:spcAft>
                          <a:spcPts val="0"/>
                        </a:spcAft>
                      </a:pPr>
                      <a:r>
                        <a:rPr lang="en-US" sz="1100">
                          <a:effectLst/>
                        </a:rPr>
                        <a:t>Inputs</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457200" algn="ctr">
                        <a:lnSpc>
                          <a:spcPct val="115000"/>
                        </a:lnSpc>
                        <a:spcAft>
                          <a:spcPts val="0"/>
                        </a:spcAft>
                      </a:pPr>
                      <a:r>
                        <a:rPr lang="en-US" sz="1100">
                          <a:effectLst/>
                        </a:rPr>
                        <a:t>Entity Type Accessed</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457200" algn="ctr">
                        <a:lnSpc>
                          <a:spcPct val="115000"/>
                        </a:lnSpc>
                        <a:spcAft>
                          <a:spcPts val="0"/>
                        </a:spcAft>
                      </a:pPr>
                      <a:r>
                        <a:rPr lang="en-US" sz="1100">
                          <a:effectLst/>
                        </a:rPr>
                        <a:t>Outputs</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25434214"/>
                  </a:ext>
                </a:extLst>
              </a:tr>
              <a:tr h="139065">
                <a:tc>
                  <a:txBody>
                    <a:bodyPr/>
                    <a:lstStyle/>
                    <a:p>
                      <a:pPr marL="457200" algn="ctr">
                        <a:lnSpc>
                          <a:spcPct val="115000"/>
                        </a:lnSpc>
                        <a:spcAft>
                          <a:spcPts val="0"/>
                        </a:spcAft>
                      </a:pPr>
                      <a:r>
                        <a:rPr lang="en-US" sz="1100">
                          <a:effectLst/>
                        </a:rPr>
                        <a:t>A</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457200" algn="just">
                        <a:lnSpc>
                          <a:spcPct val="115000"/>
                        </a:lnSpc>
                        <a:spcAft>
                          <a:spcPts val="0"/>
                        </a:spcAft>
                      </a:pPr>
                      <a:r>
                        <a:rPr lang="en-US" sz="1100">
                          <a:effectLst/>
                        </a:rPr>
                        <a:t>1</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457200" algn="just">
                        <a:lnSpc>
                          <a:spcPct val="115000"/>
                        </a:lnSpc>
                        <a:spcAft>
                          <a:spcPts val="0"/>
                        </a:spcAft>
                      </a:pPr>
                      <a:r>
                        <a:rPr lang="en-US" sz="1100">
                          <a:effectLst/>
                        </a:rPr>
                        <a:t>2</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457200" algn="just">
                        <a:lnSpc>
                          <a:spcPct val="115000"/>
                        </a:lnSpc>
                        <a:spcAft>
                          <a:spcPts val="0"/>
                        </a:spcAft>
                      </a:pPr>
                      <a:r>
                        <a:rPr lang="en-US" sz="1100">
                          <a:effectLst/>
                        </a:rPr>
                        <a:t>10</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21897031"/>
                  </a:ext>
                </a:extLst>
              </a:tr>
              <a:tr h="0">
                <a:tc>
                  <a:txBody>
                    <a:bodyPr/>
                    <a:lstStyle/>
                    <a:p>
                      <a:pPr marL="457200" algn="ctr">
                        <a:lnSpc>
                          <a:spcPct val="115000"/>
                        </a:lnSpc>
                        <a:spcAft>
                          <a:spcPts val="0"/>
                        </a:spcAft>
                      </a:pPr>
                      <a:r>
                        <a:rPr lang="en-US" sz="1100">
                          <a:effectLst/>
                        </a:rPr>
                        <a:t>B</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457200" algn="just">
                        <a:lnSpc>
                          <a:spcPct val="115000"/>
                        </a:lnSpc>
                        <a:spcAft>
                          <a:spcPts val="0"/>
                        </a:spcAft>
                      </a:pPr>
                      <a:r>
                        <a:rPr lang="en-US" sz="1100">
                          <a:effectLst/>
                        </a:rPr>
                        <a:t>10</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457200" algn="just">
                        <a:lnSpc>
                          <a:spcPct val="115000"/>
                        </a:lnSpc>
                        <a:spcAft>
                          <a:spcPts val="0"/>
                        </a:spcAft>
                      </a:pPr>
                      <a:r>
                        <a:rPr lang="en-US" sz="1100">
                          <a:effectLst/>
                        </a:rPr>
                        <a:t>2</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457200" algn="just">
                        <a:lnSpc>
                          <a:spcPct val="115000"/>
                        </a:lnSpc>
                        <a:spcAft>
                          <a:spcPts val="0"/>
                        </a:spcAft>
                      </a:pPr>
                      <a:r>
                        <a:rPr lang="en-US" sz="1100">
                          <a:effectLst/>
                        </a:rPr>
                        <a:t>1</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46954902"/>
                  </a:ext>
                </a:extLst>
              </a:tr>
              <a:tr h="167005">
                <a:tc>
                  <a:txBody>
                    <a:bodyPr/>
                    <a:lstStyle/>
                    <a:p>
                      <a:pPr marL="457200" algn="ctr">
                        <a:lnSpc>
                          <a:spcPct val="115000"/>
                        </a:lnSpc>
                        <a:spcAft>
                          <a:spcPts val="0"/>
                        </a:spcAft>
                      </a:pPr>
                      <a:r>
                        <a:rPr lang="en-US" sz="1100">
                          <a:effectLst/>
                        </a:rPr>
                        <a:t>C</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457200" algn="just">
                        <a:lnSpc>
                          <a:spcPct val="115000"/>
                        </a:lnSpc>
                        <a:spcAft>
                          <a:spcPts val="0"/>
                        </a:spcAft>
                      </a:pPr>
                      <a:r>
                        <a:rPr lang="en-US" sz="1100">
                          <a:effectLst/>
                        </a:rPr>
                        <a:t>5</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457200" algn="just">
                        <a:lnSpc>
                          <a:spcPct val="115000"/>
                        </a:lnSpc>
                        <a:spcAft>
                          <a:spcPts val="0"/>
                        </a:spcAft>
                      </a:pPr>
                      <a:r>
                        <a:rPr lang="en-US" sz="1100">
                          <a:effectLst/>
                        </a:rPr>
                        <a:t>1</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457200" algn="just">
                        <a:lnSpc>
                          <a:spcPct val="115000"/>
                        </a:lnSpc>
                        <a:spcAft>
                          <a:spcPts val="0"/>
                        </a:spcAft>
                      </a:pPr>
                      <a:r>
                        <a:rPr lang="en-US" sz="1100">
                          <a:effectLst/>
                        </a:rPr>
                        <a:t>1</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65981912"/>
                  </a:ext>
                </a:extLst>
              </a:tr>
              <a:tr h="144145">
                <a:tc>
                  <a:txBody>
                    <a:bodyPr/>
                    <a:lstStyle/>
                    <a:p>
                      <a:pPr marL="457200" algn="ctr">
                        <a:lnSpc>
                          <a:spcPct val="115000"/>
                        </a:lnSpc>
                        <a:spcAft>
                          <a:spcPts val="0"/>
                        </a:spcAft>
                      </a:pPr>
                      <a:r>
                        <a:rPr lang="en-US" sz="1100">
                          <a:effectLst/>
                        </a:rPr>
                        <a:t>D</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457200" algn="just">
                        <a:lnSpc>
                          <a:spcPct val="115000"/>
                        </a:lnSpc>
                        <a:spcAft>
                          <a:spcPts val="0"/>
                        </a:spcAft>
                      </a:pPr>
                      <a:r>
                        <a:rPr lang="en-US" sz="1100">
                          <a:effectLst/>
                        </a:rPr>
                        <a:t>2</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457200" algn="just">
                        <a:lnSpc>
                          <a:spcPct val="115000"/>
                        </a:lnSpc>
                        <a:spcAft>
                          <a:spcPts val="0"/>
                        </a:spcAft>
                      </a:pPr>
                      <a:r>
                        <a:rPr lang="en-US" sz="1100">
                          <a:effectLst/>
                        </a:rPr>
                        <a:t>3</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457200" algn="just">
                        <a:lnSpc>
                          <a:spcPct val="115000"/>
                        </a:lnSpc>
                        <a:spcAft>
                          <a:spcPts val="0"/>
                        </a:spcAft>
                      </a:pPr>
                      <a:r>
                        <a:rPr lang="en-US" sz="1100">
                          <a:effectLst/>
                        </a:rPr>
                        <a:t>11</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28890946"/>
                  </a:ext>
                </a:extLst>
              </a:tr>
              <a:tr h="0">
                <a:tc>
                  <a:txBody>
                    <a:bodyPr/>
                    <a:lstStyle/>
                    <a:p>
                      <a:pPr marL="457200" algn="ctr">
                        <a:lnSpc>
                          <a:spcPct val="115000"/>
                        </a:lnSpc>
                        <a:spcAft>
                          <a:spcPts val="0"/>
                        </a:spcAft>
                      </a:pPr>
                      <a:r>
                        <a:rPr lang="en-US" sz="1100">
                          <a:effectLst/>
                        </a:rPr>
                        <a:t>E</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457200" algn="just">
                        <a:lnSpc>
                          <a:spcPct val="115000"/>
                        </a:lnSpc>
                        <a:spcAft>
                          <a:spcPts val="0"/>
                        </a:spcAft>
                      </a:pPr>
                      <a:r>
                        <a:rPr lang="en-US" sz="1100">
                          <a:effectLst/>
                        </a:rPr>
                        <a:t>1</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457200" algn="just">
                        <a:lnSpc>
                          <a:spcPct val="115000"/>
                        </a:lnSpc>
                        <a:spcAft>
                          <a:spcPts val="0"/>
                        </a:spcAft>
                      </a:pPr>
                      <a:r>
                        <a:rPr lang="en-US" sz="1100">
                          <a:effectLst/>
                        </a:rPr>
                        <a:t>3</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457200" algn="just">
                        <a:lnSpc>
                          <a:spcPct val="115000"/>
                        </a:lnSpc>
                        <a:spcAft>
                          <a:spcPts val="0"/>
                        </a:spcAft>
                      </a:pPr>
                      <a:r>
                        <a:rPr lang="en-US" sz="1100" dirty="0">
                          <a:effectLst/>
                        </a:rPr>
                        <a:t>20</a:t>
                      </a:r>
                      <a:endParaRPr lang="en-IN"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61397821"/>
                  </a:ext>
                </a:extLst>
              </a:tr>
            </a:tbl>
          </a:graphicData>
        </a:graphic>
      </p:graphicFrame>
    </p:spTree>
    <p:extLst>
      <p:ext uri="{BB962C8B-B14F-4D97-AF65-F5344CB8AC3E}">
        <p14:creationId xmlns:p14="http://schemas.microsoft.com/office/powerpoint/2010/main" val="40939292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0067" y="235808"/>
            <a:ext cx="9603275" cy="633988"/>
          </a:xfrm>
        </p:spPr>
        <p:txBody>
          <a:bodyPr/>
          <a:lstStyle/>
          <a:p>
            <a:r>
              <a:rPr lang="en-IN" dirty="0"/>
              <a:t>Albrecht Function Point Analysis</a:t>
            </a:r>
          </a:p>
        </p:txBody>
      </p:sp>
      <p:sp>
        <p:nvSpPr>
          <p:cNvPr id="3" name="Content Placeholder 2"/>
          <p:cNvSpPr>
            <a:spLocks noGrp="1"/>
          </p:cNvSpPr>
          <p:nvPr>
            <p:ph idx="1"/>
          </p:nvPr>
        </p:nvSpPr>
        <p:spPr>
          <a:xfrm>
            <a:off x="1340066" y="978668"/>
            <a:ext cx="9603275" cy="5020688"/>
          </a:xfrm>
        </p:spPr>
        <p:txBody>
          <a:bodyPr>
            <a:normAutofit/>
          </a:bodyPr>
          <a:lstStyle/>
          <a:p>
            <a:r>
              <a:rPr lang="en-IN" dirty="0"/>
              <a:t>Top-down method</a:t>
            </a:r>
          </a:p>
          <a:p>
            <a:r>
              <a:rPr lang="en-IN" dirty="0"/>
              <a:t>Functional size of programs independently of their programming languages</a:t>
            </a:r>
          </a:p>
          <a:p>
            <a:r>
              <a:rPr lang="en-IN" dirty="0"/>
              <a:t>Basis is 5 major components – </a:t>
            </a:r>
            <a:r>
              <a:rPr lang="en-IN" i="1" dirty="0"/>
              <a:t>External user types</a:t>
            </a:r>
          </a:p>
          <a:p>
            <a:pPr lvl="1"/>
            <a:r>
              <a:rPr lang="en-IN" dirty="0"/>
              <a:t>External input</a:t>
            </a:r>
          </a:p>
          <a:p>
            <a:pPr lvl="1"/>
            <a:r>
              <a:rPr lang="en-IN" dirty="0"/>
              <a:t>External output</a:t>
            </a:r>
          </a:p>
          <a:p>
            <a:pPr lvl="1"/>
            <a:r>
              <a:rPr lang="en-IN" dirty="0"/>
              <a:t>External inquiry types</a:t>
            </a:r>
          </a:p>
          <a:p>
            <a:pPr lvl="1"/>
            <a:r>
              <a:rPr lang="en-IN" dirty="0"/>
              <a:t>Logical internal file types</a:t>
            </a:r>
          </a:p>
          <a:p>
            <a:pPr lvl="1"/>
            <a:r>
              <a:rPr lang="en-IN" dirty="0"/>
              <a:t>External interface file types </a:t>
            </a:r>
          </a:p>
          <a:p>
            <a:pPr lvl="1"/>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3390960716"/>
              </p:ext>
            </p:extLst>
          </p:nvPr>
        </p:nvGraphicFramePr>
        <p:xfrm>
          <a:off x="5363740" y="3258510"/>
          <a:ext cx="6679578" cy="2595880"/>
        </p:xfrm>
        <a:graphic>
          <a:graphicData uri="http://schemas.openxmlformats.org/drawingml/2006/table">
            <a:tbl>
              <a:tblPr firstRow="1" bandRow="1">
                <a:tableStyleId>{5C22544A-7EE6-4342-B048-85BDC9FD1C3A}</a:tableStyleId>
              </a:tblPr>
              <a:tblGrid>
                <a:gridCol w="3776328">
                  <a:extLst>
                    <a:ext uri="{9D8B030D-6E8A-4147-A177-3AD203B41FA5}">
                      <a16:colId xmlns:a16="http://schemas.microsoft.com/office/drawing/2014/main" val="3264607591"/>
                    </a:ext>
                  </a:extLst>
                </a:gridCol>
                <a:gridCol w="967750">
                  <a:extLst>
                    <a:ext uri="{9D8B030D-6E8A-4147-A177-3AD203B41FA5}">
                      <a16:colId xmlns:a16="http://schemas.microsoft.com/office/drawing/2014/main" val="2631709784"/>
                    </a:ext>
                  </a:extLst>
                </a:gridCol>
                <a:gridCol w="967750">
                  <a:extLst>
                    <a:ext uri="{9D8B030D-6E8A-4147-A177-3AD203B41FA5}">
                      <a16:colId xmlns:a16="http://schemas.microsoft.com/office/drawing/2014/main" val="3575648612"/>
                    </a:ext>
                  </a:extLst>
                </a:gridCol>
                <a:gridCol w="967750">
                  <a:extLst>
                    <a:ext uri="{9D8B030D-6E8A-4147-A177-3AD203B41FA5}">
                      <a16:colId xmlns:a16="http://schemas.microsoft.com/office/drawing/2014/main" val="4149983170"/>
                    </a:ext>
                  </a:extLst>
                </a:gridCol>
              </a:tblGrid>
              <a:tr h="370840">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i="1" dirty="0">
                          <a:solidFill>
                            <a:srgbClr val="0000CC"/>
                          </a:solidFill>
                        </a:rPr>
                        <a:t>External user type</a:t>
                      </a:r>
                      <a:endParaRPr lang="en-IN" dirty="0">
                        <a:solidFill>
                          <a:srgbClr val="0000CC"/>
                        </a:solidFill>
                      </a:endParaRPr>
                    </a:p>
                  </a:txBody>
                  <a:tcPr/>
                </a:tc>
                <a:tc gridSpan="3">
                  <a:txBody>
                    <a:bodyPr/>
                    <a:lstStyle/>
                    <a:p>
                      <a:pPr algn="ctr"/>
                      <a:r>
                        <a:rPr lang="en-IN" dirty="0">
                          <a:solidFill>
                            <a:srgbClr val="0000CC"/>
                          </a:solidFill>
                        </a:rPr>
                        <a:t>Multiplier</a:t>
                      </a:r>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728474671"/>
                  </a:ext>
                </a:extLst>
              </a:tr>
              <a:tr h="370840">
                <a:tc vMerge="1">
                  <a:txBody>
                    <a:bodyPr/>
                    <a:lstStyle/>
                    <a:p>
                      <a:endParaRPr lang="en-IN" dirty="0">
                        <a:solidFill>
                          <a:srgbClr val="0000CC"/>
                        </a:solidFill>
                      </a:endParaRPr>
                    </a:p>
                  </a:txBody>
                  <a:tcPr/>
                </a:tc>
                <a:tc>
                  <a:txBody>
                    <a:bodyPr/>
                    <a:lstStyle/>
                    <a:p>
                      <a:r>
                        <a:rPr lang="en-IN" dirty="0">
                          <a:solidFill>
                            <a:srgbClr val="0000CC"/>
                          </a:solidFill>
                        </a:rPr>
                        <a:t>Low </a:t>
                      </a:r>
                    </a:p>
                  </a:txBody>
                  <a:tcPr/>
                </a:tc>
                <a:tc>
                  <a:txBody>
                    <a:bodyPr/>
                    <a:lstStyle/>
                    <a:p>
                      <a:r>
                        <a:rPr lang="en-IN" dirty="0">
                          <a:solidFill>
                            <a:srgbClr val="0000CC"/>
                          </a:solidFill>
                        </a:rPr>
                        <a:t>Average</a:t>
                      </a:r>
                    </a:p>
                  </a:txBody>
                  <a:tcPr/>
                </a:tc>
                <a:tc>
                  <a:txBody>
                    <a:bodyPr/>
                    <a:lstStyle/>
                    <a:p>
                      <a:r>
                        <a:rPr lang="en-IN" dirty="0">
                          <a:solidFill>
                            <a:srgbClr val="0000CC"/>
                          </a:solidFill>
                        </a:rPr>
                        <a:t>High </a:t>
                      </a:r>
                    </a:p>
                  </a:txBody>
                  <a:tcPr/>
                </a:tc>
                <a:extLst>
                  <a:ext uri="{0D108BD9-81ED-4DB2-BD59-A6C34878D82A}">
                    <a16:rowId xmlns:a16="http://schemas.microsoft.com/office/drawing/2014/main" val="267256127"/>
                  </a:ext>
                </a:extLst>
              </a:tr>
              <a:tr h="3708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IN" dirty="0"/>
                        <a:t>External input type</a:t>
                      </a:r>
                    </a:p>
                  </a:txBody>
                  <a:tcPr/>
                </a:tc>
                <a:tc>
                  <a:txBody>
                    <a:bodyPr/>
                    <a:lstStyle/>
                    <a:p>
                      <a:r>
                        <a:rPr lang="en-IN" dirty="0"/>
                        <a:t>3</a:t>
                      </a:r>
                    </a:p>
                  </a:txBody>
                  <a:tcPr/>
                </a:tc>
                <a:tc>
                  <a:txBody>
                    <a:bodyPr/>
                    <a:lstStyle/>
                    <a:p>
                      <a:r>
                        <a:rPr lang="en-IN" dirty="0"/>
                        <a:t>4</a:t>
                      </a:r>
                    </a:p>
                  </a:txBody>
                  <a:tcPr/>
                </a:tc>
                <a:tc>
                  <a:txBody>
                    <a:bodyPr/>
                    <a:lstStyle/>
                    <a:p>
                      <a:r>
                        <a:rPr lang="en-IN" dirty="0"/>
                        <a:t>6</a:t>
                      </a:r>
                    </a:p>
                  </a:txBody>
                  <a:tcPr/>
                </a:tc>
                <a:extLst>
                  <a:ext uri="{0D108BD9-81ED-4DB2-BD59-A6C34878D82A}">
                    <a16:rowId xmlns:a16="http://schemas.microsoft.com/office/drawing/2014/main" val="1961985854"/>
                  </a:ext>
                </a:extLst>
              </a:tr>
              <a:tr h="3708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IN" dirty="0"/>
                        <a:t>External output</a:t>
                      </a:r>
                      <a:r>
                        <a:rPr lang="en-IN" baseline="0" dirty="0"/>
                        <a:t> type</a:t>
                      </a:r>
                      <a:endParaRPr lang="en-IN" dirty="0"/>
                    </a:p>
                  </a:txBody>
                  <a:tcPr/>
                </a:tc>
                <a:tc>
                  <a:txBody>
                    <a:bodyPr/>
                    <a:lstStyle/>
                    <a:p>
                      <a:r>
                        <a:rPr lang="en-IN" dirty="0"/>
                        <a:t>4</a:t>
                      </a:r>
                    </a:p>
                  </a:txBody>
                  <a:tcPr/>
                </a:tc>
                <a:tc>
                  <a:txBody>
                    <a:bodyPr/>
                    <a:lstStyle/>
                    <a:p>
                      <a:r>
                        <a:rPr lang="en-IN" dirty="0"/>
                        <a:t>5</a:t>
                      </a:r>
                    </a:p>
                  </a:txBody>
                  <a:tcPr/>
                </a:tc>
                <a:tc>
                  <a:txBody>
                    <a:bodyPr/>
                    <a:lstStyle/>
                    <a:p>
                      <a:r>
                        <a:rPr lang="en-IN" dirty="0"/>
                        <a:t>7</a:t>
                      </a:r>
                    </a:p>
                  </a:txBody>
                  <a:tcPr/>
                </a:tc>
                <a:extLst>
                  <a:ext uri="{0D108BD9-81ED-4DB2-BD59-A6C34878D82A}">
                    <a16:rowId xmlns:a16="http://schemas.microsoft.com/office/drawing/2014/main" val="1528524872"/>
                  </a:ext>
                </a:extLst>
              </a:tr>
              <a:tr h="3708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IN" dirty="0"/>
                        <a:t>External inquiry type</a:t>
                      </a:r>
                    </a:p>
                  </a:txBody>
                  <a:tcPr/>
                </a:tc>
                <a:tc>
                  <a:txBody>
                    <a:bodyPr/>
                    <a:lstStyle/>
                    <a:p>
                      <a:r>
                        <a:rPr lang="en-IN" dirty="0"/>
                        <a:t>3</a:t>
                      </a:r>
                    </a:p>
                  </a:txBody>
                  <a:tcPr/>
                </a:tc>
                <a:tc>
                  <a:txBody>
                    <a:bodyPr/>
                    <a:lstStyle/>
                    <a:p>
                      <a:r>
                        <a:rPr lang="en-IN" dirty="0"/>
                        <a:t>4</a:t>
                      </a:r>
                    </a:p>
                  </a:txBody>
                  <a:tcPr/>
                </a:tc>
                <a:tc>
                  <a:txBody>
                    <a:bodyPr/>
                    <a:lstStyle/>
                    <a:p>
                      <a:r>
                        <a:rPr lang="en-IN" dirty="0"/>
                        <a:t>6</a:t>
                      </a:r>
                    </a:p>
                  </a:txBody>
                  <a:tcPr/>
                </a:tc>
                <a:extLst>
                  <a:ext uri="{0D108BD9-81ED-4DB2-BD59-A6C34878D82A}">
                    <a16:rowId xmlns:a16="http://schemas.microsoft.com/office/drawing/2014/main" val="2340593599"/>
                  </a:ext>
                </a:extLst>
              </a:tr>
              <a:tr h="3708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IN" dirty="0"/>
                        <a:t>Logical internal file type</a:t>
                      </a:r>
                    </a:p>
                  </a:txBody>
                  <a:tcPr/>
                </a:tc>
                <a:tc>
                  <a:txBody>
                    <a:bodyPr/>
                    <a:lstStyle/>
                    <a:p>
                      <a:r>
                        <a:rPr lang="en-IN" dirty="0"/>
                        <a:t>7</a:t>
                      </a:r>
                    </a:p>
                  </a:txBody>
                  <a:tcPr/>
                </a:tc>
                <a:tc>
                  <a:txBody>
                    <a:bodyPr/>
                    <a:lstStyle/>
                    <a:p>
                      <a:r>
                        <a:rPr lang="en-IN" dirty="0"/>
                        <a:t>10</a:t>
                      </a:r>
                    </a:p>
                  </a:txBody>
                  <a:tcPr/>
                </a:tc>
                <a:tc>
                  <a:txBody>
                    <a:bodyPr/>
                    <a:lstStyle/>
                    <a:p>
                      <a:r>
                        <a:rPr lang="en-IN" dirty="0"/>
                        <a:t>15</a:t>
                      </a:r>
                    </a:p>
                  </a:txBody>
                  <a:tcPr/>
                </a:tc>
                <a:extLst>
                  <a:ext uri="{0D108BD9-81ED-4DB2-BD59-A6C34878D82A}">
                    <a16:rowId xmlns:a16="http://schemas.microsoft.com/office/drawing/2014/main" val="2095758534"/>
                  </a:ext>
                </a:extLst>
              </a:tr>
              <a:tr h="3708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IN" dirty="0"/>
                        <a:t>External interface file type</a:t>
                      </a:r>
                    </a:p>
                  </a:txBody>
                  <a:tcPr/>
                </a:tc>
                <a:tc>
                  <a:txBody>
                    <a:bodyPr/>
                    <a:lstStyle/>
                    <a:p>
                      <a:r>
                        <a:rPr lang="en-IN" dirty="0"/>
                        <a:t>5</a:t>
                      </a:r>
                    </a:p>
                  </a:txBody>
                  <a:tcPr/>
                </a:tc>
                <a:tc>
                  <a:txBody>
                    <a:bodyPr/>
                    <a:lstStyle/>
                    <a:p>
                      <a:r>
                        <a:rPr lang="en-IN" dirty="0"/>
                        <a:t>7</a:t>
                      </a:r>
                    </a:p>
                  </a:txBody>
                  <a:tcPr/>
                </a:tc>
                <a:tc>
                  <a:txBody>
                    <a:bodyPr/>
                    <a:lstStyle/>
                    <a:p>
                      <a:r>
                        <a:rPr lang="en-IN" dirty="0"/>
                        <a:t>10</a:t>
                      </a:r>
                    </a:p>
                  </a:txBody>
                  <a:tcPr/>
                </a:tc>
                <a:extLst>
                  <a:ext uri="{0D108BD9-81ED-4DB2-BD59-A6C34878D82A}">
                    <a16:rowId xmlns:a16="http://schemas.microsoft.com/office/drawing/2014/main" val="155185371"/>
                  </a:ext>
                </a:extLst>
              </a:tr>
            </a:tbl>
          </a:graphicData>
        </a:graphic>
      </p:graphicFrame>
    </p:spTree>
    <p:extLst>
      <p:ext uri="{BB962C8B-B14F-4D97-AF65-F5344CB8AC3E}">
        <p14:creationId xmlns:p14="http://schemas.microsoft.com/office/powerpoint/2010/main" val="3689732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5101" y="135447"/>
            <a:ext cx="9603275" cy="522476"/>
          </a:xfrm>
        </p:spPr>
        <p:txBody>
          <a:bodyPr>
            <a:normAutofit fontScale="90000"/>
          </a:bodyPr>
          <a:lstStyle/>
          <a:p>
            <a:r>
              <a:rPr lang="en-IN" dirty="0"/>
              <a:t>Albrecht Function Point Analysis</a:t>
            </a:r>
          </a:p>
        </p:txBody>
      </p:sp>
      <p:sp>
        <p:nvSpPr>
          <p:cNvPr id="3" name="Content Placeholder 2"/>
          <p:cNvSpPr>
            <a:spLocks noGrp="1"/>
          </p:cNvSpPr>
          <p:nvPr>
            <p:ph idx="1"/>
          </p:nvPr>
        </p:nvSpPr>
        <p:spPr>
          <a:xfrm>
            <a:off x="1195101" y="1056727"/>
            <a:ext cx="9603275" cy="4931478"/>
          </a:xfrm>
        </p:spPr>
        <p:txBody>
          <a:bodyPr/>
          <a:lstStyle/>
          <a:p>
            <a:r>
              <a:rPr lang="en-IN" dirty="0"/>
              <a:t>IFPUG file type complexity</a:t>
            </a:r>
          </a:p>
          <a:p>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2692171018"/>
              </p:ext>
            </p:extLst>
          </p:nvPr>
        </p:nvGraphicFramePr>
        <p:xfrm>
          <a:off x="1613646" y="2514600"/>
          <a:ext cx="8982636" cy="3039035"/>
        </p:xfrm>
        <a:graphic>
          <a:graphicData uri="http://schemas.openxmlformats.org/drawingml/2006/table">
            <a:tbl>
              <a:tblPr firstRow="1" bandRow="1">
                <a:tableStyleId>{5C22544A-7EE6-4342-B048-85BDC9FD1C3A}</a:tableStyleId>
              </a:tblPr>
              <a:tblGrid>
                <a:gridCol w="2245659">
                  <a:extLst>
                    <a:ext uri="{9D8B030D-6E8A-4147-A177-3AD203B41FA5}">
                      <a16:colId xmlns:a16="http://schemas.microsoft.com/office/drawing/2014/main" val="1862883342"/>
                    </a:ext>
                  </a:extLst>
                </a:gridCol>
                <a:gridCol w="2245659">
                  <a:extLst>
                    <a:ext uri="{9D8B030D-6E8A-4147-A177-3AD203B41FA5}">
                      <a16:colId xmlns:a16="http://schemas.microsoft.com/office/drawing/2014/main" val="1470584808"/>
                    </a:ext>
                  </a:extLst>
                </a:gridCol>
                <a:gridCol w="2245659">
                  <a:extLst>
                    <a:ext uri="{9D8B030D-6E8A-4147-A177-3AD203B41FA5}">
                      <a16:colId xmlns:a16="http://schemas.microsoft.com/office/drawing/2014/main" val="682940707"/>
                    </a:ext>
                  </a:extLst>
                </a:gridCol>
                <a:gridCol w="2245659">
                  <a:extLst>
                    <a:ext uri="{9D8B030D-6E8A-4147-A177-3AD203B41FA5}">
                      <a16:colId xmlns:a16="http://schemas.microsoft.com/office/drawing/2014/main" val="1929135085"/>
                    </a:ext>
                  </a:extLst>
                </a:gridCol>
              </a:tblGrid>
              <a:tr h="607807">
                <a:tc rowSpan="2">
                  <a:txBody>
                    <a:bodyPr/>
                    <a:lstStyle/>
                    <a:p>
                      <a:pPr algn="ctr"/>
                      <a:r>
                        <a:rPr lang="en-IN" dirty="0"/>
                        <a:t>Number of Record</a:t>
                      </a:r>
                      <a:r>
                        <a:rPr lang="en-IN" baseline="0" dirty="0"/>
                        <a:t> Types</a:t>
                      </a:r>
                      <a:endParaRPr lang="en-IN" dirty="0"/>
                    </a:p>
                  </a:txBody>
                  <a:tcPr/>
                </a:tc>
                <a:tc gridSpan="3">
                  <a:txBody>
                    <a:bodyPr/>
                    <a:lstStyle/>
                    <a:p>
                      <a:pPr algn="ctr"/>
                      <a:r>
                        <a:rPr lang="en-IN" dirty="0"/>
                        <a:t>Number of data types</a:t>
                      </a:r>
                    </a:p>
                  </a:txBody>
                  <a:tcPr/>
                </a:tc>
                <a:tc hMerge="1">
                  <a:txBody>
                    <a:bodyPr/>
                    <a:lstStyle/>
                    <a:p>
                      <a:pPr algn="ctr"/>
                      <a:endParaRPr lang="en-IN" dirty="0"/>
                    </a:p>
                  </a:txBody>
                  <a:tcPr/>
                </a:tc>
                <a:tc hMerge="1">
                  <a:txBody>
                    <a:bodyPr/>
                    <a:lstStyle/>
                    <a:p>
                      <a:pPr algn="ctr"/>
                      <a:endParaRPr lang="en-IN" dirty="0"/>
                    </a:p>
                  </a:txBody>
                  <a:tcPr/>
                </a:tc>
                <a:extLst>
                  <a:ext uri="{0D108BD9-81ED-4DB2-BD59-A6C34878D82A}">
                    <a16:rowId xmlns:a16="http://schemas.microsoft.com/office/drawing/2014/main" val="2562276064"/>
                  </a:ext>
                </a:extLst>
              </a:tr>
              <a:tr h="607807">
                <a:tc vMerge="1">
                  <a:txBody>
                    <a:bodyPr/>
                    <a:lstStyle/>
                    <a:p>
                      <a:pPr algn="ctr"/>
                      <a:endParaRPr lang="en-IN" dirty="0"/>
                    </a:p>
                  </a:txBody>
                  <a:tcPr/>
                </a:tc>
                <a:tc>
                  <a:txBody>
                    <a:bodyPr/>
                    <a:lstStyle/>
                    <a:p>
                      <a:pPr algn="ctr"/>
                      <a:r>
                        <a:rPr lang="en-IN" dirty="0"/>
                        <a:t>&lt;20</a:t>
                      </a:r>
                    </a:p>
                  </a:txBody>
                  <a:tcPr/>
                </a:tc>
                <a:tc>
                  <a:txBody>
                    <a:bodyPr/>
                    <a:lstStyle/>
                    <a:p>
                      <a:pPr algn="ctr"/>
                      <a:r>
                        <a:rPr lang="en-IN" dirty="0"/>
                        <a:t>20-50</a:t>
                      </a:r>
                    </a:p>
                  </a:txBody>
                  <a:tcPr/>
                </a:tc>
                <a:tc>
                  <a:txBody>
                    <a:bodyPr/>
                    <a:lstStyle/>
                    <a:p>
                      <a:pPr algn="ctr"/>
                      <a:r>
                        <a:rPr lang="en-IN" dirty="0"/>
                        <a:t>&gt;50</a:t>
                      </a:r>
                    </a:p>
                  </a:txBody>
                  <a:tcPr/>
                </a:tc>
                <a:extLst>
                  <a:ext uri="{0D108BD9-81ED-4DB2-BD59-A6C34878D82A}">
                    <a16:rowId xmlns:a16="http://schemas.microsoft.com/office/drawing/2014/main" val="631823533"/>
                  </a:ext>
                </a:extLst>
              </a:tr>
              <a:tr h="607807">
                <a:tc>
                  <a:txBody>
                    <a:bodyPr/>
                    <a:lstStyle/>
                    <a:p>
                      <a:pPr algn="ctr"/>
                      <a:r>
                        <a:rPr lang="en-IN" dirty="0"/>
                        <a:t>1</a:t>
                      </a:r>
                    </a:p>
                  </a:txBody>
                  <a:tcPr/>
                </a:tc>
                <a:tc>
                  <a:txBody>
                    <a:bodyPr/>
                    <a:lstStyle/>
                    <a:p>
                      <a:pPr algn="ctr"/>
                      <a:r>
                        <a:rPr lang="en-IN" dirty="0"/>
                        <a:t>Low</a:t>
                      </a:r>
                    </a:p>
                  </a:txBody>
                  <a:tcPr/>
                </a:tc>
                <a:tc>
                  <a:txBody>
                    <a:bodyPr/>
                    <a:lstStyle/>
                    <a:p>
                      <a:pPr algn="ctr"/>
                      <a:r>
                        <a:rPr lang="en-IN" dirty="0"/>
                        <a:t>Low</a:t>
                      </a:r>
                    </a:p>
                  </a:txBody>
                  <a:tcPr/>
                </a:tc>
                <a:tc>
                  <a:txBody>
                    <a:bodyPr/>
                    <a:lstStyle/>
                    <a:p>
                      <a:pPr algn="ctr"/>
                      <a:r>
                        <a:rPr lang="en-IN" dirty="0"/>
                        <a:t>Average</a:t>
                      </a:r>
                    </a:p>
                  </a:txBody>
                  <a:tcPr/>
                </a:tc>
                <a:extLst>
                  <a:ext uri="{0D108BD9-81ED-4DB2-BD59-A6C34878D82A}">
                    <a16:rowId xmlns:a16="http://schemas.microsoft.com/office/drawing/2014/main" val="424863500"/>
                  </a:ext>
                </a:extLst>
              </a:tr>
              <a:tr h="607807">
                <a:tc>
                  <a:txBody>
                    <a:bodyPr/>
                    <a:lstStyle/>
                    <a:p>
                      <a:pPr algn="ctr"/>
                      <a:r>
                        <a:rPr lang="en-IN" dirty="0"/>
                        <a:t>2 to 5</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Low</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Average</a:t>
                      </a:r>
                    </a:p>
                  </a:txBody>
                  <a:tcPr/>
                </a:tc>
                <a:tc>
                  <a:txBody>
                    <a:bodyPr/>
                    <a:lstStyle/>
                    <a:p>
                      <a:pPr algn="ctr"/>
                      <a:r>
                        <a:rPr lang="en-IN" dirty="0"/>
                        <a:t>High</a:t>
                      </a:r>
                    </a:p>
                  </a:txBody>
                  <a:tcPr/>
                </a:tc>
                <a:extLst>
                  <a:ext uri="{0D108BD9-81ED-4DB2-BD59-A6C34878D82A}">
                    <a16:rowId xmlns:a16="http://schemas.microsoft.com/office/drawing/2014/main" val="3701371712"/>
                  </a:ext>
                </a:extLst>
              </a:tr>
              <a:tr h="607807">
                <a:tc>
                  <a:txBody>
                    <a:bodyPr/>
                    <a:lstStyle/>
                    <a:p>
                      <a:pPr algn="ctr"/>
                      <a:r>
                        <a:rPr lang="en-IN" dirty="0"/>
                        <a:t>&gt;5</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Average</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High</a:t>
                      </a:r>
                    </a:p>
                  </a:txBody>
                  <a:tcPr/>
                </a:tc>
                <a:tc>
                  <a:txBody>
                    <a:bodyPr/>
                    <a:lstStyle/>
                    <a:p>
                      <a:pPr algn="ctr"/>
                      <a:r>
                        <a:rPr lang="en-IN" dirty="0"/>
                        <a:t>High</a:t>
                      </a:r>
                    </a:p>
                  </a:txBody>
                  <a:tcPr/>
                </a:tc>
                <a:extLst>
                  <a:ext uri="{0D108BD9-81ED-4DB2-BD59-A6C34878D82A}">
                    <a16:rowId xmlns:a16="http://schemas.microsoft.com/office/drawing/2014/main" val="3399706114"/>
                  </a:ext>
                </a:extLst>
              </a:tr>
            </a:tbl>
          </a:graphicData>
        </a:graphic>
      </p:graphicFrame>
    </p:spTree>
    <p:extLst>
      <p:ext uri="{BB962C8B-B14F-4D97-AF65-F5344CB8AC3E}">
        <p14:creationId xmlns:p14="http://schemas.microsoft.com/office/powerpoint/2010/main" val="27332656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8555" y="191202"/>
            <a:ext cx="9603275" cy="544779"/>
          </a:xfrm>
        </p:spPr>
        <p:txBody>
          <a:bodyPr/>
          <a:lstStyle/>
          <a:p>
            <a:r>
              <a:rPr lang="en-IN" dirty="0"/>
              <a:t>Albrecht Function Point Analysis</a:t>
            </a:r>
          </a:p>
        </p:txBody>
      </p:sp>
      <p:sp>
        <p:nvSpPr>
          <p:cNvPr id="3" name="Content Placeholder 2"/>
          <p:cNvSpPr>
            <a:spLocks noGrp="1"/>
          </p:cNvSpPr>
          <p:nvPr>
            <p:ph idx="1"/>
          </p:nvPr>
        </p:nvSpPr>
        <p:spPr>
          <a:xfrm>
            <a:off x="1451579" y="1193180"/>
            <a:ext cx="9603275" cy="4393581"/>
          </a:xfrm>
        </p:spPr>
        <p:txBody>
          <a:bodyPr>
            <a:normAutofit/>
          </a:bodyPr>
          <a:lstStyle/>
          <a:p>
            <a:r>
              <a:rPr lang="en-IN" dirty="0"/>
              <a:t>Example	</a:t>
            </a:r>
          </a:p>
          <a:p>
            <a:r>
              <a:rPr lang="en-IN" dirty="0"/>
              <a:t>A logical internal file might contain data about purchase orders. These purchase orders might be organized into two separate record types: the main PURCHASE-ORDER details, namely purchase order number, supplier reference and purchase order date, and then details for each PURCHASE-ORDER-ITEM specified in the order, namely, the product code, the unit price and number ordered. </a:t>
            </a:r>
          </a:p>
        </p:txBody>
      </p:sp>
    </p:spTree>
    <p:extLst>
      <p:ext uri="{BB962C8B-B14F-4D97-AF65-F5344CB8AC3E}">
        <p14:creationId xmlns:p14="http://schemas.microsoft.com/office/powerpoint/2010/main" val="30894429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8555" y="191202"/>
            <a:ext cx="9603275" cy="544779"/>
          </a:xfrm>
        </p:spPr>
        <p:txBody>
          <a:bodyPr/>
          <a:lstStyle/>
          <a:p>
            <a:r>
              <a:rPr lang="en-IN" dirty="0"/>
              <a:t>Albrecht Function Point Analysis</a:t>
            </a:r>
          </a:p>
        </p:txBody>
      </p:sp>
      <p:sp>
        <p:nvSpPr>
          <p:cNvPr id="3" name="Content Placeholder 2"/>
          <p:cNvSpPr>
            <a:spLocks noGrp="1"/>
          </p:cNvSpPr>
          <p:nvPr>
            <p:ph idx="1"/>
          </p:nvPr>
        </p:nvSpPr>
        <p:spPr>
          <a:xfrm>
            <a:off x="1451579" y="1193180"/>
            <a:ext cx="9603275" cy="4393581"/>
          </a:xfrm>
        </p:spPr>
        <p:txBody>
          <a:bodyPr>
            <a:normAutofit fontScale="70000" lnSpcReduction="20000"/>
          </a:bodyPr>
          <a:lstStyle/>
          <a:p>
            <a:r>
              <a:rPr lang="en-IN" dirty="0"/>
              <a:t>Example - Solution	</a:t>
            </a:r>
          </a:p>
          <a:p>
            <a:r>
              <a:rPr lang="en-IN" dirty="0"/>
              <a:t>A logical internal file might contain data about purchase orders. These purchase orders might be organized into two separate record types: the main PURCHASE-ORDER details, namely purchase order number, supplier reference and purchase order date, and then details for each PURCHASE-ORDER-ITEM specified in the order, namely, the product code, the unit price and number ordered. The number of record types for that file would be 6.</a:t>
            </a:r>
          </a:p>
          <a:p>
            <a:r>
              <a:rPr lang="en-IN" dirty="0"/>
              <a:t>The number of record types – 2</a:t>
            </a:r>
          </a:p>
          <a:p>
            <a:r>
              <a:rPr lang="en-IN" dirty="0"/>
              <a:t>No. of data types - 6</a:t>
            </a:r>
          </a:p>
          <a:p>
            <a:r>
              <a:rPr lang="en-IN" dirty="0"/>
              <a:t>File type – low</a:t>
            </a:r>
          </a:p>
          <a:p>
            <a:r>
              <a:rPr lang="en-IN" dirty="0"/>
              <a:t>FP count - 7</a:t>
            </a:r>
          </a:p>
        </p:txBody>
      </p:sp>
    </p:spTree>
    <p:extLst>
      <p:ext uri="{BB962C8B-B14F-4D97-AF65-F5344CB8AC3E}">
        <p14:creationId xmlns:p14="http://schemas.microsoft.com/office/powerpoint/2010/main" val="23067667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3661" y="1"/>
            <a:ext cx="9603275" cy="564776"/>
          </a:xfrm>
        </p:spPr>
        <p:txBody>
          <a:bodyPr/>
          <a:lstStyle/>
          <a:p>
            <a:r>
              <a:rPr lang="en-IN" dirty="0"/>
              <a:t>Function points mark ii</a:t>
            </a:r>
          </a:p>
        </p:txBody>
      </p:sp>
      <p:sp>
        <p:nvSpPr>
          <p:cNvPr id="3" name="Content Placeholder 2"/>
          <p:cNvSpPr>
            <a:spLocks noGrp="1"/>
          </p:cNvSpPr>
          <p:nvPr>
            <p:ph idx="1"/>
          </p:nvPr>
        </p:nvSpPr>
        <p:spPr>
          <a:xfrm>
            <a:off x="1303661" y="658906"/>
            <a:ext cx="9751193" cy="4807439"/>
          </a:xfrm>
        </p:spPr>
        <p:txBody>
          <a:bodyPr/>
          <a:lstStyle/>
          <a:p>
            <a:r>
              <a:rPr lang="en-IN" dirty="0"/>
              <a:t>Sponsored by then the CCTA (Central Computer and Telecommunications Agency) now,  OGC (Office of Government Commerce)</a:t>
            </a:r>
          </a:p>
          <a:p>
            <a:r>
              <a:rPr lang="en-IN" dirty="0"/>
              <a:t>Improvement and replacement of the Albrecht method</a:t>
            </a:r>
          </a:p>
          <a:p>
            <a:r>
              <a:rPr lang="en-IN" dirty="0"/>
              <a:t>The information  processing size is initially measured in unadjusted function points (UFPs)</a:t>
            </a:r>
          </a:p>
          <a:p>
            <a:r>
              <a:rPr lang="en-IN" dirty="0"/>
              <a:t>A technical complexity adjustment can be applied (TCA)</a:t>
            </a:r>
          </a:p>
        </p:txBody>
      </p:sp>
    </p:spTree>
    <p:extLst>
      <p:ext uri="{BB962C8B-B14F-4D97-AF65-F5344CB8AC3E}">
        <p14:creationId xmlns:p14="http://schemas.microsoft.com/office/powerpoint/2010/main" val="5170738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6085" y="0"/>
            <a:ext cx="9603275" cy="580528"/>
          </a:xfrm>
        </p:spPr>
        <p:txBody>
          <a:bodyPr/>
          <a:lstStyle/>
          <a:p>
            <a:r>
              <a:rPr lang="en-IN" dirty="0"/>
              <a:t>Function points mark ii</a:t>
            </a:r>
          </a:p>
        </p:txBody>
      </p:sp>
      <p:sp>
        <p:nvSpPr>
          <p:cNvPr id="4" name="Rounded Rectangle 3"/>
          <p:cNvSpPr/>
          <p:nvPr/>
        </p:nvSpPr>
        <p:spPr>
          <a:xfrm>
            <a:off x="1828799" y="2030506"/>
            <a:ext cx="9278471" cy="3818965"/>
          </a:xfrm>
          <a:prstGeom prst="round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7" name="Group 6"/>
          <p:cNvGrpSpPr/>
          <p:nvPr/>
        </p:nvGrpSpPr>
        <p:grpSpPr>
          <a:xfrm>
            <a:off x="4625788" y="2554941"/>
            <a:ext cx="3496236" cy="766483"/>
            <a:chOff x="4625788" y="2554941"/>
            <a:chExt cx="3496236" cy="766483"/>
          </a:xfrm>
        </p:grpSpPr>
        <p:sp>
          <p:nvSpPr>
            <p:cNvPr id="5" name="Rectangle 4"/>
            <p:cNvSpPr/>
            <p:nvPr/>
          </p:nvSpPr>
          <p:spPr>
            <a:xfrm>
              <a:off x="4975412" y="2554941"/>
              <a:ext cx="3146612" cy="7664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Datastore</a:t>
              </a:r>
              <a:endParaRPr lang="en-IN" dirty="0"/>
            </a:p>
          </p:txBody>
        </p:sp>
        <p:sp>
          <p:nvSpPr>
            <p:cNvPr id="6" name="Rectangle 5"/>
            <p:cNvSpPr/>
            <p:nvPr/>
          </p:nvSpPr>
          <p:spPr>
            <a:xfrm>
              <a:off x="4625788" y="2554941"/>
              <a:ext cx="349624" cy="7664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Rectangle 7"/>
          <p:cNvSpPr/>
          <p:nvPr/>
        </p:nvSpPr>
        <p:spPr>
          <a:xfrm>
            <a:off x="5217460" y="4074459"/>
            <a:ext cx="264907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Process </a:t>
            </a:r>
          </a:p>
        </p:txBody>
      </p:sp>
      <p:cxnSp>
        <p:nvCxnSpPr>
          <p:cNvPr id="10" name="Straight Arrow Connector 9"/>
          <p:cNvCxnSpPr/>
          <p:nvPr/>
        </p:nvCxnSpPr>
        <p:spPr>
          <a:xfrm>
            <a:off x="3765176" y="4549589"/>
            <a:ext cx="145228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7866530" y="4536142"/>
            <a:ext cx="145228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3939988" y="4074459"/>
            <a:ext cx="1035424" cy="369332"/>
          </a:xfrm>
          <a:prstGeom prst="rect">
            <a:avLst/>
          </a:prstGeom>
          <a:noFill/>
        </p:spPr>
        <p:txBody>
          <a:bodyPr wrap="square" rtlCol="0">
            <a:spAutoFit/>
          </a:bodyPr>
          <a:lstStyle/>
          <a:p>
            <a:r>
              <a:rPr lang="en-IN" dirty="0"/>
              <a:t>Input</a:t>
            </a:r>
          </a:p>
        </p:txBody>
      </p:sp>
      <p:sp>
        <p:nvSpPr>
          <p:cNvPr id="14" name="TextBox 13"/>
          <p:cNvSpPr txBox="1"/>
          <p:nvPr/>
        </p:nvSpPr>
        <p:spPr>
          <a:xfrm>
            <a:off x="2178422" y="4346993"/>
            <a:ext cx="1344706" cy="369332"/>
          </a:xfrm>
          <a:prstGeom prst="rect">
            <a:avLst/>
          </a:prstGeom>
          <a:noFill/>
        </p:spPr>
        <p:txBody>
          <a:bodyPr wrap="square" rtlCol="0">
            <a:spAutoFit/>
          </a:bodyPr>
          <a:lstStyle/>
          <a:p>
            <a:r>
              <a:rPr lang="en-IN" dirty="0"/>
              <a:t>From user</a:t>
            </a:r>
          </a:p>
        </p:txBody>
      </p:sp>
      <p:sp>
        <p:nvSpPr>
          <p:cNvPr id="15" name="TextBox 14"/>
          <p:cNvSpPr txBox="1"/>
          <p:nvPr/>
        </p:nvSpPr>
        <p:spPr>
          <a:xfrm>
            <a:off x="9454653" y="4346993"/>
            <a:ext cx="1652617" cy="369332"/>
          </a:xfrm>
          <a:prstGeom prst="rect">
            <a:avLst/>
          </a:prstGeom>
          <a:noFill/>
        </p:spPr>
        <p:txBody>
          <a:bodyPr wrap="square" rtlCol="0">
            <a:spAutoFit/>
          </a:bodyPr>
          <a:lstStyle/>
          <a:p>
            <a:r>
              <a:rPr lang="en-IN" dirty="0"/>
              <a:t>Return to user</a:t>
            </a:r>
          </a:p>
        </p:txBody>
      </p:sp>
      <p:sp>
        <p:nvSpPr>
          <p:cNvPr id="16" name="TextBox 15"/>
          <p:cNvSpPr txBox="1"/>
          <p:nvPr/>
        </p:nvSpPr>
        <p:spPr>
          <a:xfrm>
            <a:off x="8283390" y="4074459"/>
            <a:ext cx="1035424" cy="369332"/>
          </a:xfrm>
          <a:prstGeom prst="rect">
            <a:avLst/>
          </a:prstGeom>
          <a:noFill/>
        </p:spPr>
        <p:txBody>
          <a:bodyPr wrap="square" rtlCol="0">
            <a:spAutoFit/>
          </a:bodyPr>
          <a:lstStyle/>
          <a:p>
            <a:r>
              <a:rPr lang="en-IN" dirty="0"/>
              <a:t>Output</a:t>
            </a:r>
          </a:p>
        </p:txBody>
      </p:sp>
      <p:cxnSp>
        <p:nvCxnSpPr>
          <p:cNvPr id="9" name="Straight Arrow Connector 8">
            <a:extLst>
              <a:ext uri="{FF2B5EF4-FFF2-40B4-BE49-F238E27FC236}">
                <a16:creationId xmlns:a16="http://schemas.microsoft.com/office/drawing/2014/main" id="{C4B4AC79-1954-4321-8978-D6BA48078013}"/>
              </a:ext>
            </a:extLst>
          </p:cNvPr>
          <p:cNvCxnSpPr>
            <a:stCxn id="5" idx="2"/>
            <a:endCxn id="8" idx="0"/>
          </p:cNvCxnSpPr>
          <p:nvPr/>
        </p:nvCxnSpPr>
        <p:spPr>
          <a:xfrm flipH="1">
            <a:off x="6548034" y="3321424"/>
            <a:ext cx="684" cy="75303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42592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4002" y="0"/>
            <a:ext cx="9603275" cy="620869"/>
          </a:xfrm>
        </p:spPr>
        <p:txBody>
          <a:bodyPr/>
          <a:lstStyle/>
          <a:p>
            <a:r>
              <a:rPr lang="en-IN" dirty="0"/>
              <a:t>Function points mark ii</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451579" y="793376"/>
                <a:ext cx="9603275" cy="4672969"/>
              </a:xfrm>
            </p:spPr>
            <p:txBody>
              <a:bodyPr>
                <a:normAutofit fontScale="92500" lnSpcReduction="10000"/>
              </a:bodyPr>
              <a:lstStyle/>
              <a:p>
                <a:r>
                  <a:rPr lang="en-IN" dirty="0"/>
                  <a:t>For each transaction UFPs are calculated:</a:t>
                </a:r>
              </a:p>
              <a:p>
                <a14:m>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𝑊</m:t>
                        </m:r>
                      </m:e>
                      <m:sub>
                        <m:r>
                          <a:rPr lang="en-IN" b="0" i="1" smtClean="0">
                            <a:latin typeface="Cambria Math" panose="02040503050406030204" pitchFamily="18" charset="0"/>
                          </a:rPr>
                          <m:t>𝑖</m:t>
                        </m:r>
                      </m:sub>
                    </m:sSub>
                    <m:r>
                      <a:rPr lang="en-IN" i="1">
                        <a:latin typeface="Cambria Math" panose="02040503050406030204" pitchFamily="18" charset="0"/>
                        <a:ea typeface="Cambria Math" panose="02040503050406030204" pitchFamily="18" charset="0"/>
                      </a:rPr>
                      <m:t>×</m:t>
                    </m:r>
                    <m:d>
                      <m:dPr>
                        <m:ctrlPr>
                          <a:rPr lang="en-IN" b="0" i="1" smtClean="0">
                            <a:latin typeface="Cambria Math" panose="02040503050406030204" pitchFamily="18" charset="0"/>
                            <a:ea typeface="Cambria Math" panose="02040503050406030204" pitchFamily="18" charset="0"/>
                          </a:rPr>
                        </m:ctrlPr>
                      </m:dPr>
                      <m:e>
                        <m:r>
                          <a:rPr lang="en-IN" b="0" i="1" smtClean="0">
                            <a:latin typeface="Cambria Math" panose="02040503050406030204" pitchFamily="18" charset="0"/>
                            <a:ea typeface="Cambria Math" panose="02040503050406030204" pitchFamily="18" charset="0"/>
                          </a:rPr>
                          <m:t>𝑛𝑢𝑚𝑏𝑒𝑟</m:t>
                        </m:r>
                        <m:r>
                          <a:rPr lang="en-IN" b="0" i="1" smtClean="0">
                            <a:latin typeface="Cambria Math" panose="02040503050406030204" pitchFamily="18" charset="0"/>
                            <a:ea typeface="Cambria Math" panose="02040503050406030204" pitchFamily="18" charset="0"/>
                          </a:rPr>
                          <m:t> </m:t>
                        </m:r>
                        <m:r>
                          <a:rPr lang="en-IN" b="0" i="1" smtClean="0">
                            <a:latin typeface="Cambria Math" panose="02040503050406030204" pitchFamily="18" charset="0"/>
                            <a:ea typeface="Cambria Math" panose="02040503050406030204" pitchFamily="18" charset="0"/>
                          </a:rPr>
                          <m:t>𝑜𝑓</m:t>
                        </m:r>
                        <m:r>
                          <a:rPr lang="en-IN" b="0" i="1" smtClean="0">
                            <a:latin typeface="Cambria Math" panose="02040503050406030204" pitchFamily="18" charset="0"/>
                            <a:ea typeface="Cambria Math" panose="02040503050406030204" pitchFamily="18" charset="0"/>
                          </a:rPr>
                          <m:t> </m:t>
                        </m:r>
                        <m:r>
                          <a:rPr lang="en-IN" b="0" i="1" smtClean="0">
                            <a:latin typeface="Cambria Math" panose="02040503050406030204" pitchFamily="18" charset="0"/>
                            <a:ea typeface="Cambria Math" panose="02040503050406030204" pitchFamily="18" charset="0"/>
                          </a:rPr>
                          <m:t>𝑖𝑛𝑝𝑢𝑡</m:t>
                        </m:r>
                        <m:r>
                          <a:rPr lang="en-IN" b="0" i="1" smtClean="0">
                            <a:latin typeface="Cambria Math" panose="02040503050406030204" pitchFamily="18" charset="0"/>
                            <a:ea typeface="Cambria Math" panose="02040503050406030204" pitchFamily="18" charset="0"/>
                          </a:rPr>
                          <m:t> </m:t>
                        </m:r>
                        <m:r>
                          <a:rPr lang="en-IN" b="0" i="1" smtClean="0">
                            <a:latin typeface="Cambria Math" panose="02040503050406030204" pitchFamily="18" charset="0"/>
                            <a:ea typeface="Cambria Math" panose="02040503050406030204" pitchFamily="18" charset="0"/>
                          </a:rPr>
                          <m:t>𝑑𝑎𝑡𝑎</m:t>
                        </m:r>
                        <m:r>
                          <a:rPr lang="en-IN" b="0" i="1" smtClean="0">
                            <a:latin typeface="Cambria Math" panose="02040503050406030204" pitchFamily="18" charset="0"/>
                            <a:ea typeface="Cambria Math" panose="02040503050406030204" pitchFamily="18" charset="0"/>
                          </a:rPr>
                          <m:t> </m:t>
                        </m:r>
                        <m:r>
                          <a:rPr lang="en-IN" b="0" i="1" smtClean="0">
                            <a:latin typeface="Cambria Math" panose="02040503050406030204" pitchFamily="18" charset="0"/>
                            <a:ea typeface="Cambria Math" panose="02040503050406030204" pitchFamily="18" charset="0"/>
                          </a:rPr>
                          <m:t>𝑒𝑙𝑒𝑚𝑒𝑛𝑡</m:t>
                        </m:r>
                        <m:r>
                          <a:rPr lang="en-IN" b="0" i="1" smtClean="0">
                            <a:latin typeface="Cambria Math" panose="02040503050406030204" pitchFamily="18" charset="0"/>
                            <a:ea typeface="Cambria Math" panose="02040503050406030204" pitchFamily="18" charset="0"/>
                          </a:rPr>
                          <m:t> </m:t>
                        </m:r>
                        <m:r>
                          <a:rPr lang="en-IN" b="0" i="1" smtClean="0">
                            <a:latin typeface="Cambria Math" panose="02040503050406030204" pitchFamily="18" charset="0"/>
                            <a:ea typeface="Cambria Math" panose="02040503050406030204" pitchFamily="18" charset="0"/>
                          </a:rPr>
                          <m:t>𝑡𝑦𝑝𝑒𝑠</m:t>
                        </m:r>
                      </m:e>
                    </m:d>
                    <m:r>
                      <a:rPr lang="en-IN" b="0" i="1" smtClean="0">
                        <a:latin typeface="Cambria Math" panose="02040503050406030204" pitchFamily="18" charset="0"/>
                        <a:ea typeface="Cambria Math" panose="02040503050406030204" pitchFamily="18" charset="0"/>
                      </a:rPr>
                      <m:t>+</m:t>
                    </m:r>
                    <m:sSub>
                      <m:sSubPr>
                        <m:ctrlPr>
                          <a:rPr lang="en-IN" b="0" i="1" smtClean="0">
                            <a:latin typeface="Cambria Math" panose="02040503050406030204" pitchFamily="18" charset="0"/>
                            <a:ea typeface="Cambria Math" panose="02040503050406030204" pitchFamily="18" charset="0"/>
                          </a:rPr>
                        </m:ctrlPr>
                      </m:sSubPr>
                      <m:e>
                        <m:r>
                          <a:rPr lang="en-IN" b="0" i="1" smtClean="0">
                            <a:latin typeface="Cambria Math" panose="02040503050406030204" pitchFamily="18" charset="0"/>
                            <a:ea typeface="Cambria Math" panose="02040503050406030204" pitchFamily="18" charset="0"/>
                          </a:rPr>
                          <m:t>𝑊</m:t>
                        </m:r>
                      </m:e>
                      <m:sub>
                        <m:r>
                          <a:rPr lang="en-IN" b="0" i="1" smtClean="0">
                            <a:latin typeface="Cambria Math" panose="02040503050406030204" pitchFamily="18" charset="0"/>
                            <a:ea typeface="Cambria Math" panose="02040503050406030204" pitchFamily="18" charset="0"/>
                          </a:rPr>
                          <m:t>𝑒</m:t>
                        </m:r>
                      </m:sub>
                    </m:sSub>
                    <m:r>
                      <a:rPr lang="en-IN" b="0" i="1" smtClean="0">
                        <a:latin typeface="Cambria Math" panose="02040503050406030204" pitchFamily="18" charset="0"/>
                        <a:ea typeface="Cambria Math" panose="02040503050406030204" pitchFamily="18" charset="0"/>
                      </a:rPr>
                      <m:t>×</m:t>
                    </m:r>
                    <m:d>
                      <m:dPr>
                        <m:ctrlPr>
                          <a:rPr lang="en-IN" b="0" i="1" smtClean="0">
                            <a:latin typeface="Cambria Math" panose="02040503050406030204" pitchFamily="18" charset="0"/>
                            <a:ea typeface="Cambria Math" panose="02040503050406030204" pitchFamily="18" charset="0"/>
                          </a:rPr>
                        </m:ctrlPr>
                      </m:dPr>
                      <m:e>
                        <m:r>
                          <a:rPr lang="en-IN" b="0" i="1" smtClean="0">
                            <a:latin typeface="Cambria Math" panose="02040503050406030204" pitchFamily="18" charset="0"/>
                            <a:ea typeface="Cambria Math" panose="02040503050406030204" pitchFamily="18" charset="0"/>
                          </a:rPr>
                          <m:t>𝑛𝑢𝑚𝑏𝑒𝑟</m:t>
                        </m:r>
                        <m:r>
                          <a:rPr lang="en-IN" b="0" i="1" smtClean="0">
                            <a:latin typeface="Cambria Math" panose="02040503050406030204" pitchFamily="18" charset="0"/>
                            <a:ea typeface="Cambria Math" panose="02040503050406030204" pitchFamily="18" charset="0"/>
                          </a:rPr>
                          <m:t> </m:t>
                        </m:r>
                        <m:r>
                          <a:rPr lang="en-IN" b="0" i="1" smtClean="0">
                            <a:latin typeface="Cambria Math" panose="02040503050406030204" pitchFamily="18" charset="0"/>
                            <a:ea typeface="Cambria Math" panose="02040503050406030204" pitchFamily="18" charset="0"/>
                          </a:rPr>
                          <m:t>𝑜𝑓</m:t>
                        </m:r>
                        <m:r>
                          <a:rPr lang="en-IN" b="0" i="1" smtClean="0">
                            <a:latin typeface="Cambria Math" panose="02040503050406030204" pitchFamily="18" charset="0"/>
                            <a:ea typeface="Cambria Math" panose="02040503050406030204" pitchFamily="18" charset="0"/>
                          </a:rPr>
                          <m:t> </m:t>
                        </m:r>
                        <m:r>
                          <a:rPr lang="en-IN" b="0" i="1" smtClean="0">
                            <a:latin typeface="Cambria Math" panose="02040503050406030204" pitchFamily="18" charset="0"/>
                            <a:ea typeface="Cambria Math" panose="02040503050406030204" pitchFamily="18" charset="0"/>
                          </a:rPr>
                          <m:t>𝑒𝑛𝑡𝑖𝑡𝑦</m:t>
                        </m:r>
                        <m:r>
                          <a:rPr lang="en-IN" b="0" i="1" smtClean="0">
                            <a:latin typeface="Cambria Math" panose="02040503050406030204" pitchFamily="18" charset="0"/>
                            <a:ea typeface="Cambria Math" panose="02040503050406030204" pitchFamily="18" charset="0"/>
                          </a:rPr>
                          <m:t> </m:t>
                        </m:r>
                        <m:r>
                          <a:rPr lang="en-IN" b="0" i="1" smtClean="0">
                            <a:latin typeface="Cambria Math" panose="02040503050406030204" pitchFamily="18" charset="0"/>
                            <a:ea typeface="Cambria Math" panose="02040503050406030204" pitchFamily="18" charset="0"/>
                          </a:rPr>
                          <m:t>𝑡𝑦𝑝𝑒𝑠</m:t>
                        </m:r>
                        <m:r>
                          <a:rPr lang="en-IN" b="0" i="1" smtClean="0">
                            <a:latin typeface="Cambria Math" panose="02040503050406030204" pitchFamily="18" charset="0"/>
                            <a:ea typeface="Cambria Math" panose="02040503050406030204" pitchFamily="18" charset="0"/>
                          </a:rPr>
                          <m:t> </m:t>
                        </m:r>
                        <m:r>
                          <a:rPr lang="en-IN" b="0" i="1" smtClean="0">
                            <a:latin typeface="Cambria Math" panose="02040503050406030204" pitchFamily="18" charset="0"/>
                            <a:ea typeface="Cambria Math" panose="02040503050406030204" pitchFamily="18" charset="0"/>
                          </a:rPr>
                          <m:t>𝑟𝑒𝑓𝑒𝑟𝑒𝑛𝑐𝑒𝑑</m:t>
                        </m:r>
                      </m:e>
                    </m:d>
                    <m:r>
                      <a:rPr lang="en-IN" b="0" i="1" smtClean="0">
                        <a:latin typeface="Cambria Math" panose="02040503050406030204" pitchFamily="18" charset="0"/>
                        <a:ea typeface="Cambria Math" panose="02040503050406030204" pitchFamily="18" charset="0"/>
                      </a:rPr>
                      <m:t>+</m:t>
                    </m:r>
                    <m:sSub>
                      <m:sSubPr>
                        <m:ctrlPr>
                          <a:rPr lang="en-IN" b="0" i="1" smtClean="0">
                            <a:latin typeface="Cambria Math" panose="02040503050406030204" pitchFamily="18" charset="0"/>
                            <a:ea typeface="Cambria Math" panose="02040503050406030204" pitchFamily="18" charset="0"/>
                          </a:rPr>
                        </m:ctrlPr>
                      </m:sSubPr>
                      <m:e>
                        <m:r>
                          <a:rPr lang="en-IN" b="0" i="1" smtClean="0">
                            <a:latin typeface="Cambria Math" panose="02040503050406030204" pitchFamily="18" charset="0"/>
                            <a:ea typeface="Cambria Math" panose="02040503050406030204" pitchFamily="18" charset="0"/>
                          </a:rPr>
                          <m:t>𝑊</m:t>
                        </m:r>
                      </m:e>
                      <m:sub>
                        <m:r>
                          <a:rPr lang="en-IN" b="0" i="1" smtClean="0">
                            <a:latin typeface="Cambria Math" panose="02040503050406030204" pitchFamily="18" charset="0"/>
                            <a:ea typeface="Cambria Math" panose="02040503050406030204" pitchFamily="18" charset="0"/>
                          </a:rPr>
                          <m:t>𝑜</m:t>
                        </m:r>
                      </m:sub>
                    </m:sSub>
                    <m:r>
                      <a:rPr lang="en-IN" b="0" i="1" smtClean="0">
                        <a:latin typeface="Cambria Math" panose="02040503050406030204" pitchFamily="18" charset="0"/>
                        <a:ea typeface="Cambria Math" panose="02040503050406030204" pitchFamily="18" charset="0"/>
                      </a:rPr>
                      <m:t>×</m:t>
                    </m:r>
                    <m:d>
                      <m:dPr>
                        <m:ctrlPr>
                          <a:rPr lang="en-IN" b="0" i="1" smtClean="0">
                            <a:latin typeface="Cambria Math" panose="02040503050406030204" pitchFamily="18" charset="0"/>
                            <a:ea typeface="Cambria Math" panose="02040503050406030204" pitchFamily="18" charset="0"/>
                          </a:rPr>
                        </m:ctrlPr>
                      </m:dPr>
                      <m:e>
                        <m:r>
                          <a:rPr lang="en-IN" b="0" i="1" smtClean="0">
                            <a:latin typeface="Cambria Math" panose="02040503050406030204" pitchFamily="18" charset="0"/>
                            <a:ea typeface="Cambria Math" panose="02040503050406030204" pitchFamily="18" charset="0"/>
                          </a:rPr>
                          <m:t>𝑛𝑢𝑚𝑏𝑒𝑟</m:t>
                        </m:r>
                        <m:r>
                          <a:rPr lang="en-IN" b="0" i="1" smtClean="0">
                            <a:latin typeface="Cambria Math" panose="02040503050406030204" pitchFamily="18" charset="0"/>
                            <a:ea typeface="Cambria Math" panose="02040503050406030204" pitchFamily="18" charset="0"/>
                          </a:rPr>
                          <m:t> </m:t>
                        </m:r>
                        <m:r>
                          <a:rPr lang="en-IN" b="0" i="1" smtClean="0">
                            <a:latin typeface="Cambria Math" panose="02040503050406030204" pitchFamily="18" charset="0"/>
                            <a:ea typeface="Cambria Math" panose="02040503050406030204" pitchFamily="18" charset="0"/>
                          </a:rPr>
                          <m:t>𝑜𝑓</m:t>
                        </m:r>
                        <m:r>
                          <a:rPr lang="en-IN" b="0" i="1" smtClean="0">
                            <a:latin typeface="Cambria Math" panose="02040503050406030204" pitchFamily="18" charset="0"/>
                            <a:ea typeface="Cambria Math" panose="02040503050406030204" pitchFamily="18" charset="0"/>
                          </a:rPr>
                          <m:t> </m:t>
                        </m:r>
                        <m:r>
                          <a:rPr lang="en-IN" b="0" i="1" smtClean="0">
                            <a:latin typeface="Cambria Math" panose="02040503050406030204" pitchFamily="18" charset="0"/>
                            <a:ea typeface="Cambria Math" panose="02040503050406030204" pitchFamily="18" charset="0"/>
                          </a:rPr>
                          <m:t>𝑜𝑢𝑡𝑝𝑢𝑡</m:t>
                        </m:r>
                        <m:r>
                          <a:rPr lang="en-IN" b="0" i="1" smtClean="0">
                            <a:latin typeface="Cambria Math" panose="02040503050406030204" pitchFamily="18" charset="0"/>
                            <a:ea typeface="Cambria Math" panose="02040503050406030204" pitchFamily="18" charset="0"/>
                          </a:rPr>
                          <m:t> </m:t>
                        </m:r>
                        <m:r>
                          <a:rPr lang="en-IN" b="0" i="1" smtClean="0">
                            <a:latin typeface="Cambria Math" panose="02040503050406030204" pitchFamily="18" charset="0"/>
                            <a:ea typeface="Cambria Math" panose="02040503050406030204" pitchFamily="18" charset="0"/>
                          </a:rPr>
                          <m:t>𝑑𝑎𝑡𝑎</m:t>
                        </m:r>
                        <m:r>
                          <a:rPr lang="en-IN" b="0" i="1" smtClean="0">
                            <a:latin typeface="Cambria Math" panose="02040503050406030204" pitchFamily="18" charset="0"/>
                            <a:ea typeface="Cambria Math" panose="02040503050406030204" pitchFamily="18" charset="0"/>
                          </a:rPr>
                          <m:t> </m:t>
                        </m:r>
                        <m:r>
                          <a:rPr lang="en-IN" b="0" i="1" smtClean="0">
                            <a:latin typeface="Cambria Math" panose="02040503050406030204" pitchFamily="18" charset="0"/>
                            <a:ea typeface="Cambria Math" panose="02040503050406030204" pitchFamily="18" charset="0"/>
                          </a:rPr>
                          <m:t>𝑒𝑙𝑒𝑚𝑒𝑛𝑡</m:t>
                        </m:r>
                        <m:r>
                          <a:rPr lang="en-IN" b="0" i="1" smtClean="0">
                            <a:latin typeface="Cambria Math" panose="02040503050406030204" pitchFamily="18" charset="0"/>
                            <a:ea typeface="Cambria Math" panose="02040503050406030204" pitchFamily="18" charset="0"/>
                          </a:rPr>
                          <m:t> </m:t>
                        </m:r>
                        <m:r>
                          <a:rPr lang="en-IN" b="0" i="1" smtClean="0">
                            <a:latin typeface="Cambria Math" panose="02040503050406030204" pitchFamily="18" charset="0"/>
                            <a:ea typeface="Cambria Math" panose="02040503050406030204" pitchFamily="18" charset="0"/>
                          </a:rPr>
                          <m:t>𝑡𝑦𝑝𝑒𝑠</m:t>
                        </m:r>
                      </m:e>
                    </m:d>
                  </m:oMath>
                </a14:m>
                <a:endParaRPr lang="en-IN" b="0" dirty="0">
                  <a:ea typeface="Cambria Math" panose="02040503050406030204" pitchFamily="18" charset="0"/>
                </a:endParaRPr>
              </a:p>
              <a:p>
                <a:r>
                  <a:rPr lang="en-IN" dirty="0">
                    <a:ea typeface="Cambria Math" panose="02040503050406030204" pitchFamily="18" charset="0"/>
                  </a:rPr>
                  <a:t>W</a:t>
                </a:r>
                <a:r>
                  <a:rPr lang="en-IN" baseline="-25000" dirty="0">
                    <a:ea typeface="Cambria Math" panose="02040503050406030204" pitchFamily="18" charset="0"/>
                  </a:rPr>
                  <a:t>i</a:t>
                </a:r>
                <a:r>
                  <a:rPr lang="en-IN" dirty="0">
                    <a:ea typeface="Cambria Math" panose="02040503050406030204" pitchFamily="18" charset="0"/>
                  </a:rPr>
                  <a:t>, W</a:t>
                </a:r>
                <a:r>
                  <a:rPr lang="en-IN" baseline="-25000" dirty="0">
                    <a:ea typeface="Cambria Math" panose="02040503050406030204" pitchFamily="18" charset="0"/>
                  </a:rPr>
                  <a:t>e</a:t>
                </a:r>
                <a:r>
                  <a:rPr lang="en-IN" dirty="0">
                    <a:ea typeface="Cambria Math" panose="02040503050406030204" pitchFamily="18" charset="0"/>
                  </a:rPr>
                  <a:t>, W</a:t>
                </a:r>
                <a:r>
                  <a:rPr lang="en-IN" baseline="-25000" dirty="0">
                    <a:ea typeface="Cambria Math" panose="02040503050406030204" pitchFamily="18" charset="0"/>
                  </a:rPr>
                  <a:t>o</a:t>
                </a:r>
                <a:r>
                  <a:rPr lang="en-IN" dirty="0">
                    <a:ea typeface="Cambria Math" panose="02040503050406030204" pitchFamily="18" charset="0"/>
                  </a:rPr>
                  <a:t> – weightings derived from previous projects</a:t>
                </a:r>
              </a:p>
              <a:p>
                <a:r>
                  <a:rPr lang="en-IN" b="0" dirty="0">
                    <a:ea typeface="Cambria Math" panose="02040503050406030204" pitchFamily="18" charset="0"/>
                  </a:rPr>
                  <a:t>Industry averages</a:t>
                </a:r>
              </a:p>
              <a:p>
                <a:pPr lvl="1"/>
                <a:r>
                  <a:rPr lang="en-IN" dirty="0">
                    <a:ea typeface="Cambria Math" panose="02040503050406030204" pitchFamily="18" charset="0"/>
                  </a:rPr>
                  <a:t>0.58 for W</a:t>
                </a:r>
                <a:r>
                  <a:rPr lang="en-IN" baseline="-25000" dirty="0">
                    <a:ea typeface="Cambria Math" panose="02040503050406030204" pitchFamily="18" charset="0"/>
                  </a:rPr>
                  <a:t>i</a:t>
                </a:r>
                <a:endParaRPr lang="en-IN" dirty="0">
                  <a:ea typeface="Cambria Math" panose="02040503050406030204" pitchFamily="18" charset="0"/>
                </a:endParaRPr>
              </a:p>
              <a:p>
                <a:pPr lvl="1"/>
                <a:r>
                  <a:rPr lang="en-IN" b="0" dirty="0">
                    <a:ea typeface="Cambria Math" panose="02040503050406030204" pitchFamily="18" charset="0"/>
                  </a:rPr>
                  <a:t>1.66 for </a:t>
                </a:r>
                <a:r>
                  <a:rPr lang="en-IN" dirty="0">
                    <a:ea typeface="Cambria Math" panose="02040503050406030204" pitchFamily="18" charset="0"/>
                  </a:rPr>
                  <a:t>W</a:t>
                </a:r>
                <a:r>
                  <a:rPr lang="en-IN" baseline="-25000" dirty="0">
                    <a:ea typeface="Cambria Math" panose="02040503050406030204" pitchFamily="18" charset="0"/>
                  </a:rPr>
                  <a:t>e</a:t>
                </a:r>
                <a:endParaRPr lang="en-IN" b="0" dirty="0">
                  <a:ea typeface="Cambria Math" panose="02040503050406030204" pitchFamily="18" charset="0"/>
                </a:endParaRPr>
              </a:p>
              <a:p>
                <a:pPr lvl="1"/>
                <a:r>
                  <a:rPr lang="en-IN" dirty="0">
                    <a:ea typeface="Cambria Math" panose="02040503050406030204" pitchFamily="18" charset="0"/>
                  </a:rPr>
                  <a:t>0.26 for W</a:t>
                </a:r>
                <a:r>
                  <a:rPr lang="en-IN" baseline="-25000" dirty="0">
                    <a:ea typeface="Cambria Math" panose="02040503050406030204" pitchFamily="18" charset="0"/>
                  </a:rPr>
                  <a:t>o</a:t>
                </a:r>
                <a:endParaRPr lang="en-IN" b="0" dirty="0">
                  <a:ea typeface="Cambria Math" panose="020405030504060302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451579" y="793376"/>
                <a:ext cx="9603275" cy="4672969"/>
              </a:xfrm>
              <a:blipFill>
                <a:blip r:embed="rId2"/>
                <a:stretch>
                  <a:fillRect l="-952" t="-913"/>
                </a:stretch>
              </a:blipFill>
            </p:spPr>
            <p:txBody>
              <a:bodyPr/>
              <a:lstStyle/>
              <a:p>
                <a:r>
                  <a:rPr lang="en-IN">
                    <a:noFill/>
                  </a:rPr>
                  <a:t> </a:t>
                </a:r>
              </a:p>
            </p:txBody>
          </p:sp>
        </mc:Fallback>
      </mc:AlternateContent>
    </p:spTree>
    <p:extLst>
      <p:ext uri="{BB962C8B-B14F-4D97-AF65-F5344CB8AC3E}">
        <p14:creationId xmlns:p14="http://schemas.microsoft.com/office/powerpoint/2010/main" val="15896032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61" y="0"/>
            <a:ext cx="9603275" cy="620869"/>
          </a:xfrm>
        </p:spPr>
        <p:txBody>
          <a:bodyPr/>
          <a:lstStyle/>
          <a:p>
            <a:r>
              <a:rPr lang="en-IN" dirty="0"/>
              <a:t>Function points mark ii</a:t>
            </a:r>
          </a:p>
        </p:txBody>
      </p:sp>
      <p:sp>
        <p:nvSpPr>
          <p:cNvPr id="3" name="Content Placeholder 2"/>
          <p:cNvSpPr>
            <a:spLocks noGrp="1"/>
          </p:cNvSpPr>
          <p:nvPr>
            <p:ph idx="1"/>
          </p:nvPr>
        </p:nvSpPr>
        <p:spPr>
          <a:xfrm>
            <a:off x="1075060" y="793376"/>
            <a:ext cx="9603275" cy="4679577"/>
          </a:xfrm>
        </p:spPr>
        <p:txBody>
          <a:bodyPr>
            <a:normAutofit fontScale="77500" lnSpcReduction="20000"/>
          </a:bodyPr>
          <a:lstStyle/>
          <a:p>
            <a:r>
              <a:rPr lang="en-IN" dirty="0"/>
              <a:t>Exercise</a:t>
            </a:r>
          </a:p>
          <a:p>
            <a:r>
              <a:rPr lang="en-IN" dirty="0"/>
              <a:t>A cash receipt transaction in the IOE maintenance accounts subsystem accesses two entity types – INVOICE and CASH-RECEIPT.</a:t>
            </a:r>
          </a:p>
          <a:p>
            <a:pPr marL="0" indent="0">
              <a:buNone/>
            </a:pPr>
            <a:r>
              <a:rPr lang="en-IN" dirty="0"/>
              <a:t>The data inputs are:</a:t>
            </a:r>
          </a:p>
          <a:p>
            <a:pPr lvl="1"/>
            <a:r>
              <a:rPr lang="en-IN" dirty="0"/>
              <a:t>Invoice number</a:t>
            </a:r>
          </a:p>
          <a:p>
            <a:pPr lvl="1"/>
            <a:r>
              <a:rPr lang="en-IN" dirty="0"/>
              <a:t>Date received</a:t>
            </a:r>
          </a:p>
          <a:p>
            <a:pPr lvl="1"/>
            <a:r>
              <a:rPr lang="en-IN" dirty="0"/>
              <a:t>Cash received</a:t>
            </a:r>
          </a:p>
          <a:p>
            <a:pPr marL="0" indent="0">
              <a:buNone/>
            </a:pPr>
            <a:r>
              <a:rPr lang="en-IN" dirty="0"/>
              <a:t>If an INVOICE record is not found for the invoice number then an error message is issued. If the invoice number is found then a CASH-RECEIPT record is created. The error message is the only output of the transaction. </a:t>
            </a:r>
          </a:p>
          <a:p>
            <a:pPr marL="0" indent="0">
              <a:buNone/>
            </a:pPr>
            <a:r>
              <a:rPr lang="en-IN" dirty="0"/>
              <a:t>The unadjusted function points, using the industry average weightings, for this transaction is Wi*</a:t>
            </a:r>
            <a:r>
              <a:rPr lang="en-IN" dirty="0" err="1"/>
              <a:t>Ni+We</a:t>
            </a:r>
            <a:r>
              <a:rPr lang="en-IN" dirty="0"/>
              <a:t>*</a:t>
            </a:r>
            <a:r>
              <a:rPr lang="en-IN" dirty="0" err="1"/>
              <a:t>Ne+Wo</a:t>
            </a:r>
            <a:r>
              <a:rPr lang="en-IN" dirty="0"/>
              <a:t>*No = 0.58*3+1.66*2+0.26*1= 5.32</a:t>
            </a:r>
          </a:p>
          <a:p>
            <a:pPr marL="0" indent="0">
              <a:buNone/>
            </a:pPr>
            <a:endParaRPr lang="en-IN" dirty="0"/>
          </a:p>
          <a:p>
            <a:pPr marL="0" indent="0">
              <a:buNone/>
            </a:pPr>
            <a:endParaRPr lang="en-IN" dirty="0"/>
          </a:p>
          <a:p>
            <a:endParaRPr lang="en-IN" dirty="0"/>
          </a:p>
        </p:txBody>
      </p:sp>
    </p:spTree>
    <p:extLst>
      <p:ext uri="{BB962C8B-B14F-4D97-AF65-F5344CB8AC3E}">
        <p14:creationId xmlns:p14="http://schemas.microsoft.com/office/powerpoint/2010/main" val="41044817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One system delivering the same functionality as another may be more difficult to implement</a:t>
            </a:r>
          </a:p>
          <a:p>
            <a:pPr lvl="1"/>
            <a:r>
              <a:rPr lang="en-IN" dirty="0"/>
              <a:t>Incorporation of additional security measures would increase the amount of effort </a:t>
            </a:r>
          </a:p>
          <a:p>
            <a:pPr lvl="1"/>
            <a:r>
              <a:rPr lang="en-IN" dirty="0"/>
              <a:t>Symons – against to use FPs to estimate SLOC rather than effort</a:t>
            </a:r>
          </a:p>
          <a:p>
            <a:pPr lvl="1"/>
            <a:r>
              <a:rPr lang="en-IN" dirty="0"/>
              <a:t>Productivity – effort per function point</a:t>
            </a:r>
          </a:p>
          <a:p>
            <a:pPr lvl="1"/>
            <a:endParaRPr lang="en-IN" dirty="0"/>
          </a:p>
        </p:txBody>
      </p:sp>
    </p:spTree>
    <p:extLst>
      <p:ext uri="{BB962C8B-B14F-4D97-AF65-F5344CB8AC3E}">
        <p14:creationId xmlns:p14="http://schemas.microsoft.com/office/powerpoint/2010/main" val="16339472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COSMIC Full Function points</a:t>
            </a:r>
          </a:p>
        </p:txBody>
      </p:sp>
      <p:sp>
        <p:nvSpPr>
          <p:cNvPr id="3" name="Content Placeholder 2"/>
          <p:cNvSpPr>
            <a:spLocks noGrp="1"/>
          </p:cNvSpPr>
          <p:nvPr>
            <p:ph idx="1"/>
          </p:nvPr>
        </p:nvSpPr>
        <p:spPr>
          <a:xfrm>
            <a:off x="1451579" y="1853754"/>
            <a:ext cx="9710851" cy="3860633"/>
          </a:xfrm>
        </p:spPr>
        <p:txBody>
          <a:bodyPr/>
          <a:lstStyle/>
          <a:p>
            <a:r>
              <a:rPr lang="en-IN" dirty="0"/>
              <a:t>IFPUG (International FP User Group) – not helpful for real-time or embedded applications</a:t>
            </a:r>
          </a:p>
          <a:p>
            <a:pPr lvl="1"/>
            <a:r>
              <a:rPr lang="en-IN" dirty="0"/>
              <a:t> COSMIC FFP – Common Software Measurement Consortium</a:t>
            </a:r>
          </a:p>
          <a:p>
            <a:pPr lvl="1"/>
            <a:endParaRPr lang="en-IN" dirty="0"/>
          </a:p>
        </p:txBody>
      </p:sp>
    </p:spTree>
    <p:extLst>
      <p:ext uri="{BB962C8B-B14F-4D97-AF65-F5344CB8AC3E}">
        <p14:creationId xmlns:p14="http://schemas.microsoft.com/office/powerpoint/2010/main" val="23829267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COSMIC Full Function points</a:t>
            </a:r>
          </a:p>
        </p:txBody>
      </p:sp>
      <p:sp>
        <p:nvSpPr>
          <p:cNvPr id="3" name="Content Placeholder 2"/>
          <p:cNvSpPr>
            <a:spLocks noGrp="1"/>
          </p:cNvSpPr>
          <p:nvPr>
            <p:ph idx="1"/>
          </p:nvPr>
        </p:nvSpPr>
        <p:spPr/>
        <p:txBody>
          <a:bodyPr/>
          <a:lstStyle/>
          <a:p>
            <a:r>
              <a:rPr lang="en-IN" dirty="0"/>
              <a:t>Entries (E)</a:t>
            </a:r>
          </a:p>
          <a:p>
            <a:r>
              <a:rPr lang="en-IN" dirty="0"/>
              <a:t>Exits (X)</a:t>
            </a:r>
          </a:p>
          <a:p>
            <a:r>
              <a:rPr lang="en-IN" dirty="0"/>
              <a:t>Reads (R)</a:t>
            </a:r>
          </a:p>
          <a:p>
            <a:r>
              <a:rPr lang="en-IN" dirty="0"/>
              <a:t>Writes (W)</a:t>
            </a:r>
          </a:p>
          <a:p>
            <a:r>
              <a:rPr lang="en-IN" dirty="0"/>
              <a:t>Unit </a:t>
            </a:r>
            <a:r>
              <a:rPr lang="en-IN" dirty="0" err="1"/>
              <a:t>Cfsu</a:t>
            </a:r>
            <a:r>
              <a:rPr lang="en-IN" dirty="0"/>
              <a:t> (COSMIC functional size units)</a:t>
            </a:r>
          </a:p>
        </p:txBody>
      </p:sp>
    </p:spTree>
    <p:extLst>
      <p:ext uri="{BB962C8B-B14F-4D97-AF65-F5344CB8AC3E}">
        <p14:creationId xmlns:p14="http://schemas.microsoft.com/office/powerpoint/2010/main" val="35508249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COCOMO II: A parametric productivity model</a:t>
            </a:r>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36271574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COCOMO II: A parametric productivity model</a:t>
            </a:r>
          </a:p>
        </p:txBody>
      </p:sp>
      <p:sp>
        <p:nvSpPr>
          <p:cNvPr id="3" name="Content Placeholder 2"/>
          <p:cNvSpPr>
            <a:spLocks noGrp="1"/>
          </p:cNvSpPr>
          <p:nvPr>
            <p:ph idx="1"/>
          </p:nvPr>
        </p:nvSpPr>
        <p:spPr/>
        <p:txBody>
          <a:bodyPr>
            <a:normAutofit/>
          </a:bodyPr>
          <a:lstStyle/>
          <a:p>
            <a:r>
              <a:rPr lang="en-IN"/>
              <a:t>Boehm’s COCOMO (COnstructive COst MOdel)</a:t>
            </a:r>
          </a:p>
          <a:p>
            <a:r>
              <a:rPr lang="en-IN"/>
              <a:t>COCOMO - refers to a group of models</a:t>
            </a:r>
          </a:p>
          <a:p>
            <a:r>
              <a:rPr lang="en-IN"/>
              <a:t>Late 1970s - on a  study of 63 projects</a:t>
            </a:r>
          </a:p>
          <a:p>
            <a:endParaRPr lang="en-IN"/>
          </a:p>
        </p:txBody>
      </p:sp>
    </p:spTree>
    <p:extLst>
      <p:ext uri="{BB962C8B-B14F-4D97-AF65-F5344CB8AC3E}">
        <p14:creationId xmlns:p14="http://schemas.microsoft.com/office/powerpoint/2010/main" val="27096384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COCOMO II: A parametric productivity model</a:t>
            </a:r>
          </a:p>
        </p:txBody>
      </p:sp>
      <p:sp>
        <p:nvSpPr>
          <p:cNvPr id="3" name="Content Placeholder 2"/>
          <p:cNvSpPr>
            <a:spLocks noGrp="1"/>
          </p:cNvSpPr>
          <p:nvPr>
            <p:ph idx="1"/>
          </p:nvPr>
        </p:nvSpPr>
        <p:spPr/>
        <p:txBody>
          <a:bodyPr>
            <a:normAutofit/>
          </a:bodyPr>
          <a:lstStyle/>
          <a:p>
            <a:r>
              <a:rPr lang="en-IN"/>
              <a:t>COCOMO81</a:t>
            </a:r>
          </a:p>
          <a:p>
            <a:r>
              <a:rPr lang="en-IN"/>
              <a:t>Basic model was built around the equation</a:t>
            </a:r>
          </a:p>
          <a:p>
            <a:pPr marL="0" indent="0">
              <a:buNone/>
            </a:pPr>
            <a:endParaRPr lang="en-IN"/>
          </a:p>
          <a:p>
            <a:pPr marL="0" indent="0">
              <a:buNone/>
            </a:pPr>
            <a:r>
              <a:rPr lang="en-IN"/>
              <a:t>effort - measured in pm (person-months)</a:t>
            </a:r>
          </a:p>
          <a:p>
            <a:pPr marL="0" indent="0">
              <a:buNone/>
            </a:pPr>
            <a:r>
              <a:rPr lang="en-IN"/>
              <a:t>c, k - constants</a:t>
            </a:r>
          </a:p>
        </p:txBody>
      </p:sp>
      <mc:AlternateContent xmlns:mc="http://schemas.openxmlformats.org/markup-compatibility/2006" xmlns:a14="http://schemas.microsoft.com/office/drawing/2010/main">
        <mc:Choice Requires="a14">
          <p:sp>
            <p:nvSpPr>
              <p:cNvPr id="4" name="Text Box 3"/>
              <p:cNvSpPr txBox="1"/>
              <p:nvPr/>
            </p:nvSpPr>
            <p:spPr>
              <a:xfrm>
                <a:off x="3609274" y="3281933"/>
                <a:ext cx="2982595" cy="459105"/>
              </a:xfrm>
              <a:prstGeom prst="rect">
                <a:avLst/>
              </a:prstGeom>
              <a:noFill/>
            </p:spPr>
            <p:txBody>
              <a:bodyPr wrap="square" rtlCol="0" anchor="t">
                <a:spAutoFit/>
              </a:bodyPr>
              <a:lstStyle/>
              <a:p>
                <a:pPr algn="l"/>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cs typeface="Cambria Math" panose="02040503050406030204" pitchFamily="18" charset="0"/>
                        </a:rPr>
                        <m:t>𝑒𝑓𝑓𝑜𝑟𝑡</m:t>
                      </m:r>
                      <m:r>
                        <a:rPr lang="en-US" sz="2400" i="1">
                          <a:latin typeface="Cambria Math" panose="02040503050406030204" pitchFamily="18" charset="0"/>
                          <a:cs typeface="Cambria Math" panose="02040503050406030204" pitchFamily="18" charset="0"/>
                        </a:rPr>
                        <m:t> = </m:t>
                      </m:r>
                      <m:r>
                        <a:rPr lang="en-US" sz="2400" i="1">
                          <a:latin typeface="Cambria Math" panose="02040503050406030204" pitchFamily="18" charset="0"/>
                          <a:cs typeface="Cambria Math" panose="02040503050406030204" pitchFamily="18" charset="0"/>
                        </a:rPr>
                        <m:t>𝑐</m:t>
                      </m:r>
                      <m:sSup>
                        <m:sSupPr>
                          <m:ctrlPr>
                            <a:rPr lang="en-US" sz="2400" i="1">
                              <a:latin typeface="Cambria Math" panose="02040503050406030204" pitchFamily="18" charset="0"/>
                              <a:cs typeface="Cambria Math" panose="02040503050406030204" pitchFamily="18" charset="0"/>
                            </a:rPr>
                          </m:ctrlPr>
                        </m:sSupPr>
                        <m:e>
                          <m:d>
                            <m:dPr>
                              <m:ctrlPr>
                                <a:rPr lang="en-US" sz="2400" i="1">
                                  <a:latin typeface="Cambria Math" panose="02040503050406030204" pitchFamily="18" charset="0"/>
                                  <a:cs typeface="Cambria Math" panose="02040503050406030204" pitchFamily="18" charset="0"/>
                                </a:rPr>
                              </m:ctrlPr>
                            </m:dPr>
                            <m:e>
                              <m:r>
                                <a:rPr lang="en-US" sz="2400" i="1">
                                  <a:latin typeface="Cambria Math" panose="02040503050406030204" pitchFamily="18" charset="0"/>
                                  <a:cs typeface="Cambria Math" panose="02040503050406030204" pitchFamily="18" charset="0"/>
                                </a:rPr>
                                <m:t>𝑠𝑖𝑧𝑒</m:t>
                              </m:r>
                            </m:e>
                          </m:d>
                        </m:e>
                        <m:sup>
                          <m:r>
                            <a:rPr lang="en-US" sz="2400" i="1">
                              <a:latin typeface="Cambria Math" panose="02040503050406030204" pitchFamily="18" charset="0"/>
                              <a:cs typeface="Cambria Math" panose="02040503050406030204" pitchFamily="18" charset="0"/>
                            </a:rPr>
                            <m:t>𝑘</m:t>
                          </m:r>
                        </m:sup>
                      </m:sSup>
                    </m:oMath>
                  </m:oMathPara>
                </a14:m>
                <a:endParaRPr lang="en-US" sz="2400" dirty="0"/>
              </a:p>
            </p:txBody>
          </p:sp>
        </mc:Choice>
        <mc:Fallback xmlns="">
          <p:sp>
            <p:nvSpPr>
              <p:cNvPr id="4" name="Text Box 3"/>
              <p:cNvSpPr txBox="1">
                <a:spLocks noRot="1" noChangeAspect="1" noMove="1" noResize="1" noEditPoints="1" noAdjustHandles="1" noChangeArrowheads="1" noChangeShapeType="1" noTextEdit="1"/>
              </p:cNvSpPr>
              <p:nvPr/>
            </p:nvSpPr>
            <p:spPr>
              <a:xfrm>
                <a:off x="3609274" y="3281933"/>
                <a:ext cx="2982595" cy="459105"/>
              </a:xfrm>
              <a:prstGeom prst="rect">
                <a:avLst/>
              </a:prstGeom>
              <a:blipFill>
                <a:blip r:embed="rId2"/>
                <a:stretch>
                  <a:fillRect b="-19737"/>
                </a:stretch>
              </a:blipFill>
            </p:spPr>
            <p:txBody>
              <a:bodyPr/>
              <a:lstStyle/>
              <a:p>
                <a:r>
                  <a:rPr lang="en-IN">
                    <a:noFill/>
                  </a:rPr>
                  <a:t> </a:t>
                </a:r>
              </a:p>
            </p:txBody>
          </p:sp>
        </mc:Fallback>
      </mc:AlternateContent>
    </p:spTree>
    <p:extLst>
      <p:ext uri="{BB962C8B-B14F-4D97-AF65-F5344CB8AC3E}">
        <p14:creationId xmlns:p14="http://schemas.microsoft.com/office/powerpoint/2010/main" val="10262939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497814"/>
            <a:ext cx="9603275" cy="1049235"/>
          </a:xfrm>
        </p:spPr>
        <p:txBody>
          <a:bodyPr/>
          <a:lstStyle/>
          <a:p>
            <a:r>
              <a:rPr lang="en-IN" dirty="0">
                <a:sym typeface="+mn-ea"/>
              </a:rPr>
              <a:t>COCOMO II: A parametric productivity model - COCOMO81 constants</a:t>
            </a:r>
            <a:endParaRPr lang="en-US"/>
          </a:p>
        </p:txBody>
      </p:sp>
      <p:graphicFrame>
        <p:nvGraphicFramePr>
          <p:cNvPr id="4" name="Content Placeholder 3"/>
          <p:cNvGraphicFramePr>
            <a:graphicFrameLocks noGrp="1"/>
          </p:cNvGraphicFramePr>
          <p:nvPr>
            <p:ph idx="1"/>
          </p:nvPr>
        </p:nvGraphicFramePr>
        <p:xfrm>
          <a:off x="2887980" y="2005965"/>
          <a:ext cx="4888865" cy="1508760"/>
        </p:xfrm>
        <a:graphic>
          <a:graphicData uri="http://schemas.openxmlformats.org/drawingml/2006/table">
            <a:tbl>
              <a:tblPr firstRow="1" bandRow="1">
                <a:tableStyleId>{5C22544A-7EE6-4342-B048-85BDC9FD1C3A}</a:tableStyleId>
              </a:tblPr>
              <a:tblGrid>
                <a:gridCol w="2010410">
                  <a:extLst>
                    <a:ext uri="{9D8B030D-6E8A-4147-A177-3AD203B41FA5}">
                      <a16:colId xmlns:a16="http://schemas.microsoft.com/office/drawing/2014/main" val="20000"/>
                    </a:ext>
                  </a:extLst>
                </a:gridCol>
                <a:gridCol w="1396365">
                  <a:extLst>
                    <a:ext uri="{9D8B030D-6E8A-4147-A177-3AD203B41FA5}">
                      <a16:colId xmlns:a16="http://schemas.microsoft.com/office/drawing/2014/main" val="20001"/>
                    </a:ext>
                  </a:extLst>
                </a:gridCol>
                <a:gridCol w="1482090">
                  <a:extLst>
                    <a:ext uri="{9D8B030D-6E8A-4147-A177-3AD203B41FA5}">
                      <a16:colId xmlns:a16="http://schemas.microsoft.com/office/drawing/2014/main" val="20002"/>
                    </a:ext>
                  </a:extLst>
                </a:gridCol>
              </a:tblGrid>
              <a:tr h="381000">
                <a:tc>
                  <a:txBody>
                    <a:bodyPr/>
                    <a:lstStyle/>
                    <a:p>
                      <a:pPr>
                        <a:buNone/>
                      </a:pPr>
                      <a:r>
                        <a:rPr lang="en-IN" altLang="en-US"/>
                        <a:t>System type</a:t>
                      </a:r>
                    </a:p>
                  </a:txBody>
                  <a:tcPr/>
                </a:tc>
                <a:tc>
                  <a:txBody>
                    <a:bodyPr/>
                    <a:lstStyle/>
                    <a:p>
                      <a:pPr>
                        <a:buNone/>
                      </a:pPr>
                      <a:r>
                        <a:rPr lang="en-IN" altLang="en-US"/>
                        <a:t>c</a:t>
                      </a:r>
                    </a:p>
                  </a:txBody>
                  <a:tcPr/>
                </a:tc>
                <a:tc>
                  <a:txBody>
                    <a:bodyPr/>
                    <a:lstStyle/>
                    <a:p>
                      <a:pPr>
                        <a:buNone/>
                      </a:pPr>
                      <a:r>
                        <a:rPr lang="en-IN" altLang="en-US"/>
                        <a:t>k</a:t>
                      </a:r>
                    </a:p>
                  </a:txBody>
                  <a:tcPr/>
                </a:tc>
                <a:extLst>
                  <a:ext uri="{0D108BD9-81ED-4DB2-BD59-A6C34878D82A}">
                    <a16:rowId xmlns:a16="http://schemas.microsoft.com/office/drawing/2014/main" val="10000"/>
                  </a:ext>
                </a:extLst>
              </a:tr>
              <a:tr h="381000">
                <a:tc>
                  <a:txBody>
                    <a:bodyPr/>
                    <a:lstStyle/>
                    <a:p>
                      <a:pPr>
                        <a:buNone/>
                      </a:pPr>
                      <a:r>
                        <a:rPr lang="en-IN" altLang="en-US"/>
                        <a:t>Organic</a:t>
                      </a:r>
                    </a:p>
                  </a:txBody>
                  <a:tcPr/>
                </a:tc>
                <a:tc>
                  <a:txBody>
                    <a:bodyPr/>
                    <a:lstStyle/>
                    <a:p>
                      <a:pPr>
                        <a:buNone/>
                      </a:pPr>
                      <a:r>
                        <a:rPr lang="en-IN" altLang="en-US"/>
                        <a:t>2.4</a:t>
                      </a:r>
                    </a:p>
                  </a:txBody>
                  <a:tcPr/>
                </a:tc>
                <a:tc>
                  <a:txBody>
                    <a:bodyPr/>
                    <a:lstStyle/>
                    <a:p>
                      <a:pPr>
                        <a:buNone/>
                      </a:pPr>
                      <a:r>
                        <a:rPr lang="en-IN" altLang="en-US"/>
                        <a:t>1.05</a:t>
                      </a:r>
                    </a:p>
                  </a:txBody>
                  <a:tcPr/>
                </a:tc>
                <a:extLst>
                  <a:ext uri="{0D108BD9-81ED-4DB2-BD59-A6C34878D82A}">
                    <a16:rowId xmlns:a16="http://schemas.microsoft.com/office/drawing/2014/main" val="10001"/>
                  </a:ext>
                </a:extLst>
              </a:tr>
              <a:tr h="381000">
                <a:tc>
                  <a:txBody>
                    <a:bodyPr/>
                    <a:lstStyle/>
                    <a:p>
                      <a:pPr>
                        <a:buNone/>
                      </a:pPr>
                      <a:r>
                        <a:rPr lang="en-IN" altLang="en-US"/>
                        <a:t>Semi-detached</a:t>
                      </a:r>
                    </a:p>
                  </a:txBody>
                  <a:tcPr/>
                </a:tc>
                <a:tc>
                  <a:txBody>
                    <a:bodyPr/>
                    <a:lstStyle/>
                    <a:p>
                      <a:pPr>
                        <a:buNone/>
                      </a:pPr>
                      <a:r>
                        <a:rPr lang="en-IN" altLang="en-US"/>
                        <a:t>3.0</a:t>
                      </a:r>
                    </a:p>
                  </a:txBody>
                  <a:tcPr/>
                </a:tc>
                <a:tc>
                  <a:txBody>
                    <a:bodyPr/>
                    <a:lstStyle/>
                    <a:p>
                      <a:pPr>
                        <a:buNone/>
                      </a:pPr>
                      <a:r>
                        <a:rPr lang="en-IN" altLang="en-US"/>
                        <a:t>1.12</a:t>
                      </a:r>
                    </a:p>
                  </a:txBody>
                  <a:tcPr/>
                </a:tc>
                <a:extLst>
                  <a:ext uri="{0D108BD9-81ED-4DB2-BD59-A6C34878D82A}">
                    <a16:rowId xmlns:a16="http://schemas.microsoft.com/office/drawing/2014/main" val="10002"/>
                  </a:ext>
                </a:extLst>
              </a:tr>
              <a:tr h="265430">
                <a:tc>
                  <a:txBody>
                    <a:bodyPr/>
                    <a:lstStyle/>
                    <a:p>
                      <a:pPr>
                        <a:buNone/>
                      </a:pPr>
                      <a:r>
                        <a:rPr lang="en-IN" altLang="en-US"/>
                        <a:t>Embedded</a:t>
                      </a:r>
                    </a:p>
                  </a:txBody>
                  <a:tcPr/>
                </a:tc>
                <a:tc>
                  <a:txBody>
                    <a:bodyPr/>
                    <a:lstStyle/>
                    <a:p>
                      <a:pPr>
                        <a:buNone/>
                      </a:pPr>
                      <a:r>
                        <a:rPr lang="en-IN" altLang="en-US"/>
                        <a:t>3.6</a:t>
                      </a:r>
                    </a:p>
                  </a:txBody>
                  <a:tcPr/>
                </a:tc>
                <a:tc>
                  <a:txBody>
                    <a:bodyPr/>
                    <a:lstStyle/>
                    <a:p>
                      <a:pPr>
                        <a:buNone/>
                      </a:pPr>
                      <a:r>
                        <a:rPr lang="en-IN" altLang="en-US"/>
                        <a:t>1.20</a:t>
                      </a:r>
                    </a:p>
                  </a:txBody>
                  <a:tcPr/>
                </a:tc>
                <a:extLst>
                  <a:ext uri="{0D108BD9-81ED-4DB2-BD59-A6C34878D82A}">
                    <a16:rowId xmlns:a16="http://schemas.microsoft.com/office/drawing/2014/main" val="10003"/>
                  </a:ext>
                </a:extLst>
              </a:tr>
            </a:tbl>
          </a:graphicData>
        </a:graphic>
      </p:graphicFrame>
      <p:sp>
        <p:nvSpPr>
          <p:cNvPr id="5" name="Text Box 4"/>
          <p:cNvSpPr txBox="1"/>
          <p:nvPr/>
        </p:nvSpPr>
        <p:spPr>
          <a:xfrm>
            <a:off x="690245" y="3573145"/>
            <a:ext cx="10811510" cy="2861310"/>
          </a:xfrm>
          <a:prstGeom prst="rect">
            <a:avLst/>
          </a:prstGeom>
          <a:noFill/>
        </p:spPr>
        <p:txBody>
          <a:bodyPr wrap="square" rtlCol="0">
            <a:spAutoFit/>
          </a:bodyPr>
          <a:lstStyle/>
          <a:p>
            <a:pPr marL="285750" indent="-285750">
              <a:buFont typeface="Arial" panose="020B0604020202020204" pitchFamily="34" charset="0"/>
              <a:buChar char="•"/>
            </a:pPr>
            <a:r>
              <a:rPr lang="en-IN" altLang="en-US"/>
              <a:t>Constants c and k depends on 3 classifications: Organic, Semi-detached and Embedded</a:t>
            </a:r>
          </a:p>
          <a:p>
            <a:pPr marL="742950" lvl="1" indent="-285750">
              <a:buFont typeface="Arial" panose="020B0604020202020204" pitchFamily="34" charset="0"/>
              <a:buChar char="•"/>
            </a:pPr>
            <a:r>
              <a:rPr lang="en-IN" altLang="en-US"/>
              <a:t>Organic mode: </a:t>
            </a:r>
          </a:p>
          <a:p>
            <a:pPr marL="1200150" lvl="2" indent="-285750">
              <a:buFont typeface="Arial" panose="020B0604020202020204" pitchFamily="34" charset="0"/>
              <a:buChar char="•"/>
            </a:pPr>
            <a:r>
              <a:rPr lang="en-IN" altLang="en-US"/>
              <a:t>system is small, interface requirements flexible</a:t>
            </a:r>
          </a:p>
          <a:p>
            <a:pPr marL="1200150" lvl="2" indent="-285750">
              <a:buFont typeface="Arial" panose="020B0604020202020204" pitchFamily="34" charset="0"/>
              <a:buChar char="•"/>
            </a:pPr>
            <a:r>
              <a:rPr lang="en-IN" altLang="en-US"/>
              <a:t>developed by small teams and in-house environment</a:t>
            </a:r>
          </a:p>
          <a:p>
            <a:pPr marL="742950" lvl="1" indent="-285750">
              <a:buFont typeface="Arial" panose="020B0604020202020204" pitchFamily="34" charset="0"/>
              <a:buChar char="•"/>
            </a:pPr>
            <a:r>
              <a:rPr lang="en-IN" altLang="en-US"/>
              <a:t>Embedded mode:</a:t>
            </a:r>
          </a:p>
          <a:p>
            <a:pPr marL="1200150" lvl="2" indent="-285750">
              <a:buFont typeface="Arial" panose="020B0604020202020204" pitchFamily="34" charset="0"/>
              <a:buChar char="•"/>
            </a:pPr>
            <a:r>
              <a:rPr lang="en-IN" altLang="en-US"/>
              <a:t>Product had to operate within very tight constraints and changes to the system were very costly</a:t>
            </a:r>
          </a:p>
          <a:p>
            <a:pPr marL="742950" lvl="1" indent="-285750">
              <a:buFont typeface="Arial" panose="020B0604020202020204" pitchFamily="34" charset="0"/>
              <a:buChar char="•"/>
            </a:pPr>
            <a:r>
              <a:rPr lang="en-IN" altLang="en-US"/>
              <a:t>Semi-detached mode:</a:t>
            </a:r>
          </a:p>
          <a:p>
            <a:pPr marL="1200150" lvl="2" indent="-285750">
              <a:buFont typeface="Arial" panose="020B0604020202020204" pitchFamily="34" charset="0"/>
              <a:buChar char="•"/>
            </a:pPr>
            <a:r>
              <a:rPr lang="en-IN" altLang="en-US"/>
              <a:t>combined elements of Organic and Embedded or had characteristics that came between the two</a:t>
            </a:r>
          </a:p>
          <a:p>
            <a:pPr marL="1200150" lvl="2" indent="-285750">
              <a:buFont typeface="Arial" panose="020B0604020202020204" pitchFamily="34" charset="0"/>
              <a:buChar char="•"/>
            </a:pPr>
            <a:endParaRPr lang="en-IN" altLang="en-US"/>
          </a:p>
          <a:p>
            <a:pPr marL="1200150" lvl="2" indent="-285750">
              <a:buFont typeface="Arial" panose="020B0604020202020204" pitchFamily="34" charset="0"/>
              <a:buChar char="•"/>
            </a:pPr>
            <a:endParaRPr lang="en-IN" altLang="en-US"/>
          </a:p>
        </p:txBody>
      </p:sp>
    </p:spTree>
    <p:extLst>
      <p:ext uri="{BB962C8B-B14F-4D97-AF65-F5344CB8AC3E}">
        <p14:creationId xmlns:p14="http://schemas.microsoft.com/office/powerpoint/2010/main" val="37513197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401929"/>
            <a:ext cx="9603275" cy="1049235"/>
          </a:xfrm>
        </p:spPr>
        <p:txBody>
          <a:bodyPr/>
          <a:lstStyle/>
          <a:p>
            <a:r>
              <a:rPr lang="en-IN" dirty="0">
                <a:sym typeface="+mn-ea"/>
              </a:rPr>
              <a:t>COCOMO II: A parametric productivity model</a:t>
            </a:r>
            <a:endParaRPr lang="en-US"/>
          </a:p>
        </p:txBody>
      </p:sp>
      <p:sp>
        <p:nvSpPr>
          <p:cNvPr id="3" name="Content Placeholder 2"/>
          <p:cNvSpPr>
            <a:spLocks noGrp="1"/>
          </p:cNvSpPr>
          <p:nvPr>
            <p:ph idx="1"/>
          </p:nvPr>
        </p:nvSpPr>
        <p:spPr>
          <a:xfrm>
            <a:off x="1451610" y="1757045"/>
            <a:ext cx="9603105" cy="3709035"/>
          </a:xfrm>
        </p:spPr>
        <p:txBody>
          <a:bodyPr/>
          <a:lstStyle/>
          <a:p>
            <a:r>
              <a:rPr lang="en-IN" altLang="en-US"/>
              <a:t>Refined estimation model</a:t>
            </a:r>
          </a:p>
          <a:p>
            <a:r>
              <a:rPr lang="en-IN" altLang="en-US"/>
              <a:t>uses various multipliers and exponents </a:t>
            </a:r>
          </a:p>
          <a:p>
            <a:r>
              <a:rPr lang="en-IN" altLang="en-US"/>
              <a:t>Models for 3 different stages.</a:t>
            </a:r>
          </a:p>
          <a:p>
            <a:pPr lvl="1"/>
            <a:r>
              <a:rPr lang="en-IN" altLang="en-US"/>
              <a:t>Application Composition</a:t>
            </a:r>
          </a:p>
          <a:p>
            <a:pPr lvl="1"/>
            <a:r>
              <a:rPr lang="en-IN" altLang="en-US"/>
              <a:t>Early design</a:t>
            </a:r>
          </a:p>
          <a:p>
            <a:pPr lvl="1"/>
            <a:r>
              <a:rPr lang="en-IN" altLang="en-US"/>
              <a:t>Post Architecture</a:t>
            </a:r>
          </a:p>
        </p:txBody>
      </p:sp>
    </p:spTree>
    <p:extLst>
      <p:ext uri="{BB962C8B-B14F-4D97-AF65-F5344CB8AC3E}">
        <p14:creationId xmlns:p14="http://schemas.microsoft.com/office/powerpoint/2010/main" val="33443902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sym typeface="+mn-ea"/>
              </a:rPr>
              <a:t>COCOMO II: A parametric productivity model</a:t>
            </a:r>
            <a:endParaRPr lang="en-US"/>
          </a:p>
        </p:txBody>
      </p:sp>
      <p:sp>
        <p:nvSpPr>
          <p:cNvPr id="3" name="Content Placeholder 2"/>
          <p:cNvSpPr>
            <a:spLocks noGrp="1"/>
          </p:cNvSpPr>
          <p:nvPr>
            <p:ph idx="1"/>
          </p:nvPr>
        </p:nvSpPr>
        <p:spPr/>
        <p:txBody>
          <a:bodyPr/>
          <a:lstStyle/>
          <a:p>
            <a:r>
              <a:rPr lang="en-IN" altLang="en-US"/>
              <a:t>COCOMO81: 50-100 percent error</a:t>
            </a:r>
          </a:p>
          <a:p>
            <a:r>
              <a:rPr lang="en-IN" altLang="en-US"/>
              <a:t>COCOMO II: increasing accuracy</a:t>
            </a:r>
          </a:p>
          <a:p>
            <a:endParaRPr lang="en-IN" altLang="en-US"/>
          </a:p>
        </p:txBody>
      </p:sp>
    </p:spTree>
    <p:extLst>
      <p:ext uri="{BB962C8B-B14F-4D97-AF65-F5344CB8AC3E}">
        <p14:creationId xmlns:p14="http://schemas.microsoft.com/office/powerpoint/2010/main" val="335672508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sym typeface="+mn-ea"/>
              </a:rPr>
              <a:t>COCOMO II: A parametric productivity model</a:t>
            </a:r>
            <a:r>
              <a:rPr lang="en-US"/>
              <a:t/>
            </a:r>
            <a:br>
              <a:rPr lang="en-US"/>
            </a:b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r>
                  <a:rPr lang="en-IN" altLang="en-US" dirty="0"/>
                  <a:t>The model used to calculate an estimate of person-months:</a:t>
                </a:r>
              </a:p>
              <a:p>
                <a14:m>
                  <m:oMath xmlns:m="http://schemas.openxmlformats.org/officeDocument/2006/math">
                    <m:r>
                      <a:rPr lang="en-US" altLang="en-IN" i="1">
                        <a:latin typeface="Cambria Math" panose="02040503050406030204" pitchFamily="18" charset="0"/>
                        <a:cs typeface="Cambria Math" panose="02040503050406030204" pitchFamily="18" charset="0"/>
                      </a:rPr>
                      <m:t>𝑝𝑚</m:t>
                    </m:r>
                    <m:r>
                      <a:rPr lang="en-US" altLang="en-IN" i="1">
                        <a:latin typeface="Cambria Math" panose="02040503050406030204" pitchFamily="18" charset="0"/>
                        <a:cs typeface="Cambria Math" panose="02040503050406030204" pitchFamily="18" charset="0"/>
                      </a:rPr>
                      <m:t>=</m:t>
                    </m:r>
                    <m:r>
                      <a:rPr lang="en-US" altLang="en-IN" i="1">
                        <a:latin typeface="Cambria Math" panose="02040503050406030204" pitchFamily="18" charset="0"/>
                        <a:cs typeface="Cambria Math" panose="02040503050406030204" pitchFamily="18" charset="0"/>
                      </a:rPr>
                      <m:t>𝐴</m:t>
                    </m:r>
                    <m:sSup>
                      <m:sSupPr>
                        <m:ctrlPr>
                          <a:rPr lang="en-US" altLang="en-IN" i="1">
                            <a:latin typeface="Cambria Math" panose="02040503050406030204" pitchFamily="18" charset="0"/>
                            <a:cs typeface="Cambria Math" panose="02040503050406030204" pitchFamily="18" charset="0"/>
                          </a:rPr>
                        </m:ctrlPr>
                      </m:sSupPr>
                      <m:e>
                        <m:r>
                          <a:rPr lang="en-US" altLang="en-IN" i="1">
                            <a:latin typeface="Cambria Math" panose="02040503050406030204" pitchFamily="18" charset="0"/>
                            <a:cs typeface="Cambria Math" panose="02040503050406030204" pitchFamily="18" charset="0"/>
                          </a:rPr>
                          <m:t>(</m:t>
                        </m:r>
                        <m:r>
                          <a:rPr lang="en-US" altLang="en-IN" i="1">
                            <a:latin typeface="Cambria Math" panose="02040503050406030204" pitchFamily="18" charset="0"/>
                            <a:cs typeface="Cambria Math" panose="02040503050406030204" pitchFamily="18" charset="0"/>
                          </a:rPr>
                          <m:t>𝑠𝑖𝑧𝑒</m:t>
                        </m:r>
                        <m:r>
                          <a:rPr lang="en-US" altLang="en-IN" i="1">
                            <a:latin typeface="Cambria Math" panose="02040503050406030204" pitchFamily="18" charset="0"/>
                            <a:cs typeface="Cambria Math" panose="02040503050406030204" pitchFamily="18" charset="0"/>
                          </a:rPr>
                          <m:t>)</m:t>
                        </m:r>
                      </m:e>
                      <m:sup>
                        <m:r>
                          <a:rPr lang="en-US" altLang="en-IN" i="1">
                            <a:latin typeface="Cambria Math" panose="02040503050406030204" pitchFamily="18" charset="0"/>
                            <a:cs typeface="Cambria Math" panose="02040503050406030204" pitchFamily="18" charset="0"/>
                          </a:rPr>
                          <m:t>𝑠𝑓</m:t>
                        </m:r>
                      </m:sup>
                    </m:sSup>
                    <m:r>
                      <a:rPr lang="en-US" altLang="en-IN" i="1">
                        <a:latin typeface="Cambria Math" panose="02040503050406030204" pitchFamily="18" charset="0"/>
                        <a:cs typeface="Cambria Math" panose="02040503050406030204" pitchFamily="18" charset="0"/>
                      </a:rPr>
                      <m:t> ∗ </m:t>
                    </m:r>
                    <m:sSub>
                      <m:sSubPr>
                        <m:ctrlPr>
                          <a:rPr lang="en-US" altLang="en-IN" i="1">
                            <a:latin typeface="Cambria Math" panose="02040503050406030204" pitchFamily="18" charset="0"/>
                            <a:cs typeface="Cambria Math" panose="02040503050406030204" pitchFamily="18" charset="0"/>
                          </a:rPr>
                        </m:ctrlPr>
                      </m:sSubPr>
                      <m:e>
                        <m:r>
                          <a:rPr lang="en-US" altLang="en-IN" i="1">
                            <a:latin typeface="Cambria Math" panose="02040503050406030204" pitchFamily="18" charset="0"/>
                            <a:cs typeface="Cambria Math" panose="02040503050406030204" pitchFamily="18" charset="0"/>
                          </a:rPr>
                          <m:t>𝑒𝑚</m:t>
                        </m:r>
                      </m:e>
                      <m:sub>
                        <m:r>
                          <a:rPr lang="en-US" altLang="en-IN" i="1">
                            <a:latin typeface="Cambria Math" panose="02040503050406030204" pitchFamily="18" charset="0"/>
                            <a:cs typeface="Cambria Math" panose="02040503050406030204" pitchFamily="18" charset="0"/>
                          </a:rPr>
                          <m:t>1</m:t>
                        </m:r>
                      </m:sub>
                    </m:sSub>
                    <m:r>
                      <a:rPr lang="en-US" altLang="en-IN" i="1">
                        <a:latin typeface="Cambria Math" panose="02040503050406030204" pitchFamily="18" charset="0"/>
                        <a:cs typeface="Cambria Math" panose="02040503050406030204" pitchFamily="18" charset="0"/>
                      </a:rPr>
                      <m:t>∗</m:t>
                    </m:r>
                    <m:sSub>
                      <m:sSubPr>
                        <m:ctrlPr>
                          <a:rPr lang="en-US" altLang="en-IN" i="1">
                            <a:latin typeface="Cambria Math" panose="02040503050406030204" pitchFamily="18" charset="0"/>
                            <a:cs typeface="Cambria Math" panose="02040503050406030204" pitchFamily="18" charset="0"/>
                          </a:rPr>
                        </m:ctrlPr>
                      </m:sSubPr>
                      <m:e>
                        <m:r>
                          <a:rPr lang="en-US" altLang="en-IN" i="1">
                            <a:latin typeface="Cambria Math" panose="02040503050406030204" pitchFamily="18" charset="0"/>
                            <a:cs typeface="Cambria Math" panose="02040503050406030204" pitchFamily="18" charset="0"/>
                          </a:rPr>
                          <m:t>𝑒𝑚</m:t>
                        </m:r>
                      </m:e>
                      <m:sub>
                        <m:r>
                          <a:rPr lang="en-US" altLang="en-IN" i="1">
                            <a:latin typeface="Cambria Math" panose="02040503050406030204" pitchFamily="18" charset="0"/>
                            <a:cs typeface="Cambria Math" panose="02040503050406030204" pitchFamily="18" charset="0"/>
                          </a:rPr>
                          <m:t>2</m:t>
                        </m:r>
                      </m:sub>
                    </m:sSub>
                    <m:r>
                      <a:rPr lang="en-US" altLang="en-IN" i="1">
                        <a:latin typeface="Cambria Math" panose="02040503050406030204" pitchFamily="18" charset="0"/>
                        <a:cs typeface="Cambria Math" panose="02040503050406030204" pitchFamily="18" charset="0"/>
                      </a:rPr>
                      <m:t>∗ ...∗</m:t>
                    </m:r>
                    <m:sSub>
                      <m:sSubPr>
                        <m:ctrlPr>
                          <a:rPr lang="en-US" altLang="en-IN" i="1">
                            <a:latin typeface="Cambria Math" panose="02040503050406030204" pitchFamily="18" charset="0"/>
                            <a:cs typeface="Cambria Math" panose="02040503050406030204" pitchFamily="18" charset="0"/>
                          </a:rPr>
                        </m:ctrlPr>
                      </m:sSubPr>
                      <m:e>
                        <m:r>
                          <a:rPr lang="en-US" altLang="en-IN" i="1">
                            <a:latin typeface="Cambria Math" panose="02040503050406030204" pitchFamily="18" charset="0"/>
                            <a:cs typeface="Cambria Math" panose="02040503050406030204" pitchFamily="18" charset="0"/>
                          </a:rPr>
                          <m:t>𝑒𝑚</m:t>
                        </m:r>
                      </m:e>
                      <m:sub>
                        <m:r>
                          <a:rPr lang="en-US" altLang="en-IN" i="1">
                            <a:latin typeface="Cambria Math" panose="02040503050406030204" pitchFamily="18" charset="0"/>
                            <a:cs typeface="Cambria Math" panose="02040503050406030204" pitchFamily="18" charset="0"/>
                          </a:rPr>
                          <m:t>𝑛</m:t>
                        </m:r>
                      </m:sub>
                    </m:sSub>
                  </m:oMath>
                </a14:m>
                <a:endParaRPr lang="en-US" altLang="en-IN" i="1" dirty="0">
                  <a:latin typeface="Cambria Math" panose="02040503050406030204" pitchFamily="18" charset="0"/>
                  <a:cs typeface="Cambria Math" panose="02040503050406030204" pitchFamily="18" charset="0"/>
                </a:endParaRPr>
              </a:p>
              <a:p>
                <a14:m>
                  <m:oMath xmlns:m="http://schemas.openxmlformats.org/officeDocument/2006/math">
                    <m:r>
                      <a:rPr lang="en-US" altLang="en-IN" i="1">
                        <a:latin typeface="Cambria Math" panose="02040503050406030204" pitchFamily="18" charset="0"/>
                        <a:cs typeface="Cambria Math" panose="02040503050406030204" pitchFamily="18" charset="0"/>
                      </a:rPr>
                      <m:t>𝑠𝑓</m:t>
                    </m:r>
                    <m:r>
                      <a:rPr lang="en-US" altLang="en-IN" i="1">
                        <a:latin typeface="Cambria Math" panose="02040503050406030204" pitchFamily="18" charset="0"/>
                        <a:cs typeface="Cambria Math" panose="02040503050406030204" pitchFamily="18" charset="0"/>
                      </a:rPr>
                      <m:t>=</m:t>
                    </m:r>
                    <m:r>
                      <a:rPr lang="en-US" altLang="en-IN" i="1">
                        <a:latin typeface="Cambria Math" panose="02040503050406030204" pitchFamily="18" charset="0"/>
                        <a:cs typeface="Cambria Math" panose="02040503050406030204" pitchFamily="18" charset="0"/>
                      </a:rPr>
                      <m:t>𝐵</m:t>
                    </m:r>
                    <m:r>
                      <a:rPr lang="en-US" altLang="en-IN" i="1">
                        <a:latin typeface="Cambria Math" panose="02040503050406030204" pitchFamily="18" charset="0"/>
                        <a:cs typeface="Cambria Math" panose="02040503050406030204" pitchFamily="18" charset="0"/>
                      </a:rPr>
                      <m:t>+0.01∗</m:t>
                    </m:r>
                    <m:nary>
                      <m:naryPr>
                        <m:chr m:val="∑"/>
                        <m:limLoc m:val="undOvr"/>
                        <m:subHide m:val="on"/>
                        <m:supHide m:val="on"/>
                        <m:ctrlPr>
                          <a:rPr lang="en-US" altLang="en-IN" i="1">
                            <a:latin typeface="Cambria Math" panose="02040503050406030204" pitchFamily="18" charset="0"/>
                            <a:cs typeface="Cambria Math" panose="02040503050406030204" pitchFamily="18" charset="0"/>
                          </a:rPr>
                        </m:ctrlPr>
                      </m:naryPr>
                      <m:sub/>
                      <m:sup/>
                      <m:e>
                        <m:d>
                          <m:dPr>
                            <m:ctrlPr>
                              <a:rPr lang="en-US" altLang="en-IN" i="1">
                                <a:latin typeface="Cambria Math" panose="02040503050406030204" pitchFamily="18" charset="0"/>
                                <a:cs typeface="Cambria Math" panose="02040503050406030204" pitchFamily="18" charset="0"/>
                              </a:rPr>
                            </m:ctrlPr>
                          </m:dPr>
                          <m:e>
                            <m:r>
                              <a:rPr lang="en-US" altLang="en-IN" i="1">
                                <a:latin typeface="Cambria Math" panose="02040503050406030204" pitchFamily="18" charset="0"/>
                                <a:cs typeface="Cambria Math" panose="02040503050406030204" pitchFamily="18" charset="0"/>
                              </a:rPr>
                              <m:t>𝑒𝑥𝑝𝑜𝑛𝑒𝑛𝑡</m:t>
                            </m:r>
                            <m:r>
                              <a:rPr lang="en-US" altLang="en-IN" i="1">
                                <a:latin typeface="Cambria Math" panose="02040503050406030204" pitchFamily="18" charset="0"/>
                                <a:cs typeface="Cambria Math" panose="02040503050406030204" pitchFamily="18" charset="0"/>
                              </a:rPr>
                              <m:t> </m:t>
                            </m:r>
                            <m:r>
                              <a:rPr lang="en-US" altLang="en-IN" i="1">
                                <a:latin typeface="Cambria Math" panose="02040503050406030204" pitchFamily="18" charset="0"/>
                                <a:cs typeface="Cambria Math" panose="02040503050406030204" pitchFamily="18" charset="0"/>
                              </a:rPr>
                              <m:t>𝑑𝑟𝑖𝑣𝑒𝑟𝑠</m:t>
                            </m:r>
                          </m:e>
                        </m:d>
                      </m:e>
                    </m:nary>
                  </m:oMath>
                </a14:m>
                <a:endParaRPr lang="en-IN" altLang="en-US" dirty="0"/>
              </a:p>
              <a:p>
                <a:r>
                  <a:rPr lang="en-IN" altLang="en-US" dirty="0"/>
                  <a:t>size - </a:t>
                </a:r>
                <a:r>
                  <a:rPr lang="en-IN" altLang="en-US" dirty="0" err="1"/>
                  <a:t>kdsi</a:t>
                </a:r>
                <a:r>
                  <a:rPr lang="en-IN" altLang="en-US" dirty="0"/>
                  <a:t> - thousands of delivered source instructions</a:t>
                </a:r>
              </a:p>
              <a:p>
                <a:r>
                  <a:rPr lang="en-IN" altLang="en-US" dirty="0"/>
                  <a:t>A = 2.94</a:t>
                </a:r>
              </a:p>
              <a:p>
                <a:r>
                  <a:rPr lang="en-IN" altLang="en-US" dirty="0"/>
                  <a:t>B= 0.91</a:t>
                </a:r>
              </a:p>
              <a:p>
                <a:endParaRPr lang="en-IN" altLang="en-US" dirty="0"/>
              </a:p>
              <a:p>
                <a:endParaRPr lang="en-IN" alt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52" t="-1413" b="-3004"/>
                </a:stretch>
              </a:blipFill>
            </p:spPr>
            <p:txBody>
              <a:bodyPr/>
              <a:lstStyle/>
              <a:p>
                <a:r>
                  <a:rPr lang="en-IN">
                    <a:noFill/>
                  </a:rPr>
                  <a:t> </a:t>
                </a:r>
              </a:p>
            </p:txBody>
          </p:sp>
        </mc:Fallback>
      </mc:AlternateContent>
    </p:spTree>
    <p:extLst>
      <p:ext uri="{BB962C8B-B14F-4D97-AF65-F5344CB8AC3E}">
        <p14:creationId xmlns:p14="http://schemas.microsoft.com/office/powerpoint/2010/main" val="300687835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ym typeface="+mn-ea"/>
              </a:rPr>
              <a:t>COCOMO II: A parametric productivity model</a:t>
            </a:r>
            <a:endParaRPr lang="en-US"/>
          </a:p>
        </p:txBody>
      </p:sp>
      <p:sp>
        <p:nvSpPr>
          <p:cNvPr id="3" name="Content Placeholder 2"/>
          <p:cNvSpPr>
            <a:spLocks noGrp="1"/>
          </p:cNvSpPr>
          <p:nvPr>
            <p:ph idx="1"/>
          </p:nvPr>
        </p:nvSpPr>
        <p:spPr/>
        <p:txBody>
          <a:bodyPr>
            <a:normAutofit fontScale="92500" lnSpcReduction="10000"/>
          </a:bodyPr>
          <a:lstStyle/>
          <a:p>
            <a:r>
              <a:rPr lang="en-IN" altLang="en-US"/>
              <a:t>The factors that exponent drivers</a:t>
            </a:r>
          </a:p>
          <a:p>
            <a:r>
              <a:rPr lang="en-IN" altLang="en-US"/>
              <a:t>Precedentedness (PREC)</a:t>
            </a:r>
          </a:p>
          <a:p>
            <a:r>
              <a:rPr lang="en-IN" altLang="en-US"/>
              <a:t>Development flexibility (FLEX)</a:t>
            </a:r>
          </a:p>
          <a:p>
            <a:r>
              <a:rPr lang="en-IN" altLang="en-US"/>
              <a:t>Architecture/risk resolution (RESL)</a:t>
            </a:r>
          </a:p>
          <a:p>
            <a:r>
              <a:rPr lang="en-IN" altLang="en-US"/>
              <a:t>Team cohesion (TEAM)</a:t>
            </a:r>
          </a:p>
          <a:p>
            <a:r>
              <a:rPr lang="en-IN" altLang="en-US"/>
              <a:t>Process maturity (PMAT)</a:t>
            </a:r>
          </a:p>
        </p:txBody>
      </p:sp>
    </p:spTree>
    <p:extLst>
      <p:ext uri="{BB962C8B-B14F-4D97-AF65-F5344CB8AC3E}">
        <p14:creationId xmlns:p14="http://schemas.microsoft.com/office/powerpoint/2010/main" val="90984848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16200000">
            <a:off x="4021818" y="-1687816"/>
            <a:ext cx="3765179" cy="11094240"/>
          </a:xfrm>
        </p:spPr>
      </p:pic>
    </p:spTree>
    <p:extLst>
      <p:ext uri="{BB962C8B-B14F-4D97-AF65-F5344CB8AC3E}">
        <p14:creationId xmlns:p14="http://schemas.microsoft.com/office/powerpoint/2010/main" val="4656553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COCOMO II: A parametric productivity model</a:t>
            </a:r>
          </a:p>
        </p:txBody>
      </p:sp>
      <p:sp>
        <p:nvSpPr>
          <p:cNvPr id="3" name="Content Placeholder 2"/>
          <p:cNvSpPr>
            <a:spLocks noGrp="1"/>
          </p:cNvSpPr>
          <p:nvPr>
            <p:ph idx="1"/>
          </p:nvPr>
        </p:nvSpPr>
        <p:spPr/>
        <p:txBody>
          <a:bodyPr/>
          <a:lstStyle/>
          <a:p>
            <a:r>
              <a:rPr lang="en-IN" i="1" dirty="0"/>
              <a:t>Effort multipliers (</a:t>
            </a:r>
            <a:r>
              <a:rPr lang="en-IN" i="1" dirty="0" err="1"/>
              <a:t>em</a:t>
            </a:r>
            <a:r>
              <a:rPr lang="en-IN" i="1" dirty="0"/>
              <a:t>)</a:t>
            </a:r>
            <a:r>
              <a:rPr lang="en-IN" dirty="0"/>
              <a:t> adjust the estimate to take account of productivity factors</a:t>
            </a:r>
          </a:p>
          <a:p>
            <a:endParaRPr lang="en-IN" dirty="0"/>
          </a:p>
          <a:p>
            <a:endParaRPr lang="en-IN" dirty="0"/>
          </a:p>
        </p:txBody>
      </p:sp>
    </p:spTree>
    <p:extLst>
      <p:ext uri="{BB962C8B-B14F-4D97-AF65-F5344CB8AC3E}">
        <p14:creationId xmlns:p14="http://schemas.microsoft.com/office/powerpoint/2010/main" val="155720496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32212" y="-201706"/>
            <a:ext cx="9278081" cy="6958559"/>
          </a:xfrm>
        </p:spPr>
      </p:pic>
    </p:spTree>
    <p:extLst>
      <p:ext uri="{BB962C8B-B14F-4D97-AF65-F5344CB8AC3E}">
        <p14:creationId xmlns:p14="http://schemas.microsoft.com/office/powerpoint/2010/main" val="391006498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70094" y="537882"/>
            <a:ext cx="7757925" cy="5818443"/>
          </a:xfrm>
        </p:spPr>
      </p:pic>
    </p:spTree>
    <p:extLst>
      <p:ext uri="{BB962C8B-B14F-4D97-AF65-F5344CB8AC3E}">
        <p14:creationId xmlns:p14="http://schemas.microsoft.com/office/powerpoint/2010/main" val="206051804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6475" y="236961"/>
            <a:ext cx="9603275" cy="509273"/>
          </a:xfrm>
        </p:spPr>
        <p:txBody>
          <a:bodyPr>
            <a:normAutofit fontScale="90000"/>
          </a:bodyPr>
          <a:lstStyle/>
          <a:p>
            <a:r>
              <a:rPr lang="en-IN" dirty="0" smtClean="0"/>
              <a:t>Example 5.4</a:t>
            </a:r>
            <a:endParaRPr lang="en-IN" dirty="0"/>
          </a:p>
        </p:txBody>
      </p:sp>
      <p:sp>
        <p:nvSpPr>
          <p:cNvPr id="3" name="Content Placeholder 2"/>
          <p:cNvSpPr>
            <a:spLocks noGrp="1"/>
          </p:cNvSpPr>
          <p:nvPr>
            <p:ph idx="1"/>
          </p:nvPr>
        </p:nvSpPr>
        <p:spPr>
          <a:xfrm>
            <a:off x="1230285" y="1008994"/>
            <a:ext cx="9835654" cy="4636028"/>
          </a:xfrm>
        </p:spPr>
        <p:txBody>
          <a:bodyPr>
            <a:normAutofit fontScale="62500" lnSpcReduction="20000"/>
          </a:bodyPr>
          <a:lstStyle/>
          <a:p>
            <a:r>
              <a:rPr lang="en-IN" dirty="0" smtClean="0"/>
              <a:t>Consider a company is developing a software package for an educational institute that would automate various bookkeeping activities associated with the institute’s academic activities such as course registration and grading. The institute has already installed other software applications that automate its various activity areas such as stores and purchase, accounting and faculty pay roll, which are already operational. The size of code that is expected to be written for the academic package is 10,000 SLOC. The package to be developed by a vendor is very similar to a  software developed by the same vendor for a different client. The software to be developed needs to seamlessly work with other applications running at the institute and has to use the existing DBMS and other hardware components. The requirements for the academic package are clear and re unlikely to change the development team put together by the vendor is collocated and cohesive. Other  aspects of the project such as required reliability and product complexity, required reusability, platform difficulty, personal capability, facilities available and schedule pressure ae nominal. Determine the effort required by the vendor assuming that it uses ad hoc development practices. Compare the effort to what would be incurred if the vendor had high process maturity.</a:t>
            </a:r>
          </a:p>
          <a:p>
            <a:r>
              <a:rPr lang="en-IN" dirty="0"/>
              <a:t>PREC – </a:t>
            </a:r>
            <a:r>
              <a:rPr lang="en-IN" dirty="0" smtClean="0"/>
              <a:t>	  </a:t>
            </a:r>
            <a:r>
              <a:rPr lang="en-IN" dirty="0"/>
              <a:t>FLEX - 		RESL –  		TEAM -		PMAT - </a:t>
            </a:r>
          </a:p>
          <a:p>
            <a:endParaRPr lang="en-IN" dirty="0"/>
          </a:p>
        </p:txBody>
      </p:sp>
    </p:spTree>
    <p:extLst>
      <p:ext uri="{BB962C8B-B14F-4D97-AF65-F5344CB8AC3E}">
        <p14:creationId xmlns:p14="http://schemas.microsoft.com/office/powerpoint/2010/main" val="51106717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6475" y="236961"/>
            <a:ext cx="9603275" cy="509273"/>
          </a:xfrm>
        </p:spPr>
        <p:txBody>
          <a:bodyPr>
            <a:normAutofit fontScale="90000"/>
          </a:bodyPr>
          <a:lstStyle/>
          <a:p>
            <a:r>
              <a:rPr lang="en-IN" dirty="0" smtClean="0"/>
              <a:t>Example 5.4</a:t>
            </a:r>
            <a:endParaRPr lang="en-IN" dirty="0"/>
          </a:p>
        </p:txBody>
      </p:sp>
      <p:sp>
        <p:nvSpPr>
          <p:cNvPr id="3" name="Content Placeholder 2"/>
          <p:cNvSpPr>
            <a:spLocks noGrp="1"/>
          </p:cNvSpPr>
          <p:nvPr>
            <p:ph idx="1"/>
          </p:nvPr>
        </p:nvSpPr>
        <p:spPr>
          <a:xfrm>
            <a:off x="1230285" y="977463"/>
            <a:ext cx="9835654" cy="4636028"/>
          </a:xfrm>
        </p:spPr>
        <p:txBody>
          <a:bodyPr>
            <a:normAutofit fontScale="62500" lnSpcReduction="20000"/>
          </a:bodyPr>
          <a:lstStyle/>
          <a:p>
            <a:r>
              <a:rPr lang="en-IN" dirty="0" smtClean="0"/>
              <a:t>Consider a company is developing a software package for an educational institute that would automate various bookkeeping activities associated with the institute’s academic activities such as course registration and grading. The institute has already installed other software applications that automate its various activity areas such as stores and purchase, accounting and faculty pay roll, which are already operational. The size of code that is expected to be written for the academic package is 10,000 SLOC. The package to be developed by a vendor is very similar to a  software developed by the same vendor for a different client. The software to be developed needs to seamlessly work with other applications running at the institute and has to use the existing DBMS and other hardware components. The requirements for the academic package are clear and are unlikely to change the development team put together by the vendor is collocated and cohesive. Other  aspects of the project such as required reliability and product complexity, required reusability, platform difficulty, personal capability, facilities available and schedule pressure ae nominal. Determine the effort required by the vendor assuming that it uses ad hoc development practices. Compare the effort to what would be incurred if the vendor had high process maturity.</a:t>
            </a:r>
          </a:p>
          <a:p>
            <a:r>
              <a:rPr lang="en-IN" dirty="0" smtClean="0"/>
              <a:t>PREC – Very High  FLEX - 	Low       RESL –  High	TEAM – Very High	PMAT – Very Low/ Very High</a:t>
            </a:r>
          </a:p>
          <a:p>
            <a:endParaRPr lang="en-IN" dirty="0"/>
          </a:p>
        </p:txBody>
      </p:sp>
    </p:spTree>
    <p:extLst>
      <p:ext uri="{BB962C8B-B14F-4D97-AF65-F5344CB8AC3E}">
        <p14:creationId xmlns:p14="http://schemas.microsoft.com/office/powerpoint/2010/main" val="200345933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20959" y="460200"/>
                <a:ext cx="7892118" cy="5909068"/>
              </a:xfrm>
            </p:spPr>
            <p:txBody>
              <a:bodyPr>
                <a:normAutofit fontScale="85000" lnSpcReduction="20000"/>
              </a:bodyPr>
              <a:lstStyle/>
              <a:p>
                <a:r>
                  <a:rPr lang="en-IN" dirty="0"/>
                  <a:t>PREC – Very </a:t>
                </a:r>
                <a:r>
                  <a:rPr lang="en-IN" dirty="0" smtClean="0"/>
                  <a:t>High  (1.24) </a:t>
                </a:r>
                <a:r>
                  <a:rPr lang="en-IN" dirty="0"/>
                  <a:t>FLEX - </a:t>
                </a:r>
                <a:r>
                  <a:rPr lang="en-IN" dirty="0" smtClean="0"/>
                  <a:t>Low (4.05)      </a:t>
                </a:r>
                <a:r>
                  <a:rPr lang="en-IN" dirty="0"/>
                  <a:t>RESL –  </a:t>
                </a:r>
                <a:r>
                  <a:rPr lang="en-IN" dirty="0" smtClean="0"/>
                  <a:t>High (2.83) TEAM </a:t>
                </a:r>
                <a:r>
                  <a:rPr lang="en-IN" dirty="0"/>
                  <a:t>– Very </a:t>
                </a:r>
                <a:r>
                  <a:rPr lang="en-IN" dirty="0" smtClean="0"/>
                  <a:t>High (1.10)</a:t>
                </a:r>
                <a:r>
                  <a:rPr lang="en-IN" dirty="0"/>
                  <a:t>	PMAT – Very </a:t>
                </a:r>
                <a:r>
                  <a:rPr lang="en-IN" dirty="0" smtClean="0"/>
                  <a:t>Low (7.8)</a:t>
                </a:r>
                <a:endParaRPr lang="en-IN" dirty="0"/>
              </a:p>
              <a:p>
                <a:r>
                  <a:rPr lang="en-IN" dirty="0" smtClean="0"/>
                  <a:t>For the organization with ad hoc process, </a:t>
                </a:r>
              </a:p>
              <a:p>
                <a14:m>
                  <m:oMath xmlns:m="http://schemas.openxmlformats.org/officeDocument/2006/math">
                    <m:r>
                      <a:rPr lang="en-US" altLang="en-IN" i="1">
                        <a:latin typeface="Cambria Math" panose="02040503050406030204" pitchFamily="18" charset="0"/>
                        <a:cs typeface="Cambria Math" panose="02040503050406030204" pitchFamily="18" charset="0"/>
                      </a:rPr>
                      <m:t>𝑠𝑓</m:t>
                    </m:r>
                    <m:r>
                      <a:rPr lang="en-US" altLang="en-IN" i="1">
                        <a:latin typeface="Cambria Math" panose="02040503050406030204" pitchFamily="18" charset="0"/>
                        <a:cs typeface="Cambria Math" panose="02040503050406030204" pitchFamily="18" charset="0"/>
                      </a:rPr>
                      <m:t>=</m:t>
                    </m:r>
                    <m:r>
                      <a:rPr lang="en-US" altLang="en-IN" i="1">
                        <a:latin typeface="Cambria Math" panose="02040503050406030204" pitchFamily="18" charset="0"/>
                        <a:cs typeface="Cambria Math" panose="02040503050406030204" pitchFamily="18" charset="0"/>
                      </a:rPr>
                      <m:t>𝐵</m:t>
                    </m:r>
                    <m:r>
                      <a:rPr lang="en-US" altLang="en-IN" i="1">
                        <a:latin typeface="Cambria Math" panose="02040503050406030204" pitchFamily="18" charset="0"/>
                        <a:cs typeface="Cambria Math" panose="02040503050406030204" pitchFamily="18" charset="0"/>
                      </a:rPr>
                      <m:t>+0.01∗</m:t>
                    </m:r>
                    <m:nary>
                      <m:naryPr>
                        <m:chr m:val="∑"/>
                        <m:limLoc m:val="undOvr"/>
                        <m:subHide m:val="on"/>
                        <m:supHide m:val="on"/>
                        <m:ctrlPr>
                          <a:rPr lang="en-US" altLang="en-IN" i="1">
                            <a:latin typeface="Cambria Math" panose="02040503050406030204" pitchFamily="18" charset="0"/>
                            <a:cs typeface="Cambria Math" panose="02040503050406030204" pitchFamily="18" charset="0"/>
                          </a:rPr>
                        </m:ctrlPr>
                      </m:naryPr>
                      <m:sub/>
                      <m:sup/>
                      <m:e>
                        <m:d>
                          <m:dPr>
                            <m:ctrlPr>
                              <a:rPr lang="en-US" altLang="en-IN" i="1">
                                <a:latin typeface="Cambria Math" panose="02040503050406030204" pitchFamily="18" charset="0"/>
                                <a:cs typeface="Cambria Math" panose="02040503050406030204" pitchFamily="18" charset="0"/>
                              </a:rPr>
                            </m:ctrlPr>
                          </m:dPr>
                          <m:e>
                            <m:r>
                              <a:rPr lang="en-US" altLang="en-IN" i="1">
                                <a:latin typeface="Cambria Math" panose="02040503050406030204" pitchFamily="18" charset="0"/>
                                <a:cs typeface="Cambria Math" panose="02040503050406030204" pitchFamily="18" charset="0"/>
                              </a:rPr>
                              <m:t>𝑒𝑥𝑝𝑜𝑛𝑒𝑛𝑡</m:t>
                            </m:r>
                            <m:r>
                              <a:rPr lang="en-US" altLang="en-IN" i="1">
                                <a:latin typeface="Cambria Math" panose="02040503050406030204" pitchFamily="18" charset="0"/>
                                <a:cs typeface="Cambria Math" panose="02040503050406030204" pitchFamily="18" charset="0"/>
                              </a:rPr>
                              <m:t> </m:t>
                            </m:r>
                            <m:r>
                              <a:rPr lang="en-US" altLang="en-IN" i="1">
                                <a:latin typeface="Cambria Math" panose="02040503050406030204" pitchFamily="18" charset="0"/>
                                <a:cs typeface="Cambria Math" panose="02040503050406030204" pitchFamily="18" charset="0"/>
                              </a:rPr>
                              <m:t>𝑑𝑟𝑖𝑣𝑒𝑟𝑠</m:t>
                            </m:r>
                          </m:e>
                        </m:d>
                      </m:e>
                    </m:nary>
                  </m:oMath>
                </a14:m>
                <a:endParaRPr lang="en-IN" dirty="0" smtClean="0"/>
              </a:p>
              <a:p>
                <a:r>
                  <a:rPr lang="en-IN" dirty="0" smtClean="0"/>
                  <a:t>sf= 0.91+0.01(1.24+4.05+2.83+1.10+7.80)</a:t>
                </a:r>
              </a:p>
              <a:p>
                <a:pPr marL="0" indent="0">
                  <a:buNone/>
                </a:pPr>
                <a:r>
                  <a:rPr lang="en-IN" dirty="0"/>
                  <a:t> </a:t>
                </a:r>
                <a:r>
                  <a:rPr lang="en-IN" dirty="0" smtClean="0"/>
                  <a:t>    = 0.91+0.01*17.02=0.91+0.17=1.08</a:t>
                </a:r>
              </a:p>
              <a:p>
                <a:r>
                  <a:rPr lang="en-IN" dirty="0" smtClean="0"/>
                  <a:t>For </a:t>
                </a:r>
                <a:r>
                  <a:rPr lang="en-IN" dirty="0"/>
                  <a:t>the organization with </a:t>
                </a:r>
                <a:r>
                  <a:rPr lang="en-IN" dirty="0" smtClean="0"/>
                  <a:t>mature </a:t>
                </a:r>
                <a:r>
                  <a:rPr lang="en-IN" dirty="0"/>
                  <a:t>process, </a:t>
                </a:r>
                <a:endParaRPr lang="en-IN" dirty="0" smtClean="0"/>
              </a:p>
              <a:p>
                <a:r>
                  <a:rPr lang="en-IN" dirty="0"/>
                  <a:t>PMAT </a:t>
                </a:r>
                <a:r>
                  <a:rPr lang="en-IN" dirty="0" smtClean="0"/>
                  <a:t>–Very High – 1.56</a:t>
                </a:r>
              </a:p>
              <a:p>
                <a14:m>
                  <m:oMath xmlns:m="http://schemas.openxmlformats.org/officeDocument/2006/math">
                    <m:r>
                      <a:rPr lang="en-US" altLang="en-IN" i="1">
                        <a:latin typeface="Cambria Math" panose="02040503050406030204" pitchFamily="18" charset="0"/>
                        <a:cs typeface="Cambria Math" panose="02040503050406030204" pitchFamily="18" charset="0"/>
                      </a:rPr>
                      <m:t>𝑠𝑓</m:t>
                    </m:r>
                    <m:r>
                      <a:rPr lang="en-US" altLang="en-IN" i="1">
                        <a:latin typeface="Cambria Math" panose="02040503050406030204" pitchFamily="18" charset="0"/>
                        <a:cs typeface="Cambria Math" panose="02040503050406030204" pitchFamily="18" charset="0"/>
                      </a:rPr>
                      <m:t>=</m:t>
                    </m:r>
                    <m:r>
                      <a:rPr lang="en-US" altLang="en-IN" i="1">
                        <a:latin typeface="Cambria Math" panose="02040503050406030204" pitchFamily="18" charset="0"/>
                        <a:cs typeface="Cambria Math" panose="02040503050406030204" pitchFamily="18" charset="0"/>
                      </a:rPr>
                      <m:t>𝐵</m:t>
                    </m:r>
                    <m:r>
                      <a:rPr lang="en-US" altLang="en-IN" i="1">
                        <a:latin typeface="Cambria Math" panose="02040503050406030204" pitchFamily="18" charset="0"/>
                        <a:cs typeface="Cambria Math" panose="02040503050406030204" pitchFamily="18" charset="0"/>
                      </a:rPr>
                      <m:t>+0.01∗</m:t>
                    </m:r>
                    <m:nary>
                      <m:naryPr>
                        <m:chr m:val="∑"/>
                        <m:limLoc m:val="undOvr"/>
                        <m:subHide m:val="on"/>
                        <m:supHide m:val="on"/>
                        <m:ctrlPr>
                          <a:rPr lang="en-US" altLang="en-IN" i="1">
                            <a:latin typeface="Cambria Math" panose="02040503050406030204" pitchFamily="18" charset="0"/>
                            <a:cs typeface="Cambria Math" panose="02040503050406030204" pitchFamily="18" charset="0"/>
                          </a:rPr>
                        </m:ctrlPr>
                      </m:naryPr>
                      <m:sub/>
                      <m:sup/>
                      <m:e>
                        <m:d>
                          <m:dPr>
                            <m:ctrlPr>
                              <a:rPr lang="en-US" altLang="en-IN" i="1">
                                <a:latin typeface="Cambria Math" panose="02040503050406030204" pitchFamily="18" charset="0"/>
                                <a:cs typeface="Cambria Math" panose="02040503050406030204" pitchFamily="18" charset="0"/>
                              </a:rPr>
                            </m:ctrlPr>
                          </m:dPr>
                          <m:e>
                            <m:r>
                              <a:rPr lang="en-US" altLang="en-IN" i="1">
                                <a:latin typeface="Cambria Math" panose="02040503050406030204" pitchFamily="18" charset="0"/>
                                <a:cs typeface="Cambria Math" panose="02040503050406030204" pitchFamily="18" charset="0"/>
                              </a:rPr>
                              <m:t>𝑒𝑥𝑝𝑜𝑛𝑒𝑛𝑡</m:t>
                            </m:r>
                            <m:r>
                              <a:rPr lang="en-US" altLang="en-IN" i="1">
                                <a:latin typeface="Cambria Math" panose="02040503050406030204" pitchFamily="18" charset="0"/>
                                <a:cs typeface="Cambria Math" panose="02040503050406030204" pitchFamily="18" charset="0"/>
                              </a:rPr>
                              <m:t> </m:t>
                            </m:r>
                            <m:r>
                              <a:rPr lang="en-US" altLang="en-IN" i="1">
                                <a:latin typeface="Cambria Math" panose="02040503050406030204" pitchFamily="18" charset="0"/>
                                <a:cs typeface="Cambria Math" panose="02040503050406030204" pitchFamily="18" charset="0"/>
                              </a:rPr>
                              <m:t>𝑑𝑟𝑖𝑣𝑒𝑟𝑠</m:t>
                            </m:r>
                          </m:e>
                        </m:d>
                      </m:e>
                    </m:nary>
                  </m:oMath>
                </a14:m>
                <a:endParaRPr lang="en-IN" dirty="0"/>
              </a:p>
              <a:p>
                <a:r>
                  <a:rPr lang="en-IN" dirty="0" smtClean="0"/>
                  <a:t>sf = 0.91+0.01(1.24+4.05+2.83+1.10+1.56)</a:t>
                </a:r>
              </a:p>
              <a:p>
                <a:pPr marL="0" indent="0">
                  <a:buNone/>
                </a:pPr>
                <a:r>
                  <a:rPr lang="en-IN" dirty="0"/>
                  <a:t> </a:t>
                </a:r>
                <a:r>
                  <a:rPr lang="en-IN" dirty="0" smtClean="0"/>
                  <a:t>      = 0.91+0.01*10.78=0.91+0.1078=1.02</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20959" y="460200"/>
                <a:ext cx="7892118" cy="5909068"/>
              </a:xfrm>
              <a:blipFill>
                <a:blip r:embed="rId2"/>
                <a:stretch>
                  <a:fillRect l="-1082" t="-825" r="-2087"/>
                </a:stretch>
              </a:blipFill>
            </p:spPr>
            <p:txBody>
              <a:bodyPr/>
              <a:lstStyle/>
              <a:p>
                <a:r>
                  <a:rPr lang="en-IN">
                    <a:noFill/>
                  </a:rPr>
                  <a:t> </a:t>
                </a:r>
              </a:p>
            </p:txBody>
          </p:sp>
        </mc:Fallback>
      </mc:AlternateContent>
      <p:pic>
        <p:nvPicPr>
          <p:cNvPr id="4" name="Content Placeholder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9132376" y="138764"/>
            <a:ext cx="3765179" cy="7378016"/>
          </a:xfrm>
          <a:prstGeom prst="rect">
            <a:avLst/>
          </a:prstGeom>
        </p:spPr>
      </p:pic>
    </p:spTree>
    <p:extLst>
      <p:ext uri="{BB962C8B-B14F-4D97-AF65-F5344CB8AC3E}">
        <p14:creationId xmlns:p14="http://schemas.microsoft.com/office/powerpoint/2010/main" val="4153595770"/>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367496" y="186932"/>
                <a:ext cx="9603275" cy="5909068"/>
              </a:xfrm>
            </p:spPr>
            <p:txBody>
              <a:bodyPr/>
              <a:lstStyle/>
              <a:p>
                <a:r>
                  <a:rPr lang="en-IN" dirty="0"/>
                  <a:t>PREC – Very High  FLEX - 	Low       RESL –  High	TEAM – Very High	PMAT – Very Low/ Very High</a:t>
                </a:r>
              </a:p>
              <a:p>
                <a:r>
                  <a:rPr lang="en-IN" dirty="0" smtClean="0"/>
                  <a:t>For the organization with ad hoc process, </a:t>
                </a:r>
              </a:p>
              <a:p>
                <a14:m>
                  <m:oMath xmlns:m="http://schemas.openxmlformats.org/officeDocument/2006/math">
                    <m:r>
                      <a:rPr lang="en-US" altLang="en-IN" i="1">
                        <a:latin typeface="Cambria Math" panose="02040503050406030204" pitchFamily="18" charset="0"/>
                        <a:cs typeface="Cambria Math" panose="02040503050406030204" pitchFamily="18" charset="0"/>
                      </a:rPr>
                      <m:t>𝑝𝑚</m:t>
                    </m:r>
                    <m:r>
                      <a:rPr lang="en-US" altLang="en-IN" i="1">
                        <a:latin typeface="Cambria Math" panose="02040503050406030204" pitchFamily="18" charset="0"/>
                        <a:cs typeface="Cambria Math" panose="02040503050406030204" pitchFamily="18" charset="0"/>
                      </a:rPr>
                      <m:t>=</m:t>
                    </m:r>
                    <m:r>
                      <a:rPr lang="en-US" altLang="en-IN" i="1">
                        <a:latin typeface="Cambria Math" panose="02040503050406030204" pitchFamily="18" charset="0"/>
                        <a:cs typeface="Cambria Math" panose="02040503050406030204" pitchFamily="18" charset="0"/>
                      </a:rPr>
                      <m:t>𝐴</m:t>
                    </m:r>
                    <m:sSup>
                      <m:sSupPr>
                        <m:ctrlPr>
                          <a:rPr lang="en-US" altLang="en-IN" i="1">
                            <a:latin typeface="Cambria Math" panose="02040503050406030204" pitchFamily="18" charset="0"/>
                            <a:cs typeface="Cambria Math" panose="02040503050406030204" pitchFamily="18" charset="0"/>
                          </a:rPr>
                        </m:ctrlPr>
                      </m:sSupPr>
                      <m:e>
                        <m:r>
                          <a:rPr lang="en-US" altLang="en-IN" i="1">
                            <a:latin typeface="Cambria Math" panose="02040503050406030204" pitchFamily="18" charset="0"/>
                            <a:cs typeface="Cambria Math" panose="02040503050406030204" pitchFamily="18" charset="0"/>
                          </a:rPr>
                          <m:t>(</m:t>
                        </m:r>
                        <m:r>
                          <a:rPr lang="en-US" altLang="en-IN" i="1">
                            <a:latin typeface="Cambria Math" panose="02040503050406030204" pitchFamily="18" charset="0"/>
                            <a:cs typeface="Cambria Math" panose="02040503050406030204" pitchFamily="18" charset="0"/>
                          </a:rPr>
                          <m:t>𝑠𝑖𝑧𝑒</m:t>
                        </m:r>
                        <m:r>
                          <a:rPr lang="en-US" altLang="en-IN" i="1">
                            <a:latin typeface="Cambria Math" panose="02040503050406030204" pitchFamily="18" charset="0"/>
                            <a:cs typeface="Cambria Math" panose="02040503050406030204" pitchFamily="18" charset="0"/>
                          </a:rPr>
                          <m:t>)</m:t>
                        </m:r>
                      </m:e>
                      <m:sup>
                        <m:r>
                          <a:rPr lang="en-US" altLang="en-IN" i="1">
                            <a:latin typeface="Cambria Math" panose="02040503050406030204" pitchFamily="18" charset="0"/>
                            <a:cs typeface="Cambria Math" panose="02040503050406030204" pitchFamily="18" charset="0"/>
                          </a:rPr>
                          <m:t>𝑠𝑓</m:t>
                        </m:r>
                      </m:sup>
                    </m:sSup>
                    <m:r>
                      <a:rPr lang="en-US" altLang="en-IN" i="1">
                        <a:latin typeface="Cambria Math" panose="02040503050406030204" pitchFamily="18" charset="0"/>
                        <a:cs typeface="Cambria Math" panose="02040503050406030204" pitchFamily="18" charset="0"/>
                      </a:rPr>
                      <m:t> ∗ </m:t>
                    </m:r>
                    <m:sSub>
                      <m:sSubPr>
                        <m:ctrlPr>
                          <a:rPr lang="en-US" altLang="en-IN" i="1">
                            <a:latin typeface="Cambria Math" panose="02040503050406030204" pitchFamily="18" charset="0"/>
                            <a:cs typeface="Cambria Math" panose="02040503050406030204" pitchFamily="18" charset="0"/>
                          </a:rPr>
                        </m:ctrlPr>
                      </m:sSubPr>
                      <m:e>
                        <m:r>
                          <a:rPr lang="en-US" altLang="en-IN" i="1">
                            <a:latin typeface="Cambria Math" panose="02040503050406030204" pitchFamily="18" charset="0"/>
                            <a:cs typeface="Cambria Math" panose="02040503050406030204" pitchFamily="18" charset="0"/>
                          </a:rPr>
                          <m:t>𝑒𝑚</m:t>
                        </m:r>
                      </m:e>
                      <m:sub>
                        <m:r>
                          <a:rPr lang="en-US" altLang="en-IN" i="1">
                            <a:latin typeface="Cambria Math" panose="02040503050406030204" pitchFamily="18" charset="0"/>
                            <a:cs typeface="Cambria Math" panose="02040503050406030204" pitchFamily="18" charset="0"/>
                          </a:rPr>
                          <m:t>1</m:t>
                        </m:r>
                      </m:sub>
                    </m:sSub>
                    <m:r>
                      <a:rPr lang="en-US" altLang="en-IN" i="1">
                        <a:latin typeface="Cambria Math" panose="02040503050406030204" pitchFamily="18" charset="0"/>
                        <a:cs typeface="Cambria Math" panose="02040503050406030204" pitchFamily="18" charset="0"/>
                      </a:rPr>
                      <m:t>∗</m:t>
                    </m:r>
                    <m:sSub>
                      <m:sSubPr>
                        <m:ctrlPr>
                          <a:rPr lang="en-US" altLang="en-IN" i="1">
                            <a:latin typeface="Cambria Math" panose="02040503050406030204" pitchFamily="18" charset="0"/>
                            <a:cs typeface="Cambria Math" panose="02040503050406030204" pitchFamily="18" charset="0"/>
                          </a:rPr>
                        </m:ctrlPr>
                      </m:sSubPr>
                      <m:e>
                        <m:r>
                          <a:rPr lang="en-US" altLang="en-IN" i="1">
                            <a:latin typeface="Cambria Math" panose="02040503050406030204" pitchFamily="18" charset="0"/>
                            <a:cs typeface="Cambria Math" panose="02040503050406030204" pitchFamily="18" charset="0"/>
                          </a:rPr>
                          <m:t>𝑒𝑚</m:t>
                        </m:r>
                      </m:e>
                      <m:sub>
                        <m:r>
                          <a:rPr lang="en-US" altLang="en-IN" i="1">
                            <a:latin typeface="Cambria Math" panose="02040503050406030204" pitchFamily="18" charset="0"/>
                            <a:cs typeface="Cambria Math" panose="02040503050406030204" pitchFamily="18" charset="0"/>
                          </a:rPr>
                          <m:t>2</m:t>
                        </m:r>
                      </m:sub>
                    </m:sSub>
                    <m:r>
                      <a:rPr lang="en-US" altLang="en-IN" i="1">
                        <a:latin typeface="Cambria Math" panose="02040503050406030204" pitchFamily="18" charset="0"/>
                        <a:cs typeface="Cambria Math" panose="02040503050406030204" pitchFamily="18" charset="0"/>
                      </a:rPr>
                      <m:t>∗ ...∗</m:t>
                    </m:r>
                    <m:sSub>
                      <m:sSubPr>
                        <m:ctrlPr>
                          <a:rPr lang="en-US" altLang="en-IN" i="1">
                            <a:latin typeface="Cambria Math" panose="02040503050406030204" pitchFamily="18" charset="0"/>
                            <a:cs typeface="Cambria Math" panose="02040503050406030204" pitchFamily="18" charset="0"/>
                          </a:rPr>
                        </m:ctrlPr>
                      </m:sSubPr>
                      <m:e>
                        <m:r>
                          <a:rPr lang="en-US" altLang="en-IN" i="1">
                            <a:latin typeface="Cambria Math" panose="02040503050406030204" pitchFamily="18" charset="0"/>
                            <a:cs typeface="Cambria Math" panose="02040503050406030204" pitchFamily="18" charset="0"/>
                          </a:rPr>
                          <m:t>𝑒𝑚</m:t>
                        </m:r>
                      </m:e>
                      <m:sub>
                        <m:r>
                          <a:rPr lang="en-US" altLang="en-IN" i="1">
                            <a:latin typeface="Cambria Math" panose="02040503050406030204" pitchFamily="18" charset="0"/>
                            <a:cs typeface="Cambria Math" panose="02040503050406030204" pitchFamily="18" charset="0"/>
                          </a:rPr>
                          <m:t>𝑛</m:t>
                        </m:r>
                      </m:sub>
                    </m:sSub>
                  </m:oMath>
                </a14:m>
                <a:endParaRPr lang="en-US" altLang="en-IN" i="1" dirty="0">
                  <a:latin typeface="Cambria Math" panose="02040503050406030204" pitchFamily="18" charset="0"/>
                  <a:cs typeface="Cambria Math" panose="02040503050406030204" pitchFamily="18" charset="0"/>
                </a:endParaRPr>
              </a:p>
              <a:p>
                <a:r>
                  <a:rPr lang="en-IN" dirty="0" smtClean="0"/>
                  <a:t>pm = 2.94*10</a:t>
                </a:r>
                <a:r>
                  <a:rPr lang="en-IN" baseline="30000" dirty="0" smtClean="0"/>
                  <a:t>1.08</a:t>
                </a:r>
                <a:r>
                  <a:rPr lang="en-IN" dirty="0" smtClean="0"/>
                  <a:t> * 1 = 2.94*12.022 = 35.34 man months</a:t>
                </a:r>
                <a:endParaRPr lang="en-IN" baseline="30000" dirty="0" smtClean="0"/>
              </a:p>
              <a:p>
                <a:r>
                  <a:rPr lang="en-IN" dirty="0" smtClean="0"/>
                  <a:t>For </a:t>
                </a:r>
                <a:r>
                  <a:rPr lang="en-IN" dirty="0"/>
                  <a:t>the organization with </a:t>
                </a:r>
                <a:r>
                  <a:rPr lang="en-IN" dirty="0" smtClean="0"/>
                  <a:t>mature process</a:t>
                </a:r>
              </a:p>
              <a:p>
                <a:r>
                  <a:rPr lang="en-IN" dirty="0"/>
                  <a:t>pm = </a:t>
                </a:r>
                <a:r>
                  <a:rPr lang="en-IN" dirty="0" smtClean="0"/>
                  <a:t>2.94*10</a:t>
                </a:r>
                <a:r>
                  <a:rPr lang="en-IN" baseline="30000" dirty="0" smtClean="0"/>
                  <a:t>1.02</a:t>
                </a:r>
                <a:r>
                  <a:rPr lang="en-IN" dirty="0" smtClean="0"/>
                  <a:t> </a:t>
                </a:r>
                <a:r>
                  <a:rPr lang="en-IN" dirty="0"/>
                  <a:t>* 1 = </a:t>
                </a:r>
                <a:r>
                  <a:rPr lang="en-IN" dirty="0" smtClean="0"/>
                  <a:t>2.94*10.47 = 30.78  </a:t>
                </a:r>
                <a:r>
                  <a:rPr lang="en-IN" dirty="0"/>
                  <a:t>man months</a:t>
                </a:r>
                <a:endParaRPr lang="en-IN" baseline="30000" dirty="0"/>
              </a:p>
              <a:p>
                <a:r>
                  <a:rPr lang="en-IN" dirty="0" smtClean="0"/>
                  <a:t>, </a:t>
                </a:r>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367496" y="186932"/>
                <a:ext cx="9603275" cy="5909068"/>
              </a:xfrm>
              <a:blipFill>
                <a:blip r:embed="rId2"/>
                <a:stretch>
                  <a:fillRect l="-1142" t="-413" r="-1206"/>
                </a:stretch>
              </a:blipFill>
            </p:spPr>
            <p:txBody>
              <a:bodyPr/>
              <a:lstStyle/>
              <a:p>
                <a:r>
                  <a:rPr lang="en-IN">
                    <a:noFill/>
                  </a:rPr>
                  <a:t> </a:t>
                </a:r>
              </a:p>
            </p:txBody>
          </p:sp>
        </mc:Fallback>
      </mc:AlternateContent>
    </p:spTree>
    <p:extLst>
      <p:ext uri="{BB962C8B-B14F-4D97-AF65-F5344CB8AC3E}">
        <p14:creationId xmlns:p14="http://schemas.microsoft.com/office/powerpoint/2010/main" val="1673295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367496" y="186932"/>
                <a:ext cx="9603275" cy="5909068"/>
              </a:xfrm>
            </p:spPr>
            <p:txBody>
              <a:bodyPr/>
              <a:lstStyle/>
              <a:p>
                <a:r>
                  <a:rPr lang="en-IN" dirty="0"/>
                  <a:t>PREC – Very High  FLEX - 	Low       RESL –  High	TEAM – Very High	PMAT – Very Low/ Very High</a:t>
                </a:r>
              </a:p>
              <a:p>
                <a:r>
                  <a:rPr lang="en-IN" dirty="0" smtClean="0"/>
                  <a:t>For the organization with ad hoc process, </a:t>
                </a:r>
              </a:p>
              <a:p>
                <a14:m>
                  <m:oMath xmlns:m="http://schemas.openxmlformats.org/officeDocument/2006/math">
                    <m:r>
                      <a:rPr lang="en-US" altLang="en-IN" i="1">
                        <a:latin typeface="Cambria Math" panose="02040503050406030204" pitchFamily="18" charset="0"/>
                        <a:cs typeface="Cambria Math" panose="02040503050406030204" pitchFamily="18" charset="0"/>
                      </a:rPr>
                      <m:t>𝑝𝑚</m:t>
                    </m:r>
                    <m:r>
                      <a:rPr lang="en-US" altLang="en-IN" i="1">
                        <a:latin typeface="Cambria Math" panose="02040503050406030204" pitchFamily="18" charset="0"/>
                        <a:cs typeface="Cambria Math" panose="02040503050406030204" pitchFamily="18" charset="0"/>
                      </a:rPr>
                      <m:t>=</m:t>
                    </m:r>
                    <m:r>
                      <a:rPr lang="en-US" altLang="en-IN" i="1">
                        <a:latin typeface="Cambria Math" panose="02040503050406030204" pitchFamily="18" charset="0"/>
                        <a:cs typeface="Cambria Math" panose="02040503050406030204" pitchFamily="18" charset="0"/>
                      </a:rPr>
                      <m:t>𝐴</m:t>
                    </m:r>
                    <m:sSup>
                      <m:sSupPr>
                        <m:ctrlPr>
                          <a:rPr lang="en-US" altLang="en-IN" i="1">
                            <a:latin typeface="Cambria Math" panose="02040503050406030204" pitchFamily="18" charset="0"/>
                            <a:cs typeface="Cambria Math" panose="02040503050406030204" pitchFamily="18" charset="0"/>
                          </a:rPr>
                        </m:ctrlPr>
                      </m:sSupPr>
                      <m:e>
                        <m:r>
                          <a:rPr lang="en-US" altLang="en-IN" i="1">
                            <a:latin typeface="Cambria Math" panose="02040503050406030204" pitchFamily="18" charset="0"/>
                            <a:cs typeface="Cambria Math" panose="02040503050406030204" pitchFamily="18" charset="0"/>
                          </a:rPr>
                          <m:t>(</m:t>
                        </m:r>
                        <m:r>
                          <a:rPr lang="en-US" altLang="en-IN" i="1">
                            <a:latin typeface="Cambria Math" panose="02040503050406030204" pitchFamily="18" charset="0"/>
                            <a:cs typeface="Cambria Math" panose="02040503050406030204" pitchFamily="18" charset="0"/>
                          </a:rPr>
                          <m:t>𝑠𝑖𝑧𝑒</m:t>
                        </m:r>
                        <m:r>
                          <a:rPr lang="en-US" altLang="en-IN" i="1">
                            <a:latin typeface="Cambria Math" panose="02040503050406030204" pitchFamily="18" charset="0"/>
                            <a:cs typeface="Cambria Math" panose="02040503050406030204" pitchFamily="18" charset="0"/>
                          </a:rPr>
                          <m:t>)</m:t>
                        </m:r>
                      </m:e>
                      <m:sup>
                        <m:r>
                          <a:rPr lang="en-US" altLang="en-IN" i="1">
                            <a:latin typeface="Cambria Math" panose="02040503050406030204" pitchFamily="18" charset="0"/>
                            <a:cs typeface="Cambria Math" panose="02040503050406030204" pitchFamily="18" charset="0"/>
                          </a:rPr>
                          <m:t>𝑠𝑓</m:t>
                        </m:r>
                      </m:sup>
                    </m:sSup>
                    <m:r>
                      <a:rPr lang="en-US" altLang="en-IN" i="1">
                        <a:latin typeface="Cambria Math" panose="02040503050406030204" pitchFamily="18" charset="0"/>
                        <a:cs typeface="Cambria Math" panose="02040503050406030204" pitchFamily="18" charset="0"/>
                      </a:rPr>
                      <m:t> ∗ </m:t>
                    </m:r>
                    <m:sSub>
                      <m:sSubPr>
                        <m:ctrlPr>
                          <a:rPr lang="en-US" altLang="en-IN" i="1">
                            <a:latin typeface="Cambria Math" panose="02040503050406030204" pitchFamily="18" charset="0"/>
                            <a:cs typeface="Cambria Math" panose="02040503050406030204" pitchFamily="18" charset="0"/>
                          </a:rPr>
                        </m:ctrlPr>
                      </m:sSubPr>
                      <m:e>
                        <m:r>
                          <a:rPr lang="en-US" altLang="en-IN" i="1">
                            <a:latin typeface="Cambria Math" panose="02040503050406030204" pitchFamily="18" charset="0"/>
                            <a:cs typeface="Cambria Math" panose="02040503050406030204" pitchFamily="18" charset="0"/>
                          </a:rPr>
                          <m:t>𝑒𝑚</m:t>
                        </m:r>
                      </m:e>
                      <m:sub>
                        <m:r>
                          <a:rPr lang="en-US" altLang="en-IN" i="1">
                            <a:latin typeface="Cambria Math" panose="02040503050406030204" pitchFamily="18" charset="0"/>
                            <a:cs typeface="Cambria Math" panose="02040503050406030204" pitchFamily="18" charset="0"/>
                          </a:rPr>
                          <m:t>1</m:t>
                        </m:r>
                      </m:sub>
                    </m:sSub>
                    <m:r>
                      <a:rPr lang="en-US" altLang="en-IN" i="1">
                        <a:latin typeface="Cambria Math" panose="02040503050406030204" pitchFamily="18" charset="0"/>
                        <a:cs typeface="Cambria Math" panose="02040503050406030204" pitchFamily="18" charset="0"/>
                      </a:rPr>
                      <m:t>∗</m:t>
                    </m:r>
                    <m:sSub>
                      <m:sSubPr>
                        <m:ctrlPr>
                          <a:rPr lang="en-US" altLang="en-IN" i="1">
                            <a:latin typeface="Cambria Math" panose="02040503050406030204" pitchFamily="18" charset="0"/>
                            <a:cs typeface="Cambria Math" panose="02040503050406030204" pitchFamily="18" charset="0"/>
                          </a:rPr>
                        </m:ctrlPr>
                      </m:sSubPr>
                      <m:e>
                        <m:r>
                          <a:rPr lang="en-US" altLang="en-IN" i="1">
                            <a:latin typeface="Cambria Math" panose="02040503050406030204" pitchFamily="18" charset="0"/>
                            <a:cs typeface="Cambria Math" panose="02040503050406030204" pitchFamily="18" charset="0"/>
                          </a:rPr>
                          <m:t>𝑒𝑚</m:t>
                        </m:r>
                      </m:e>
                      <m:sub>
                        <m:r>
                          <a:rPr lang="en-US" altLang="en-IN" i="1">
                            <a:latin typeface="Cambria Math" panose="02040503050406030204" pitchFamily="18" charset="0"/>
                            <a:cs typeface="Cambria Math" panose="02040503050406030204" pitchFamily="18" charset="0"/>
                          </a:rPr>
                          <m:t>2</m:t>
                        </m:r>
                      </m:sub>
                    </m:sSub>
                    <m:r>
                      <a:rPr lang="en-US" altLang="en-IN" i="1">
                        <a:latin typeface="Cambria Math" panose="02040503050406030204" pitchFamily="18" charset="0"/>
                        <a:cs typeface="Cambria Math" panose="02040503050406030204" pitchFamily="18" charset="0"/>
                      </a:rPr>
                      <m:t>∗ ...∗</m:t>
                    </m:r>
                    <m:sSub>
                      <m:sSubPr>
                        <m:ctrlPr>
                          <a:rPr lang="en-US" altLang="en-IN" i="1">
                            <a:latin typeface="Cambria Math" panose="02040503050406030204" pitchFamily="18" charset="0"/>
                            <a:cs typeface="Cambria Math" panose="02040503050406030204" pitchFamily="18" charset="0"/>
                          </a:rPr>
                        </m:ctrlPr>
                      </m:sSubPr>
                      <m:e>
                        <m:r>
                          <a:rPr lang="en-US" altLang="en-IN" i="1">
                            <a:latin typeface="Cambria Math" panose="02040503050406030204" pitchFamily="18" charset="0"/>
                            <a:cs typeface="Cambria Math" panose="02040503050406030204" pitchFamily="18" charset="0"/>
                          </a:rPr>
                          <m:t>𝑒𝑚</m:t>
                        </m:r>
                      </m:e>
                      <m:sub>
                        <m:r>
                          <a:rPr lang="en-US" altLang="en-IN" i="1">
                            <a:latin typeface="Cambria Math" panose="02040503050406030204" pitchFamily="18" charset="0"/>
                            <a:cs typeface="Cambria Math" panose="02040503050406030204" pitchFamily="18" charset="0"/>
                          </a:rPr>
                          <m:t>𝑛</m:t>
                        </m:r>
                      </m:sub>
                    </m:sSub>
                  </m:oMath>
                </a14:m>
                <a:endParaRPr lang="en-US" altLang="en-IN" i="1" dirty="0">
                  <a:latin typeface="Cambria Math" panose="02040503050406030204" pitchFamily="18" charset="0"/>
                  <a:cs typeface="Cambria Math" panose="02040503050406030204" pitchFamily="18" charset="0"/>
                </a:endParaRPr>
              </a:p>
              <a:p>
                <a14:m>
                  <m:oMath xmlns:m="http://schemas.openxmlformats.org/officeDocument/2006/math">
                    <m:r>
                      <a:rPr lang="en-US" altLang="en-IN" i="1">
                        <a:latin typeface="Cambria Math" panose="02040503050406030204" pitchFamily="18" charset="0"/>
                        <a:cs typeface="Cambria Math" panose="02040503050406030204" pitchFamily="18" charset="0"/>
                      </a:rPr>
                      <m:t>𝑠𝑓</m:t>
                    </m:r>
                    <m:r>
                      <a:rPr lang="en-US" altLang="en-IN" i="1">
                        <a:latin typeface="Cambria Math" panose="02040503050406030204" pitchFamily="18" charset="0"/>
                        <a:cs typeface="Cambria Math" panose="02040503050406030204" pitchFamily="18" charset="0"/>
                      </a:rPr>
                      <m:t>=</m:t>
                    </m:r>
                    <m:r>
                      <a:rPr lang="en-US" altLang="en-IN" i="1">
                        <a:latin typeface="Cambria Math" panose="02040503050406030204" pitchFamily="18" charset="0"/>
                        <a:cs typeface="Cambria Math" panose="02040503050406030204" pitchFamily="18" charset="0"/>
                      </a:rPr>
                      <m:t>𝐵</m:t>
                    </m:r>
                    <m:r>
                      <a:rPr lang="en-US" altLang="en-IN" i="1">
                        <a:latin typeface="Cambria Math" panose="02040503050406030204" pitchFamily="18" charset="0"/>
                        <a:cs typeface="Cambria Math" panose="02040503050406030204" pitchFamily="18" charset="0"/>
                      </a:rPr>
                      <m:t>+0.01∗</m:t>
                    </m:r>
                    <m:nary>
                      <m:naryPr>
                        <m:chr m:val="∑"/>
                        <m:limLoc m:val="undOvr"/>
                        <m:subHide m:val="on"/>
                        <m:supHide m:val="on"/>
                        <m:ctrlPr>
                          <a:rPr lang="en-US" altLang="en-IN" i="1">
                            <a:latin typeface="Cambria Math" panose="02040503050406030204" pitchFamily="18" charset="0"/>
                            <a:cs typeface="Cambria Math" panose="02040503050406030204" pitchFamily="18" charset="0"/>
                          </a:rPr>
                        </m:ctrlPr>
                      </m:naryPr>
                      <m:sub/>
                      <m:sup/>
                      <m:e>
                        <m:d>
                          <m:dPr>
                            <m:ctrlPr>
                              <a:rPr lang="en-US" altLang="en-IN" i="1">
                                <a:latin typeface="Cambria Math" panose="02040503050406030204" pitchFamily="18" charset="0"/>
                                <a:cs typeface="Cambria Math" panose="02040503050406030204" pitchFamily="18" charset="0"/>
                              </a:rPr>
                            </m:ctrlPr>
                          </m:dPr>
                          <m:e>
                            <m:r>
                              <a:rPr lang="en-US" altLang="en-IN" i="1">
                                <a:latin typeface="Cambria Math" panose="02040503050406030204" pitchFamily="18" charset="0"/>
                                <a:cs typeface="Cambria Math" panose="02040503050406030204" pitchFamily="18" charset="0"/>
                              </a:rPr>
                              <m:t>𝑒𝑥𝑝𝑜𝑛𝑒𝑛𝑡</m:t>
                            </m:r>
                            <m:r>
                              <a:rPr lang="en-US" altLang="en-IN" i="1">
                                <a:latin typeface="Cambria Math" panose="02040503050406030204" pitchFamily="18" charset="0"/>
                                <a:cs typeface="Cambria Math" panose="02040503050406030204" pitchFamily="18" charset="0"/>
                              </a:rPr>
                              <m:t> </m:t>
                            </m:r>
                            <m:r>
                              <a:rPr lang="en-US" altLang="en-IN" i="1">
                                <a:latin typeface="Cambria Math" panose="02040503050406030204" pitchFamily="18" charset="0"/>
                                <a:cs typeface="Cambria Math" panose="02040503050406030204" pitchFamily="18" charset="0"/>
                              </a:rPr>
                              <m:t>𝑑𝑟𝑖𝑣𝑒𝑟𝑠</m:t>
                            </m:r>
                          </m:e>
                        </m:d>
                      </m:e>
                    </m:nary>
                  </m:oMath>
                </a14:m>
                <a:endParaRPr lang="en-IN" dirty="0" smtClean="0"/>
              </a:p>
              <a:p>
                <a:r>
                  <a:rPr lang="en-IN" dirty="0" smtClean="0"/>
                  <a:t>For </a:t>
                </a:r>
                <a:r>
                  <a:rPr lang="en-IN" dirty="0"/>
                  <a:t>the organization with </a:t>
                </a:r>
                <a:r>
                  <a:rPr lang="en-IN" dirty="0" smtClean="0"/>
                  <a:t>mature </a:t>
                </a:r>
                <a:r>
                  <a:rPr lang="en-IN" dirty="0"/>
                  <a:t>process, </a:t>
                </a:r>
              </a:p>
              <a:p>
                <a:r>
                  <a:rPr lang="en-IN" dirty="0" smtClean="0"/>
                  <a:t>sf = </a:t>
                </a:r>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367496" y="186932"/>
                <a:ext cx="9603275" cy="5909068"/>
              </a:xfrm>
              <a:blipFill>
                <a:blip r:embed="rId2"/>
                <a:stretch>
                  <a:fillRect l="-1142" t="-413" r="-1206"/>
                </a:stretch>
              </a:blipFill>
            </p:spPr>
            <p:txBody>
              <a:bodyPr/>
              <a:lstStyle/>
              <a:p>
                <a:r>
                  <a:rPr lang="en-IN">
                    <a:noFill/>
                  </a:rPr>
                  <a:t> </a:t>
                </a:r>
              </a:p>
            </p:txBody>
          </p:sp>
        </mc:Fallback>
      </mc:AlternateContent>
    </p:spTree>
    <p:extLst>
      <p:ext uri="{BB962C8B-B14F-4D97-AF65-F5344CB8AC3E}">
        <p14:creationId xmlns:p14="http://schemas.microsoft.com/office/powerpoint/2010/main" val="2638146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1451579" y="1853754"/>
            <a:ext cx="9603275" cy="3450613"/>
          </a:xfrm>
        </p:spPr>
        <p:txBody>
          <a:bodyPr/>
          <a:lstStyle/>
          <a:p>
            <a:r>
              <a:rPr lang="en-IN" dirty="0" smtClean="0"/>
              <a:t>The size of the project to be developed is 30,000 SLOC and the nature of the project is semi-detached. Find the effort. (COCOMO81)</a:t>
            </a:r>
          </a:p>
          <a:p>
            <a:endParaRPr lang="en-IN" dirty="0" smtClean="0"/>
          </a:p>
          <a:p>
            <a:r>
              <a:rPr lang="en-IN" dirty="0" smtClean="0"/>
              <a:t>Effort = 3.0*30</a:t>
            </a:r>
            <a:r>
              <a:rPr lang="en-IN" baseline="30000" dirty="0" smtClean="0"/>
              <a:t>1.12</a:t>
            </a:r>
            <a:r>
              <a:rPr lang="en-IN" dirty="0" smtClean="0"/>
              <a:t> = 3.0 * 45.12 = 135.36 man months</a:t>
            </a:r>
            <a:endParaRPr lang="en-IN" baseline="30000" dirty="0"/>
          </a:p>
        </p:txBody>
      </p:sp>
      <mc:AlternateContent xmlns:mc="http://schemas.openxmlformats.org/markup-compatibility/2006" xmlns:a14="http://schemas.microsoft.com/office/drawing/2010/main">
        <mc:Choice Requires="a14">
          <p:sp>
            <p:nvSpPr>
              <p:cNvPr id="4" name="Text Box 3"/>
              <p:cNvSpPr txBox="1"/>
              <p:nvPr/>
            </p:nvSpPr>
            <p:spPr>
              <a:xfrm>
                <a:off x="3270621" y="3579060"/>
                <a:ext cx="2982595" cy="459105"/>
              </a:xfrm>
              <a:prstGeom prst="rect">
                <a:avLst/>
              </a:prstGeom>
              <a:noFill/>
            </p:spPr>
            <p:txBody>
              <a:bodyPr wrap="square" rtlCol="0" anchor="t">
                <a:spAutoFit/>
              </a:bodyPr>
              <a:lstStyle/>
              <a:p>
                <a:pPr algn="l"/>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cs typeface="Cambria Math" panose="02040503050406030204" pitchFamily="18" charset="0"/>
                        </a:rPr>
                        <m:t>𝑒𝑓𝑓𝑜𝑟𝑡</m:t>
                      </m:r>
                      <m:r>
                        <a:rPr lang="en-US" sz="2400" i="1">
                          <a:latin typeface="Cambria Math" panose="02040503050406030204" pitchFamily="18" charset="0"/>
                          <a:cs typeface="Cambria Math" panose="02040503050406030204" pitchFamily="18" charset="0"/>
                        </a:rPr>
                        <m:t> = </m:t>
                      </m:r>
                      <m:r>
                        <a:rPr lang="en-US" sz="2400" i="1">
                          <a:latin typeface="Cambria Math" panose="02040503050406030204" pitchFamily="18" charset="0"/>
                          <a:cs typeface="Cambria Math" panose="02040503050406030204" pitchFamily="18" charset="0"/>
                        </a:rPr>
                        <m:t>𝑐</m:t>
                      </m:r>
                      <m:sSup>
                        <m:sSupPr>
                          <m:ctrlPr>
                            <a:rPr lang="en-US" sz="2400" i="1">
                              <a:latin typeface="Cambria Math" panose="02040503050406030204" pitchFamily="18" charset="0"/>
                              <a:cs typeface="Cambria Math" panose="02040503050406030204" pitchFamily="18" charset="0"/>
                            </a:rPr>
                          </m:ctrlPr>
                        </m:sSupPr>
                        <m:e>
                          <m:d>
                            <m:dPr>
                              <m:ctrlPr>
                                <a:rPr lang="en-US" sz="2400" i="1">
                                  <a:latin typeface="Cambria Math" panose="02040503050406030204" pitchFamily="18" charset="0"/>
                                  <a:cs typeface="Cambria Math" panose="02040503050406030204" pitchFamily="18" charset="0"/>
                                </a:rPr>
                              </m:ctrlPr>
                            </m:dPr>
                            <m:e>
                              <m:r>
                                <a:rPr lang="en-US" sz="2400" i="1">
                                  <a:latin typeface="Cambria Math" panose="02040503050406030204" pitchFamily="18" charset="0"/>
                                  <a:cs typeface="Cambria Math" panose="02040503050406030204" pitchFamily="18" charset="0"/>
                                </a:rPr>
                                <m:t>𝑠𝑖𝑧𝑒</m:t>
                              </m:r>
                            </m:e>
                          </m:d>
                        </m:e>
                        <m:sup>
                          <m:r>
                            <a:rPr lang="en-US" sz="2400" i="1">
                              <a:latin typeface="Cambria Math" panose="02040503050406030204" pitchFamily="18" charset="0"/>
                              <a:cs typeface="Cambria Math" panose="02040503050406030204" pitchFamily="18" charset="0"/>
                            </a:rPr>
                            <m:t>𝑘</m:t>
                          </m:r>
                        </m:sup>
                      </m:sSup>
                    </m:oMath>
                  </m:oMathPara>
                </a14:m>
                <a:endParaRPr lang="en-US" sz="2400" dirty="0"/>
              </a:p>
            </p:txBody>
          </p:sp>
        </mc:Choice>
        <mc:Fallback xmlns="">
          <p:sp>
            <p:nvSpPr>
              <p:cNvPr id="4" name="Text Box 3"/>
              <p:cNvSpPr txBox="1">
                <a:spLocks noRot="1" noChangeAspect="1" noMove="1" noResize="1" noEditPoints="1" noAdjustHandles="1" noChangeArrowheads="1" noChangeShapeType="1" noTextEdit="1"/>
              </p:cNvSpPr>
              <p:nvPr/>
            </p:nvSpPr>
            <p:spPr>
              <a:xfrm>
                <a:off x="3270621" y="3579060"/>
                <a:ext cx="2982595" cy="459105"/>
              </a:xfrm>
              <a:prstGeom prst="rect">
                <a:avLst/>
              </a:prstGeom>
              <a:blipFill>
                <a:blip r:embed="rId2"/>
                <a:stretch>
                  <a:fillRect b="-21333"/>
                </a:stretch>
              </a:blipFill>
            </p:spPr>
            <p:txBody>
              <a:bodyPr/>
              <a:lstStyle/>
              <a:p>
                <a:r>
                  <a:rPr lang="en-IN">
                    <a:noFill/>
                  </a:rPr>
                  <a:t> </a:t>
                </a:r>
              </a:p>
            </p:txBody>
          </p:sp>
        </mc:Fallback>
      </mc:AlternateContent>
    </p:spTree>
    <p:extLst>
      <p:ext uri="{BB962C8B-B14F-4D97-AF65-F5344CB8AC3E}">
        <p14:creationId xmlns:p14="http://schemas.microsoft.com/office/powerpoint/2010/main" val="779200876"/>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TM10001114[[fn=Gallery]]</Template>
  <TotalTime>6501</TotalTime>
  <Words>2158</Words>
  <Application>Microsoft Office PowerPoint</Application>
  <PresentationFormat>Widescreen</PresentationFormat>
  <Paragraphs>422</Paragraphs>
  <Slides>56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Arial</vt:lpstr>
      <vt:lpstr>Calibri</vt:lpstr>
      <vt:lpstr>Cambria Math</vt:lpstr>
      <vt:lpstr>Gill Sans MT</vt:lpstr>
      <vt:lpstr>Times New Roman</vt:lpstr>
      <vt:lpstr>Gallery</vt:lpstr>
      <vt:lpstr>Software Project Management  Software effort estimation</vt:lpstr>
      <vt:lpstr>Learning objectives</vt:lpstr>
      <vt:lpstr>What makes a successful project?</vt:lpstr>
      <vt:lpstr>Software effort estimation: Introduction</vt:lpstr>
      <vt:lpstr>Difficulties in estimation</vt:lpstr>
      <vt:lpstr>Difficulties in estimation</vt:lpstr>
      <vt:lpstr>Where are the Estimates done?</vt:lpstr>
      <vt:lpstr>Problems with over and under estimates</vt:lpstr>
      <vt:lpstr>Problems with over and under estimates</vt:lpstr>
      <vt:lpstr>The basis for software estimating</vt:lpstr>
      <vt:lpstr>The basis for software estimating</vt:lpstr>
      <vt:lpstr>The basis for software estimating</vt:lpstr>
      <vt:lpstr>The basis for software estimating</vt:lpstr>
      <vt:lpstr>The basis for software estimating</vt:lpstr>
      <vt:lpstr>The basis for software estimating</vt:lpstr>
      <vt:lpstr>The basis for software estimating</vt:lpstr>
      <vt:lpstr>The basis for software estimating</vt:lpstr>
      <vt:lpstr>Software effort estimation techniques</vt:lpstr>
      <vt:lpstr>Bottom-up estimating</vt:lpstr>
      <vt:lpstr>Bottom-up estimating</vt:lpstr>
      <vt:lpstr>The top-down approach and parametric models</vt:lpstr>
      <vt:lpstr>Expert judgement</vt:lpstr>
      <vt:lpstr>Estimating by analogy</vt:lpstr>
      <vt:lpstr>Estimating by analogy</vt:lpstr>
      <vt:lpstr>Estimating by analogy</vt:lpstr>
      <vt:lpstr>Estimating by analogy</vt:lpstr>
      <vt:lpstr>Estimating by analogy</vt:lpstr>
      <vt:lpstr>Albrecht Function Point Analysis</vt:lpstr>
      <vt:lpstr>Albrecht Function Point Analysis</vt:lpstr>
      <vt:lpstr>Albrecht Function Point Analysis</vt:lpstr>
      <vt:lpstr>Albrecht Function Point Analysis</vt:lpstr>
      <vt:lpstr>Function points mark ii</vt:lpstr>
      <vt:lpstr>Function points mark ii</vt:lpstr>
      <vt:lpstr>Function points mark ii</vt:lpstr>
      <vt:lpstr>Function points mark ii</vt:lpstr>
      <vt:lpstr>PowerPoint Presentation</vt:lpstr>
      <vt:lpstr>COSMIC Full Function points</vt:lpstr>
      <vt:lpstr>COSMIC Full Function points</vt:lpstr>
      <vt:lpstr>COCOMO II: A parametric productivity model</vt:lpstr>
      <vt:lpstr>COCOMO II: A parametric productivity model</vt:lpstr>
      <vt:lpstr>COCOMO II: A parametric productivity model</vt:lpstr>
      <vt:lpstr>COCOMO II: A parametric productivity model - COCOMO81 constants</vt:lpstr>
      <vt:lpstr>COCOMO II: A parametric productivity model</vt:lpstr>
      <vt:lpstr>COCOMO II: A parametric productivity model</vt:lpstr>
      <vt:lpstr>COCOMO II: A parametric productivity model </vt:lpstr>
      <vt:lpstr>COCOMO II: A parametric productivity model</vt:lpstr>
      <vt:lpstr>PowerPoint Presentation</vt:lpstr>
      <vt:lpstr>COCOMO II: A parametric productivity model</vt:lpstr>
      <vt:lpstr>PowerPoint Presentation</vt:lpstr>
      <vt:lpstr>PowerPoint Presentation</vt:lpstr>
      <vt:lpstr>Example 5.4</vt:lpstr>
      <vt:lpstr>Example 5.4</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Project Management</dc:title>
  <dc:creator>Evangelin D</dc:creator>
  <cp:lastModifiedBy>Evangelin D</cp:lastModifiedBy>
  <cp:revision>529</cp:revision>
  <dcterms:created xsi:type="dcterms:W3CDTF">2019-08-23T04:10:40Z</dcterms:created>
  <dcterms:modified xsi:type="dcterms:W3CDTF">2021-06-23T07:45:41Z</dcterms:modified>
</cp:coreProperties>
</file>